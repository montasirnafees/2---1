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17319" y="268153"/>
            <a:ext cx="65647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n-IN" sz="2400" dirty="0"/>
              <a:t>বাংলাদেশ আর্মি ইন্টারন্যাশনাল ইউনিভার্সিটি অফ সাইন্স এন্ড টেকনোলোজি,কুমিল্লা </a:t>
            </a:r>
          </a:p>
          <a:p>
            <a:pPr algn="ctr"/>
            <a:endParaRPr lang="bn-IN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bn-IN" sz="2400" dirty="0"/>
              <a:t>শারমিন আক্তার</a:t>
            </a:r>
          </a:p>
          <a:p>
            <a:pPr algn="ctr"/>
            <a:r>
              <a:rPr lang="bn-IN" sz="2400" dirty="0"/>
              <a:t>প্রভাষক (বাংলা) </a:t>
            </a:r>
          </a:p>
          <a:p>
            <a:pPr algn="ctr"/>
            <a:r>
              <a:rPr lang="bn-IN" sz="2400" dirty="0"/>
              <a:t>সাইন্স এন্ড হিউম্যানিটিস বিভাগ </a:t>
            </a:r>
            <a:endParaRPr lang="en-US" sz="2400" dirty="0"/>
          </a:p>
          <a:p>
            <a:endParaRPr lang="en-US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553" y="1249425"/>
            <a:ext cx="448235" cy="4930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67780" y="5106837"/>
            <a:ext cx="7712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বঙ্গভাষা (</a:t>
            </a:r>
            <a:r>
              <a:rPr lang="en-US" sz="2400" dirty="0" err="1" smtClean="0"/>
              <a:t>মাইকেল</a:t>
            </a:r>
            <a:r>
              <a:rPr lang="en-US" sz="2400" dirty="0" smtClean="0"/>
              <a:t> </a:t>
            </a:r>
            <a:r>
              <a:rPr lang="en-US" sz="2400" dirty="0" err="1" smtClean="0"/>
              <a:t>মধুসুদন</a:t>
            </a:r>
            <a:r>
              <a:rPr lang="en-US" sz="2400" dirty="0" smtClean="0"/>
              <a:t> </a:t>
            </a:r>
            <a:r>
              <a:rPr lang="en-US" sz="2400" dirty="0" err="1" smtClean="0"/>
              <a:t>দত্ত</a:t>
            </a:r>
            <a:r>
              <a:rPr lang="en-US" sz="2400" dirty="0" smtClean="0"/>
              <a:t>) </a:t>
            </a:r>
            <a:r>
              <a:rPr lang="en-US" sz="2400" dirty="0" err="1" smtClean="0"/>
              <a:t>কবিতা</a:t>
            </a:r>
            <a:r>
              <a:rPr lang="en-US" sz="2400" dirty="0" smtClean="0"/>
              <a:t>  </a:t>
            </a:r>
            <a:r>
              <a:rPr lang="bn-IN" sz="2400" dirty="0" smtClean="0"/>
              <a:t>সম্পর্কে আলোচনা। 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710527" y="4434912"/>
            <a:ext cx="257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 </a:t>
            </a:r>
            <a:r>
              <a:rPr lang="bn-IN" sz="2400" b="1" dirty="0"/>
              <a:t>আলোচ্য বিষয়</a:t>
            </a:r>
            <a:r>
              <a:rPr lang="en-US" sz="2400" b="1" dirty="0"/>
              <a:t>:-</a:t>
            </a:r>
          </a:p>
        </p:txBody>
      </p:sp>
    </p:spTree>
    <p:extLst>
      <p:ext uri="{BB962C8B-B14F-4D97-AF65-F5344CB8AC3E}">
        <p14:creationId xmlns:p14="http://schemas.microsoft.com/office/powerpoint/2010/main" val="25890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1010" y="448573"/>
            <a:ext cx="1362975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2000" b="1" dirty="0" smtClean="0">
                <a:solidFill>
                  <a:schemeClr val="bg1"/>
                </a:solidFill>
              </a:rPr>
              <a:t>বঙ্গভাষা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94493" y="983413"/>
            <a:ext cx="4015597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b="1" dirty="0" smtClean="0">
                <a:solidFill>
                  <a:schemeClr val="bg1"/>
                </a:solidFill>
              </a:rPr>
              <a:t>মাইকেল মধুসূদন দত্ত (১৮২৪-১৮৭৩)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5-Point Star 4"/>
          <p:cNvSpPr/>
          <p:nvPr/>
        </p:nvSpPr>
        <p:spPr>
          <a:xfrm flipV="1">
            <a:off x="414068" y="1699403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8739" y="1648446"/>
            <a:ext cx="7263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মধুসূদন দত্ত উনিশ শতকের অন্যতম শ্রেষ্ঠ বাঙালি কবি ও নাট্যকার। 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189" y="511115"/>
            <a:ext cx="2078246" cy="21371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5-Point Star 9"/>
          <p:cNvSpPr/>
          <p:nvPr/>
        </p:nvSpPr>
        <p:spPr>
          <a:xfrm flipV="1">
            <a:off x="383875" y="2403173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5-Point Star 10"/>
          <p:cNvSpPr/>
          <p:nvPr/>
        </p:nvSpPr>
        <p:spPr>
          <a:xfrm flipV="1">
            <a:off x="379560" y="5038807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5-Point Star 11"/>
          <p:cNvSpPr/>
          <p:nvPr/>
        </p:nvSpPr>
        <p:spPr>
          <a:xfrm flipV="1">
            <a:off x="414067" y="4351315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5-Point Star 12"/>
          <p:cNvSpPr/>
          <p:nvPr/>
        </p:nvSpPr>
        <p:spPr>
          <a:xfrm flipV="1">
            <a:off x="414068" y="3781255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8739" y="2366207"/>
            <a:ext cx="7746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b="1" dirty="0" smtClean="0"/>
              <a:t>জন্ম</a:t>
            </a:r>
            <a:r>
              <a:rPr lang="en-US" b="1" dirty="0" smtClean="0"/>
              <a:t>:</a:t>
            </a:r>
            <a:r>
              <a:rPr lang="bn-IN" dirty="0" smtClean="0"/>
              <a:t>  ১৮২৪ </a:t>
            </a:r>
            <a:r>
              <a:rPr lang="en-US" dirty="0" err="1" smtClean="0"/>
              <a:t>খ্রিষ্টাব্দের</a:t>
            </a:r>
            <a:r>
              <a:rPr lang="bn-IN" dirty="0" smtClean="0"/>
              <a:t>, ২৫ জানুয়ারি</a:t>
            </a:r>
            <a:endParaRPr lang="en-US" dirty="0" smtClean="0"/>
          </a:p>
          <a:p>
            <a:endParaRPr lang="en-US" dirty="0"/>
          </a:p>
          <a:p>
            <a:r>
              <a:rPr lang="bn-IN" b="1" dirty="0" smtClean="0"/>
              <a:t>জন্মস্থান</a:t>
            </a:r>
            <a:r>
              <a:rPr lang="en-US" b="1" dirty="0" smtClean="0"/>
              <a:t>:</a:t>
            </a:r>
            <a:r>
              <a:rPr lang="bn-IN" dirty="0" smtClean="0"/>
              <a:t> বাংলাদেশের </a:t>
            </a:r>
            <a:r>
              <a:rPr lang="bn-IN" dirty="0"/>
              <a:t>যশোর জেলার কেশবপুর উপজেলার সাগরদাঁড়ি গ্রামে জন্মগ্রহণ করেন।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59125" y="3674153"/>
            <a:ext cx="6435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মৃত্যু</a:t>
            </a:r>
            <a:r>
              <a:rPr lang="en-US" b="1" dirty="0" smtClean="0"/>
              <a:t>:</a:t>
            </a:r>
            <a:r>
              <a:rPr lang="en-US" dirty="0" smtClean="0"/>
              <a:t> ১৮৭৩ </a:t>
            </a:r>
            <a:r>
              <a:rPr lang="en-US" dirty="0" err="1" smtClean="0"/>
              <a:t>খ্রিষ্টাব্দের</a:t>
            </a:r>
            <a:r>
              <a:rPr lang="en-US" dirty="0" smtClean="0"/>
              <a:t> ২৯ </a:t>
            </a:r>
            <a:r>
              <a:rPr lang="en-US" dirty="0" err="1" smtClean="0"/>
              <a:t>জুন</a:t>
            </a:r>
            <a:r>
              <a:rPr lang="en-US" dirty="0" smtClean="0"/>
              <a:t>, </a:t>
            </a:r>
            <a:r>
              <a:rPr lang="en-US" dirty="0" err="1" smtClean="0"/>
              <a:t>কলকাতায়</a:t>
            </a:r>
            <a:r>
              <a:rPr lang="en-US" dirty="0" smtClean="0"/>
              <a:t>। </a:t>
            </a:r>
            <a:endParaRPr lang="en-US" dirty="0"/>
          </a:p>
        </p:txBody>
      </p:sp>
      <p:sp>
        <p:nvSpPr>
          <p:cNvPr id="16" name="5-Point Star 15"/>
          <p:cNvSpPr/>
          <p:nvPr/>
        </p:nvSpPr>
        <p:spPr>
          <a:xfrm flipV="1">
            <a:off x="414067" y="3007911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64231" y="4233503"/>
            <a:ext cx="7401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 ১৮৪৩ খ্রিষ্টাব্দে তিনি খ্রিষ্টধর্ম গ্রহণ করেছেন ফলে তার নামের সাথে ‘মাইকেল’ যুক্ত হয়েছে।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64231" y="4968443"/>
            <a:ext cx="774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ছদ্মনাম</a:t>
            </a:r>
            <a:r>
              <a:rPr lang="en-US" dirty="0" smtClean="0"/>
              <a:t>: </a:t>
            </a:r>
            <a:r>
              <a:rPr lang="bn-IN" dirty="0" smtClean="0"/>
              <a:t> </a:t>
            </a:r>
            <a:r>
              <a:rPr lang="en-US" dirty="0" smtClean="0"/>
              <a:t>1. A) Native (</a:t>
            </a:r>
            <a:r>
              <a:rPr lang="bn-IN" dirty="0" smtClean="0"/>
              <a:t> নীলদর্পণ লিখেছেন এই নামে) </a:t>
            </a:r>
            <a:r>
              <a:rPr lang="en-US" dirty="0" smtClean="0"/>
              <a:t>  </a:t>
            </a:r>
            <a:endParaRPr lang="bn-IN" dirty="0" smtClean="0"/>
          </a:p>
          <a:p>
            <a:r>
              <a:rPr lang="bn-IN" dirty="0"/>
              <a:t> </a:t>
            </a:r>
            <a:r>
              <a:rPr lang="bn-IN" dirty="0" smtClean="0"/>
              <a:t>             </a:t>
            </a:r>
            <a:r>
              <a:rPr lang="en-US" dirty="0" smtClean="0"/>
              <a:t>2. Timothy Pen</a:t>
            </a:r>
            <a:r>
              <a:rPr lang="en-US" dirty="0"/>
              <a:t>p</a:t>
            </a:r>
            <a:r>
              <a:rPr lang="en-US" dirty="0" smtClean="0"/>
              <a:t>oem </a:t>
            </a:r>
            <a:r>
              <a:rPr lang="bn-IN" dirty="0" smtClean="0"/>
              <a:t>( ইংরেজি কবিতা লিখেছেন) </a:t>
            </a:r>
            <a:endParaRPr lang="en-US" dirty="0"/>
          </a:p>
        </p:txBody>
      </p:sp>
      <p:sp>
        <p:nvSpPr>
          <p:cNvPr id="20" name="5-Point Star 19"/>
          <p:cNvSpPr/>
          <p:nvPr/>
        </p:nvSpPr>
        <p:spPr>
          <a:xfrm flipV="1">
            <a:off x="379559" y="5812151"/>
            <a:ext cx="284671" cy="267419"/>
          </a:xfrm>
          <a:prstGeom prst="star5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8737" y="5703383"/>
            <a:ext cx="10633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 বাংলা সাহিত্যের পূর্বে ইংরেজি সাহিত্যের </a:t>
            </a:r>
            <a:r>
              <a:rPr lang="bn-IN" smtClean="0"/>
              <a:t>প্রতি তাঁর </a:t>
            </a:r>
            <a:r>
              <a:rPr lang="bn-IN" dirty="0" smtClean="0"/>
              <a:t>প্রবল আকর্ষণই তাকে প্রচুর ইংরেজি  কবিতা এবং সাহিত্য রচনায় ধাবিত করে।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0542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6664" y="262647"/>
            <a:ext cx="5846323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b="1" dirty="0" smtClean="0">
                <a:solidFill>
                  <a:schemeClr val="bg1"/>
                </a:solidFill>
              </a:rPr>
              <a:t>বাংলা সাহিত্যে মাইকেল মধুসূদন দত্তের যা কিছু প্রথম</a:t>
            </a:r>
            <a:r>
              <a:rPr lang="en-US" b="1" dirty="0" smtClean="0">
                <a:solidFill>
                  <a:schemeClr val="bg1"/>
                </a:solidFill>
              </a:rPr>
              <a:t>: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2" y="954131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23216" y="1532955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3216" y="2046085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3215" y="2613737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9970" y="3406992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6454" y="3974644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6453" y="4542296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2348" y="881333"/>
            <a:ext cx="95785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dirty="0" smtClean="0"/>
              <a:t>প্রথম সার্থক নাটক – </a:t>
            </a:r>
            <a:r>
              <a:rPr lang="bn-IN" b="1" dirty="0" smtClean="0"/>
              <a:t>“শর্মিষ্ঠা (১৮৫৯)” </a:t>
            </a:r>
            <a:r>
              <a:rPr lang="bn-IN" dirty="0" smtClean="0"/>
              <a:t>রচয়িতা ।</a:t>
            </a:r>
          </a:p>
          <a:p>
            <a:endParaRPr lang="bn-IN" dirty="0"/>
          </a:p>
          <a:p>
            <a:r>
              <a:rPr lang="bn-IN" dirty="0" smtClean="0"/>
              <a:t>প্রথম সার্থক ট্রাজেডি নাটক – </a:t>
            </a:r>
            <a:r>
              <a:rPr lang="bn-IN" b="1" dirty="0" smtClean="0"/>
              <a:t>“ কৃষ্ণকুমারী (১৮৬১)” </a:t>
            </a:r>
            <a:r>
              <a:rPr lang="bn-IN" dirty="0" smtClean="0"/>
              <a:t>রচয়িতা। </a:t>
            </a:r>
          </a:p>
          <a:p>
            <a:endParaRPr lang="bn-IN" dirty="0"/>
          </a:p>
          <a:p>
            <a:r>
              <a:rPr lang="bn-IN" dirty="0" smtClean="0"/>
              <a:t>প্রথম সার্থক কমেডি নাটক – </a:t>
            </a:r>
            <a:r>
              <a:rPr lang="bn-IN" b="1" dirty="0" smtClean="0"/>
              <a:t>“পদ্মাবতী (১৮৬০)” </a:t>
            </a:r>
            <a:r>
              <a:rPr lang="bn-IN" dirty="0" smtClean="0"/>
              <a:t>রচয়িতা।</a:t>
            </a:r>
          </a:p>
          <a:p>
            <a:endParaRPr lang="bn-IN" dirty="0"/>
          </a:p>
          <a:p>
            <a:r>
              <a:rPr lang="bn-IN" dirty="0" smtClean="0"/>
              <a:t>বাংলা সাহিত্যের প্রথম এবং প্রথম সার্থক মহাকাব্য – </a:t>
            </a:r>
            <a:r>
              <a:rPr lang="bn-IN" b="1" dirty="0" smtClean="0"/>
              <a:t>“মেঘনাদবধ কাব্য” (১৮৬১) </a:t>
            </a:r>
            <a:r>
              <a:rPr lang="bn-IN" dirty="0" smtClean="0"/>
              <a:t>। উৎসর্গ করেন রাজা দিগম্বর মিত্রকে। </a:t>
            </a:r>
          </a:p>
          <a:p>
            <a:endParaRPr lang="bn-IN" dirty="0" smtClean="0"/>
          </a:p>
          <a:p>
            <a:r>
              <a:rPr lang="bn-IN" dirty="0" smtClean="0"/>
              <a:t>প্রথম অমিত্রাক্ষর ছন্দের প্রবর্তক তিনি। </a:t>
            </a:r>
          </a:p>
          <a:p>
            <a:endParaRPr lang="bn-IN" dirty="0"/>
          </a:p>
          <a:p>
            <a:r>
              <a:rPr lang="bn-IN" dirty="0" smtClean="0"/>
              <a:t>প্রথম প্রহসন- </a:t>
            </a:r>
            <a:r>
              <a:rPr lang="bn-IN" b="1" dirty="0" smtClean="0"/>
              <a:t>“একেই কি বলে সভ্যতা? (১৮৬০) “</a:t>
            </a:r>
            <a:r>
              <a:rPr lang="bn-IN" dirty="0" smtClean="0"/>
              <a:t> এর রচয়িতা তিনি। </a:t>
            </a:r>
          </a:p>
          <a:p>
            <a:endParaRPr lang="bn-IN" dirty="0"/>
          </a:p>
          <a:p>
            <a:r>
              <a:rPr lang="bn-IN" dirty="0" smtClean="0"/>
              <a:t>বাংলা সাহিত্যের প্রথম সার্থক সনেট রচয়িতা তিনি – </a:t>
            </a:r>
            <a:r>
              <a:rPr lang="bn-IN" b="1" dirty="0" smtClean="0"/>
              <a:t>“ চতুর্দশপদী কবিতাবলী ( ১৮৬</a:t>
            </a:r>
            <a:r>
              <a:rPr lang="bn-IN" b="1" dirty="0"/>
              <a:t>৬</a:t>
            </a:r>
            <a:r>
              <a:rPr lang="bn-IN" b="1" dirty="0" smtClean="0"/>
              <a:t>)” </a:t>
            </a:r>
            <a:r>
              <a:rPr lang="bn-IN" dirty="0" smtClean="0"/>
              <a:t>[ ১৮৬৫ সালে ফ্রান্সের ভার্সাই নগরীতে বসে লেখা।] </a:t>
            </a:r>
          </a:p>
          <a:p>
            <a:endParaRPr lang="bn-IN" dirty="0" smtClean="0"/>
          </a:p>
          <a:p>
            <a:r>
              <a:rPr lang="bn-IN" dirty="0" smtClean="0"/>
              <a:t>বাংলা সাহিত্যের প্রথম সনেট – </a:t>
            </a:r>
            <a:r>
              <a:rPr lang="bn-IN" b="1" dirty="0" smtClean="0"/>
              <a:t>“বঙ্গভাষা”। </a:t>
            </a:r>
            <a:r>
              <a:rPr lang="bn-IN" dirty="0" smtClean="0"/>
              <a:t>তাঁর সনেটগুলো </a:t>
            </a:r>
            <a:r>
              <a:rPr lang="bn-IN" b="1" dirty="0"/>
              <a:t>চতুর্দশপদী কবিতাবলী </a:t>
            </a:r>
            <a:r>
              <a:rPr lang="bn-IN" dirty="0" smtClean="0"/>
              <a:t>গ্রন্থে সংকলিত হয়েছে। </a:t>
            </a:r>
            <a:endParaRPr lang="bn-IN" b="1" dirty="0"/>
          </a:p>
          <a:p>
            <a:endParaRPr lang="bn-IN" dirty="0" smtClean="0"/>
          </a:p>
          <a:p>
            <a:endParaRPr lang="bn-IN" dirty="0"/>
          </a:p>
          <a:p>
            <a:endParaRPr lang="bn-IN" dirty="0" smtClean="0"/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8885" y="5335551"/>
            <a:ext cx="233463" cy="2237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4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5" r="24543"/>
          <a:stretch/>
        </p:blipFill>
        <p:spPr>
          <a:xfrm>
            <a:off x="698740" y="173662"/>
            <a:ext cx="4848045" cy="60028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4"/>
          <a:stretch/>
        </p:blipFill>
        <p:spPr>
          <a:xfrm>
            <a:off x="6116129" y="551525"/>
            <a:ext cx="4132052" cy="50211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948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t="4630" r="1402" b="3497"/>
          <a:stretch/>
        </p:blipFill>
        <p:spPr>
          <a:xfrm>
            <a:off x="664233" y="388189"/>
            <a:ext cx="10662249" cy="6081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9107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/>
          <a:stretch/>
        </p:blipFill>
        <p:spPr>
          <a:xfrm>
            <a:off x="940279" y="215661"/>
            <a:ext cx="10274060" cy="6400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0967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97" y="336431"/>
            <a:ext cx="11024558" cy="62128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3501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17984" y="2863970"/>
            <a:ext cx="3795624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bn-IN" dirty="0" smtClean="0"/>
              <a:t> </a:t>
            </a:r>
            <a:r>
              <a:rPr lang="bn-IN" sz="3400" b="1" dirty="0" smtClean="0">
                <a:solidFill>
                  <a:schemeClr val="bg1"/>
                </a:solidFill>
              </a:rPr>
              <a:t>ধন্যবাদ সবাইকে।</a:t>
            </a:r>
            <a:endParaRPr lang="en-US" sz="3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85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233</TotalTime>
  <Words>272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Vrinda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22</cp:revision>
  <dcterms:created xsi:type="dcterms:W3CDTF">2025-04-07T07:37:38Z</dcterms:created>
  <dcterms:modified xsi:type="dcterms:W3CDTF">2025-04-09T01:03:04Z</dcterms:modified>
</cp:coreProperties>
</file>