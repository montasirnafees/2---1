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73" r:id="rId11"/>
    <p:sldId id="274" r:id="rId12"/>
    <p:sldId id="275" r:id="rId13"/>
    <p:sldId id="276" r:id="rId14"/>
    <p:sldId id="265" r:id="rId15"/>
    <p:sldId id="266" r:id="rId16"/>
    <p:sldId id="267" r:id="rId17"/>
    <p:sldId id="268" r:id="rId18"/>
    <p:sldId id="269" r:id="rId19"/>
    <p:sldId id="271" r:id="rId20"/>
    <p:sldId id="272" r:id="rId21"/>
    <p:sldId id="27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9" d="100"/>
          <a:sy n="109" d="100"/>
        </p:scale>
        <p:origin x="63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74491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454624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2937517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866569F-AF51-45E6-8BD1-DFF76C0D9C7D}" type="datetimeFigureOut">
              <a:rPr lang="en-US" smtClean="0"/>
              <a:t>7/2/2026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6341301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866569F-AF51-45E6-8BD1-DFF76C0D9C7D}" type="datetimeFigureOut">
              <a:rPr lang="en-US" smtClean="0"/>
              <a:t>7/2/2026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3069872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866569F-AF51-45E6-8BD1-DFF76C0D9C7D}" type="datetimeFigureOut">
              <a:rPr lang="en-US" smtClean="0"/>
              <a:t>7/2/2026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1837897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866569F-AF51-45E6-8BD1-DFF76C0D9C7D}" type="datetimeFigureOut">
              <a:rPr lang="en-US" smtClean="0"/>
              <a:t>7/2/2026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824959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866569F-AF51-45E6-8BD1-DFF76C0D9C7D}" type="datetimeFigureOut">
              <a:rPr lang="en-US" smtClean="0"/>
              <a:t>7/2/2026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40287595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D866569F-AF51-45E6-8BD1-DFF76C0D9C7D}" type="datetimeFigureOut">
              <a:rPr lang="en-US" smtClean="0"/>
              <a:t>7/2/2026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4063049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350513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070840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40166680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6971239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7143304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3422221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66569F-AF51-45E6-8BD1-DFF76C0D9C7D}"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A536A1-894A-4FB3-9762-F1D534E0E736}" type="slidenum">
              <a:rPr lang="en-US" smtClean="0"/>
              <a:t>‹#›</a:t>
            </a:fld>
            <a:endParaRPr lang="en-US"/>
          </a:p>
        </p:txBody>
      </p:sp>
    </p:spTree>
    <p:extLst>
      <p:ext uri="{BB962C8B-B14F-4D97-AF65-F5344CB8AC3E}">
        <p14:creationId xmlns:p14="http://schemas.microsoft.com/office/powerpoint/2010/main" val="3300919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D866569F-AF51-45E6-8BD1-DFF76C0D9C7D}" type="datetimeFigureOut">
              <a:rPr lang="en-US" smtClean="0"/>
              <a:t>7/2/2026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6A536A1-894A-4FB3-9762-F1D534E0E736}" type="slidenum">
              <a:rPr lang="en-US" smtClean="0"/>
              <a:t>‹#›</a:t>
            </a:fld>
            <a:endParaRPr lang="en-US"/>
          </a:p>
        </p:txBody>
      </p:sp>
    </p:spTree>
    <p:extLst>
      <p:ext uri="{BB962C8B-B14F-4D97-AF65-F5344CB8AC3E}">
        <p14:creationId xmlns:p14="http://schemas.microsoft.com/office/powerpoint/2010/main" val="2506718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Dynamic memory Allocation</a:t>
            </a:r>
          </a:p>
        </p:txBody>
      </p:sp>
      <p:sp>
        <p:nvSpPr>
          <p:cNvPr id="3" name="Subtitle 2"/>
          <p:cNvSpPr>
            <a:spLocks noGrp="1"/>
          </p:cNvSpPr>
          <p:nvPr>
            <p:ph type="subTitle" idx="1"/>
          </p:nvPr>
        </p:nvSpPr>
        <p:spPr/>
        <p:txBody>
          <a:bodyPr/>
          <a:lstStyle/>
          <a:p>
            <a:r>
              <a:rPr lang="en-US" dirty="0"/>
              <a:t>CSE-213</a:t>
            </a:r>
          </a:p>
          <a:p>
            <a:r>
              <a:rPr lang="en-US" dirty="0"/>
              <a:t>Object Oriented Programming Language</a:t>
            </a:r>
          </a:p>
        </p:txBody>
      </p:sp>
      <p:sp>
        <p:nvSpPr>
          <p:cNvPr id="4" name="TextBox 3"/>
          <p:cNvSpPr txBox="1"/>
          <p:nvPr/>
        </p:nvSpPr>
        <p:spPr>
          <a:xfrm>
            <a:off x="5336931" y="5354515"/>
            <a:ext cx="4264269" cy="646331"/>
          </a:xfrm>
          <a:prstGeom prst="rect">
            <a:avLst/>
          </a:prstGeom>
          <a:noFill/>
        </p:spPr>
        <p:txBody>
          <a:bodyPr wrap="square" rtlCol="0">
            <a:spAutoFit/>
          </a:bodyPr>
          <a:lstStyle/>
          <a:p>
            <a:r>
              <a:rPr lang="en-US" dirty="0" err="1" smtClean="0"/>
              <a:t>Mousumi</a:t>
            </a:r>
            <a:r>
              <a:rPr lang="en-US" dirty="0" smtClean="0"/>
              <a:t> Hasan,</a:t>
            </a:r>
          </a:p>
          <a:p>
            <a:r>
              <a:rPr lang="en-US" dirty="0" smtClean="0"/>
              <a:t>Assistant Professor, </a:t>
            </a:r>
            <a:r>
              <a:rPr lang="en-US" dirty="0" err="1" smtClean="0"/>
              <a:t>Dpt.of</a:t>
            </a:r>
            <a:r>
              <a:rPr lang="en-US" dirty="0" smtClean="0"/>
              <a:t> CSE, BAIUST</a:t>
            </a:r>
            <a:endParaRPr lang="en-US" dirty="0"/>
          </a:p>
        </p:txBody>
      </p:sp>
    </p:spTree>
    <p:extLst>
      <p:ext uri="{BB962C8B-B14F-4D97-AF65-F5344CB8AC3E}">
        <p14:creationId xmlns:p14="http://schemas.microsoft.com/office/powerpoint/2010/main" val="229249003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Objects Memory Allocation in C++</a:t>
            </a:r>
          </a:p>
        </p:txBody>
      </p:sp>
      <p:sp>
        <p:nvSpPr>
          <p:cNvPr id="3" name="Content Placeholder 2"/>
          <p:cNvSpPr>
            <a:spLocks noGrp="1"/>
          </p:cNvSpPr>
          <p:nvPr>
            <p:ph idx="1"/>
          </p:nvPr>
        </p:nvSpPr>
        <p:spPr/>
        <p:txBody>
          <a:bodyPr/>
          <a:lstStyle/>
          <a:p>
            <a:r>
              <a:rPr lang="en-US" dirty="0"/>
              <a:t>The way memory is allocated to variables and functions of the class is different even though they both are from the same class. The memory is only allocated to the variables of the class when the object is created. The memory is not allocated to the variables when the class is declared.</a:t>
            </a:r>
          </a:p>
          <a:p>
            <a:r>
              <a:rPr lang="en-US" dirty="0"/>
              <a:t>In static memory allocation, all memory needs are determined before program execution by defining the variables needed. </a:t>
            </a:r>
          </a:p>
          <a:p>
            <a:r>
              <a:rPr lang="en-US" dirty="0"/>
              <a:t>But there may be cases where the memory needs of a program can only be determined during runtime. For example, when the memory needed depends on user input</a:t>
            </a:r>
          </a:p>
        </p:txBody>
      </p:sp>
    </p:spTree>
    <p:extLst>
      <p:ext uri="{BB962C8B-B14F-4D97-AF65-F5344CB8AC3E}">
        <p14:creationId xmlns:p14="http://schemas.microsoft.com/office/powerpoint/2010/main" val="20938440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 Memory Management</a:t>
            </a:r>
            <a:br>
              <a:rPr lang="en-US" b="1" dirty="0"/>
            </a:br>
            <a:endParaRPr lang="en-US" dirty="0"/>
          </a:p>
        </p:txBody>
      </p:sp>
      <p:sp>
        <p:nvSpPr>
          <p:cNvPr id="3" name="Content Placeholder 2"/>
          <p:cNvSpPr>
            <a:spLocks noGrp="1"/>
          </p:cNvSpPr>
          <p:nvPr>
            <p:ph idx="1"/>
          </p:nvPr>
        </p:nvSpPr>
        <p:spPr/>
        <p:txBody>
          <a:bodyPr>
            <a:normAutofit lnSpcReduction="10000"/>
          </a:bodyPr>
          <a:lstStyle/>
          <a:p>
            <a:r>
              <a:rPr lang="en-US" dirty="0"/>
              <a:t>C++ allows us to allocate the memory of a variable or an array in run time. This is known as dynamic memory allocation.</a:t>
            </a:r>
          </a:p>
          <a:p>
            <a:endParaRPr lang="en-US" dirty="0"/>
          </a:p>
          <a:p>
            <a:r>
              <a:rPr lang="en-US" dirty="0"/>
              <a:t>In other programming languages such as Java and Python, the compiler automatically manages the memories allocated to variables. But this is not the case in C++.</a:t>
            </a:r>
          </a:p>
          <a:p>
            <a:endParaRPr lang="en-US" dirty="0"/>
          </a:p>
          <a:p>
            <a:r>
              <a:rPr lang="en-US" dirty="0"/>
              <a:t>In C++, we need to deallocate the dynamically allocated memory manually after we have no use for the variable.</a:t>
            </a:r>
          </a:p>
          <a:p>
            <a:endParaRPr lang="en-US" dirty="0"/>
          </a:p>
          <a:p>
            <a:r>
              <a:rPr lang="en-US" dirty="0"/>
              <a:t>We can allocate and then deallocate memory dynamically using the new and delete operators respectively.</a:t>
            </a:r>
          </a:p>
        </p:txBody>
      </p:sp>
    </p:spTree>
    <p:extLst>
      <p:ext uri="{BB962C8B-B14F-4D97-AF65-F5344CB8AC3E}">
        <p14:creationId xmlns:p14="http://schemas.microsoft.com/office/powerpoint/2010/main" val="369600488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 new Operator</a:t>
            </a:r>
            <a:br>
              <a:rPr lang="en-US" b="1" dirty="0"/>
            </a:br>
            <a:endParaRPr lang="en-US" dirty="0"/>
          </a:p>
        </p:txBody>
      </p:sp>
      <p:sp>
        <p:nvSpPr>
          <p:cNvPr id="3" name="Content Placeholder 2"/>
          <p:cNvSpPr>
            <a:spLocks noGrp="1"/>
          </p:cNvSpPr>
          <p:nvPr>
            <p:ph idx="1"/>
          </p:nvPr>
        </p:nvSpPr>
        <p:spPr>
          <a:xfrm>
            <a:off x="677334" y="2160589"/>
            <a:ext cx="4486337" cy="3880773"/>
          </a:xfrm>
        </p:spPr>
        <p:txBody>
          <a:bodyPr>
            <a:normAutofit/>
          </a:bodyPr>
          <a:lstStyle/>
          <a:p>
            <a:r>
              <a:rPr lang="en-US" dirty="0"/>
              <a:t>The new operator allocates memory to a variable. For example,</a:t>
            </a:r>
          </a:p>
          <a:p>
            <a:pPr marL="0" indent="0">
              <a:buNone/>
            </a:pPr>
            <a:r>
              <a:rPr lang="en-US" dirty="0"/>
              <a:t>// declare an </a:t>
            </a:r>
            <a:r>
              <a:rPr lang="en-US" dirty="0" err="1"/>
              <a:t>int</a:t>
            </a:r>
            <a:r>
              <a:rPr lang="en-US" dirty="0"/>
              <a:t> pointer</a:t>
            </a:r>
          </a:p>
          <a:p>
            <a:pPr marL="0" indent="0">
              <a:buNone/>
            </a:pPr>
            <a:r>
              <a:rPr lang="en-US" dirty="0" err="1"/>
              <a:t>int</a:t>
            </a:r>
            <a:r>
              <a:rPr lang="en-US" dirty="0"/>
              <a:t>* </a:t>
            </a:r>
            <a:r>
              <a:rPr lang="en-US" dirty="0" err="1"/>
              <a:t>pointVar</a:t>
            </a:r>
            <a:r>
              <a:rPr lang="en-US" dirty="0"/>
              <a:t>;</a:t>
            </a:r>
          </a:p>
          <a:p>
            <a:pPr marL="0" indent="0">
              <a:buNone/>
            </a:pPr>
            <a:r>
              <a:rPr lang="en-US" dirty="0"/>
              <a:t>// dynamically allocate memory</a:t>
            </a:r>
          </a:p>
          <a:p>
            <a:pPr marL="0" indent="0">
              <a:buNone/>
            </a:pPr>
            <a:r>
              <a:rPr lang="en-US" dirty="0"/>
              <a:t>// using the new keyword </a:t>
            </a:r>
          </a:p>
          <a:p>
            <a:pPr marL="0" indent="0">
              <a:buNone/>
            </a:pPr>
            <a:r>
              <a:rPr lang="en-US" dirty="0" err="1"/>
              <a:t>pointVar</a:t>
            </a:r>
            <a:r>
              <a:rPr lang="en-US" dirty="0"/>
              <a:t> = new </a:t>
            </a:r>
            <a:r>
              <a:rPr lang="en-US" dirty="0" err="1"/>
              <a:t>int</a:t>
            </a:r>
            <a:r>
              <a:rPr lang="en-US" dirty="0"/>
              <a:t>;</a:t>
            </a:r>
          </a:p>
          <a:p>
            <a:pPr marL="0" indent="0">
              <a:buNone/>
            </a:pPr>
            <a:r>
              <a:rPr lang="en-US" dirty="0"/>
              <a:t>// assign value to allocated memory</a:t>
            </a:r>
          </a:p>
          <a:p>
            <a:pPr marL="0" indent="0">
              <a:buNone/>
            </a:pPr>
            <a:r>
              <a:rPr lang="en-US" dirty="0"/>
              <a:t>*</a:t>
            </a:r>
            <a:r>
              <a:rPr lang="en-US" dirty="0" err="1"/>
              <a:t>pointVar</a:t>
            </a:r>
            <a:r>
              <a:rPr lang="en-US" dirty="0"/>
              <a:t> = 45;</a:t>
            </a:r>
          </a:p>
        </p:txBody>
      </p:sp>
      <p:sp>
        <p:nvSpPr>
          <p:cNvPr id="5" name="TextBox 4"/>
          <p:cNvSpPr txBox="1"/>
          <p:nvPr/>
        </p:nvSpPr>
        <p:spPr>
          <a:xfrm>
            <a:off x="5661212" y="2160589"/>
            <a:ext cx="5822575" cy="2031325"/>
          </a:xfrm>
          <a:prstGeom prst="rect">
            <a:avLst/>
          </a:prstGeom>
          <a:noFill/>
        </p:spPr>
        <p:txBody>
          <a:bodyPr wrap="square" rtlCol="0">
            <a:spAutoFit/>
          </a:bodyPr>
          <a:lstStyle/>
          <a:p>
            <a:pPr marL="285750" indent="-285750">
              <a:buFont typeface="Wingdings" panose="05000000000000000000" pitchFamily="2" charset="2"/>
              <a:buChar char="Ø"/>
            </a:pPr>
            <a:r>
              <a:rPr lang="en-US" dirty="0">
                <a:solidFill>
                  <a:schemeClr val="tx2"/>
                </a:solidFill>
              </a:rPr>
              <a:t>Here, we have dynamically allocated memory for an </a:t>
            </a:r>
            <a:r>
              <a:rPr lang="en-US" dirty="0" err="1">
                <a:solidFill>
                  <a:schemeClr val="tx2"/>
                </a:solidFill>
              </a:rPr>
              <a:t>int</a:t>
            </a:r>
            <a:r>
              <a:rPr lang="en-US" dirty="0">
                <a:solidFill>
                  <a:schemeClr val="tx2"/>
                </a:solidFill>
              </a:rPr>
              <a:t> variable using the new operator.</a:t>
            </a:r>
          </a:p>
          <a:p>
            <a:pPr marL="285750" indent="-285750">
              <a:buFont typeface="Wingdings" panose="05000000000000000000" pitchFamily="2" charset="2"/>
              <a:buChar char="Ø"/>
            </a:pPr>
            <a:endParaRPr lang="en-US" dirty="0">
              <a:solidFill>
                <a:schemeClr val="tx2"/>
              </a:solidFill>
            </a:endParaRPr>
          </a:p>
          <a:p>
            <a:pPr marL="285750" indent="-285750">
              <a:buFont typeface="Wingdings" panose="05000000000000000000" pitchFamily="2" charset="2"/>
              <a:buChar char="Ø"/>
            </a:pPr>
            <a:r>
              <a:rPr lang="en-US" dirty="0">
                <a:solidFill>
                  <a:schemeClr val="tx2"/>
                </a:solidFill>
              </a:rPr>
              <a:t>Notice that we have used the pointer </a:t>
            </a:r>
            <a:r>
              <a:rPr lang="en-US" dirty="0" err="1">
                <a:solidFill>
                  <a:schemeClr val="tx2"/>
                </a:solidFill>
              </a:rPr>
              <a:t>pointVar</a:t>
            </a:r>
            <a:r>
              <a:rPr lang="en-US" dirty="0">
                <a:solidFill>
                  <a:schemeClr val="tx2"/>
                </a:solidFill>
              </a:rPr>
              <a:t> to allocate the memory dynamically. This is because the new operator returns the address of the memory location.</a:t>
            </a:r>
          </a:p>
        </p:txBody>
      </p:sp>
    </p:spTree>
    <p:extLst>
      <p:ext uri="{BB962C8B-B14F-4D97-AF65-F5344CB8AC3E}">
        <p14:creationId xmlns:p14="http://schemas.microsoft.com/office/powerpoint/2010/main" val="223173737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In the case of an array, the new operator returns the address of the first element of the array.</a:t>
            </a:r>
          </a:p>
          <a:p>
            <a:endParaRPr lang="en-US" dirty="0"/>
          </a:p>
          <a:p>
            <a:r>
              <a:rPr lang="en-US" dirty="0"/>
              <a:t>From the example above, we can see that the syntax for using the new operator is</a:t>
            </a:r>
          </a:p>
          <a:p>
            <a:endParaRPr lang="en-US" dirty="0"/>
          </a:p>
          <a:p>
            <a:pPr marL="0" indent="0">
              <a:buNone/>
            </a:pPr>
            <a:r>
              <a:rPr lang="en-US" dirty="0" err="1"/>
              <a:t>pointerVariable</a:t>
            </a:r>
            <a:r>
              <a:rPr lang="en-US" dirty="0"/>
              <a:t> = new </a:t>
            </a:r>
            <a:r>
              <a:rPr lang="en-US" dirty="0" err="1"/>
              <a:t>dataType</a:t>
            </a:r>
            <a:r>
              <a:rPr lang="en-US" dirty="0"/>
              <a:t>;</a:t>
            </a:r>
          </a:p>
        </p:txBody>
      </p:sp>
    </p:spTree>
    <p:extLst>
      <p:ext uri="{BB962C8B-B14F-4D97-AF65-F5344CB8AC3E}">
        <p14:creationId xmlns:p14="http://schemas.microsoft.com/office/powerpoint/2010/main" val="21186779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delete Operator</a:t>
            </a:r>
            <a:br>
              <a:rPr lang="en-US" b="1" dirty="0"/>
            </a:br>
            <a:endParaRPr lang="en-US" dirty="0"/>
          </a:p>
        </p:txBody>
      </p:sp>
      <p:sp>
        <p:nvSpPr>
          <p:cNvPr id="3" name="Content Placeholder 2"/>
          <p:cNvSpPr>
            <a:spLocks noGrp="1"/>
          </p:cNvSpPr>
          <p:nvPr>
            <p:ph idx="1"/>
          </p:nvPr>
        </p:nvSpPr>
        <p:spPr>
          <a:xfrm>
            <a:off x="677334" y="2160589"/>
            <a:ext cx="4916642" cy="3880773"/>
          </a:xfrm>
        </p:spPr>
        <p:txBody>
          <a:bodyPr/>
          <a:lstStyle/>
          <a:p>
            <a:r>
              <a:rPr lang="en-US" dirty="0"/>
              <a:t>Once we no longer need to use a variable that we have declared dynamically, we can deallocate the memory occupied by the variable.</a:t>
            </a:r>
          </a:p>
          <a:p>
            <a:endParaRPr lang="en-US" dirty="0"/>
          </a:p>
          <a:p>
            <a:r>
              <a:rPr lang="en-US" dirty="0"/>
              <a:t>For this, the delete operator is used. It returns the memory to the operating system. This is known as memory deallocation.</a:t>
            </a:r>
          </a:p>
          <a:p>
            <a:r>
              <a:rPr lang="en-US" dirty="0"/>
              <a:t>The syntax for this operator is</a:t>
            </a:r>
          </a:p>
          <a:p>
            <a:pPr marL="0" indent="0">
              <a:buNone/>
            </a:pPr>
            <a:r>
              <a:rPr lang="en-US" dirty="0"/>
              <a:t>delete </a:t>
            </a:r>
            <a:r>
              <a:rPr lang="en-US" dirty="0" err="1"/>
              <a:t>pointerVariable</a:t>
            </a:r>
            <a:r>
              <a:rPr lang="en-US" dirty="0"/>
              <a:t>;</a:t>
            </a:r>
          </a:p>
        </p:txBody>
      </p:sp>
      <p:sp>
        <p:nvSpPr>
          <p:cNvPr id="5" name="TextBox 4"/>
          <p:cNvSpPr txBox="1"/>
          <p:nvPr/>
        </p:nvSpPr>
        <p:spPr>
          <a:xfrm>
            <a:off x="5728447" y="2160589"/>
            <a:ext cx="5459506" cy="4247317"/>
          </a:xfrm>
          <a:prstGeom prst="rect">
            <a:avLst/>
          </a:prstGeom>
          <a:noFill/>
        </p:spPr>
        <p:txBody>
          <a:bodyPr wrap="square" rtlCol="0">
            <a:spAutoFit/>
          </a:bodyPr>
          <a:lstStyle/>
          <a:p>
            <a:r>
              <a:rPr lang="en-US"/>
              <a:t>// declare an int pointer</a:t>
            </a:r>
          </a:p>
          <a:p>
            <a:r>
              <a:rPr lang="en-US"/>
              <a:t>int* pointVar;</a:t>
            </a:r>
          </a:p>
          <a:p>
            <a:endParaRPr lang="en-US"/>
          </a:p>
          <a:p>
            <a:r>
              <a:rPr lang="en-US"/>
              <a:t>// dynamically allocate memory</a:t>
            </a:r>
          </a:p>
          <a:p>
            <a:r>
              <a:rPr lang="en-US"/>
              <a:t>// for an int variable </a:t>
            </a:r>
          </a:p>
          <a:p>
            <a:r>
              <a:rPr lang="en-US"/>
              <a:t>pointVar = new int;</a:t>
            </a:r>
          </a:p>
          <a:p>
            <a:endParaRPr lang="en-US"/>
          </a:p>
          <a:p>
            <a:r>
              <a:rPr lang="en-US"/>
              <a:t>// assign value to the variable memory</a:t>
            </a:r>
          </a:p>
          <a:p>
            <a:r>
              <a:rPr lang="en-US"/>
              <a:t>*pointVar = 45;</a:t>
            </a:r>
          </a:p>
          <a:p>
            <a:endParaRPr lang="en-US"/>
          </a:p>
          <a:p>
            <a:r>
              <a:rPr lang="en-US"/>
              <a:t>// print the value stored in memory</a:t>
            </a:r>
          </a:p>
          <a:p>
            <a:r>
              <a:rPr lang="en-US"/>
              <a:t>cout &lt;&lt; *pointVar; // Output: 45</a:t>
            </a:r>
          </a:p>
          <a:p>
            <a:endParaRPr lang="en-US"/>
          </a:p>
          <a:p>
            <a:r>
              <a:rPr lang="en-US"/>
              <a:t>// deallocate the memory</a:t>
            </a:r>
          </a:p>
          <a:p>
            <a:r>
              <a:rPr lang="en-US"/>
              <a:t>delete pointVar;</a:t>
            </a:r>
            <a:endParaRPr lang="en-US" dirty="0"/>
          </a:p>
        </p:txBody>
      </p:sp>
    </p:spTree>
    <p:extLst>
      <p:ext uri="{BB962C8B-B14F-4D97-AF65-F5344CB8AC3E}">
        <p14:creationId xmlns:p14="http://schemas.microsoft.com/office/powerpoint/2010/main" val="167682978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Here, we have dynamically allocated memory for an </a:t>
            </a:r>
            <a:r>
              <a:rPr lang="en-US" dirty="0" err="1"/>
              <a:t>int</a:t>
            </a:r>
            <a:r>
              <a:rPr lang="en-US" dirty="0"/>
              <a:t> variable using the pointer </a:t>
            </a:r>
            <a:r>
              <a:rPr lang="en-US" dirty="0" err="1"/>
              <a:t>pointVar</a:t>
            </a:r>
            <a:r>
              <a:rPr lang="en-US" dirty="0"/>
              <a:t>.</a:t>
            </a:r>
          </a:p>
          <a:p>
            <a:endParaRPr lang="en-US" dirty="0"/>
          </a:p>
          <a:p>
            <a:r>
              <a:rPr lang="en-US" dirty="0"/>
              <a:t>After printing the contents of </a:t>
            </a:r>
            <a:r>
              <a:rPr lang="en-US" dirty="0" err="1"/>
              <a:t>pointVar</a:t>
            </a:r>
            <a:r>
              <a:rPr lang="en-US" dirty="0"/>
              <a:t>, we deallocated the memory using delete</a:t>
            </a:r>
          </a:p>
          <a:p>
            <a:r>
              <a:rPr lang="en-US" dirty="0"/>
              <a:t>If the program uses a large amount of unwanted memory using new, the system may crash because there will be no memory available for the operating system. In this case, the delete operator can help the system from crash.</a:t>
            </a:r>
          </a:p>
        </p:txBody>
      </p:sp>
    </p:spTree>
    <p:extLst>
      <p:ext uri="{BB962C8B-B14F-4D97-AF65-F5344CB8AC3E}">
        <p14:creationId xmlns:p14="http://schemas.microsoft.com/office/powerpoint/2010/main" val="292274254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0"/>
            <a:ext cx="8596668" cy="1320800"/>
          </a:xfrm>
        </p:spPr>
        <p:txBody>
          <a:bodyPr>
            <a:normAutofit fontScale="90000"/>
          </a:bodyPr>
          <a:lstStyle/>
          <a:p>
            <a:r>
              <a:rPr lang="en-US" b="1" dirty="0"/>
              <a:t>Example 1: C++ Dynamic Memory Allocation</a:t>
            </a:r>
            <a:br>
              <a:rPr lang="en-US" b="1" dirty="0"/>
            </a:br>
            <a:endParaRPr lang="en-US" dirty="0"/>
          </a:p>
        </p:txBody>
      </p:sp>
      <p:sp>
        <p:nvSpPr>
          <p:cNvPr id="3" name="Content Placeholder 2"/>
          <p:cNvSpPr>
            <a:spLocks noGrp="1"/>
          </p:cNvSpPr>
          <p:nvPr>
            <p:ph idx="1"/>
          </p:nvPr>
        </p:nvSpPr>
        <p:spPr>
          <a:xfrm>
            <a:off x="677334" y="660400"/>
            <a:ext cx="6328584" cy="5592482"/>
          </a:xfrm>
        </p:spPr>
        <p:txBody>
          <a:bodyPr>
            <a:noAutofit/>
          </a:bodyPr>
          <a:lstStyle/>
          <a:p>
            <a:pPr marL="0" indent="0">
              <a:buNone/>
            </a:pPr>
            <a:r>
              <a:rPr lang="en-US" sz="1600" dirty="0"/>
              <a:t>#include &lt;</a:t>
            </a:r>
            <a:r>
              <a:rPr lang="en-US" sz="1600" dirty="0" err="1"/>
              <a:t>iostream</a:t>
            </a:r>
            <a:r>
              <a:rPr lang="en-US" sz="1600" dirty="0"/>
              <a:t>&gt;</a:t>
            </a:r>
          </a:p>
          <a:p>
            <a:pPr marL="0" indent="0">
              <a:buNone/>
            </a:pPr>
            <a:r>
              <a:rPr lang="en-US" sz="1600" dirty="0"/>
              <a:t>using namespace </a:t>
            </a:r>
            <a:r>
              <a:rPr lang="en-US" sz="1600" dirty="0" err="1"/>
              <a:t>std</a:t>
            </a:r>
            <a:r>
              <a:rPr lang="en-US" sz="1600" dirty="0"/>
              <a:t>;</a:t>
            </a:r>
          </a:p>
          <a:p>
            <a:pPr marL="0" indent="0">
              <a:buNone/>
            </a:pPr>
            <a:r>
              <a:rPr lang="en-US" sz="1600" dirty="0" err="1"/>
              <a:t>int</a:t>
            </a:r>
            <a:r>
              <a:rPr lang="en-US" sz="1600" dirty="0"/>
              <a:t> main() {</a:t>
            </a:r>
          </a:p>
          <a:p>
            <a:pPr marL="0" indent="0">
              <a:buNone/>
            </a:pPr>
            <a:r>
              <a:rPr lang="en-US" sz="1600" dirty="0" err="1"/>
              <a:t>int</a:t>
            </a:r>
            <a:r>
              <a:rPr lang="en-US" sz="1600" dirty="0"/>
              <a:t>* </a:t>
            </a:r>
            <a:r>
              <a:rPr lang="en-US" sz="1600" dirty="0" err="1"/>
              <a:t>pointInt</a:t>
            </a:r>
            <a:r>
              <a:rPr lang="en-US" sz="1600" dirty="0"/>
              <a:t>; // declare an </a:t>
            </a:r>
            <a:r>
              <a:rPr lang="en-US" sz="1600" dirty="0" err="1"/>
              <a:t>int</a:t>
            </a:r>
            <a:r>
              <a:rPr lang="en-US" sz="1600" dirty="0"/>
              <a:t> pointer</a:t>
            </a:r>
          </a:p>
          <a:p>
            <a:pPr marL="0" indent="0">
              <a:buNone/>
            </a:pPr>
            <a:r>
              <a:rPr lang="en-US" sz="1600" dirty="0"/>
              <a:t>float* </a:t>
            </a:r>
            <a:r>
              <a:rPr lang="en-US" sz="1600" dirty="0" err="1"/>
              <a:t>pointFloat</a:t>
            </a:r>
            <a:r>
              <a:rPr lang="en-US" sz="1600" dirty="0"/>
              <a:t>; // declare a float pointer</a:t>
            </a:r>
          </a:p>
          <a:p>
            <a:pPr marL="0" indent="0">
              <a:buNone/>
            </a:pPr>
            <a:r>
              <a:rPr lang="en-US" sz="1600" dirty="0" err="1"/>
              <a:t>pointInt</a:t>
            </a:r>
            <a:r>
              <a:rPr lang="en-US" sz="1600" dirty="0"/>
              <a:t> = new </a:t>
            </a:r>
            <a:r>
              <a:rPr lang="en-US" sz="1600" dirty="0" err="1"/>
              <a:t>int</a:t>
            </a:r>
            <a:r>
              <a:rPr lang="en-US" sz="1600" dirty="0"/>
              <a:t>; // dynamically allocate memory</a:t>
            </a:r>
          </a:p>
          <a:p>
            <a:pPr marL="0" indent="0">
              <a:buNone/>
            </a:pPr>
            <a:r>
              <a:rPr lang="en-US" sz="1600" dirty="0" err="1"/>
              <a:t>pointFloat</a:t>
            </a:r>
            <a:r>
              <a:rPr lang="en-US" sz="1600" dirty="0"/>
              <a:t> = new float;</a:t>
            </a:r>
          </a:p>
          <a:p>
            <a:pPr marL="0" indent="0">
              <a:buNone/>
            </a:pPr>
            <a:r>
              <a:rPr lang="en-US" sz="1600" dirty="0"/>
              <a:t>*</a:t>
            </a:r>
            <a:r>
              <a:rPr lang="en-US" sz="1600" dirty="0" err="1"/>
              <a:t>pointInt</a:t>
            </a:r>
            <a:r>
              <a:rPr lang="en-US" sz="1600" dirty="0"/>
              <a:t> = 45;// assigning value to the memory</a:t>
            </a:r>
          </a:p>
          <a:p>
            <a:pPr marL="0" indent="0">
              <a:buNone/>
            </a:pPr>
            <a:r>
              <a:rPr lang="en-US" sz="1600" dirty="0"/>
              <a:t>*</a:t>
            </a:r>
            <a:r>
              <a:rPr lang="en-US" sz="1600" dirty="0" err="1"/>
              <a:t>pointFloat</a:t>
            </a:r>
            <a:r>
              <a:rPr lang="en-US" sz="1600" dirty="0"/>
              <a:t> = 45.45f;</a:t>
            </a:r>
          </a:p>
          <a:p>
            <a:pPr marL="0" indent="0">
              <a:buNone/>
            </a:pPr>
            <a:r>
              <a:rPr lang="en-US" sz="1600" dirty="0"/>
              <a:t> </a:t>
            </a:r>
            <a:r>
              <a:rPr lang="en-US" sz="1600" dirty="0" err="1"/>
              <a:t>cout</a:t>
            </a:r>
            <a:r>
              <a:rPr lang="en-US" sz="1600" dirty="0"/>
              <a:t> &lt;&lt; *</a:t>
            </a:r>
            <a:r>
              <a:rPr lang="en-US" sz="1600" dirty="0" err="1"/>
              <a:t>pointInt</a:t>
            </a:r>
            <a:r>
              <a:rPr lang="en-US" sz="1600" dirty="0"/>
              <a:t> &lt;&lt; </a:t>
            </a:r>
            <a:r>
              <a:rPr lang="en-US" sz="1600" dirty="0" err="1"/>
              <a:t>endl</a:t>
            </a:r>
            <a:r>
              <a:rPr lang="en-US" sz="1600" dirty="0"/>
              <a:t>;</a:t>
            </a:r>
          </a:p>
          <a:p>
            <a:pPr marL="0" indent="0">
              <a:buNone/>
            </a:pPr>
            <a:r>
              <a:rPr lang="en-US" sz="1600" dirty="0"/>
              <a:t> </a:t>
            </a:r>
            <a:r>
              <a:rPr lang="en-US" sz="1600" dirty="0" err="1"/>
              <a:t>cout</a:t>
            </a:r>
            <a:r>
              <a:rPr lang="en-US" sz="1600" dirty="0"/>
              <a:t> &lt;&lt; *</a:t>
            </a:r>
            <a:r>
              <a:rPr lang="en-US" sz="1600" dirty="0" err="1"/>
              <a:t>pointFloat</a:t>
            </a:r>
            <a:r>
              <a:rPr lang="en-US" sz="1600" dirty="0"/>
              <a:t> &lt;&lt; </a:t>
            </a:r>
            <a:r>
              <a:rPr lang="en-US" sz="1600" dirty="0" err="1"/>
              <a:t>endl</a:t>
            </a:r>
            <a:r>
              <a:rPr lang="en-US" sz="1600" dirty="0"/>
              <a:t>;</a:t>
            </a:r>
          </a:p>
          <a:p>
            <a:pPr marL="0" indent="0">
              <a:buNone/>
            </a:pPr>
            <a:r>
              <a:rPr lang="en-US" sz="1600" dirty="0"/>
              <a:t>delete </a:t>
            </a:r>
            <a:r>
              <a:rPr lang="en-US" sz="1600" dirty="0" err="1"/>
              <a:t>pointInt</a:t>
            </a:r>
            <a:r>
              <a:rPr lang="en-US" sz="1600" dirty="0"/>
              <a:t>;// deallocate the memory</a:t>
            </a:r>
          </a:p>
          <a:p>
            <a:pPr marL="0" indent="0">
              <a:buNone/>
            </a:pPr>
            <a:r>
              <a:rPr lang="en-US" sz="1600" dirty="0"/>
              <a:t>delete </a:t>
            </a:r>
            <a:r>
              <a:rPr lang="en-US" sz="1600" dirty="0" err="1"/>
              <a:t>pointFloat</a:t>
            </a:r>
            <a:r>
              <a:rPr lang="en-US" sz="1600" dirty="0"/>
              <a:t>;</a:t>
            </a:r>
          </a:p>
          <a:p>
            <a:pPr marL="0" indent="0">
              <a:buNone/>
            </a:pPr>
            <a:r>
              <a:rPr lang="en-US" sz="1600" dirty="0"/>
              <a:t>  return 0;</a:t>
            </a:r>
          </a:p>
          <a:p>
            <a:pPr marL="0" indent="0">
              <a:buNone/>
            </a:pPr>
            <a:r>
              <a:rPr lang="en-US" sz="1600" dirty="0"/>
              <a:t>}</a:t>
            </a:r>
          </a:p>
        </p:txBody>
      </p:sp>
      <p:sp>
        <p:nvSpPr>
          <p:cNvPr id="4" name="TextBox 3"/>
          <p:cNvSpPr txBox="1"/>
          <p:nvPr/>
        </p:nvSpPr>
        <p:spPr>
          <a:xfrm>
            <a:off x="8713694" y="1815353"/>
            <a:ext cx="1788459" cy="1200329"/>
          </a:xfrm>
          <a:prstGeom prst="rect">
            <a:avLst/>
          </a:prstGeom>
          <a:noFill/>
        </p:spPr>
        <p:txBody>
          <a:bodyPr wrap="square" rtlCol="0">
            <a:spAutoFit/>
          </a:bodyPr>
          <a:lstStyle/>
          <a:p>
            <a:r>
              <a:rPr lang="en-US"/>
              <a:t>Output</a:t>
            </a:r>
          </a:p>
          <a:p>
            <a:endParaRPr lang="en-US"/>
          </a:p>
          <a:p>
            <a:r>
              <a:rPr lang="en-US"/>
              <a:t>45</a:t>
            </a:r>
          </a:p>
          <a:p>
            <a:r>
              <a:rPr lang="en-US"/>
              <a:t>45.45</a:t>
            </a:r>
            <a:endParaRPr lang="en-US" dirty="0"/>
          </a:p>
        </p:txBody>
      </p:sp>
    </p:spTree>
    <p:extLst>
      <p:ext uri="{BB962C8B-B14F-4D97-AF65-F5344CB8AC3E}">
        <p14:creationId xmlns:p14="http://schemas.microsoft.com/office/powerpoint/2010/main" val="104200056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In this program, we dynamically allocated memory to two variables of </a:t>
            </a:r>
            <a:r>
              <a:rPr lang="en-US" dirty="0" err="1"/>
              <a:t>int</a:t>
            </a:r>
            <a:r>
              <a:rPr lang="en-US" dirty="0"/>
              <a:t> and float types. After assigning values to them and printing them, we finally deallocate the memories using the code</a:t>
            </a:r>
          </a:p>
          <a:p>
            <a:pPr marL="0" indent="0">
              <a:buNone/>
            </a:pPr>
            <a:r>
              <a:rPr lang="en-US" dirty="0"/>
              <a:t>delete </a:t>
            </a:r>
            <a:r>
              <a:rPr lang="en-US" dirty="0" err="1"/>
              <a:t>pointInt</a:t>
            </a:r>
            <a:r>
              <a:rPr lang="en-US" dirty="0"/>
              <a:t>;</a:t>
            </a:r>
          </a:p>
          <a:p>
            <a:pPr marL="0" indent="0">
              <a:buNone/>
            </a:pPr>
            <a:r>
              <a:rPr lang="en-US" dirty="0"/>
              <a:t>delete </a:t>
            </a:r>
            <a:r>
              <a:rPr lang="en-US" dirty="0" err="1"/>
              <a:t>pointFloat</a:t>
            </a:r>
            <a:r>
              <a:rPr lang="en-US" dirty="0"/>
              <a:t>;</a:t>
            </a:r>
          </a:p>
          <a:p>
            <a:r>
              <a:rPr lang="en-US" dirty="0"/>
              <a:t>Dynamic memory allocation can make memory management more efficient.</a:t>
            </a:r>
          </a:p>
          <a:p>
            <a:pPr marL="0" indent="0">
              <a:buNone/>
            </a:pPr>
            <a:r>
              <a:rPr lang="en-US" dirty="0"/>
              <a:t>Especially for arrays, where a lot of the times we don't know the size of the array until the run time.</a:t>
            </a:r>
          </a:p>
        </p:txBody>
      </p:sp>
    </p:spTree>
    <p:extLst>
      <p:ext uri="{BB962C8B-B14F-4D97-AF65-F5344CB8AC3E}">
        <p14:creationId xmlns:p14="http://schemas.microsoft.com/office/powerpoint/2010/main" val="86083255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on Delete Operator</a:t>
            </a:r>
            <a:endParaRPr lang="en-US" dirty="0"/>
          </a:p>
        </p:txBody>
      </p:sp>
      <p:sp>
        <p:nvSpPr>
          <p:cNvPr id="3" name="Content Placeholder 2"/>
          <p:cNvSpPr>
            <a:spLocks noGrp="1"/>
          </p:cNvSpPr>
          <p:nvPr>
            <p:ph idx="1"/>
          </p:nvPr>
        </p:nvSpPr>
        <p:spPr/>
        <p:txBody>
          <a:bodyPr>
            <a:normAutofit fontScale="77500" lnSpcReduction="20000"/>
          </a:bodyPr>
          <a:lstStyle/>
          <a:p>
            <a:r>
              <a:rPr lang="en-US" dirty="0"/>
              <a:t>A destructor and delete are related, but they do different </a:t>
            </a:r>
            <a:r>
              <a:rPr lang="en-US" dirty="0" err="1"/>
              <a:t>jobs.Destructor</a:t>
            </a:r>
            <a:r>
              <a:rPr lang="en-US" dirty="0"/>
              <a:t> (~</a:t>
            </a:r>
            <a:r>
              <a:rPr lang="en-US" dirty="0" err="1"/>
              <a:t>ClassName</a:t>
            </a:r>
            <a:r>
              <a:rPr lang="en-US" dirty="0"/>
              <a:t>()): Cleans up the resources owned by an </a:t>
            </a:r>
            <a:r>
              <a:rPr lang="en-US" dirty="0" err="1"/>
              <a:t>object.delete</a:t>
            </a:r>
            <a:r>
              <a:rPr lang="en-US" dirty="0"/>
              <a:t>: Frees </a:t>
            </a:r>
            <a:r>
              <a:rPr lang="en-US" dirty="0" smtClean="0"/>
              <a:t>dynamically </a:t>
            </a:r>
            <a:r>
              <a:rPr lang="en-US" dirty="0"/>
              <a:t>allocated memory and automatically calls the destructor</a:t>
            </a:r>
            <a:r>
              <a:rPr lang="en-US" dirty="0" smtClean="0"/>
              <a:t>.</a:t>
            </a:r>
          </a:p>
          <a:p>
            <a:pPr marL="0" indent="0">
              <a:buNone/>
            </a:pPr>
            <a:r>
              <a:rPr lang="en-US" dirty="0"/>
              <a:t>class Test {</a:t>
            </a:r>
          </a:p>
          <a:p>
            <a:pPr marL="0" indent="0">
              <a:buNone/>
            </a:pPr>
            <a:r>
              <a:rPr lang="en-US" dirty="0"/>
              <a:t>public:</a:t>
            </a:r>
          </a:p>
          <a:p>
            <a:pPr marL="0" indent="0">
              <a:buNone/>
            </a:pPr>
            <a:r>
              <a:rPr lang="en-US" dirty="0"/>
              <a:t>    ~Test() {</a:t>
            </a:r>
          </a:p>
          <a:p>
            <a:pPr marL="0" indent="0">
              <a:buNone/>
            </a:pPr>
            <a:r>
              <a:rPr lang="en-US" dirty="0"/>
              <a:t>        </a:t>
            </a:r>
            <a:r>
              <a:rPr lang="en-US" dirty="0" err="1"/>
              <a:t>cout</a:t>
            </a:r>
            <a:r>
              <a:rPr lang="en-US" dirty="0"/>
              <a:t> &lt;&lt; "Destructor called\n";</a:t>
            </a:r>
          </a:p>
          <a:p>
            <a:pPr marL="0" indent="0">
              <a:buNone/>
            </a:pPr>
            <a:r>
              <a:rPr lang="en-US" dirty="0"/>
              <a:t>    }</a:t>
            </a:r>
          </a:p>
          <a:p>
            <a:pPr marL="0" indent="0">
              <a:buNone/>
            </a:pPr>
            <a:r>
              <a:rPr lang="en-US" dirty="0"/>
              <a:t>};</a:t>
            </a:r>
          </a:p>
          <a:p>
            <a:pPr marL="0" indent="0">
              <a:buNone/>
            </a:pPr>
            <a:endParaRPr lang="en-US" dirty="0"/>
          </a:p>
          <a:p>
            <a:pPr marL="0" indent="0">
              <a:buNone/>
            </a:pPr>
            <a:r>
              <a:rPr lang="en-US" dirty="0" err="1"/>
              <a:t>int</a:t>
            </a:r>
            <a:r>
              <a:rPr lang="en-US" dirty="0"/>
              <a:t> main() {</a:t>
            </a:r>
          </a:p>
          <a:p>
            <a:pPr marL="0" indent="0">
              <a:buNone/>
            </a:pPr>
            <a:r>
              <a:rPr lang="en-US" dirty="0"/>
              <a:t>    Test </a:t>
            </a:r>
            <a:r>
              <a:rPr lang="en-US" dirty="0" err="1"/>
              <a:t>obj</a:t>
            </a:r>
            <a:r>
              <a:rPr lang="en-US" dirty="0"/>
              <a:t>;   // Stack object</a:t>
            </a:r>
          </a:p>
          <a:p>
            <a:pPr marL="0" indent="0">
              <a:buNone/>
            </a:pPr>
            <a:r>
              <a:rPr lang="en-US" dirty="0"/>
              <a:t>} // Destructor is called automatically here. </a:t>
            </a:r>
            <a:r>
              <a:rPr lang="en-US" dirty="0" smtClean="0"/>
              <a:t>we </a:t>
            </a:r>
            <a:r>
              <a:rPr lang="en-US" dirty="0"/>
              <a:t>do not use delete here because </a:t>
            </a:r>
            <a:r>
              <a:rPr lang="en-US" dirty="0" err="1"/>
              <a:t>obj</a:t>
            </a:r>
            <a:r>
              <a:rPr lang="en-US" dirty="0"/>
              <a:t> was not created with new.</a:t>
            </a:r>
          </a:p>
        </p:txBody>
      </p:sp>
    </p:spTree>
    <p:extLst>
      <p:ext uri="{BB962C8B-B14F-4D97-AF65-F5344CB8AC3E}">
        <p14:creationId xmlns:p14="http://schemas.microsoft.com/office/powerpoint/2010/main" val="2500697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77334" y="281355"/>
            <a:ext cx="8596668" cy="5760008"/>
          </a:xfrm>
        </p:spPr>
        <p:txBody>
          <a:bodyPr>
            <a:normAutofit fontScale="92500" lnSpcReduction="10000"/>
          </a:bodyPr>
          <a:lstStyle/>
          <a:p>
            <a:pPr marL="0" indent="0">
              <a:buNone/>
            </a:pPr>
            <a:r>
              <a:rPr lang="en-US" dirty="0"/>
              <a:t>class Test {</a:t>
            </a:r>
          </a:p>
          <a:p>
            <a:pPr marL="0" indent="0">
              <a:buNone/>
            </a:pPr>
            <a:r>
              <a:rPr lang="en-US" dirty="0"/>
              <a:t>public:</a:t>
            </a:r>
          </a:p>
          <a:p>
            <a:pPr marL="0" indent="0">
              <a:buNone/>
            </a:pPr>
            <a:r>
              <a:rPr lang="en-US" dirty="0"/>
              <a:t>    ~Test() {</a:t>
            </a:r>
          </a:p>
          <a:p>
            <a:pPr marL="0" indent="0">
              <a:buNone/>
            </a:pPr>
            <a:r>
              <a:rPr lang="en-US" dirty="0"/>
              <a:t>        </a:t>
            </a:r>
            <a:r>
              <a:rPr lang="en-US" dirty="0" err="1"/>
              <a:t>cout</a:t>
            </a:r>
            <a:r>
              <a:rPr lang="en-US" dirty="0"/>
              <a:t> &lt;&lt; "Destructor called\n";</a:t>
            </a:r>
          </a:p>
          <a:p>
            <a:pPr marL="0" indent="0">
              <a:buNone/>
            </a:pPr>
            <a:r>
              <a:rPr lang="en-US" dirty="0"/>
              <a:t>    }</a:t>
            </a:r>
          </a:p>
          <a:p>
            <a:pPr marL="0" indent="0">
              <a:buNone/>
            </a:pPr>
            <a:r>
              <a:rPr lang="en-US" dirty="0"/>
              <a:t>};</a:t>
            </a:r>
          </a:p>
          <a:p>
            <a:pPr marL="0" indent="0">
              <a:buNone/>
            </a:pPr>
            <a:endParaRPr lang="en-US" dirty="0"/>
          </a:p>
          <a:p>
            <a:pPr marL="0" indent="0">
              <a:buNone/>
            </a:pPr>
            <a:r>
              <a:rPr lang="en-US" dirty="0" err="1"/>
              <a:t>int</a:t>
            </a:r>
            <a:r>
              <a:rPr lang="en-US" dirty="0"/>
              <a:t> main() {</a:t>
            </a:r>
          </a:p>
          <a:p>
            <a:pPr marL="0" indent="0">
              <a:buNone/>
            </a:pPr>
            <a:r>
              <a:rPr lang="en-US" dirty="0"/>
              <a:t>    Test* </a:t>
            </a:r>
            <a:r>
              <a:rPr lang="en-US" dirty="0" err="1"/>
              <a:t>obj</a:t>
            </a:r>
            <a:r>
              <a:rPr lang="en-US" dirty="0"/>
              <a:t> = new Test;</a:t>
            </a:r>
          </a:p>
          <a:p>
            <a:pPr marL="0" indent="0">
              <a:buNone/>
            </a:pPr>
            <a:endParaRPr lang="en-US" dirty="0"/>
          </a:p>
          <a:p>
            <a:pPr marL="0" indent="0">
              <a:buNone/>
            </a:pPr>
            <a:r>
              <a:rPr lang="en-US" dirty="0"/>
              <a:t>    delete </a:t>
            </a:r>
            <a:r>
              <a:rPr lang="en-US" dirty="0" err="1"/>
              <a:t>obj</a:t>
            </a:r>
            <a:r>
              <a:rPr lang="en-US" dirty="0"/>
              <a:t>;   // Calls destructor, then frees memory.</a:t>
            </a:r>
          </a:p>
          <a:p>
            <a:pPr marL="0" indent="0">
              <a:buNone/>
            </a:pPr>
            <a:r>
              <a:rPr lang="en-US" dirty="0" smtClean="0"/>
              <a:t>}</a:t>
            </a:r>
          </a:p>
          <a:p>
            <a:pPr marL="0" indent="0">
              <a:buNone/>
            </a:pPr>
            <a:r>
              <a:rPr lang="en-US" dirty="0"/>
              <a:t>Here, delete is necessary because the object was allocated with </a:t>
            </a:r>
            <a:r>
              <a:rPr lang="en-US" dirty="0" err="1"/>
              <a:t>new.When</a:t>
            </a:r>
            <a:r>
              <a:rPr lang="en-US" dirty="0"/>
              <a:t> </a:t>
            </a:r>
            <a:r>
              <a:rPr lang="en-US" dirty="0" smtClean="0"/>
              <a:t>we </a:t>
            </a:r>
            <a:r>
              <a:rPr lang="en-US" dirty="0"/>
              <a:t>write: </a:t>
            </a:r>
            <a:endParaRPr lang="en-US" dirty="0" smtClean="0"/>
          </a:p>
          <a:p>
            <a:pPr marL="0" indent="0">
              <a:buNone/>
            </a:pPr>
            <a:r>
              <a:rPr lang="en-US" dirty="0" smtClean="0"/>
              <a:t>delete </a:t>
            </a:r>
            <a:r>
              <a:rPr lang="en-US" dirty="0" err="1"/>
              <a:t>obj</a:t>
            </a:r>
            <a:r>
              <a:rPr lang="en-US" dirty="0" smtClean="0"/>
              <a:t>;</a:t>
            </a:r>
          </a:p>
          <a:p>
            <a:pPr marL="0" indent="0">
              <a:buNone/>
            </a:pPr>
            <a:r>
              <a:rPr lang="en-US" dirty="0"/>
              <a:t>the following </a:t>
            </a:r>
            <a:r>
              <a:rPr lang="en-US" dirty="0" err="1"/>
              <a:t>happens:The</a:t>
            </a:r>
            <a:r>
              <a:rPr lang="en-US" dirty="0"/>
              <a:t> destructor ~Test() is </a:t>
            </a:r>
            <a:r>
              <a:rPr lang="en-US" dirty="0" err="1"/>
              <a:t>called.The</a:t>
            </a:r>
            <a:r>
              <a:rPr lang="en-US" dirty="0"/>
              <a:t> memory occupied by the object is released back to the system.</a:t>
            </a:r>
          </a:p>
        </p:txBody>
      </p:sp>
    </p:spTree>
    <p:extLst>
      <p:ext uri="{BB962C8B-B14F-4D97-AF65-F5344CB8AC3E}">
        <p14:creationId xmlns:p14="http://schemas.microsoft.com/office/powerpoint/2010/main" val="686009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0618" y="222738"/>
            <a:ext cx="10040490" cy="709247"/>
          </a:xfrm>
        </p:spPr>
        <p:txBody>
          <a:bodyPr>
            <a:normAutofit fontScale="90000"/>
          </a:bodyPr>
          <a:lstStyle/>
          <a:p>
            <a:r>
              <a:rPr lang="en-US" dirty="0"/>
              <a:t>Why delete dynamic memory inside a destructor?</a:t>
            </a:r>
          </a:p>
        </p:txBody>
      </p:sp>
      <p:sp>
        <p:nvSpPr>
          <p:cNvPr id="3" name="Content Placeholder 2"/>
          <p:cNvSpPr>
            <a:spLocks noGrp="1"/>
          </p:cNvSpPr>
          <p:nvPr>
            <p:ph idx="1"/>
          </p:nvPr>
        </p:nvSpPr>
        <p:spPr>
          <a:xfrm>
            <a:off x="677334" y="931985"/>
            <a:ext cx="10928512" cy="5109377"/>
          </a:xfrm>
        </p:spPr>
        <p:txBody>
          <a:bodyPr>
            <a:normAutofit fontScale="92500" lnSpcReduction="20000"/>
          </a:bodyPr>
          <a:lstStyle/>
          <a:p>
            <a:pPr marL="0" indent="0">
              <a:buNone/>
            </a:pPr>
            <a:r>
              <a:rPr lang="en-US" dirty="0"/>
              <a:t>class Array {</a:t>
            </a:r>
          </a:p>
          <a:p>
            <a:pPr marL="0" indent="0">
              <a:buNone/>
            </a:pPr>
            <a:r>
              <a:rPr lang="en-US" dirty="0"/>
              <a:t>private:</a:t>
            </a:r>
          </a:p>
          <a:p>
            <a:pPr marL="0" indent="0">
              <a:buNone/>
            </a:pPr>
            <a:r>
              <a:rPr lang="en-US" dirty="0"/>
              <a:t>    </a:t>
            </a:r>
            <a:r>
              <a:rPr lang="en-US" dirty="0" err="1"/>
              <a:t>int</a:t>
            </a:r>
            <a:r>
              <a:rPr lang="en-US" dirty="0"/>
              <a:t>* data;</a:t>
            </a:r>
          </a:p>
          <a:p>
            <a:pPr marL="0" indent="0">
              <a:buNone/>
            </a:pPr>
            <a:endParaRPr lang="en-US" dirty="0"/>
          </a:p>
          <a:p>
            <a:pPr marL="0" indent="0">
              <a:buNone/>
            </a:pPr>
            <a:r>
              <a:rPr lang="en-US" dirty="0"/>
              <a:t>public:</a:t>
            </a:r>
          </a:p>
          <a:p>
            <a:pPr marL="0" indent="0">
              <a:buNone/>
            </a:pPr>
            <a:r>
              <a:rPr lang="en-US" dirty="0"/>
              <a:t>    Array(</a:t>
            </a:r>
            <a:r>
              <a:rPr lang="en-US" dirty="0" err="1"/>
              <a:t>int</a:t>
            </a:r>
            <a:r>
              <a:rPr lang="en-US" dirty="0"/>
              <a:t> size) {</a:t>
            </a:r>
          </a:p>
          <a:p>
            <a:pPr marL="0" indent="0">
              <a:buNone/>
            </a:pPr>
            <a:r>
              <a:rPr lang="en-US" dirty="0"/>
              <a:t>        data = new </a:t>
            </a:r>
            <a:r>
              <a:rPr lang="en-US" dirty="0" err="1"/>
              <a:t>int</a:t>
            </a:r>
            <a:r>
              <a:rPr lang="en-US" dirty="0"/>
              <a:t>[size];</a:t>
            </a:r>
          </a:p>
          <a:p>
            <a:pPr marL="0" indent="0">
              <a:buNone/>
            </a:pPr>
            <a:r>
              <a:rPr lang="en-US" dirty="0"/>
              <a:t>    }</a:t>
            </a:r>
          </a:p>
          <a:p>
            <a:pPr marL="0" indent="0">
              <a:buNone/>
            </a:pPr>
            <a:endParaRPr lang="en-US" dirty="0"/>
          </a:p>
          <a:p>
            <a:pPr marL="0" indent="0">
              <a:buNone/>
            </a:pPr>
            <a:r>
              <a:rPr lang="en-US" dirty="0"/>
              <a:t>    ~Array() {</a:t>
            </a:r>
          </a:p>
          <a:p>
            <a:pPr marL="0" indent="0">
              <a:buNone/>
            </a:pPr>
            <a:r>
              <a:rPr lang="en-US" dirty="0"/>
              <a:t>        delete[] data;   // Free the allocated array</a:t>
            </a:r>
          </a:p>
          <a:p>
            <a:pPr marL="0" indent="0">
              <a:buNone/>
            </a:pPr>
            <a:r>
              <a:rPr lang="en-US" dirty="0"/>
              <a:t>    }</a:t>
            </a:r>
          </a:p>
          <a:p>
            <a:pPr marL="0" indent="0">
              <a:buNone/>
            </a:pPr>
            <a:r>
              <a:rPr lang="en-US" dirty="0" smtClean="0"/>
              <a:t>};</a:t>
            </a:r>
          </a:p>
          <a:p>
            <a:pPr marL="0" indent="0">
              <a:buNone/>
            </a:pPr>
            <a:r>
              <a:rPr lang="en-US" dirty="0"/>
              <a:t>The object (Array) may be destroyed automatically or by </a:t>
            </a:r>
            <a:r>
              <a:rPr lang="en-US" dirty="0" err="1"/>
              <a:t>delete.But</a:t>
            </a:r>
            <a:r>
              <a:rPr lang="en-US" dirty="0"/>
              <a:t> the memory pointed to by data is separate from the object </a:t>
            </a:r>
            <a:r>
              <a:rPr lang="en-US" dirty="0" err="1"/>
              <a:t>itself.If</a:t>
            </a:r>
            <a:r>
              <a:rPr lang="en-US" dirty="0"/>
              <a:t> you don't delete[] data in the destructor, that memory remains allocated even after the object is destroyed—a memory leak.</a:t>
            </a:r>
          </a:p>
        </p:txBody>
      </p:sp>
    </p:spTree>
    <p:extLst>
      <p:ext uri="{BB962C8B-B14F-4D97-AF65-F5344CB8AC3E}">
        <p14:creationId xmlns:p14="http://schemas.microsoft.com/office/powerpoint/2010/main" val="32105785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149" y="108439"/>
            <a:ext cx="8596668" cy="735623"/>
          </a:xfrm>
        </p:spPr>
        <p:txBody>
          <a:bodyPr/>
          <a:lstStyle/>
          <a:p>
            <a:r>
              <a:rPr lang="en-US" dirty="0" smtClean="0"/>
              <a:t>Memory </a:t>
            </a:r>
            <a:r>
              <a:rPr lang="en-US" dirty="0"/>
              <a:t>leak</a:t>
            </a:r>
          </a:p>
        </p:txBody>
      </p:sp>
      <p:sp>
        <p:nvSpPr>
          <p:cNvPr id="3" name="Content Placeholder 2"/>
          <p:cNvSpPr>
            <a:spLocks noGrp="1"/>
          </p:cNvSpPr>
          <p:nvPr>
            <p:ph idx="1"/>
          </p:nvPr>
        </p:nvSpPr>
        <p:spPr>
          <a:xfrm>
            <a:off x="431149" y="2242038"/>
            <a:ext cx="9398651" cy="3640016"/>
          </a:xfrm>
        </p:spPr>
        <p:txBody>
          <a:bodyPr numCol="2">
            <a:normAutofit fontScale="92500" lnSpcReduction="10000"/>
          </a:bodyPr>
          <a:lstStyle/>
          <a:p>
            <a:pPr marL="0" indent="0">
              <a:buNone/>
            </a:pPr>
            <a:r>
              <a:rPr lang="en-US" dirty="0"/>
              <a:t>class Demo {</a:t>
            </a:r>
          </a:p>
          <a:p>
            <a:pPr marL="0" indent="0">
              <a:buNone/>
            </a:pPr>
            <a:r>
              <a:rPr lang="en-US" dirty="0"/>
              <a:t>    </a:t>
            </a:r>
            <a:r>
              <a:rPr lang="en-US" dirty="0" err="1"/>
              <a:t>int</a:t>
            </a:r>
            <a:r>
              <a:rPr lang="en-US" dirty="0"/>
              <a:t>* </a:t>
            </a:r>
            <a:r>
              <a:rPr lang="en-US" dirty="0" err="1"/>
              <a:t>ptr</a:t>
            </a:r>
            <a:r>
              <a:rPr lang="en-US" dirty="0" smtClean="0"/>
              <a:t>;</a:t>
            </a:r>
            <a:endParaRPr lang="en-US" dirty="0"/>
          </a:p>
          <a:p>
            <a:pPr marL="0" indent="0">
              <a:buNone/>
            </a:pPr>
            <a:r>
              <a:rPr lang="en-US" dirty="0"/>
              <a:t>public:</a:t>
            </a:r>
          </a:p>
          <a:p>
            <a:pPr marL="0" indent="0">
              <a:buNone/>
            </a:pPr>
            <a:r>
              <a:rPr lang="en-US" dirty="0"/>
              <a:t>    Demo() {</a:t>
            </a:r>
          </a:p>
          <a:p>
            <a:pPr marL="0" indent="0">
              <a:buNone/>
            </a:pPr>
            <a:r>
              <a:rPr lang="en-US" dirty="0"/>
              <a:t>        </a:t>
            </a:r>
            <a:r>
              <a:rPr lang="en-US" dirty="0" err="1"/>
              <a:t>ptr</a:t>
            </a:r>
            <a:r>
              <a:rPr lang="en-US" dirty="0"/>
              <a:t> = new </a:t>
            </a:r>
            <a:r>
              <a:rPr lang="en-US" dirty="0" err="1"/>
              <a:t>int</a:t>
            </a:r>
            <a:r>
              <a:rPr lang="en-US" dirty="0"/>
              <a:t>(10);</a:t>
            </a:r>
          </a:p>
          <a:p>
            <a:pPr marL="0" indent="0">
              <a:buNone/>
            </a:pPr>
            <a:r>
              <a:rPr lang="en-US" dirty="0"/>
              <a:t>    </a:t>
            </a:r>
            <a:r>
              <a:rPr lang="en-US" dirty="0" smtClean="0"/>
              <a:t>}</a:t>
            </a:r>
            <a:endParaRPr lang="en-US" dirty="0"/>
          </a:p>
          <a:p>
            <a:pPr marL="0" indent="0">
              <a:buNone/>
            </a:pPr>
            <a:r>
              <a:rPr lang="en-US" dirty="0"/>
              <a:t>    ~Demo() {</a:t>
            </a:r>
          </a:p>
          <a:p>
            <a:pPr marL="0" indent="0">
              <a:buNone/>
            </a:pPr>
            <a:r>
              <a:rPr lang="en-US" dirty="0"/>
              <a:t>        // Nothing here</a:t>
            </a:r>
          </a:p>
          <a:p>
            <a:pPr marL="0" indent="0">
              <a:buNone/>
            </a:pPr>
            <a:r>
              <a:rPr lang="en-US" dirty="0"/>
              <a:t>    }</a:t>
            </a:r>
          </a:p>
          <a:p>
            <a:pPr marL="0" indent="0">
              <a:buNone/>
            </a:pPr>
            <a:r>
              <a:rPr lang="en-US" dirty="0" smtClean="0"/>
              <a:t>};</a:t>
            </a:r>
            <a:endParaRPr lang="en-US" dirty="0"/>
          </a:p>
          <a:p>
            <a:pPr marL="0" indent="0">
              <a:buNone/>
            </a:pPr>
            <a:r>
              <a:rPr lang="en-US" dirty="0" err="1"/>
              <a:t>int</a:t>
            </a:r>
            <a:r>
              <a:rPr lang="en-US" dirty="0"/>
              <a:t> main() {</a:t>
            </a:r>
          </a:p>
          <a:p>
            <a:pPr marL="0" indent="0">
              <a:buNone/>
            </a:pPr>
            <a:r>
              <a:rPr lang="en-US" dirty="0"/>
              <a:t>    Demo d;</a:t>
            </a:r>
          </a:p>
          <a:p>
            <a:pPr marL="0" indent="0">
              <a:buNone/>
            </a:pPr>
            <a:r>
              <a:rPr lang="en-US" dirty="0" smtClean="0"/>
              <a:t>}</a:t>
            </a:r>
          </a:p>
          <a:p>
            <a:pPr marL="0" indent="0">
              <a:buNone/>
            </a:pPr>
            <a:r>
              <a:rPr lang="en-US" dirty="0"/>
              <a:t>When d is </a:t>
            </a:r>
            <a:r>
              <a:rPr lang="en-US" dirty="0" err="1"/>
              <a:t>destroyed:The</a:t>
            </a:r>
            <a:r>
              <a:rPr lang="en-US" dirty="0"/>
              <a:t> destructor </a:t>
            </a:r>
            <a:r>
              <a:rPr lang="en-US" dirty="0" err="1"/>
              <a:t>runs.The</a:t>
            </a:r>
            <a:r>
              <a:rPr lang="en-US" dirty="0"/>
              <a:t> </a:t>
            </a:r>
            <a:r>
              <a:rPr lang="en-US" dirty="0" err="1"/>
              <a:t>ptr</a:t>
            </a:r>
            <a:r>
              <a:rPr lang="en-US" dirty="0"/>
              <a:t> member itself is </a:t>
            </a:r>
            <a:r>
              <a:rPr lang="en-US" dirty="0" err="1"/>
              <a:t>destroyed.But</a:t>
            </a:r>
            <a:r>
              <a:rPr lang="en-US" dirty="0"/>
              <a:t> the integer allocated with new </a:t>
            </a:r>
            <a:r>
              <a:rPr lang="en-US" dirty="0" err="1"/>
              <a:t>int</a:t>
            </a:r>
            <a:r>
              <a:rPr lang="en-US" dirty="0"/>
              <a:t>(10) is not </a:t>
            </a:r>
            <a:r>
              <a:rPr lang="en-US" dirty="0" err="1"/>
              <a:t>freed.That</a:t>
            </a:r>
            <a:r>
              <a:rPr lang="en-US" dirty="0"/>
              <a:t> memory is leaked</a:t>
            </a:r>
            <a:r>
              <a:rPr lang="en-US" dirty="0" smtClean="0"/>
              <a:t>.</a:t>
            </a:r>
          </a:p>
          <a:p>
            <a:pPr marL="0" indent="0">
              <a:buNone/>
            </a:pPr>
            <a:r>
              <a:rPr lang="en-US" dirty="0" smtClean="0"/>
              <a:t>Correct code:</a:t>
            </a:r>
          </a:p>
          <a:p>
            <a:pPr marL="0" indent="0">
              <a:buNone/>
            </a:pPr>
            <a:r>
              <a:rPr lang="en-US" dirty="0"/>
              <a:t>~Demo() {</a:t>
            </a:r>
          </a:p>
          <a:p>
            <a:pPr marL="0" indent="0">
              <a:buNone/>
            </a:pPr>
            <a:r>
              <a:rPr lang="en-US" dirty="0"/>
              <a:t>    delete </a:t>
            </a:r>
            <a:r>
              <a:rPr lang="en-US" dirty="0" err="1"/>
              <a:t>ptr</a:t>
            </a:r>
            <a:r>
              <a:rPr lang="en-US" dirty="0"/>
              <a:t>;</a:t>
            </a:r>
          </a:p>
          <a:p>
            <a:pPr marL="0" indent="0">
              <a:buNone/>
            </a:pPr>
            <a:r>
              <a:rPr lang="en-US" dirty="0"/>
              <a:t>}</a:t>
            </a:r>
          </a:p>
        </p:txBody>
      </p:sp>
      <p:sp>
        <p:nvSpPr>
          <p:cNvPr id="4" name="TextBox 3"/>
          <p:cNvSpPr txBox="1"/>
          <p:nvPr/>
        </p:nvSpPr>
        <p:spPr>
          <a:xfrm>
            <a:off x="431149" y="669681"/>
            <a:ext cx="9134882" cy="923330"/>
          </a:xfrm>
          <a:prstGeom prst="rect">
            <a:avLst/>
          </a:prstGeom>
          <a:noFill/>
        </p:spPr>
        <p:txBody>
          <a:bodyPr wrap="square" rtlCol="0">
            <a:spAutoFit/>
          </a:bodyPr>
          <a:lstStyle/>
          <a:p>
            <a:r>
              <a:rPr lang="en-US" dirty="0"/>
              <a:t>A memory leak occurs when a program allocates memory dynamically (using new, </a:t>
            </a:r>
            <a:r>
              <a:rPr lang="en-US" dirty="0" err="1"/>
              <a:t>malloc</a:t>
            </a:r>
            <a:r>
              <a:rPr lang="en-US" dirty="0"/>
              <a:t>(), etc.) but never releases it after it's no longer needed. As a result, that memory remains unavailable for reuse until the program ends.</a:t>
            </a:r>
          </a:p>
        </p:txBody>
      </p:sp>
    </p:spTree>
    <p:extLst>
      <p:ext uri="{BB962C8B-B14F-4D97-AF65-F5344CB8AC3E}">
        <p14:creationId xmlns:p14="http://schemas.microsoft.com/office/powerpoint/2010/main" val="1544871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941" y="152400"/>
            <a:ext cx="9407443" cy="823546"/>
          </a:xfrm>
        </p:spPr>
        <p:txBody>
          <a:bodyPr>
            <a:normAutofit fontScale="90000"/>
          </a:bodyPr>
          <a:lstStyle/>
          <a:p>
            <a:r>
              <a:rPr lang="en-US" b="1" dirty="0"/>
              <a:t>Example 2: C++ new and delete Operator for Arrays</a:t>
            </a:r>
            <a:br>
              <a:rPr lang="en-US" b="1" dirty="0"/>
            </a:br>
            <a:endParaRPr lang="en-US" dirty="0"/>
          </a:p>
        </p:txBody>
      </p:sp>
      <p:sp>
        <p:nvSpPr>
          <p:cNvPr id="3" name="Content Placeholder 2"/>
          <p:cNvSpPr>
            <a:spLocks noGrp="1"/>
          </p:cNvSpPr>
          <p:nvPr>
            <p:ph idx="1"/>
          </p:nvPr>
        </p:nvSpPr>
        <p:spPr>
          <a:xfrm>
            <a:off x="0" y="1336431"/>
            <a:ext cx="12191999" cy="5398477"/>
          </a:xfrm>
        </p:spPr>
        <p:txBody>
          <a:bodyPr numCol="3">
            <a:normAutofit/>
          </a:bodyPr>
          <a:lstStyle/>
          <a:p>
            <a:r>
              <a:rPr lang="en-US" sz="2000" dirty="0"/>
              <a:t>// C++ Program to store GPA of n number of students and display it</a:t>
            </a:r>
          </a:p>
          <a:p>
            <a:r>
              <a:rPr lang="en-US" sz="2000" dirty="0"/>
              <a:t>// where n is the number of students entered by the user</a:t>
            </a:r>
          </a:p>
          <a:p>
            <a:pPr marL="0" indent="0">
              <a:buNone/>
            </a:pPr>
            <a:r>
              <a:rPr lang="en-US" sz="2000" dirty="0"/>
              <a:t>#include &lt;</a:t>
            </a:r>
            <a:r>
              <a:rPr lang="en-US" sz="2000" dirty="0" err="1"/>
              <a:t>iostream</a:t>
            </a:r>
            <a:r>
              <a:rPr lang="en-US" sz="2000" dirty="0"/>
              <a:t>&gt;</a:t>
            </a:r>
          </a:p>
          <a:p>
            <a:pPr marL="0" indent="0">
              <a:buNone/>
            </a:pPr>
            <a:r>
              <a:rPr lang="en-US" sz="2000" dirty="0"/>
              <a:t>using namespace </a:t>
            </a:r>
            <a:r>
              <a:rPr lang="en-US" sz="2000" dirty="0" err="1"/>
              <a:t>std</a:t>
            </a:r>
            <a:r>
              <a:rPr lang="en-US" sz="2000" dirty="0"/>
              <a:t>;</a:t>
            </a:r>
          </a:p>
          <a:p>
            <a:pPr marL="0" indent="0">
              <a:buNone/>
            </a:pPr>
            <a:r>
              <a:rPr lang="en-US" sz="2000" dirty="0" err="1"/>
              <a:t>int</a:t>
            </a:r>
            <a:r>
              <a:rPr lang="en-US" sz="2000" dirty="0"/>
              <a:t> main() </a:t>
            </a:r>
            <a:endParaRPr lang="en-US" sz="2000" dirty="0" smtClean="0"/>
          </a:p>
          <a:p>
            <a:pPr marL="0" indent="0">
              <a:buNone/>
            </a:pPr>
            <a:r>
              <a:rPr lang="en-US" sz="2000" dirty="0" smtClean="0"/>
              <a:t>{</a:t>
            </a:r>
            <a:endParaRPr lang="en-US" sz="2000" dirty="0"/>
          </a:p>
          <a:p>
            <a:pPr marL="0" indent="0">
              <a:buNone/>
            </a:pPr>
            <a:r>
              <a:rPr lang="en-US" sz="2000" dirty="0"/>
              <a:t> </a:t>
            </a:r>
            <a:r>
              <a:rPr lang="en-US" sz="2000" dirty="0" err="1"/>
              <a:t>int</a:t>
            </a:r>
            <a:r>
              <a:rPr lang="en-US" sz="2000" dirty="0"/>
              <a:t> </a:t>
            </a:r>
            <a:r>
              <a:rPr lang="en-US" sz="2000" dirty="0" err="1"/>
              <a:t>num</a:t>
            </a:r>
            <a:r>
              <a:rPr lang="en-US" sz="2000" dirty="0"/>
              <a:t>;</a:t>
            </a:r>
          </a:p>
          <a:p>
            <a:pPr marL="0" indent="0">
              <a:buNone/>
            </a:pPr>
            <a:r>
              <a:rPr lang="en-US" sz="2000" dirty="0" err="1"/>
              <a:t>cout</a:t>
            </a:r>
            <a:r>
              <a:rPr lang="en-US" sz="2000" dirty="0"/>
              <a:t> &lt;&lt; "Enter total number of students: ";</a:t>
            </a:r>
          </a:p>
          <a:p>
            <a:pPr marL="0" indent="0">
              <a:buNone/>
            </a:pPr>
            <a:r>
              <a:rPr lang="en-US" sz="2000" dirty="0" err="1"/>
              <a:t>cin</a:t>
            </a:r>
            <a:r>
              <a:rPr lang="en-US" sz="2000" dirty="0"/>
              <a:t> &gt;&gt; </a:t>
            </a:r>
            <a:r>
              <a:rPr lang="en-US" sz="2000" dirty="0" err="1"/>
              <a:t>num</a:t>
            </a:r>
            <a:r>
              <a:rPr lang="en-US" sz="2000" dirty="0"/>
              <a:t>;</a:t>
            </a:r>
          </a:p>
          <a:p>
            <a:pPr marL="0" indent="0">
              <a:buNone/>
            </a:pPr>
            <a:r>
              <a:rPr lang="en-US" sz="2000" dirty="0"/>
              <a:t>float* </a:t>
            </a:r>
            <a:r>
              <a:rPr lang="en-US" sz="2000" dirty="0" err="1"/>
              <a:t>ptr</a:t>
            </a:r>
            <a:r>
              <a:rPr lang="en-US" sz="2000" dirty="0"/>
              <a:t>; </a:t>
            </a:r>
          </a:p>
          <a:p>
            <a:pPr marL="0" indent="0">
              <a:buNone/>
            </a:pPr>
            <a:r>
              <a:rPr lang="en-US" sz="2000" dirty="0"/>
              <a:t>// memory allocation of </a:t>
            </a:r>
            <a:r>
              <a:rPr lang="en-US" sz="2000" dirty="0" err="1"/>
              <a:t>num</a:t>
            </a:r>
            <a:r>
              <a:rPr lang="en-US" sz="2000" dirty="0"/>
              <a:t> number of floats</a:t>
            </a:r>
          </a:p>
          <a:p>
            <a:pPr marL="0" indent="0">
              <a:buNone/>
            </a:pPr>
            <a:r>
              <a:rPr lang="en-US" sz="2000" dirty="0"/>
              <a:t> </a:t>
            </a:r>
            <a:r>
              <a:rPr lang="en-US" sz="2000" dirty="0" err="1"/>
              <a:t>ptr</a:t>
            </a:r>
            <a:r>
              <a:rPr lang="en-US" sz="2000" dirty="0"/>
              <a:t> = new float[</a:t>
            </a:r>
            <a:r>
              <a:rPr lang="en-US" sz="2000" dirty="0" err="1"/>
              <a:t>num</a:t>
            </a:r>
            <a:r>
              <a:rPr lang="en-US" sz="2000" dirty="0"/>
              <a:t>];</a:t>
            </a:r>
          </a:p>
          <a:p>
            <a:pPr marL="0" indent="0">
              <a:buNone/>
            </a:pPr>
            <a:r>
              <a:rPr lang="en-US" sz="2000" dirty="0" err="1"/>
              <a:t>cout</a:t>
            </a:r>
            <a:r>
              <a:rPr lang="en-US" sz="2000" dirty="0"/>
              <a:t> &lt;&lt; "Enter GPA of students." </a:t>
            </a:r>
            <a:endParaRPr lang="en-US" sz="2000" dirty="0" smtClean="0"/>
          </a:p>
          <a:p>
            <a:pPr marL="0" indent="0">
              <a:buNone/>
            </a:pPr>
            <a:r>
              <a:rPr lang="en-US" sz="2000" dirty="0" smtClean="0"/>
              <a:t>&lt;&lt; </a:t>
            </a:r>
            <a:r>
              <a:rPr lang="en-US" sz="2000" dirty="0" err="1"/>
              <a:t>endl</a:t>
            </a:r>
            <a:r>
              <a:rPr lang="en-US" sz="2000" dirty="0"/>
              <a:t>;</a:t>
            </a:r>
          </a:p>
          <a:p>
            <a:pPr marL="0" indent="0">
              <a:buNone/>
            </a:pPr>
            <a:r>
              <a:rPr lang="en-US" sz="2000" dirty="0"/>
              <a:t> for (</a:t>
            </a:r>
            <a:r>
              <a:rPr lang="en-US" sz="2000" dirty="0" err="1"/>
              <a:t>int</a:t>
            </a:r>
            <a:r>
              <a:rPr lang="en-US" sz="2000" dirty="0"/>
              <a:t> </a:t>
            </a:r>
            <a:r>
              <a:rPr lang="en-US" sz="2000" dirty="0" err="1"/>
              <a:t>i</a:t>
            </a:r>
            <a:r>
              <a:rPr lang="en-US" sz="2000" dirty="0"/>
              <a:t> = 0; </a:t>
            </a:r>
            <a:r>
              <a:rPr lang="en-US" sz="2000" dirty="0" err="1"/>
              <a:t>i</a:t>
            </a:r>
            <a:r>
              <a:rPr lang="en-US" sz="2000" dirty="0"/>
              <a:t> &lt; </a:t>
            </a:r>
            <a:r>
              <a:rPr lang="en-US" sz="2000" dirty="0" err="1"/>
              <a:t>num</a:t>
            </a:r>
            <a:r>
              <a:rPr lang="en-US" sz="2000" dirty="0"/>
              <a:t>; ++</a:t>
            </a:r>
            <a:r>
              <a:rPr lang="en-US" sz="2000" dirty="0" err="1"/>
              <a:t>i</a:t>
            </a:r>
            <a:r>
              <a:rPr lang="en-US" sz="2000" dirty="0"/>
              <a:t>) </a:t>
            </a:r>
            <a:endParaRPr lang="en-US" sz="2000" dirty="0" smtClean="0"/>
          </a:p>
          <a:p>
            <a:pPr marL="0" indent="0">
              <a:buNone/>
            </a:pPr>
            <a:r>
              <a:rPr lang="en-US" sz="2000" dirty="0" smtClean="0"/>
              <a:t>{</a:t>
            </a:r>
            <a:endParaRPr lang="en-US" sz="2000" dirty="0"/>
          </a:p>
          <a:p>
            <a:pPr marL="0" indent="0">
              <a:buNone/>
            </a:pPr>
            <a:r>
              <a:rPr lang="en-US" sz="2000" dirty="0"/>
              <a:t>   </a:t>
            </a:r>
            <a:r>
              <a:rPr lang="en-US" sz="2000" dirty="0" err="1"/>
              <a:t>cout</a:t>
            </a:r>
            <a:r>
              <a:rPr lang="en-US" sz="2000" dirty="0"/>
              <a:t> &lt;&lt; "Student" &lt;&lt; </a:t>
            </a:r>
            <a:r>
              <a:rPr lang="en-US" sz="2000" dirty="0" err="1"/>
              <a:t>i</a:t>
            </a:r>
            <a:r>
              <a:rPr lang="en-US" sz="2000" dirty="0"/>
              <a:t> + 1 &lt;&lt; ": ";</a:t>
            </a:r>
          </a:p>
          <a:p>
            <a:pPr marL="0" indent="0">
              <a:buNone/>
            </a:pPr>
            <a:r>
              <a:rPr lang="en-US" sz="2000" dirty="0"/>
              <a:t>    </a:t>
            </a:r>
            <a:r>
              <a:rPr lang="en-US" sz="2000" dirty="0" err="1"/>
              <a:t>cin</a:t>
            </a:r>
            <a:r>
              <a:rPr lang="en-US" sz="2000" dirty="0"/>
              <a:t> &gt;&gt; *(</a:t>
            </a:r>
            <a:r>
              <a:rPr lang="en-US" sz="2000" dirty="0" err="1"/>
              <a:t>ptr</a:t>
            </a:r>
            <a:r>
              <a:rPr lang="en-US" sz="2000" dirty="0"/>
              <a:t> + </a:t>
            </a:r>
            <a:r>
              <a:rPr lang="en-US" sz="2000" dirty="0" err="1"/>
              <a:t>i</a:t>
            </a:r>
            <a:r>
              <a:rPr lang="en-US" sz="2000" dirty="0"/>
              <a:t>);</a:t>
            </a:r>
          </a:p>
          <a:p>
            <a:pPr marL="0" indent="0">
              <a:buNone/>
            </a:pPr>
            <a:r>
              <a:rPr lang="en-US" sz="2000" dirty="0"/>
              <a:t>  }</a:t>
            </a:r>
          </a:p>
          <a:p>
            <a:pPr marL="0" indent="0">
              <a:buNone/>
            </a:pPr>
            <a:r>
              <a:rPr lang="en-US" sz="2000" dirty="0" smtClean="0"/>
              <a:t>}</a:t>
            </a:r>
          </a:p>
          <a:p>
            <a:pPr marL="0" indent="0">
              <a:buNone/>
            </a:pPr>
            <a:r>
              <a:rPr lang="en-US" sz="2000" dirty="0" err="1"/>
              <a:t>cout</a:t>
            </a:r>
            <a:r>
              <a:rPr lang="en-US" sz="2000" dirty="0"/>
              <a:t> &lt;&lt; "\</a:t>
            </a:r>
            <a:r>
              <a:rPr lang="en-US" sz="2000" dirty="0" err="1"/>
              <a:t>nDisplaying</a:t>
            </a:r>
            <a:r>
              <a:rPr lang="en-US" sz="2000" dirty="0"/>
              <a:t> GPA of students." &lt;&lt; </a:t>
            </a:r>
            <a:r>
              <a:rPr lang="en-US" sz="2000" dirty="0" err="1"/>
              <a:t>endl</a:t>
            </a:r>
            <a:r>
              <a:rPr lang="en-US" sz="2000" dirty="0"/>
              <a:t>;</a:t>
            </a:r>
          </a:p>
          <a:p>
            <a:pPr marL="0" indent="0">
              <a:buNone/>
            </a:pPr>
            <a:endParaRPr lang="en-US" sz="2000" dirty="0"/>
          </a:p>
          <a:p>
            <a:pPr marL="0" indent="0">
              <a:buNone/>
            </a:pPr>
            <a:r>
              <a:rPr lang="en-US" sz="2000" dirty="0"/>
              <a:t>for (</a:t>
            </a:r>
            <a:r>
              <a:rPr lang="en-US" sz="2000" dirty="0" err="1"/>
              <a:t>int</a:t>
            </a:r>
            <a:r>
              <a:rPr lang="en-US" sz="2000" dirty="0"/>
              <a:t> </a:t>
            </a:r>
            <a:r>
              <a:rPr lang="en-US" sz="2000" dirty="0" err="1"/>
              <a:t>i</a:t>
            </a:r>
            <a:r>
              <a:rPr lang="en-US" sz="2000" dirty="0"/>
              <a:t> = 0; </a:t>
            </a:r>
            <a:r>
              <a:rPr lang="en-US" sz="2000" dirty="0" err="1"/>
              <a:t>i</a:t>
            </a:r>
            <a:r>
              <a:rPr lang="en-US" sz="2000" dirty="0"/>
              <a:t> &lt; </a:t>
            </a:r>
            <a:r>
              <a:rPr lang="en-US" sz="2000" dirty="0" err="1"/>
              <a:t>num</a:t>
            </a:r>
            <a:r>
              <a:rPr lang="en-US" sz="2000" dirty="0"/>
              <a:t>; ++</a:t>
            </a:r>
            <a:r>
              <a:rPr lang="en-US" sz="2000" dirty="0" err="1"/>
              <a:t>i</a:t>
            </a:r>
            <a:r>
              <a:rPr lang="en-US" sz="2000" dirty="0"/>
              <a:t>) </a:t>
            </a:r>
            <a:endParaRPr lang="en-US" sz="2000" dirty="0" smtClean="0"/>
          </a:p>
          <a:p>
            <a:pPr marL="0" indent="0">
              <a:buNone/>
            </a:pPr>
            <a:r>
              <a:rPr lang="en-US" sz="2000" dirty="0" smtClean="0"/>
              <a:t>{</a:t>
            </a:r>
            <a:endParaRPr lang="en-US" sz="2000" dirty="0"/>
          </a:p>
          <a:p>
            <a:pPr marL="0" indent="0">
              <a:buNone/>
            </a:pPr>
            <a:r>
              <a:rPr lang="en-US" sz="2000" dirty="0"/>
              <a:t>    </a:t>
            </a:r>
            <a:r>
              <a:rPr lang="en-US" sz="2000" dirty="0" err="1"/>
              <a:t>cout</a:t>
            </a:r>
            <a:r>
              <a:rPr lang="en-US" sz="2000" dirty="0"/>
              <a:t> &lt;&lt; "Student" &lt;&lt; </a:t>
            </a:r>
            <a:r>
              <a:rPr lang="en-US" sz="2000" dirty="0" err="1"/>
              <a:t>i</a:t>
            </a:r>
            <a:r>
              <a:rPr lang="en-US" sz="2000" dirty="0"/>
              <a:t> + 1 &lt;&lt; ": " &lt;&lt; *(</a:t>
            </a:r>
            <a:r>
              <a:rPr lang="en-US" sz="2000" dirty="0" err="1"/>
              <a:t>ptr</a:t>
            </a:r>
            <a:r>
              <a:rPr lang="en-US" sz="2000" dirty="0"/>
              <a:t> + </a:t>
            </a:r>
            <a:r>
              <a:rPr lang="en-US" sz="2000" dirty="0" err="1"/>
              <a:t>i</a:t>
            </a:r>
            <a:r>
              <a:rPr lang="en-US" sz="2000" dirty="0"/>
              <a:t>) &lt;&lt; </a:t>
            </a:r>
            <a:r>
              <a:rPr lang="en-US" sz="2000" dirty="0" err="1"/>
              <a:t>endl</a:t>
            </a:r>
            <a:r>
              <a:rPr lang="en-US" sz="2000" dirty="0"/>
              <a:t>;</a:t>
            </a:r>
          </a:p>
          <a:p>
            <a:pPr marL="0" indent="0">
              <a:buNone/>
            </a:pPr>
            <a:r>
              <a:rPr lang="en-US" sz="2000" dirty="0"/>
              <a:t>}</a:t>
            </a:r>
          </a:p>
          <a:p>
            <a:pPr marL="0" indent="0">
              <a:buNone/>
            </a:pPr>
            <a:r>
              <a:rPr lang="en-US" sz="2000" dirty="0"/>
              <a:t>// </a:t>
            </a:r>
            <a:r>
              <a:rPr lang="en-US" sz="2000" dirty="0" err="1"/>
              <a:t>ptr</a:t>
            </a:r>
            <a:r>
              <a:rPr lang="en-US" sz="2000" dirty="0"/>
              <a:t> memory is released</a:t>
            </a:r>
          </a:p>
          <a:p>
            <a:pPr marL="0" indent="0">
              <a:buNone/>
            </a:pPr>
            <a:r>
              <a:rPr lang="en-US" sz="2000" dirty="0"/>
              <a:t> delete[] </a:t>
            </a:r>
            <a:r>
              <a:rPr lang="en-US" sz="2000" dirty="0" err="1"/>
              <a:t>ptr</a:t>
            </a:r>
            <a:r>
              <a:rPr lang="en-US" sz="2000" dirty="0"/>
              <a:t>;</a:t>
            </a:r>
          </a:p>
          <a:p>
            <a:pPr marL="0" indent="0">
              <a:buNone/>
            </a:pPr>
            <a:r>
              <a:rPr lang="en-US" sz="2000" dirty="0"/>
              <a:t> return 0;</a:t>
            </a:r>
          </a:p>
          <a:p>
            <a:pPr marL="0" indent="0">
              <a:buNone/>
            </a:pPr>
            <a:r>
              <a:rPr lang="en-US" sz="2000" dirty="0"/>
              <a:t>}</a:t>
            </a:r>
          </a:p>
          <a:p>
            <a:endParaRPr lang="en-US" sz="2000" dirty="0"/>
          </a:p>
        </p:txBody>
      </p:sp>
    </p:spTree>
    <p:extLst>
      <p:ext uri="{BB962C8B-B14F-4D97-AF65-F5344CB8AC3E}">
        <p14:creationId xmlns:p14="http://schemas.microsoft.com/office/powerpoint/2010/main" val="416954622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677334" y="1277471"/>
            <a:ext cx="8596668" cy="4763892"/>
          </a:xfrm>
        </p:spPr>
        <p:txBody>
          <a:bodyPr>
            <a:normAutofit fontScale="92500" lnSpcReduction="10000"/>
          </a:bodyPr>
          <a:lstStyle/>
          <a:p>
            <a:pPr marL="0" indent="0">
              <a:buNone/>
            </a:pPr>
            <a:r>
              <a:rPr lang="en-US" dirty="0"/>
              <a:t>Output</a:t>
            </a:r>
          </a:p>
          <a:p>
            <a:endParaRPr lang="en-US" dirty="0"/>
          </a:p>
          <a:p>
            <a:pPr marL="0" indent="0">
              <a:buNone/>
            </a:pPr>
            <a:r>
              <a:rPr lang="en-US" dirty="0"/>
              <a:t>Enter total number of students: 4</a:t>
            </a:r>
          </a:p>
          <a:p>
            <a:pPr marL="0" indent="0">
              <a:buNone/>
            </a:pPr>
            <a:r>
              <a:rPr lang="en-US" dirty="0"/>
              <a:t>Enter GPA of students.</a:t>
            </a:r>
          </a:p>
          <a:p>
            <a:pPr marL="0" indent="0">
              <a:buNone/>
            </a:pPr>
            <a:r>
              <a:rPr lang="en-US" dirty="0"/>
              <a:t>Student1: 3.6</a:t>
            </a:r>
          </a:p>
          <a:p>
            <a:pPr marL="0" indent="0">
              <a:buNone/>
            </a:pPr>
            <a:r>
              <a:rPr lang="en-US" dirty="0"/>
              <a:t>Student2: 3.1</a:t>
            </a:r>
          </a:p>
          <a:p>
            <a:pPr marL="0" indent="0">
              <a:buNone/>
            </a:pPr>
            <a:r>
              <a:rPr lang="en-US" dirty="0"/>
              <a:t>Student3: 3.9</a:t>
            </a:r>
          </a:p>
          <a:p>
            <a:pPr marL="0" indent="0">
              <a:buNone/>
            </a:pPr>
            <a:r>
              <a:rPr lang="en-US" dirty="0"/>
              <a:t>Student4: 2.9</a:t>
            </a:r>
          </a:p>
          <a:p>
            <a:pPr marL="0" indent="0">
              <a:buNone/>
            </a:pPr>
            <a:r>
              <a:rPr lang="en-US" dirty="0"/>
              <a:t>Displaying GPA of students.</a:t>
            </a:r>
          </a:p>
          <a:p>
            <a:pPr marL="0" indent="0">
              <a:buNone/>
            </a:pPr>
            <a:r>
              <a:rPr lang="en-US" dirty="0"/>
              <a:t>Student1: 3.6</a:t>
            </a:r>
          </a:p>
          <a:p>
            <a:pPr marL="0" indent="0">
              <a:buNone/>
            </a:pPr>
            <a:r>
              <a:rPr lang="en-US" dirty="0"/>
              <a:t>Student2: 3.1</a:t>
            </a:r>
          </a:p>
          <a:p>
            <a:pPr marL="0" indent="0">
              <a:buNone/>
            </a:pPr>
            <a:r>
              <a:rPr lang="en-US" dirty="0"/>
              <a:t>Student3: 3.9</a:t>
            </a:r>
          </a:p>
          <a:p>
            <a:pPr marL="0" indent="0">
              <a:buNone/>
            </a:pPr>
            <a:r>
              <a:rPr lang="en-US" dirty="0"/>
              <a:t>Student4: 2.9</a:t>
            </a:r>
          </a:p>
        </p:txBody>
      </p:sp>
    </p:spTree>
    <p:extLst>
      <p:ext uri="{BB962C8B-B14F-4D97-AF65-F5344CB8AC3E}">
        <p14:creationId xmlns:p14="http://schemas.microsoft.com/office/powerpoint/2010/main" val="268823765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92500" lnSpcReduction="20000"/>
          </a:bodyPr>
          <a:lstStyle/>
          <a:p>
            <a:r>
              <a:rPr lang="en-US" dirty="0"/>
              <a:t>In this program, we have asked the user to enter the number of students and store it in the </a:t>
            </a:r>
            <a:r>
              <a:rPr lang="en-US" dirty="0" err="1"/>
              <a:t>num</a:t>
            </a:r>
            <a:r>
              <a:rPr lang="en-US" dirty="0"/>
              <a:t> variable.</a:t>
            </a:r>
          </a:p>
          <a:p>
            <a:endParaRPr lang="en-US" dirty="0"/>
          </a:p>
          <a:p>
            <a:r>
              <a:rPr lang="en-US" dirty="0"/>
              <a:t>Then, we have allocated the memory dynamically for the float array using new.</a:t>
            </a:r>
          </a:p>
          <a:p>
            <a:endParaRPr lang="en-US" dirty="0"/>
          </a:p>
          <a:p>
            <a:r>
              <a:rPr lang="en-US" dirty="0"/>
              <a:t>We enter data into the array (and later print them) using pointer notation.</a:t>
            </a:r>
          </a:p>
          <a:p>
            <a:endParaRPr lang="en-US" dirty="0"/>
          </a:p>
          <a:p>
            <a:r>
              <a:rPr lang="en-US" dirty="0"/>
              <a:t>After we no longer need the array, we deallocate the array memory using the code delete[] </a:t>
            </a:r>
            <a:r>
              <a:rPr lang="en-US" dirty="0" err="1"/>
              <a:t>ptr</a:t>
            </a:r>
            <a:r>
              <a:rPr lang="en-US" dirty="0"/>
              <a:t>;.</a:t>
            </a:r>
          </a:p>
          <a:p>
            <a:endParaRPr lang="en-US" dirty="0"/>
          </a:p>
          <a:p>
            <a:r>
              <a:rPr lang="en-US" dirty="0"/>
              <a:t>Notice the use of [] after delete. We use the square brackets [] in order to denote that the memory deallocation is that of an array.</a:t>
            </a:r>
          </a:p>
          <a:p>
            <a:endParaRPr lang="en-US" dirty="0"/>
          </a:p>
          <a:p>
            <a:endParaRPr lang="en-US" dirty="0"/>
          </a:p>
        </p:txBody>
      </p:sp>
    </p:spTree>
    <p:extLst>
      <p:ext uri="{BB962C8B-B14F-4D97-AF65-F5344CB8AC3E}">
        <p14:creationId xmlns:p14="http://schemas.microsoft.com/office/powerpoint/2010/main" val="342558042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3" y="609600"/>
            <a:ext cx="10160995" cy="829235"/>
          </a:xfrm>
        </p:spPr>
        <p:txBody>
          <a:bodyPr>
            <a:normAutofit fontScale="90000"/>
          </a:bodyPr>
          <a:lstStyle/>
          <a:p>
            <a:r>
              <a:rPr lang="en-US" dirty="0"/>
              <a:t>Example 3: C++ new and delete Operator for Objects</a:t>
            </a:r>
          </a:p>
        </p:txBody>
      </p:sp>
      <p:sp>
        <p:nvSpPr>
          <p:cNvPr id="3" name="Content Placeholder 2"/>
          <p:cNvSpPr>
            <a:spLocks noGrp="1"/>
          </p:cNvSpPr>
          <p:nvPr>
            <p:ph idx="1"/>
          </p:nvPr>
        </p:nvSpPr>
        <p:spPr>
          <a:xfrm>
            <a:off x="677333" y="1438835"/>
            <a:ext cx="4082925" cy="5244353"/>
          </a:xfrm>
        </p:spPr>
        <p:txBody>
          <a:bodyPr>
            <a:normAutofit fontScale="85000" lnSpcReduction="20000"/>
          </a:bodyPr>
          <a:lstStyle/>
          <a:p>
            <a:pPr marL="0" indent="0">
              <a:buNone/>
            </a:pPr>
            <a:r>
              <a:rPr lang="en-US" dirty="0"/>
              <a:t>#include &lt;</a:t>
            </a:r>
            <a:r>
              <a:rPr lang="en-US" dirty="0" err="1"/>
              <a:t>iostream</a:t>
            </a:r>
            <a:r>
              <a:rPr lang="en-US" dirty="0"/>
              <a:t>&gt;</a:t>
            </a:r>
          </a:p>
          <a:p>
            <a:pPr marL="0" indent="0">
              <a:buNone/>
            </a:pPr>
            <a:r>
              <a:rPr lang="en-US" dirty="0"/>
              <a:t>using namespace </a:t>
            </a:r>
            <a:r>
              <a:rPr lang="en-US" dirty="0" err="1"/>
              <a:t>std</a:t>
            </a:r>
            <a:r>
              <a:rPr lang="en-US" dirty="0"/>
              <a:t>;</a:t>
            </a:r>
          </a:p>
          <a:p>
            <a:pPr marL="0" indent="0">
              <a:buNone/>
            </a:pPr>
            <a:endParaRPr lang="en-US" dirty="0"/>
          </a:p>
          <a:p>
            <a:pPr marL="0" indent="0">
              <a:buNone/>
            </a:pPr>
            <a:r>
              <a:rPr lang="en-US" dirty="0"/>
              <a:t>class Student {</a:t>
            </a:r>
          </a:p>
          <a:p>
            <a:pPr marL="0" indent="0">
              <a:buNone/>
            </a:pPr>
            <a:r>
              <a:rPr lang="en-US" dirty="0"/>
              <a:t>  private:</a:t>
            </a:r>
          </a:p>
          <a:p>
            <a:pPr marL="0" indent="0">
              <a:buNone/>
            </a:pPr>
            <a:r>
              <a:rPr lang="en-US" dirty="0"/>
              <a:t>    </a:t>
            </a:r>
            <a:r>
              <a:rPr lang="en-US" dirty="0" err="1"/>
              <a:t>int</a:t>
            </a:r>
            <a:r>
              <a:rPr lang="en-US" dirty="0"/>
              <a:t> age;</a:t>
            </a:r>
          </a:p>
          <a:p>
            <a:pPr marL="0" indent="0">
              <a:buNone/>
            </a:pPr>
            <a:endParaRPr lang="en-US" dirty="0"/>
          </a:p>
          <a:p>
            <a:pPr marL="0" indent="0">
              <a:buNone/>
            </a:pPr>
            <a:r>
              <a:rPr lang="en-US" dirty="0"/>
              <a:t>  public:</a:t>
            </a:r>
          </a:p>
          <a:p>
            <a:pPr marL="0" indent="0">
              <a:buNone/>
            </a:pPr>
            <a:endParaRPr lang="en-US" dirty="0"/>
          </a:p>
          <a:p>
            <a:pPr marL="0" indent="0">
              <a:buNone/>
            </a:pPr>
            <a:r>
              <a:rPr lang="en-US" dirty="0"/>
              <a:t>    // constructor initializes age to 12</a:t>
            </a:r>
          </a:p>
          <a:p>
            <a:pPr marL="0" indent="0">
              <a:buNone/>
            </a:pPr>
            <a:r>
              <a:rPr lang="en-US" dirty="0"/>
              <a:t>    Student() : age(12) {}</a:t>
            </a:r>
          </a:p>
          <a:p>
            <a:pPr marL="0" indent="0">
              <a:buNone/>
            </a:pPr>
            <a:endParaRPr lang="en-US" dirty="0"/>
          </a:p>
          <a:p>
            <a:pPr marL="0" indent="0">
              <a:buNone/>
            </a:pPr>
            <a:r>
              <a:rPr lang="en-US" dirty="0"/>
              <a:t>    void </a:t>
            </a:r>
            <a:r>
              <a:rPr lang="en-US" dirty="0" err="1"/>
              <a:t>getAge</a:t>
            </a:r>
            <a:r>
              <a:rPr lang="en-US" dirty="0"/>
              <a:t>() {</a:t>
            </a:r>
          </a:p>
          <a:p>
            <a:pPr marL="0" indent="0">
              <a:buNone/>
            </a:pPr>
            <a:r>
              <a:rPr lang="en-US" dirty="0"/>
              <a:t>      </a:t>
            </a:r>
            <a:r>
              <a:rPr lang="en-US" dirty="0" err="1"/>
              <a:t>cout</a:t>
            </a:r>
            <a:r>
              <a:rPr lang="en-US" dirty="0"/>
              <a:t> &lt;&lt; "Age = " &lt;&lt; age &lt;&lt; </a:t>
            </a:r>
            <a:r>
              <a:rPr lang="en-US" dirty="0" err="1"/>
              <a:t>endl</a:t>
            </a:r>
            <a:r>
              <a:rPr lang="en-US" dirty="0"/>
              <a:t>;</a:t>
            </a:r>
          </a:p>
          <a:p>
            <a:pPr marL="0" indent="0">
              <a:buNone/>
            </a:pPr>
            <a:r>
              <a:rPr lang="en-US" dirty="0"/>
              <a:t>    }</a:t>
            </a:r>
          </a:p>
          <a:p>
            <a:pPr marL="0" indent="0">
              <a:buNone/>
            </a:pPr>
            <a:r>
              <a:rPr lang="en-US" dirty="0"/>
              <a:t>};</a:t>
            </a:r>
          </a:p>
        </p:txBody>
      </p:sp>
      <p:sp>
        <p:nvSpPr>
          <p:cNvPr id="4" name="TextBox 3"/>
          <p:cNvSpPr txBox="1"/>
          <p:nvPr/>
        </p:nvSpPr>
        <p:spPr>
          <a:xfrm>
            <a:off x="5930153" y="1438835"/>
            <a:ext cx="5298142" cy="3293209"/>
          </a:xfrm>
          <a:prstGeom prst="rect">
            <a:avLst/>
          </a:prstGeom>
          <a:noFill/>
        </p:spPr>
        <p:txBody>
          <a:bodyPr wrap="square" rtlCol="0">
            <a:spAutoFit/>
          </a:bodyPr>
          <a:lstStyle/>
          <a:p>
            <a:r>
              <a:rPr lang="en-US" sz="1600" dirty="0" err="1">
                <a:solidFill>
                  <a:schemeClr val="tx2"/>
                </a:solidFill>
              </a:rPr>
              <a:t>int</a:t>
            </a:r>
            <a:r>
              <a:rPr lang="en-US" sz="1600" dirty="0">
                <a:solidFill>
                  <a:schemeClr val="tx2"/>
                </a:solidFill>
              </a:rPr>
              <a:t> main() {</a:t>
            </a:r>
          </a:p>
          <a:p>
            <a:endParaRPr lang="en-US" sz="1600" dirty="0">
              <a:solidFill>
                <a:schemeClr val="tx2"/>
              </a:solidFill>
            </a:endParaRPr>
          </a:p>
          <a:p>
            <a:r>
              <a:rPr lang="en-US" sz="1600" dirty="0">
                <a:solidFill>
                  <a:schemeClr val="tx2"/>
                </a:solidFill>
              </a:rPr>
              <a:t>  // dynamically declare Student object</a:t>
            </a:r>
          </a:p>
          <a:p>
            <a:r>
              <a:rPr lang="en-US" sz="1600" dirty="0">
                <a:solidFill>
                  <a:schemeClr val="tx2"/>
                </a:solidFill>
              </a:rPr>
              <a:t>  Student* </a:t>
            </a:r>
            <a:r>
              <a:rPr lang="en-US" sz="1600" dirty="0" err="1">
                <a:solidFill>
                  <a:schemeClr val="tx2"/>
                </a:solidFill>
              </a:rPr>
              <a:t>ptr</a:t>
            </a:r>
            <a:r>
              <a:rPr lang="en-US" sz="1600" dirty="0">
                <a:solidFill>
                  <a:schemeClr val="tx2"/>
                </a:solidFill>
              </a:rPr>
              <a:t> = new Student();</a:t>
            </a:r>
          </a:p>
          <a:p>
            <a:endParaRPr lang="en-US" sz="1600" dirty="0">
              <a:solidFill>
                <a:schemeClr val="tx2"/>
              </a:solidFill>
            </a:endParaRPr>
          </a:p>
          <a:p>
            <a:r>
              <a:rPr lang="en-US" sz="1600" dirty="0">
                <a:solidFill>
                  <a:schemeClr val="tx2"/>
                </a:solidFill>
              </a:rPr>
              <a:t>  // call </a:t>
            </a:r>
            <a:r>
              <a:rPr lang="en-US" sz="1600" dirty="0" err="1">
                <a:solidFill>
                  <a:schemeClr val="tx2"/>
                </a:solidFill>
              </a:rPr>
              <a:t>getAge</a:t>
            </a:r>
            <a:r>
              <a:rPr lang="en-US" sz="1600" dirty="0">
                <a:solidFill>
                  <a:schemeClr val="tx2"/>
                </a:solidFill>
              </a:rPr>
              <a:t>() function</a:t>
            </a:r>
          </a:p>
          <a:p>
            <a:r>
              <a:rPr lang="en-US" sz="1600" dirty="0">
                <a:solidFill>
                  <a:schemeClr val="tx2"/>
                </a:solidFill>
              </a:rPr>
              <a:t>  </a:t>
            </a:r>
            <a:r>
              <a:rPr lang="en-US" sz="1600" dirty="0" err="1">
                <a:solidFill>
                  <a:schemeClr val="tx2"/>
                </a:solidFill>
              </a:rPr>
              <a:t>ptr</a:t>
            </a:r>
            <a:r>
              <a:rPr lang="en-US" sz="1600" dirty="0">
                <a:solidFill>
                  <a:schemeClr val="tx2"/>
                </a:solidFill>
              </a:rPr>
              <a:t>-&gt;</a:t>
            </a:r>
            <a:r>
              <a:rPr lang="en-US" sz="1600" dirty="0" err="1">
                <a:solidFill>
                  <a:schemeClr val="tx2"/>
                </a:solidFill>
              </a:rPr>
              <a:t>getAge</a:t>
            </a:r>
            <a:r>
              <a:rPr lang="en-US" sz="1600" dirty="0">
                <a:solidFill>
                  <a:schemeClr val="tx2"/>
                </a:solidFill>
              </a:rPr>
              <a:t>();</a:t>
            </a:r>
          </a:p>
          <a:p>
            <a:endParaRPr lang="en-US" sz="1600" dirty="0">
              <a:solidFill>
                <a:schemeClr val="tx2"/>
              </a:solidFill>
            </a:endParaRPr>
          </a:p>
          <a:p>
            <a:r>
              <a:rPr lang="en-US" sz="1600" dirty="0">
                <a:solidFill>
                  <a:schemeClr val="tx2"/>
                </a:solidFill>
              </a:rPr>
              <a:t>  // </a:t>
            </a:r>
            <a:r>
              <a:rPr lang="en-US" sz="1600" dirty="0" err="1">
                <a:solidFill>
                  <a:schemeClr val="tx2"/>
                </a:solidFill>
              </a:rPr>
              <a:t>ptr</a:t>
            </a:r>
            <a:r>
              <a:rPr lang="en-US" sz="1600" dirty="0">
                <a:solidFill>
                  <a:schemeClr val="tx2"/>
                </a:solidFill>
              </a:rPr>
              <a:t> memory is released</a:t>
            </a:r>
          </a:p>
          <a:p>
            <a:r>
              <a:rPr lang="en-US" sz="1600" dirty="0">
                <a:solidFill>
                  <a:schemeClr val="tx2"/>
                </a:solidFill>
              </a:rPr>
              <a:t>  delete </a:t>
            </a:r>
            <a:r>
              <a:rPr lang="en-US" sz="1600" dirty="0" err="1">
                <a:solidFill>
                  <a:schemeClr val="tx2"/>
                </a:solidFill>
              </a:rPr>
              <a:t>ptr</a:t>
            </a:r>
            <a:r>
              <a:rPr lang="en-US" sz="1600" dirty="0">
                <a:solidFill>
                  <a:schemeClr val="tx2"/>
                </a:solidFill>
              </a:rPr>
              <a:t>;</a:t>
            </a:r>
          </a:p>
          <a:p>
            <a:endParaRPr lang="en-US" sz="1600" dirty="0">
              <a:solidFill>
                <a:schemeClr val="tx2"/>
              </a:solidFill>
            </a:endParaRPr>
          </a:p>
          <a:p>
            <a:r>
              <a:rPr lang="en-US" sz="1600" dirty="0">
                <a:solidFill>
                  <a:schemeClr val="tx2"/>
                </a:solidFill>
              </a:rPr>
              <a:t>  return 0;</a:t>
            </a:r>
          </a:p>
          <a:p>
            <a:r>
              <a:rPr lang="en-US" sz="1600" dirty="0">
                <a:solidFill>
                  <a:schemeClr val="tx2"/>
                </a:solidFill>
              </a:rPr>
              <a:t>}</a:t>
            </a:r>
          </a:p>
        </p:txBody>
      </p:sp>
    </p:spTree>
    <p:extLst>
      <p:ext uri="{BB962C8B-B14F-4D97-AF65-F5344CB8AC3E}">
        <p14:creationId xmlns:p14="http://schemas.microsoft.com/office/powerpoint/2010/main" val="388178986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9536" y="309488"/>
            <a:ext cx="9423269" cy="5685003"/>
          </a:xfrm>
        </p:spPr>
        <p:txBody>
          <a:bodyPr>
            <a:normAutofit fontScale="92500" lnSpcReduction="20000"/>
          </a:bodyPr>
          <a:lstStyle/>
          <a:p>
            <a:r>
              <a:rPr lang="en-US" dirty="0"/>
              <a:t>Output</a:t>
            </a:r>
          </a:p>
          <a:p>
            <a:endParaRPr lang="en-US" dirty="0"/>
          </a:p>
          <a:p>
            <a:pPr marL="0" indent="0">
              <a:buNone/>
            </a:pPr>
            <a:r>
              <a:rPr lang="en-US" dirty="0"/>
              <a:t>Age = 12</a:t>
            </a:r>
          </a:p>
          <a:p>
            <a:r>
              <a:rPr lang="en-US" dirty="0"/>
              <a:t>In this program, we have created a Student class that has a private variable age.</a:t>
            </a:r>
          </a:p>
          <a:p>
            <a:endParaRPr lang="en-US" dirty="0"/>
          </a:p>
          <a:p>
            <a:r>
              <a:rPr lang="en-US" dirty="0"/>
              <a:t>We have initialized age to 12 in the default constructor Student() and print its value with the function </a:t>
            </a:r>
            <a:r>
              <a:rPr lang="en-US" dirty="0" err="1"/>
              <a:t>getAge</a:t>
            </a:r>
            <a:r>
              <a:rPr lang="en-US" dirty="0"/>
              <a:t>().</a:t>
            </a:r>
          </a:p>
          <a:p>
            <a:endParaRPr lang="en-US" dirty="0"/>
          </a:p>
          <a:p>
            <a:r>
              <a:rPr lang="en-US" dirty="0"/>
              <a:t>In main(), we have created a Student object using the new operator and use the pointer </a:t>
            </a:r>
            <a:r>
              <a:rPr lang="en-US" dirty="0" err="1"/>
              <a:t>ptr</a:t>
            </a:r>
            <a:r>
              <a:rPr lang="en-US" dirty="0"/>
              <a:t> to point to its address.</a:t>
            </a:r>
          </a:p>
          <a:p>
            <a:endParaRPr lang="en-US" dirty="0"/>
          </a:p>
          <a:p>
            <a:r>
              <a:rPr lang="en-US" dirty="0"/>
              <a:t>The moment the object is created, the Student() constructor initializes age to 12.</a:t>
            </a:r>
          </a:p>
          <a:p>
            <a:endParaRPr lang="en-US" dirty="0"/>
          </a:p>
          <a:p>
            <a:r>
              <a:rPr lang="en-US" dirty="0"/>
              <a:t>We then call the </a:t>
            </a:r>
            <a:r>
              <a:rPr lang="en-US" dirty="0" err="1"/>
              <a:t>getAge</a:t>
            </a:r>
            <a:r>
              <a:rPr lang="en-US" dirty="0"/>
              <a:t>() function using the code:</a:t>
            </a:r>
          </a:p>
          <a:p>
            <a:endParaRPr lang="en-US" dirty="0"/>
          </a:p>
          <a:p>
            <a:pPr marL="0" indent="0">
              <a:buNone/>
            </a:pPr>
            <a:r>
              <a:rPr lang="en-US" dirty="0" err="1"/>
              <a:t>ptr</a:t>
            </a:r>
            <a:r>
              <a:rPr lang="en-US" dirty="0"/>
              <a:t>-&gt;</a:t>
            </a:r>
            <a:r>
              <a:rPr lang="en-US" dirty="0" err="1"/>
              <a:t>getAge</a:t>
            </a:r>
            <a:r>
              <a:rPr lang="en-US" dirty="0"/>
              <a:t>();</a:t>
            </a:r>
          </a:p>
          <a:p>
            <a:r>
              <a:rPr lang="en-US" dirty="0"/>
              <a:t>Notice the arrow operator -&gt;. This operator is used to access class members using pointers.</a:t>
            </a:r>
          </a:p>
          <a:p>
            <a:endParaRPr lang="en-US" dirty="0"/>
          </a:p>
          <a:p>
            <a:endParaRPr lang="en-US" dirty="0"/>
          </a:p>
        </p:txBody>
      </p:sp>
    </p:spTree>
    <p:extLst>
      <p:ext uri="{BB962C8B-B14F-4D97-AF65-F5344CB8AC3E}">
        <p14:creationId xmlns:p14="http://schemas.microsoft.com/office/powerpoint/2010/main" val="353747196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AAFEAE-0ACF-0452-A798-688124AFECCF}"/>
              </a:ext>
            </a:extLst>
          </p:cNvPr>
          <p:cNvSpPr>
            <a:spLocks noGrp="1"/>
          </p:cNvSpPr>
          <p:nvPr>
            <p:ph idx="1"/>
          </p:nvPr>
        </p:nvSpPr>
        <p:spPr>
          <a:xfrm>
            <a:off x="0" y="168813"/>
            <a:ext cx="12192000" cy="6689188"/>
          </a:xfrm>
        </p:spPr>
        <p:txBody>
          <a:bodyPr numCol="3">
            <a:normAutofit/>
          </a:bodyPr>
          <a:lstStyle/>
          <a:p>
            <a:pPr marL="0" indent="0">
              <a:buNone/>
            </a:pPr>
            <a:r>
              <a:rPr lang="en-US" dirty="0"/>
              <a:t>#include &lt;iostream&gt;</a:t>
            </a:r>
          </a:p>
          <a:p>
            <a:pPr marL="0" indent="0">
              <a:buNone/>
            </a:pPr>
            <a:r>
              <a:rPr lang="en-US" dirty="0"/>
              <a:t>using namespace std;</a:t>
            </a:r>
          </a:p>
          <a:p>
            <a:pPr marL="0" indent="0">
              <a:buNone/>
            </a:pPr>
            <a:endParaRPr lang="en-US" dirty="0"/>
          </a:p>
          <a:p>
            <a:pPr marL="0" indent="0">
              <a:buNone/>
            </a:pPr>
            <a:r>
              <a:rPr lang="en-US" dirty="0"/>
              <a:t>class Student {</a:t>
            </a:r>
          </a:p>
          <a:p>
            <a:pPr marL="0" indent="0">
              <a:buNone/>
            </a:pPr>
            <a:r>
              <a:rPr lang="en-US" dirty="0"/>
              <a:t>private:</a:t>
            </a:r>
          </a:p>
          <a:p>
            <a:pPr marL="0" indent="0">
              <a:buNone/>
            </a:pPr>
            <a:r>
              <a:rPr lang="en-US" dirty="0"/>
              <a:t>    string name;</a:t>
            </a:r>
          </a:p>
          <a:p>
            <a:pPr marL="0" indent="0">
              <a:buNone/>
            </a:pPr>
            <a:r>
              <a:rPr lang="en-US" dirty="0"/>
              <a:t>    int age;</a:t>
            </a:r>
          </a:p>
          <a:p>
            <a:pPr marL="0" indent="0">
              <a:buNone/>
            </a:pPr>
            <a:endParaRPr lang="en-US" dirty="0"/>
          </a:p>
          <a:p>
            <a:pPr marL="0" indent="0">
              <a:buNone/>
            </a:pPr>
            <a:r>
              <a:rPr lang="en-US" dirty="0"/>
              <a:t>public:</a:t>
            </a:r>
          </a:p>
          <a:p>
            <a:pPr marL="0" indent="0">
              <a:buNone/>
            </a:pPr>
            <a:r>
              <a:rPr lang="en-US" dirty="0"/>
              <a:t>void input() {</a:t>
            </a:r>
          </a:p>
          <a:p>
            <a:pPr marL="0" indent="0">
              <a:buNone/>
            </a:pPr>
            <a:r>
              <a:rPr lang="en-US" dirty="0"/>
              <a:t>        </a:t>
            </a:r>
            <a:r>
              <a:rPr lang="en-US" dirty="0" err="1"/>
              <a:t>cout</a:t>
            </a:r>
            <a:r>
              <a:rPr lang="en-US" dirty="0"/>
              <a:t> &lt;&lt; "Enter Name: ";</a:t>
            </a:r>
          </a:p>
          <a:p>
            <a:pPr marL="0" indent="0">
              <a:buNone/>
            </a:pPr>
            <a:r>
              <a:rPr lang="en-US" dirty="0"/>
              <a:t>        </a:t>
            </a:r>
            <a:r>
              <a:rPr lang="en-US" dirty="0" err="1"/>
              <a:t>cin</a:t>
            </a:r>
            <a:r>
              <a:rPr lang="en-US" dirty="0"/>
              <a:t> &gt;&gt; name;</a:t>
            </a:r>
          </a:p>
          <a:p>
            <a:pPr marL="0" indent="0">
              <a:buNone/>
            </a:pPr>
            <a:endParaRPr lang="en-US" dirty="0"/>
          </a:p>
          <a:p>
            <a:pPr marL="0" indent="0">
              <a:buNone/>
            </a:pPr>
            <a:r>
              <a:rPr lang="en-US" dirty="0"/>
              <a:t>        </a:t>
            </a:r>
            <a:r>
              <a:rPr lang="en-US" dirty="0" err="1"/>
              <a:t>cout</a:t>
            </a:r>
            <a:r>
              <a:rPr lang="en-US" dirty="0"/>
              <a:t> &lt;&lt; "Enter Age: ";</a:t>
            </a:r>
          </a:p>
          <a:p>
            <a:pPr marL="0" indent="0">
              <a:buNone/>
            </a:pPr>
            <a:r>
              <a:rPr lang="en-US" dirty="0"/>
              <a:t>        </a:t>
            </a:r>
            <a:r>
              <a:rPr lang="en-US" dirty="0" err="1"/>
              <a:t>cin</a:t>
            </a:r>
            <a:r>
              <a:rPr lang="en-US" dirty="0"/>
              <a:t> &gt;&gt; age;</a:t>
            </a:r>
          </a:p>
          <a:p>
            <a:pPr marL="0" indent="0">
              <a:buNone/>
            </a:pPr>
            <a:r>
              <a:rPr lang="en-US" dirty="0"/>
              <a:t>    }</a:t>
            </a:r>
          </a:p>
          <a:p>
            <a:pPr marL="0" indent="0">
              <a:buNone/>
            </a:pPr>
            <a:r>
              <a:rPr lang="en-US" dirty="0"/>
              <a:t>void display() {</a:t>
            </a:r>
          </a:p>
          <a:p>
            <a:pPr marL="0" indent="0">
              <a:buNone/>
            </a:pPr>
            <a:r>
              <a:rPr lang="en-US" dirty="0"/>
              <a:t>        </a:t>
            </a:r>
            <a:r>
              <a:rPr lang="en-US" dirty="0" err="1"/>
              <a:t>cout</a:t>
            </a:r>
            <a:r>
              <a:rPr lang="en-US" dirty="0"/>
              <a:t> &lt;&lt; "Name: " &lt;&lt; name &lt;&lt; </a:t>
            </a:r>
            <a:r>
              <a:rPr lang="en-US" dirty="0" err="1"/>
              <a:t>endl</a:t>
            </a:r>
            <a:r>
              <a:rPr lang="en-US" dirty="0"/>
              <a:t>;</a:t>
            </a:r>
          </a:p>
          <a:p>
            <a:pPr marL="0" indent="0">
              <a:buNone/>
            </a:pPr>
            <a:r>
              <a:rPr lang="en-US" dirty="0"/>
              <a:t>        </a:t>
            </a:r>
            <a:r>
              <a:rPr lang="en-US" dirty="0" err="1"/>
              <a:t>cout</a:t>
            </a:r>
            <a:r>
              <a:rPr lang="en-US" dirty="0"/>
              <a:t> &lt;&lt; "Age: " &lt;&lt; age &lt;&lt; </a:t>
            </a:r>
            <a:r>
              <a:rPr lang="en-US" dirty="0" err="1"/>
              <a:t>endl</a:t>
            </a:r>
            <a:r>
              <a:rPr lang="en-US" dirty="0"/>
              <a:t>;</a:t>
            </a:r>
          </a:p>
          <a:p>
            <a:pPr marL="0" indent="0">
              <a:buNone/>
            </a:pPr>
            <a:r>
              <a:rPr lang="en-US" dirty="0"/>
              <a:t>    }</a:t>
            </a:r>
          </a:p>
          <a:p>
            <a:pPr marL="0" indent="0">
              <a:buNone/>
            </a:pPr>
            <a:r>
              <a:rPr lang="en-US" dirty="0"/>
              <a:t>};</a:t>
            </a:r>
          </a:p>
          <a:p>
            <a:pPr marL="0" indent="0">
              <a:buNone/>
            </a:pPr>
            <a:endParaRPr lang="en-US" dirty="0"/>
          </a:p>
          <a:p>
            <a:pPr marL="0" indent="0">
              <a:buNone/>
            </a:pPr>
            <a:r>
              <a:rPr lang="en-US" dirty="0"/>
              <a:t>int main() {</a:t>
            </a:r>
          </a:p>
          <a:p>
            <a:pPr marL="0" indent="0">
              <a:buNone/>
            </a:pPr>
            <a:r>
              <a:rPr lang="en-US" dirty="0"/>
              <a:t>    int n;</a:t>
            </a:r>
          </a:p>
          <a:p>
            <a:pPr marL="0" indent="0">
              <a:buNone/>
            </a:pPr>
            <a:r>
              <a:rPr lang="en-US" dirty="0"/>
              <a:t>  </a:t>
            </a:r>
            <a:r>
              <a:rPr lang="en-US" dirty="0" err="1"/>
              <a:t>cout</a:t>
            </a:r>
            <a:r>
              <a:rPr lang="en-US" dirty="0"/>
              <a:t> &lt;&lt; "Enter number of students: ";   </a:t>
            </a:r>
          </a:p>
          <a:p>
            <a:pPr marL="0" indent="0">
              <a:buNone/>
            </a:pPr>
            <a:r>
              <a:rPr lang="en-US" dirty="0"/>
              <a:t>    </a:t>
            </a:r>
            <a:r>
              <a:rPr lang="en-US" dirty="0" err="1"/>
              <a:t>cin</a:t>
            </a:r>
            <a:r>
              <a:rPr lang="en-US" dirty="0"/>
              <a:t> &gt;&gt; n;</a:t>
            </a:r>
          </a:p>
          <a:p>
            <a:pPr marL="0" indent="0">
              <a:buNone/>
            </a:pPr>
            <a:r>
              <a:rPr lang="en-US" dirty="0"/>
              <a:t>Student* s = new Student[n];</a:t>
            </a:r>
          </a:p>
          <a:p>
            <a:pPr marL="0" indent="0">
              <a:buNone/>
            </a:pPr>
            <a:r>
              <a:rPr lang="en-US" dirty="0" err="1"/>
              <a:t>cout</a:t>
            </a:r>
            <a:r>
              <a:rPr lang="en-US" dirty="0"/>
              <a:t> &lt;&lt; "\</a:t>
            </a:r>
            <a:r>
              <a:rPr lang="en-US" dirty="0" err="1"/>
              <a:t>nEnter</a:t>
            </a:r>
            <a:r>
              <a:rPr lang="en-US" dirty="0"/>
              <a:t> Student Information:\n";</a:t>
            </a:r>
          </a:p>
          <a:p>
            <a:pPr marL="0" indent="0">
              <a:buNone/>
            </a:pPr>
            <a:r>
              <a:rPr lang="en-US" dirty="0"/>
              <a:t>    for (int </a:t>
            </a:r>
            <a:r>
              <a:rPr lang="en-US" dirty="0" err="1"/>
              <a:t>i</a:t>
            </a:r>
            <a:r>
              <a:rPr lang="en-US" dirty="0"/>
              <a:t> = 0; </a:t>
            </a:r>
            <a:r>
              <a:rPr lang="en-US" dirty="0" err="1"/>
              <a:t>i</a:t>
            </a:r>
            <a:r>
              <a:rPr lang="en-US" dirty="0"/>
              <a:t> &lt; n; </a:t>
            </a:r>
            <a:r>
              <a:rPr lang="en-US" dirty="0" err="1"/>
              <a:t>i</a:t>
            </a:r>
            <a:r>
              <a:rPr lang="en-US" dirty="0"/>
              <a:t>++) {</a:t>
            </a:r>
          </a:p>
          <a:p>
            <a:pPr marL="0" indent="0">
              <a:buNone/>
            </a:pPr>
            <a:r>
              <a:rPr lang="en-US" dirty="0"/>
              <a:t>        </a:t>
            </a:r>
            <a:r>
              <a:rPr lang="en-US" dirty="0" err="1"/>
              <a:t>cout</a:t>
            </a:r>
            <a:r>
              <a:rPr lang="en-US" dirty="0"/>
              <a:t> &lt;&lt; "\</a:t>
            </a:r>
            <a:r>
              <a:rPr lang="en-US" dirty="0" err="1"/>
              <a:t>nStudent</a:t>
            </a:r>
            <a:r>
              <a:rPr lang="en-US" dirty="0"/>
              <a:t> " &lt;&lt; </a:t>
            </a:r>
            <a:r>
              <a:rPr lang="en-US" dirty="0" err="1"/>
              <a:t>i</a:t>
            </a:r>
            <a:r>
              <a:rPr lang="en-US" dirty="0"/>
              <a:t> + 1 &lt;&lt; </a:t>
            </a:r>
            <a:r>
              <a:rPr lang="en-US" dirty="0" err="1"/>
              <a:t>endl</a:t>
            </a:r>
            <a:r>
              <a:rPr lang="en-US" dirty="0"/>
              <a:t>;</a:t>
            </a:r>
          </a:p>
          <a:p>
            <a:pPr marL="0" indent="0">
              <a:buNone/>
            </a:pPr>
            <a:r>
              <a:rPr lang="en-US" dirty="0"/>
              <a:t>        s[</a:t>
            </a:r>
            <a:r>
              <a:rPr lang="en-US" dirty="0" err="1"/>
              <a:t>i</a:t>
            </a:r>
            <a:r>
              <a:rPr lang="en-US" dirty="0"/>
              <a:t>].input();</a:t>
            </a:r>
          </a:p>
          <a:p>
            <a:pPr marL="0" indent="0">
              <a:buNone/>
            </a:pPr>
            <a:r>
              <a:rPr lang="en-US" dirty="0"/>
              <a:t>    }</a:t>
            </a:r>
          </a:p>
          <a:p>
            <a:pPr marL="0" indent="0">
              <a:buNone/>
            </a:pPr>
            <a:r>
              <a:rPr lang="en-US" dirty="0" err="1"/>
              <a:t>cout</a:t>
            </a:r>
            <a:r>
              <a:rPr lang="en-US" dirty="0"/>
              <a:t> &lt;&lt; "\</a:t>
            </a:r>
            <a:r>
              <a:rPr lang="en-US" dirty="0" err="1"/>
              <a:t>nStudent</a:t>
            </a:r>
            <a:r>
              <a:rPr lang="en-US" dirty="0"/>
              <a:t> Details:\n";</a:t>
            </a:r>
          </a:p>
          <a:p>
            <a:pPr marL="0" indent="0">
              <a:buNone/>
            </a:pPr>
            <a:r>
              <a:rPr lang="en-US" dirty="0"/>
              <a:t>    for (int </a:t>
            </a:r>
            <a:r>
              <a:rPr lang="en-US" dirty="0" err="1"/>
              <a:t>i</a:t>
            </a:r>
            <a:r>
              <a:rPr lang="en-US" dirty="0"/>
              <a:t> = 0; </a:t>
            </a:r>
            <a:r>
              <a:rPr lang="en-US" dirty="0" err="1"/>
              <a:t>i</a:t>
            </a:r>
            <a:r>
              <a:rPr lang="en-US" dirty="0"/>
              <a:t> &lt; n; </a:t>
            </a:r>
            <a:r>
              <a:rPr lang="en-US" dirty="0" err="1"/>
              <a:t>i</a:t>
            </a:r>
            <a:r>
              <a:rPr lang="en-US" dirty="0"/>
              <a:t>++) {</a:t>
            </a:r>
          </a:p>
          <a:p>
            <a:pPr marL="0" indent="0">
              <a:buNone/>
            </a:pPr>
            <a:r>
              <a:rPr lang="en-US" dirty="0"/>
              <a:t>        </a:t>
            </a:r>
            <a:r>
              <a:rPr lang="en-US" dirty="0" err="1"/>
              <a:t>cout</a:t>
            </a:r>
            <a:r>
              <a:rPr lang="en-US" dirty="0"/>
              <a:t> &lt;&lt; "\</a:t>
            </a:r>
            <a:r>
              <a:rPr lang="en-US" dirty="0" err="1"/>
              <a:t>nStudent</a:t>
            </a:r>
            <a:r>
              <a:rPr lang="en-US" dirty="0"/>
              <a:t> " &lt;&lt; </a:t>
            </a:r>
            <a:r>
              <a:rPr lang="en-US" dirty="0" err="1"/>
              <a:t>i</a:t>
            </a:r>
            <a:r>
              <a:rPr lang="en-US" dirty="0"/>
              <a:t> + 1 &lt;&lt; </a:t>
            </a:r>
            <a:r>
              <a:rPr lang="en-US" dirty="0" err="1"/>
              <a:t>endl</a:t>
            </a:r>
            <a:r>
              <a:rPr lang="en-US" dirty="0"/>
              <a:t>;</a:t>
            </a:r>
          </a:p>
          <a:p>
            <a:pPr marL="0" indent="0">
              <a:buNone/>
            </a:pPr>
            <a:r>
              <a:rPr lang="en-US" dirty="0"/>
              <a:t>        s[</a:t>
            </a:r>
            <a:r>
              <a:rPr lang="en-US" dirty="0" err="1"/>
              <a:t>i</a:t>
            </a:r>
            <a:r>
              <a:rPr lang="en-US" dirty="0"/>
              <a:t>].display();</a:t>
            </a:r>
          </a:p>
          <a:p>
            <a:pPr marL="0" indent="0">
              <a:buNone/>
            </a:pPr>
            <a:r>
              <a:rPr lang="en-US" dirty="0"/>
              <a:t>    }</a:t>
            </a:r>
          </a:p>
          <a:p>
            <a:pPr marL="0" indent="0">
              <a:buNone/>
            </a:pPr>
            <a:endParaRPr lang="en-US" dirty="0"/>
          </a:p>
          <a:p>
            <a:pPr marL="0" indent="0">
              <a:buNone/>
            </a:pPr>
            <a:r>
              <a:rPr lang="en-US" dirty="0"/>
              <a:t>  delete[] s;</a:t>
            </a:r>
          </a:p>
          <a:p>
            <a:pPr marL="0" indent="0">
              <a:buNone/>
            </a:pPr>
            <a:endParaRPr lang="en-US" dirty="0"/>
          </a:p>
          <a:p>
            <a:pPr marL="0" indent="0">
              <a:buNone/>
            </a:pPr>
            <a:r>
              <a:rPr lang="en-US" dirty="0"/>
              <a:t>    return 0;</a:t>
            </a:r>
          </a:p>
          <a:p>
            <a:pPr marL="0" indent="0">
              <a:buNone/>
            </a:pPr>
            <a:r>
              <a:rPr lang="en-US" dirty="0"/>
              <a:t>}</a:t>
            </a:r>
          </a:p>
        </p:txBody>
      </p:sp>
    </p:spTree>
    <p:extLst>
      <p:ext uri="{BB962C8B-B14F-4D97-AF65-F5344CB8AC3E}">
        <p14:creationId xmlns:p14="http://schemas.microsoft.com/office/powerpoint/2010/main" val="387173038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79DB5-23F2-C2A7-96B4-BB2FD2EF9E77}"/>
              </a:ext>
            </a:extLst>
          </p:cNvPr>
          <p:cNvSpPr>
            <a:spLocks noGrp="1"/>
          </p:cNvSpPr>
          <p:nvPr>
            <p:ph type="title"/>
          </p:nvPr>
        </p:nvSpPr>
        <p:spPr/>
        <p:txBody>
          <a:bodyPr/>
          <a:lstStyle/>
          <a:p>
            <a:r>
              <a:rPr lang="en-US" dirty="0"/>
              <a:t>Exercise</a:t>
            </a:r>
            <a:br>
              <a:rPr lang="en-US" dirty="0"/>
            </a:br>
            <a:endParaRPr lang="en-US" dirty="0"/>
          </a:p>
        </p:txBody>
      </p:sp>
      <p:sp>
        <p:nvSpPr>
          <p:cNvPr id="3" name="Content Placeholder 2">
            <a:extLst>
              <a:ext uri="{FF2B5EF4-FFF2-40B4-BE49-F238E27FC236}">
                <a16:creationId xmlns:a16="http://schemas.microsoft.com/office/drawing/2014/main" id="{471ACDE0-3DF2-F050-4A30-F915E2049D23}"/>
              </a:ext>
            </a:extLst>
          </p:cNvPr>
          <p:cNvSpPr>
            <a:spLocks noGrp="1"/>
          </p:cNvSpPr>
          <p:nvPr>
            <p:ph idx="1"/>
          </p:nvPr>
        </p:nvSpPr>
        <p:spPr>
          <a:xfrm>
            <a:off x="677333" y="1294229"/>
            <a:ext cx="10534617" cy="5317586"/>
          </a:xfrm>
        </p:spPr>
        <p:txBody>
          <a:bodyPr>
            <a:normAutofit/>
          </a:bodyPr>
          <a:lstStyle/>
          <a:p>
            <a:r>
              <a:rPr lang="en-US" dirty="0"/>
              <a:t>Exercise 1: Dynamic Array of Objects (Basic)Create a class Student with</a:t>
            </a:r>
            <a:r>
              <a:rPr lang="en-US" dirty="0" smtClean="0"/>
              <a:t>: Student ID, Name, CGPA. </a:t>
            </a:r>
            <a:r>
              <a:rPr lang="en-US" dirty="0" err="1" smtClean="0"/>
              <a:t>Requirements:Take</a:t>
            </a:r>
            <a:r>
              <a:rPr lang="en-US" dirty="0" smtClean="0"/>
              <a:t> </a:t>
            </a:r>
            <a:r>
              <a:rPr lang="en-US" dirty="0"/>
              <a:t>the number of students </a:t>
            </a:r>
            <a:r>
              <a:rPr lang="en-US" dirty="0" err="1"/>
              <a:t>dynamically.Allocate</a:t>
            </a:r>
            <a:r>
              <a:rPr lang="en-US" dirty="0"/>
              <a:t> memory using new</a:t>
            </a:r>
            <a:r>
              <a:rPr lang="en-US" dirty="0" smtClean="0"/>
              <a:t>. Input </a:t>
            </a:r>
            <a:r>
              <a:rPr lang="en-US" dirty="0"/>
              <a:t>and display student </a:t>
            </a:r>
            <a:r>
              <a:rPr lang="en-US" dirty="0" err="1"/>
              <a:t>information.Release</a:t>
            </a:r>
            <a:r>
              <a:rPr lang="en-US" dirty="0"/>
              <a:t> memory using delete[].</a:t>
            </a:r>
          </a:p>
          <a:p>
            <a:r>
              <a:rPr lang="en-US" dirty="0"/>
              <a:t>Exercise 2: Dynamic Memory Allocation for Employee </a:t>
            </a:r>
            <a:r>
              <a:rPr lang="en-US" dirty="0" smtClean="0"/>
              <a:t>Records Create </a:t>
            </a:r>
            <a:r>
              <a:rPr lang="en-US" dirty="0"/>
              <a:t>a class Employee </a:t>
            </a:r>
            <a:r>
              <a:rPr lang="en-US" dirty="0" err="1"/>
              <a:t>with:Employee</a:t>
            </a:r>
            <a:r>
              <a:rPr lang="en-US" dirty="0"/>
              <a:t> </a:t>
            </a:r>
            <a:r>
              <a:rPr lang="en-US" dirty="0" smtClean="0"/>
              <a:t>Name, </a:t>
            </a:r>
            <a:r>
              <a:rPr lang="en-US" dirty="0" smtClean="0"/>
              <a:t>Employee </a:t>
            </a:r>
            <a:r>
              <a:rPr lang="en-US" dirty="0" smtClean="0"/>
              <a:t>ID, </a:t>
            </a:r>
            <a:r>
              <a:rPr lang="en-US" dirty="0" smtClean="0"/>
              <a:t>Salary .</a:t>
            </a:r>
            <a:r>
              <a:rPr lang="en-US" dirty="0" err="1" smtClean="0"/>
              <a:t>Requirements:Dynamically</a:t>
            </a:r>
            <a:r>
              <a:rPr lang="en-US" dirty="0" smtClean="0"/>
              <a:t> </a:t>
            </a:r>
            <a:r>
              <a:rPr lang="en-US" dirty="0"/>
              <a:t>allocate memory for multiple employees</a:t>
            </a:r>
            <a:r>
              <a:rPr lang="en-US" dirty="0" smtClean="0"/>
              <a:t>. Display </a:t>
            </a:r>
            <a:r>
              <a:rPr lang="en-US" dirty="0"/>
              <a:t>the employee with the highest salary.</a:t>
            </a:r>
          </a:p>
          <a:p>
            <a:r>
              <a:rPr lang="en-US" dirty="0"/>
              <a:t>Exercise 3: Constructor and Destructor with Dynamic </a:t>
            </a:r>
            <a:r>
              <a:rPr lang="en-US" dirty="0" err="1" smtClean="0"/>
              <a:t>Allocation.Create</a:t>
            </a:r>
            <a:r>
              <a:rPr lang="en-US" dirty="0" smtClean="0"/>
              <a:t> </a:t>
            </a:r>
            <a:r>
              <a:rPr lang="en-US" dirty="0"/>
              <a:t>a class Book </a:t>
            </a:r>
            <a:r>
              <a:rPr lang="en-US" dirty="0" err="1"/>
              <a:t>with:Book</a:t>
            </a:r>
            <a:r>
              <a:rPr lang="en-US" dirty="0"/>
              <a:t> </a:t>
            </a:r>
            <a:r>
              <a:rPr lang="en-US" dirty="0" smtClean="0"/>
              <a:t>Name, Author </a:t>
            </a:r>
            <a:r>
              <a:rPr lang="en-US" dirty="0" err="1" smtClean="0"/>
              <a:t>Name,Price</a:t>
            </a:r>
            <a:r>
              <a:rPr lang="en-US" dirty="0" smtClean="0"/>
              <a:t>. </a:t>
            </a:r>
            <a:r>
              <a:rPr lang="en-US" dirty="0" err="1" smtClean="0"/>
              <a:t>Requirements:Use</a:t>
            </a:r>
            <a:r>
              <a:rPr lang="en-US" dirty="0" smtClean="0"/>
              <a:t> </a:t>
            </a:r>
            <a:r>
              <a:rPr lang="en-US" dirty="0"/>
              <a:t>parameterized constructor</a:t>
            </a:r>
            <a:r>
              <a:rPr lang="en-US" dirty="0" smtClean="0"/>
              <a:t>. Create </a:t>
            </a:r>
            <a:r>
              <a:rPr lang="en-US" dirty="0"/>
              <a:t>an array of book objects dynamically</a:t>
            </a:r>
            <a:r>
              <a:rPr lang="en-US" dirty="0" smtClean="0"/>
              <a:t>. Destructor </a:t>
            </a:r>
            <a:r>
              <a:rPr lang="en-US" dirty="0"/>
              <a:t>should print</a:t>
            </a:r>
            <a:r>
              <a:rPr lang="en-US" dirty="0"/>
              <a:t>: with</a:t>
            </a:r>
            <a:r>
              <a:rPr lang="en-US" dirty="0" smtClean="0"/>
              <a:t>: Book Name deleted.</a:t>
            </a:r>
            <a:endParaRPr lang="en-US" dirty="0"/>
          </a:p>
          <a:p>
            <a:r>
              <a:rPr lang="en-US" dirty="0"/>
              <a:t>Dynamic Memory Allocation Using Pointer to </a:t>
            </a:r>
            <a:r>
              <a:rPr lang="en-US" dirty="0" err="1"/>
              <a:t>ObjectCreate</a:t>
            </a:r>
            <a:r>
              <a:rPr lang="en-US" dirty="0"/>
              <a:t> a class Rectangle</a:t>
            </a:r>
            <a:r>
              <a:rPr lang="en-US" dirty="0" smtClean="0"/>
              <a:t>. Requirements: Dynamically </a:t>
            </a:r>
            <a:r>
              <a:rPr lang="en-US" dirty="0"/>
              <a:t>create one object using pointer</a:t>
            </a:r>
            <a:r>
              <a:rPr lang="en-US" dirty="0" smtClean="0"/>
              <a:t>. Input </a:t>
            </a:r>
            <a:r>
              <a:rPr lang="en-US" dirty="0"/>
              <a:t>length and width</a:t>
            </a:r>
            <a:r>
              <a:rPr lang="en-US" dirty="0" smtClean="0"/>
              <a:t>. Calculate </a:t>
            </a:r>
            <a:r>
              <a:rPr lang="en-US" dirty="0"/>
              <a:t>area</a:t>
            </a:r>
            <a:r>
              <a:rPr lang="en-US" dirty="0" smtClean="0"/>
              <a:t>. Example: Rectangle </a:t>
            </a:r>
            <a:r>
              <a:rPr lang="en-US" dirty="0"/>
              <a:t>*r = new Rectangle;</a:t>
            </a:r>
          </a:p>
        </p:txBody>
      </p:sp>
    </p:spTree>
    <p:extLst>
      <p:ext uri="{BB962C8B-B14F-4D97-AF65-F5344CB8AC3E}">
        <p14:creationId xmlns:p14="http://schemas.microsoft.com/office/powerpoint/2010/main" val="32028901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677334" y="2160589"/>
            <a:ext cx="6436160" cy="3880773"/>
          </a:xfrm>
        </p:spPr>
        <p:txBody>
          <a:bodyPr>
            <a:normAutofit/>
          </a:bodyPr>
          <a:lstStyle/>
          <a:p>
            <a:pPr marL="0" indent="0" algn="r">
              <a:buNone/>
            </a:pPr>
            <a:r>
              <a:rPr lang="en-US" sz="4800" dirty="0"/>
              <a:t>Thank you !!!</a:t>
            </a:r>
          </a:p>
        </p:txBody>
      </p:sp>
    </p:spTree>
    <p:extLst>
      <p:ext uri="{BB962C8B-B14F-4D97-AF65-F5344CB8AC3E}">
        <p14:creationId xmlns:p14="http://schemas.microsoft.com/office/powerpoint/2010/main" val="126121837"/>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242</TotalTime>
  <Words>1984</Words>
  <Application>Microsoft Office PowerPoint</Application>
  <PresentationFormat>Widescreen</PresentationFormat>
  <Paragraphs>292</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Trebuchet MS</vt:lpstr>
      <vt:lpstr>Wingdings</vt:lpstr>
      <vt:lpstr>Wingdings 3</vt:lpstr>
      <vt:lpstr>Facet</vt:lpstr>
      <vt:lpstr>Dynamic memory Allocation</vt:lpstr>
      <vt:lpstr>Objects Memory Allocation in C++</vt:lpstr>
      <vt:lpstr>C++ Memory Management </vt:lpstr>
      <vt:lpstr>C++ new Operator </vt:lpstr>
      <vt:lpstr>PowerPoint Presentation</vt:lpstr>
      <vt:lpstr>delete Operator </vt:lpstr>
      <vt:lpstr>PowerPoint Presentation</vt:lpstr>
      <vt:lpstr>Example 1: C++ Dynamic Memory Allocation </vt:lpstr>
      <vt:lpstr>PowerPoint Presentation</vt:lpstr>
      <vt:lpstr>More on Delete Operator</vt:lpstr>
      <vt:lpstr>PowerPoint Presentation</vt:lpstr>
      <vt:lpstr>Why delete dynamic memory inside a destructor?</vt:lpstr>
      <vt:lpstr>Memory leak</vt:lpstr>
      <vt:lpstr>Example 2: C++ new and delete Operator for Arrays </vt:lpstr>
      <vt:lpstr>PowerPoint Presentation</vt:lpstr>
      <vt:lpstr>PowerPoint Presentation</vt:lpstr>
      <vt:lpstr>Example 3: C++ new and delete Operator for Objects</vt:lpstr>
      <vt:lpstr>PowerPoint Presentation</vt:lpstr>
      <vt:lpstr>PowerPoint Presentation</vt:lpstr>
      <vt:lpstr>Exercise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memory Allocation</dc:title>
  <dc:creator>Windows User</dc:creator>
  <cp:lastModifiedBy>NET LAB PC - 31</cp:lastModifiedBy>
  <cp:revision>30</cp:revision>
  <dcterms:created xsi:type="dcterms:W3CDTF">2024-01-23T08:42:10Z</dcterms:created>
  <dcterms:modified xsi:type="dcterms:W3CDTF">2026-07-02T03:38:19Z</dcterms:modified>
</cp:coreProperties>
</file>