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2" r:id="rId17"/>
    <p:sldId id="27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866569F-AF51-45E6-8BD1-DFF76C0D9C7D}"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A536A1-894A-4FB3-9762-F1D534E0E736}" type="slidenum">
              <a:rPr lang="en-US" smtClean="0"/>
              <a:t>‹#›</a:t>
            </a:fld>
            <a:endParaRPr lang="en-US"/>
          </a:p>
        </p:txBody>
      </p:sp>
    </p:spTree>
    <p:extLst>
      <p:ext uri="{BB962C8B-B14F-4D97-AF65-F5344CB8AC3E}">
        <p14:creationId xmlns:p14="http://schemas.microsoft.com/office/powerpoint/2010/main" val="74491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66569F-AF51-45E6-8BD1-DFF76C0D9C7D}"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A536A1-894A-4FB3-9762-F1D534E0E736}" type="slidenum">
              <a:rPr lang="en-US" smtClean="0"/>
              <a:t>‹#›</a:t>
            </a:fld>
            <a:endParaRPr lang="en-US"/>
          </a:p>
        </p:txBody>
      </p:sp>
    </p:spTree>
    <p:extLst>
      <p:ext uri="{BB962C8B-B14F-4D97-AF65-F5344CB8AC3E}">
        <p14:creationId xmlns:p14="http://schemas.microsoft.com/office/powerpoint/2010/main" val="454624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66569F-AF51-45E6-8BD1-DFF76C0D9C7D}"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A536A1-894A-4FB3-9762-F1D534E0E736}" type="slidenum">
              <a:rPr lang="en-US" smtClean="0"/>
              <a:t>‹#›</a:t>
            </a:fld>
            <a:endParaRPr lang="en-US"/>
          </a:p>
        </p:txBody>
      </p:sp>
    </p:spTree>
    <p:extLst>
      <p:ext uri="{BB962C8B-B14F-4D97-AF65-F5344CB8AC3E}">
        <p14:creationId xmlns:p14="http://schemas.microsoft.com/office/powerpoint/2010/main" val="2937517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866569F-AF51-45E6-8BD1-DFF76C0D9C7D}" type="datetimeFigureOut">
              <a:rPr lang="en-US" smtClean="0"/>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A536A1-894A-4FB3-9762-F1D534E0E736}" type="slidenum">
              <a:rPr lang="en-US" smtClean="0"/>
              <a:t>‹#›</a:t>
            </a:fld>
            <a:endParaRPr lang="en-US"/>
          </a:p>
        </p:txBody>
      </p:sp>
    </p:spTree>
    <p:extLst>
      <p:ext uri="{BB962C8B-B14F-4D97-AF65-F5344CB8AC3E}">
        <p14:creationId xmlns:p14="http://schemas.microsoft.com/office/powerpoint/2010/main" val="6341301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66569F-AF51-45E6-8BD1-DFF76C0D9C7D}" type="datetimeFigureOut">
              <a:rPr lang="en-US" smtClean="0"/>
              <a:t>6/29/2026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A536A1-894A-4FB3-9762-F1D534E0E736}" type="slidenum">
              <a:rPr lang="en-US" smtClean="0"/>
              <a:t>‹#›</a:t>
            </a:fld>
            <a:endParaRPr lang="en-US"/>
          </a:p>
        </p:txBody>
      </p:sp>
    </p:spTree>
    <p:extLst>
      <p:ext uri="{BB962C8B-B14F-4D97-AF65-F5344CB8AC3E}">
        <p14:creationId xmlns:p14="http://schemas.microsoft.com/office/powerpoint/2010/main" val="3069872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866569F-AF51-45E6-8BD1-DFF76C0D9C7D}" type="datetimeFigureOut">
              <a:rPr lang="en-US" smtClean="0"/>
              <a:t>6/29/2026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A536A1-894A-4FB3-9762-F1D534E0E736}" type="slidenum">
              <a:rPr lang="en-US" smtClean="0"/>
              <a:t>‹#›</a:t>
            </a:fld>
            <a:endParaRPr lang="en-US"/>
          </a:p>
        </p:txBody>
      </p:sp>
    </p:spTree>
    <p:extLst>
      <p:ext uri="{BB962C8B-B14F-4D97-AF65-F5344CB8AC3E}">
        <p14:creationId xmlns:p14="http://schemas.microsoft.com/office/powerpoint/2010/main" val="1837897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66569F-AF51-45E6-8BD1-DFF76C0D9C7D}" type="datetimeFigureOut">
              <a:rPr lang="en-US" smtClean="0"/>
              <a:t>6/29/2026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A536A1-894A-4FB3-9762-F1D534E0E736}" type="slidenum">
              <a:rPr lang="en-US" smtClean="0"/>
              <a:t>‹#›</a:t>
            </a:fld>
            <a:endParaRPr lang="en-US"/>
          </a:p>
        </p:txBody>
      </p:sp>
    </p:spTree>
    <p:extLst>
      <p:ext uri="{BB962C8B-B14F-4D97-AF65-F5344CB8AC3E}">
        <p14:creationId xmlns:p14="http://schemas.microsoft.com/office/powerpoint/2010/main" val="824959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866569F-AF51-45E6-8BD1-DFF76C0D9C7D}" type="datetimeFigureOut">
              <a:rPr lang="en-US" smtClean="0"/>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A536A1-894A-4FB3-9762-F1D534E0E736}" type="slidenum">
              <a:rPr lang="en-US" smtClean="0"/>
              <a:t>‹#›</a:t>
            </a:fld>
            <a:endParaRPr lang="en-US"/>
          </a:p>
        </p:txBody>
      </p:sp>
    </p:spTree>
    <p:extLst>
      <p:ext uri="{BB962C8B-B14F-4D97-AF65-F5344CB8AC3E}">
        <p14:creationId xmlns:p14="http://schemas.microsoft.com/office/powerpoint/2010/main" val="4028759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866569F-AF51-45E6-8BD1-DFF76C0D9C7D}" type="datetimeFigureOut">
              <a:rPr lang="en-US" smtClean="0"/>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A536A1-894A-4FB3-9762-F1D534E0E736}" type="slidenum">
              <a:rPr lang="en-US" smtClean="0"/>
              <a:t>‹#›</a:t>
            </a:fld>
            <a:endParaRPr lang="en-US"/>
          </a:p>
        </p:txBody>
      </p:sp>
    </p:spTree>
    <p:extLst>
      <p:ext uri="{BB962C8B-B14F-4D97-AF65-F5344CB8AC3E}">
        <p14:creationId xmlns:p14="http://schemas.microsoft.com/office/powerpoint/2010/main" val="4063049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66569F-AF51-45E6-8BD1-DFF76C0D9C7D}"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A536A1-894A-4FB3-9762-F1D534E0E736}" type="slidenum">
              <a:rPr lang="en-US" smtClean="0"/>
              <a:t>‹#›</a:t>
            </a:fld>
            <a:endParaRPr lang="en-US"/>
          </a:p>
        </p:txBody>
      </p:sp>
    </p:spTree>
    <p:extLst>
      <p:ext uri="{BB962C8B-B14F-4D97-AF65-F5344CB8AC3E}">
        <p14:creationId xmlns:p14="http://schemas.microsoft.com/office/powerpoint/2010/main" val="3505131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66569F-AF51-45E6-8BD1-DFF76C0D9C7D}"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A536A1-894A-4FB3-9762-F1D534E0E736}"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070840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66569F-AF51-45E6-8BD1-DFF76C0D9C7D}"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A536A1-894A-4FB3-9762-F1D534E0E736}" type="slidenum">
              <a:rPr lang="en-US" smtClean="0"/>
              <a:t>‹#›</a:t>
            </a:fld>
            <a:endParaRPr lang="en-US"/>
          </a:p>
        </p:txBody>
      </p:sp>
    </p:spTree>
    <p:extLst>
      <p:ext uri="{BB962C8B-B14F-4D97-AF65-F5344CB8AC3E}">
        <p14:creationId xmlns:p14="http://schemas.microsoft.com/office/powerpoint/2010/main" val="40166680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66569F-AF51-45E6-8BD1-DFF76C0D9C7D}"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A536A1-894A-4FB3-9762-F1D534E0E736}"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6971239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66569F-AF51-45E6-8BD1-DFF76C0D9C7D}"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A536A1-894A-4FB3-9762-F1D534E0E736}" type="slidenum">
              <a:rPr lang="en-US" smtClean="0"/>
              <a:t>‹#›</a:t>
            </a:fld>
            <a:endParaRPr lang="en-US"/>
          </a:p>
        </p:txBody>
      </p:sp>
    </p:spTree>
    <p:extLst>
      <p:ext uri="{BB962C8B-B14F-4D97-AF65-F5344CB8AC3E}">
        <p14:creationId xmlns:p14="http://schemas.microsoft.com/office/powerpoint/2010/main" val="7143304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66569F-AF51-45E6-8BD1-DFF76C0D9C7D}"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A536A1-894A-4FB3-9762-F1D534E0E736}" type="slidenum">
              <a:rPr lang="en-US" smtClean="0"/>
              <a:t>‹#›</a:t>
            </a:fld>
            <a:endParaRPr lang="en-US"/>
          </a:p>
        </p:txBody>
      </p:sp>
    </p:spTree>
    <p:extLst>
      <p:ext uri="{BB962C8B-B14F-4D97-AF65-F5344CB8AC3E}">
        <p14:creationId xmlns:p14="http://schemas.microsoft.com/office/powerpoint/2010/main" val="34222213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66569F-AF51-45E6-8BD1-DFF76C0D9C7D}"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A536A1-894A-4FB3-9762-F1D534E0E736}" type="slidenum">
              <a:rPr lang="en-US" smtClean="0"/>
              <a:t>‹#›</a:t>
            </a:fld>
            <a:endParaRPr lang="en-US"/>
          </a:p>
        </p:txBody>
      </p:sp>
    </p:spTree>
    <p:extLst>
      <p:ext uri="{BB962C8B-B14F-4D97-AF65-F5344CB8AC3E}">
        <p14:creationId xmlns:p14="http://schemas.microsoft.com/office/powerpoint/2010/main" val="33009199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866569F-AF51-45E6-8BD1-DFF76C0D9C7D}" type="datetimeFigureOut">
              <a:rPr lang="en-US" smtClean="0"/>
              <a:t>6/29/2026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6A536A1-894A-4FB3-9762-F1D534E0E736}" type="slidenum">
              <a:rPr lang="en-US" smtClean="0"/>
              <a:t>‹#›</a:t>
            </a:fld>
            <a:endParaRPr lang="en-US"/>
          </a:p>
        </p:txBody>
      </p:sp>
    </p:spTree>
    <p:extLst>
      <p:ext uri="{BB962C8B-B14F-4D97-AF65-F5344CB8AC3E}">
        <p14:creationId xmlns:p14="http://schemas.microsoft.com/office/powerpoint/2010/main" val="2506718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Dynamic memory Allocation</a:t>
            </a:r>
          </a:p>
        </p:txBody>
      </p:sp>
      <p:sp>
        <p:nvSpPr>
          <p:cNvPr id="3" name="Subtitle 2"/>
          <p:cNvSpPr>
            <a:spLocks noGrp="1"/>
          </p:cNvSpPr>
          <p:nvPr>
            <p:ph type="subTitle" idx="1"/>
          </p:nvPr>
        </p:nvSpPr>
        <p:spPr/>
        <p:txBody>
          <a:bodyPr/>
          <a:lstStyle/>
          <a:p>
            <a:r>
              <a:rPr lang="en-US" dirty="0"/>
              <a:t>CSE-213</a:t>
            </a:r>
          </a:p>
          <a:p>
            <a:r>
              <a:rPr lang="en-US" dirty="0"/>
              <a:t>Object Oriented Programming Language</a:t>
            </a:r>
          </a:p>
        </p:txBody>
      </p:sp>
    </p:spTree>
    <p:extLst>
      <p:ext uri="{BB962C8B-B14F-4D97-AF65-F5344CB8AC3E}">
        <p14:creationId xmlns:p14="http://schemas.microsoft.com/office/powerpoint/2010/main" val="22924900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Objects Memory Allocation in C++</a:t>
            </a:r>
          </a:p>
        </p:txBody>
      </p:sp>
      <p:sp>
        <p:nvSpPr>
          <p:cNvPr id="3" name="Content Placeholder 2"/>
          <p:cNvSpPr>
            <a:spLocks noGrp="1"/>
          </p:cNvSpPr>
          <p:nvPr>
            <p:ph idx="1"/>
          </p:nvPr>
        </p:nvSpPr>
        <p:spPr/>
        <p:txBody>
          <a:bodyPr/>
          <a:lstStyle/>
          <a:p>
            <a:r>
              <a:rPr lang="en-US" dirty="0"/>
              <a:t>The way memory is allocated to variables and functions of the class is different even though they both are from the same class. The memory is only allocated to the variables of the class when the object is created. The memory is not allocated to the variables when the class is declared.</a:t>
            </a:r>
          </a:p>
          <a:p>
            <a:r>
              <a:rPr lang="en-US" dirty="0"/>
              <a:t>In static memory allocation, all memory needs are determined before program execution by defining the variables needed. </a:t>
            </a:r>
          </a:p>
          <a:p>
            <a:r>
              <a:rPr lang="en-US" dirty="0"/>
              <a:t>But there may be cases where the memory needs of a program can only be determined during runtime. For example, when the memory needed depends on user input</a:t>
            </a:r>
          </a:p>
        </p:txBody>
      </p:sp>
    </p:spTree>
    <p:extLst>
      <p:ext uri="{BB962C8B-B14F-4D97-AF65-F5344CB8AC3E}">
        <p14:creationId xmlns:p14="http://schemas.microsoft.com/office/powerpoint/2010/main" val="2093844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 Memory Management</a:t>
            </a:r>
            <a:br>
              <a:rPr lang="en-US" b="1" dirty="0"/>
            </a:br>
            <a:endParaRPr lang="en-US" dirty="0"/>
          </a:p>
        </p:txBody>
      </p:sp>
      <p:sp>
        <p:nvSpPr>
          <p:cNvPr id="3" name="Content Placeholder 2"/>
          <p:cNvSpPr>
            <a:spLocks noGrp="1"/>
          </p:cNvSpPr>
          <p:nvPr>
            <p:ph idx="1"/>
          </p:nvPr>
        </p:nvSpPr>
        <p:spPr/>
        <p:txBody>
          <a:bodyPr>
            <a:normAutofit lnSpcReduction="10000"/>
          </a:bodyPr>
          <a:lstStyle/>
          <a:p>
            <a:r>
              <a:rPr lang="en-US" dirty="0"/>
              <a:t>C++ allows us to allocate the memory of a variable or an array in run time. This is known as dynamic memory allocation.</a:t>
            </a:r>
          </a:p>
          <a:p>
            <a:endParaRPr lang="en-US" dirty="0"/>
          </a:p>
          <a:p>
            <a:r>
              <a:rPr lang="en-US" dirty="0"/>
              <a:t>In other programming languages such as Java and Python, the compiler automatically manages the memories allocated to variables. But this is not the case in C++.</a:t>
            </a:r>
          </a:p>
          <a:p>
            <a:endParaRPr lang="en-US" dirty="0"/>
          </a:p>
          <a:p>
            <a:r>
              <a:rPr lang="en-US" dirty="0"/>
              <a:t>In C++, we need to deallocate the dynamically allocated memory manually after we have no use for the variable.</a:t>
            </a:r>
          </a:p>
          <a:p>
            <a:endParaRPr lang="en-US" dirty="0"/>
          </a:p>
          <a:p>
            <a:r>
              <a:rPr lang="en-US" dirty="0"/>
              <a:t>We can allocate and then deallocate memory dynamically using the new and delete operators respectively.</a:t>
            </a:r>
          </a:p>
        </p:txBody>
      </p:sp>
    </p:spTree>
    <p:extLst>
      <p:ext uri="{BB962C8B-B14F-4D97-AF65-F5344CB8AC3E}">
        <p14:creationId xmlns:p14="http://schemas.microsoft.com/office/powerpoint/2010/main" val="36960048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 new Operator</a:t>
            </a:r>
            <a:br>
              <a:rPr lang="en-US" b="1" dirty="0"/>
            </a:br>
            <a:endParaRPr lang="en-US" dirty="0"/>
          </a:p>
        </p:txBody>
      </p:sp>
      <p:sp>
        <p:nvSpPr>
          <p:cNvPr id="3" name="Content Placeholder 2"/>
          <p:cNvSpPr>
            <a:spLocks noGrp="1"/>
          </p:cNvSpPr>
          <p:nvPr>
            <p:ph idx="1"/>
          </p:nvPr>
        </p:nvSpPr>
        <p:spPr>
          <a:xfrm>
            <a:off x="677334" y="2160589"/>
            <a:ext cx="4486337" cy="3880773"/>
          </a:xfrm>
        </p:spPr>
        <p:txBody>
          <a:bodyPr>
            <a:normAutofit/>
          </a:bodyPr>
          <a:lstStyle/>
          <a:p>
            <a:r>
              <a:rPr lang="en-US" dirty="0"/>
              <a:t>The new operator allocates memory to a variable. For example,</a:t>
            </a:r>
          </a:p>
          <a:p>
            <a:pPr marL="0" indent="0">
              <a:buNone/>
            </a:pPr>
            <a:r>
              <a:rPr lang="en-US" dirty="0"/>
              <a:t>// declare an </a:t>
            </a:r>
            <a:r>
              <a:rPr lang="en-US" dirty="0" err="1"/>
              <a:t>int</a:t>
            </a:r>
            <a:r>
              <a:rPr lang="en-US" dirty="0"/>
              <a:t> pointer</a:t>
            </a:r>
          </a:p>
          <a:p>
            <a:pPr marL="0" indent="0">
              <a:buNone/>
            </a:pPr>
            <a:r>
              <a:rPr lang="en-US" dirty="0" err="1"/>
              <a:t>int</a:t>
            </a:r>
            <a:r>
              <a:rPr lang="en-US" dirty="0"/>
              <a:t>* </a:t>
            </a:r>
            <a:r>
              <a:rPr lang="en-US" dirty="0" err="1"/>
              <a:t>pointVar</a:t>
            </a:r>
            <a:r>
              <a:rPr lang="en-US" dirty="0"/>
              <a:t>;</a:t>
            </a:r>
          </a:p>
          <a:p>
            <a:pPr marL="0" indent="0">
              <a:buNone/>
            </a:pPr>
            <a:r>
              <a:rPr lang="en-US" dirty="0"/>
              <a:t>// dynamically allocate memory</a:t>
            </a:r>
          </a:p>
          <a:p>
            <a:pPr marL="0" indent="0">
              <a:buNone/>
            </a:pPr>
            <a:r>
              <a:rPr lang="en-US" dirty="0"/>
              <a:t>// using the new keyword </a:t>
            </a:r>
          </a:p>
          <a:p>
            <a:pPr marL="0" indent="0">
              <a:buNone/>
            </a:pPr>
            <a:r>
              <a:rPr lang="en-US" dirty="0" err="1"/>
              <a:t>pointVar</a:t>
            </a:r>
            <a:r>
              <a:rPr lang="en-US" dirty="0"/>
              <a:t> = new </a:t>
            </a:r>
            <a:r>
              <a:rPr lang="en-US" dirty="0" err="1"/>
              <a:t>int</a:t>
            </a:r>
            <a:r>
              <a:rPr lang="en-US" dirty="0"/>
              <a:t>;</a:t>
            </a:r>
          </a:p>
          <a:p>
            <a:pPr marL="0" indent="0">
              <a:buNone/>
            </a:pPr>
            <a:r>
              <a:rPr lang="en-US" dirty="0"/>
              <a:t>// assign value to allocated memory</a:t>
            </a:r>
          </a:p>
          <a:p>
            <a:pPr marL="0" indent="0">
              <a:buNone/>
            </a:pPr>
            <a:r>
              <a:rPr lang="en-US" dirty="0"/>
              <a:t>*</a:t>
            </a:r>
            <a:r>
              <a:rPr lang="en-US" dirty="0" err="1"/>
              <a:t>pointVar</a:t>
            </a:r>
            <a:r>
              <a:rPr lang="en-US" dirty="0"/>
              <a:t> = 45;</a:t>
            </a:r>
          </a:p>
        </p:txBody>
      </p:sp>
      <p:sp>
        <p:nvSpPr>
          <p:cNvPr id="5" name="TextBox 4"/>
          <p:cNvSpPr txBox="1"/>
          <p:nvPr/>
        </p:nvSpPr>
        <p:spPr>
          <a:xfrm>
            <a:off x="5661212" y="2160589"/>
            <a:ext cx="5822575" cy="2031325"/>
          </a:xfrm>
          <a:prstGeom prst="rect">
            <a:avLst/>
          </a:prstGeom>
          <a:noFill/>
        </p:spPr>
        <p:txBody>
          <a:bodyPr wrap="square" rtlCol="0">
            <a:spAutoFit/>
          </a:bodyPr>
          <a:lstStyle/>
          <a:p>
            <a:pPr marL="285750" indent="-285750">
              <a:buFont typeface="Wingdings" panose="05000000000000000000" pitchFamily="2" charset="2"/>
              <a:buChar char="Ø"/>
            </a:pPr>
            <a:r>
              <a:rPr lang="en-US" dirty="0">
                <a:solidFill>
                  <a:schemeClr val="tx2"/>
                </a:solidFill>
              </a:rPr>
              <a:t>Here, we have dynamically allocated memory for an </a:t>
            </a:r>
            <a:r>
              <a:rPr lang="en-US" dirty="0" err="1">
                <a:solidFill>
                  <a:schemeClr val="tx2"/>
                </a:solidFill>
              </a:rPr>
              <a:t>int</a:t>
            </a:r>
            <a:r>
              <a:rPr lang="en-US" dirty="0">
                <a:solidFill>
                  <a:schemeClr val="tx2"/>
                </a:solidFill>
              </a:rPr>
              <a:t> variable using the new operator.</a:t>
            </a:r>
          </a:p>
          <a:p>
            <a:pPr marL="285750" indent="-285750">
              <a:buFont typeface="Wingdings" panose="05000000000000000000" pitchFamily="2" charset="2"/>
              <a:buChar char="Ø"/>
            </a:pPr>
            <a:endParaRPr lang="en-US" dirty="0">
              <a:solidFill>
                <a:schemeClr val="tx2"/>
              </a:solidFill>
            </a:endParaRPr>
          </a:p>
          <a:p>
            <a:pPr marL="285750" indent="-285750">
              <a:buFont typeface="Wingdings" panose="05000000000000000000" pitchFamily="2" charset="2"/>
              <a:buChar char="Ø"/>
            </a:pPr>
            <a:r>
              <a:rPr lang="en-US" dirty="0">
                <a:solidFill>
                  <a:schemeClr val="tx2"/>
                </a:solidFill>
              </a:rPr>
              <a:t>Notice that we have used the pointer </a:t>
            </a:r>
            <a:r>
              <a:rPr lang="en-US" dirty="0" err="1">
                <a:solidFill>
                  <a:schemeClr val="tx2"/>
                </a:solidFill>
              </a:rPr>
              <a:t>pointVar</a:t>
            </a:r>
            <a:r>
              <a:rPr lang="en-US" dirty="0">
                <a:solidFill>
                  <a:schemeClr val="tx2"/>
                </a:solidFill>
              </a:rPr>
              <a:t> to allocate the memory dynamically. This is because the new operator returns the address of the memory location.</a:t>
            </a:r>
          </a:p>
        </p:txBody>
      </p:sp>
    </p:spTree>
    <p:extLst>
      <p:ext uri="{BB962C8B-B14F-4D97-AF65-F5344CB8AC3E}">
        <p14:creationId xmlns:p14="http://schemas.microsoft.com/office/powerpoint/2010/main" val="22317373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In the case of an array, the new operator returns the address of the first element of the array.</a:t>
            </a:r>
          </a:p>
          <a:p>
            <a:endParaRPr lang="en-US" dirty="0"/>
          </a:p>
          <a:p>
            <a:r>
              <a:rPr lang="en-US" dirty="0"/>
              <a:t>From the example above, we can see that the syntax for using the new operator is</a:t>
            </a:r>
          </a:p>
          <a:p>
            <a:endParaRPr lang="en-US" dirty="0"/>
          </a:p>
          <a:p>
            <a:pPr marL="0" indent="0">
              <a:buNone/>
            </a:pPr>
            <a:r>
              <a:rPr lang="en-US" dirty="0" err="1"/>
              <a:t>pointerVariable</a:t>
            </a:r>
            <a:r>
              <a:rPr lang="en-US" dirty="0"/>
              <a:t> = new </a:t>
            </a:r>
            <a:r>
              <a:rPr lang="en-US" dirty="0" err="1"/>
              <a:t>dataType</a:t>
            </a:r>
            <a:r>
              <a:rPr lang="en-US" dirty="0"/>
              <a:t>;</a:t>
            </a:r>
          </a:p>
        </p:txBody>
      </p:sp>
    </p:spTree>
    <p:extLst>
      <p:ext uri="{BB962C8B-B14F-4D97-AF65-F5344CB8AC3E}">
        <p14:creationId xmlns:p14="http://schemas.microsoft.com/office/powerpoint/2010/main" val="21186779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delete Operator</a:t>
            </a:r>
            <a:br>
              <a:rPr lang="en-US" b="1" dirty="0"/>
            </a:br>
            <a:endParaRPr lang="en-US" dirty="0"/>
          </a:p>
        </p:txBody>
      </p:sp>
      <p:sp>
        <p:nvSpPr>
          <p:cNvPr id="3" name="Content Placeholder 2"/>
          <p:cNvSpPr>
            <a:spLocks noGrp="1"/>
          </p:cNvSpPr>
          <p:nvPr>
            <p:ph idx="1"/>
          </p:nvPr>
        </p:nvSpPr>
        <p:spPr>
          <a:xfrm>
            <a:off x="677334" y="2160589"/>
            <a:ext cx="4916642" cy="3880773"/>
          </a:xfrm>
        </p:spPr>
        <p:txBody>
          <a:bodyPr/>
          <a:lstStyle/>
          <a:p>
            <a:r>
              <a:rPr lang="en-US" dirty="0"/>
              <a:t>Once we no longer need to use a variable that we have declared dynamically, we can deallocate the memory occupied by the variable.</a:t>
            </a:r>
          </a:p>
          <a:p>
            <a:endParaRPr lang="en-US" dirty="0"/>
          </a:p>
          <a:p>
            <a:r>
              <a:rPr lang="en-US" dirty="0"/>
              <a:t>For this, the delete operator is used. It returns the memory to the operating system. This is known as memory deallocation.</a:t>
            </a:r>
          </a:p>
          <a:p>
            <a:r>
              <a:rPr lang="en-US" dirty="0"/>
              <a:t>The syntax for this operator is</a:t>
            </a:r>
          </a:p>
          <a:p>
            <a:pPr marL="0" indent="0">
              <a:buNone/>
            </a:pPr>
            <a:r>
              <a:rPr lang="en-US" dirty="0"/>
              <a:t>delete </a:t>
            </a:r>
            <a:r>
              <a:rPr lang="en-US" dirty="0" err="1"/>
              <a:t>pointerVariable</a:t>
            </a:r>
            <a:r>
              <a:rPr lang="en-US" dirty="0"/>
              <a:t>;</a:t>
            </a:r>
          </a:p>
        </p:txBody>
      </p:sp>
      <p:sp>
        <p:nvSpPr>
          <p:cNvPr id="5" name="TextBox 4"/>
          <p:cNvSpPr txBox="1"/>
          <p:nvPr/>
        </p:nvSpPr>
        <p:spPr>
          <a:xfrm>
            <a:off x="5728447" y="2160589"/>
            <a:ext cx="5459506" cy="4247317"/>
          </a:xfrm>
          <a:prstGeom prst="rect">
            <a:avLst/>
          </a:prstGeom>
          <a:noFill/>
        </p:spPr>
        <p:txBody>
          <a:bodyPr wrap="square" rtlCol="0">
            <a:spAutoFit/>
          </a:bodyPr>
          <a:lstStyle/>
          <a:p>
            <a:r>
              <a:rPr lang="en-US"/>
              <a:t>// declare an int pointer</a:t>
            </a:r>
          </a:p>
          <a:p>
            <a:r>
              <a:rPr lang="en-US"/>
              <a:t>int* pointVar;</a:t>
            </a:r>
          </a:p>
          <a:p>
            <a:endParaRPr lang="en-US"/>
          </a:p>
          <a:p>
            <a:r>
              <a:rPr lang="en-US"/>
              <a:t>// dynamically allocate memory</a:t>
            </a:r>
          </a:p>
          <a:p>
            <a:r>
              <a:rPr lang="en-US"/>
              <a:t>// for an int variable </a:t>
            </a:r>
          </a:p>
          <a:p>
            <a:r>
              <a:rPr lang="en-US"/>
              <a:t>pointVar = new int;</a:t>
            </a:r>
          </a:p>
          <a:p>
            <a:endParaRPr lang="en-US"/>
          </a:p>
          <a:p>
            <a:r>
              <a:rPr lang="en-US"/>
              <a:t>// assign value to the variable memory</a:t>
            </a:r>
          </a:p>
          <a:p>
            <a:r>
              <a:rPr lang="en-US"/>
              <a:t>*pointVar = 45;</a:t>
            </a:r>
          </a:p>
          <a:p>
            <a:endParaRPr lang="en-US"/>
          </a:p>
          <a:p>
            <a:r>
              <a:rPr lang="en-US"/>
              <a:t>// print the value stored in memory</a:t>
            </a:r>
          </a:p>
          <a:p>
            <a:r>
              <a:rPr lang="en-US"/>
              <a:t>cout &lt;&lt; *pointVar; // Output: 45</a:t>
            </a:r>
          </a:p>
          <a:p>
            <a:endParaRPr lang="en-US"/>
          </a:p>
          <a:p>
            <a:r>
              <a:rPr lang="en-US"/>
              <a:t>// deallocate the memory</a:t>
            </a:r>
          </a:p>
          <a:p>
            <a:r>
              <a:rPr lang="en-US"/>
              <a:t>delete pointVar;</a:t>
            </a:r>
            <a:endParaRPr lang="en-US" dirty="0"/>
          </a:p>
        </p:txBody>
      </p:sp>
    </p:spTree>
    <p:extLst>
      <p:ext uri="{BB962C8B-B14F-4D97-AF65-F5344CB8AC3E}">
        <p14:creationId xmlns:p14="http://schemas.microsoft.com/office/powerpoint/2010/main" val="16768297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Here, we have dynamically allocated memory for an </a:t>
            </a:r>
            <a:r>
              <a:rPr lang="en-US" dirty="0" err="1"/>
              <a:t>int</a:t>
            </a:r>
            <a:r>
              <a:rPr lang="en-US" dirty="0"/>
              <a:t> variable using the pointer </a:t>
            </a:r>
            <a:r>
              <a:rPr lang="en-US" dirty="0" err="1"/>
              <a:t>pointVar</a:t>
            </a:r>
            <a:r>
              <a:rPr lang="en-US" dirty="0"/>
              <a:t>.</a:t>
            </a:r>
          </a:p>
          <a:p>
            <a:endParaRPr lang="en-US" dirty="0"/>
          </a:p>
          <a:p>
            <a:r>
              <a:rPr lang="en-US" dirty="0"/>
              <a:t>After printing the contents of </a:t>
            </a:r>
            <a:r>
              <a:rPr lang="en-US" dirty="0" err="1"/>
              <a:t>pointVar</a:t>
            </a:r>
            <a:r>
              <a:rPr lang="en-US" dirty="0"/>
              <a:t>, we deallocated the memory using delete</a:t>
            </a:r>
          </a:p>
          <a:p>
            <a:r>
              <a:rPr lang="en-US" dirty="0"/>
              <a:t>If the program uses a large amount of unwanted memory using new, the system may crash because there will be no memory available for the operating system. In this case, the delete operator can help the system from crash.</a:t>
            </a:r>
          </a:p>
        </p:txBody>
      </p:sp>
    </p:spTree>
    <p:extLst>
      <p:ext uri="{BB962C8B-B14F-4D97-AF65-F5344CB8AC3E}">
        <p14:creationId xmlns:p14="http://schemas.microsoft.com/office/powerpoint/2010/main" val="2922742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0"/>
            <a:ext cx="8596668" cy="1320800"/>
          </a:xfrm>
        </p:spPr>
        <p:txBody>
          <a:bodyPr>
            <a:normAutofit fontScale="90000"/>
          </a:bodyPr>
          <a:lstStyle/>
          <a:p>
            <a:r>
              <a:rPr lang="en-US" b="1" dirty="0"/>
              <a:t>Example 1: C++ Dynamic Memory Allocation</a:t>
            </a:r>
            <a:br>
              <a:rPr lang="en-US" b="1" dirty="0"/>
            </a:br>
            <a:endParaRPr lang="en-US" dirty="0"/>
          </a:p>
        </p:txBody>
      </p:sp>
      <p:sp>
        <p:nvSpPr>
          <p:cNvPr id="3" name="Content Placeholder 2"/>
          <p:cNvSpPr>
            <a:spLocks noGrp="1"/>
          </p:cNvSpPr>
          <p:nvPr>
            <p:ph idx="1"/>
          </p:nvPr>
        </p:nvSpPr>
        <p:spPr>
          <a:xfrm>
            <a:off x="677334" y="660400"/>
            <a:ext cx="6328584" cy="5592482"/>
          </a:xfrm>
        </p:spPr>
        <p:txBody>
          <a:bodyPr>
            <a:noAutofit/>
          </a:bodyPr>
          <a:lstStyle/>
          <a:p>
            <a:pPr marL="0" indent="0">
              <a:buNone/>
            </a:pPr>
            <a:r>
              <a:rPr lang="en-US" sz="1600" dirty="0"/>
              <a:t>#include &lt;</a:t>
            </a:r>
            <a:r>
              <a:rPr lang="en-US" sz="1600" dirty="0" err="1"/>
              <a:t>iostream</a:t>
            </a:r>
            <a:r>
              <a:rPr lang="en-US" sz="1600" dirty="0"/>
              <a:t>&gt;</a:t>
            </a:r>
          </a:p>
          <a:p>
            <a:pPr marL="0" indent="0">
              <a:buNone/>
            </a:pPr>
            <a:r>
              <a:rPr lang="en-US" sz="1600" dirty="0"/>
              <a:t>using namespace </a:t>
            </a:r>
            <a:r>
              <a:rPr lang="en-US" sz="1600" dirty="0" err="1"/>
              <a:t>std</a:t>
            </a:r>
            <a:r>
              <a:rPr lang="en-US" sz="1600" dirty="0"/>
              <a:t>;</a:t>
            </a:r>
          </a:p>
          <a:p>
            <a:pPr marL="0" indent="0">
              <a:buNone/>
            </a:pPr>
            <a:r>
              <a:rPr lang="en-US" sz="1600" dirty="0" err="1"/>
              <a:t>int</a:t>
            </a:r>
            <a:r>
              <a:rPr lang="en-US" sz="1600" dirty="0"/>
              <a:t> main() {</a:t>
            </a:r>
          </a:p>
          <a:p>
            <a:pPr marL="0" indent="0">
              <a:buNone/>
            </a:pPr>
            <a:r>
              <a:rPr lang="en-US" sz="1600" dirty="0" err="1"/>
              <a:t>int</a:t>
            </a:r>
            <a:r>
              <a:rPr lang="en-US" sz="1600" dirty="0"/>
              <a:t>* </a:t>
            </a:r>
            <a:r>
              <a:rPr lang="en-US" sz="1600" dirty="0" err="1"/>
              <a:t>pointInt</a:t>
            </a:r>
            <a:r>
              <a:rPr lang="en-US" sz="1600" dirty="0"/>
              <a:t>; // declare an </a:t>
            </a:r>
            <a:r>
              <a:rPr lang="en-US" sz="1600" dirty="0" err="1"/>
              <a:t>int</a:t>
            </a:r>
            <a:r>
              <a:rPr lang="en-US" sz="1600" dirty="0"/>
              <a:t> pointer</a:t>
            </a:r>
          </a:p>
          <a:p>
            <a:pPr marL="0" indent="0">
              <a:buNone/>
            </a:pPr>
            <a:r>
              <a:rPr lang="en-US" sz="1600" dirty="0"/>
              <a:t>float* </a:t>
            </a:r>
            <a:r>
              <a:rPr lang="en-US" sz="1600" dirty="0" err="1"/>
              <a:t>pointFloat</a:t>
            </a:r>
            <a:r>
              <a:rPr lang="en-US" sz="1600" dirty="0"/>
              <a:t>; // declare a float pointer</a:t>
            </a:r>
          </a:p>
          <a:p>
            <a:pPr marL="0" indent="0">
              <a:buNone/>
            </a:pPr>
            <a:r>
              <a:rPr lang="en-US" sz="1600" dirty="0" err="1"/>
              <a:t>pointInt</a:t>
            </a:r>
            <a:r>
              <a:rPr lang="en-US" sz="1600" dirty="0"/>
              <a:t> = new </a:t>
            </a:r>
            <a:r>
              <a:rPr lang="en-US" sz="1600" dirty="0" err="1"/>
              <a:t>int</a:t>
            </a:r>
            <a:r>
              <a:rPr lang="en-US" sz="1600" dirty="0"/>
              <a:t>; // dynamically allocate memory</a:t>
            </a:r>
          </a:p>
          <a:p>
            <a:pPr marL="0" indent="0">
              <a:buNone/>
            </a:pPr>
            <a:r>
              <a:rPr lang="en-US" sz="1600" dirty="0" err="1"/>
              <a:t>pointFloat</a:t>
            </a:r>
            <a:r>
              <a:rPr lang="en-US" sz="1600" dirty="0"/>
              <a:t> = new float;</a:t>
            </a:r>
          </a:p>
          <a:p>
            <a:pPr marL="0" indent="0">
              <a:buNone/>
            </a:pPr>
            <a:r>
              <a:rPr lang="en-US" sz="1600" dirty="0"/>
              <a:t>*</a:t>
            </a:r>
            <a:r>
              <a:rPr lang="en-US" sz="1600" dirty="0" err="1"/>
              <a:t>pointInt</a:t>
            </a:r>
            <a:r>
              <a:rPr lang="en-US" sz="1600" dirty="0"/>
              <a:t> = 45;// assigning value to the memory</a:t>
            </a:r>
          </a:p>
          <a:p>
            <a:pPr marL="0" indent="0">
              <a:buNone/>
            </a:pPr>
            <a:r>
              <a:rPr lang="en-US" sz="1600" dirty="0"/>
              <a:t>*</a:t>
            </a:r>
            <a:r>
              <a:rPr lang="en-US" sz="1600" dirty="0" err="1"/>
              <a:t>pointFloat</a:t>
            </a:r>
            <a:r>
              <a:rPr lang="en-US" sz="1600" dirty="0"/>
              <a:t> = 45.45f;</a:t>
            </a:r>
          </a:p>
          <a:p>
            <a:pPr marL="0" indent="0">
              <a:buNone/>
            </a:pPr>
            <a:r>
              <a:rPr lang="en-US" sz="1600" dirty="0"/>
              <a:t> </a:t>
            </a:r>
            <a:r>
              <a:rPr lang="en-US" sz="1600" dirty="0" err="1"/>
              <a:t>cout</a:t>
            </a:r>
            <a:r>
              <a:rPr lang="en-US" sz="1600" dirty="0"/>
              <a:t> &lt;&lt; *</a:t>
            </a:r>
            <a:r>
              <a:rPr lang="en-US" sz="1600" dirty="0" err="1"/>
              <a:t>pointInt</a:t>
            </a:r>
            <a:r>
              <a:rPr lang="en-US" sz="1600" dirty="0"/>
              <a:t> &lt;&lt; </a:t>
            </a:r>
            <a:r>
              <a:rPr lang="en-US" sz="1600" dirty="0" err="1"/>
              <a:t>endl</a:t>
            </a:r>
            <a:r>
              <a:rPr lang="en-US" sz="1600" dirty="0"/>
              <a:t>;</a:t>
            </a:r>
          </a:p>
          <a:p>
            <a:pPr marL="0" indent="0">
              <a:buNone/>
            </a:pPr>
            <a:r>
              <a:rPr lang="en-US" sz="1600" dirty="0"/>
              <a:t> </a:t>
            </a:r>
            <a:r>
              <a:rPr lang="en-US" sz="1600" dirty="0" err="1"/>
              <a:t>cout</a:t>
            </a:r>
            <a:r>
              <a:rPr lang="en-US" sz="1600" dirty="0"/>
              <a:t> &lt;&lt; *</a:t>
            </a:r>
            <a:r>
              <a:rPr lang="en-US" sz="1600" dirty="0" err="1"/>
              <a:t>pointFloat</a:t>
            </a:r>
            <a:r>
              <a:rPr lang="en-US" sz="1600" dirty="0"/>
              <a:t> &lt;&lt; </a:t>
            </a:r>
            <a:r>
              <a:rPr lang="en-US" sz="1600" dirty="0" err="1"/>
              <a:t>endl</a:t>
            </a:r>
            <a:r>
              <a:rPr lang="en-US" sz="1600" dirty="0"/>
              <a:t>;</a:t>
            </a:r>
          </a:p>
          <a:p>
            <a:pPr marL="0" indent="0">
              <a:buNone/>
            </a:pPr>
            <a:r>
              <a:rPr lang="en-US" sz="1600" dirty="0"/>
              <a:t>delete </a:t>
            </a:r>
            <a:r>
              <a:rPr lang="en-US" sz="1600" dirty="0" err="1"/>
              <a:t>pointInt</a:t>
            </a:r>
            <a:r>
              <a:rPr lang="en-US" sz="1600" dirty="0"/>
              <a:t>;// deallocate the memory</a:t>
            </a:r>
          </a:p>
          <a:p>
            <a:pPr marL="0" indent="0">
              <a:buNone/>
            </a:pPr>
            <a:r>
              <a:rPr lang="en-US" sz="1600" dirty="0"/>
              <a:t>delete </a:t>
            </a:r>
            <a:r>
              <a:rPr lang="en-US" sz="1600" dirty="0" err="1"/>
              <a:t>pointFloat</a:t>
            </a:r>
            <a:r>
              <a:rPr lang="en-US" sz="1600" dirty="0"/>
              <a:t>;</a:t>
            </a:r>
          </a:p>
          <a:p>
            <a:pPr marL="0" indent="0">
              <a:buNone/>
            </a:pPr>
            <a:r>
              <a:rPr lang="en-US" sz="1600" dirty="0"/>
              <a:t>  return 0;</a:t>
            </a:r>
          </a:p>
          <a:p>
            <a:pPr marL="0" indent="0">
              <a:buNone/>
            </a:pPr>
            <a:r>
              <a:rPr lang="en-US" sz="1600" dirty="0"/>
              <a:t>}</a:t>
            </a:r>
          </a:p>
        </p:txBody>
      </p:sp>
      <p:sp>
        <p:nvSpPr>
          <p:cNvPr id="4" name="TextBox 3"/>
          <p:cNvSpPr txBox="1"/>
          <p:nvPr/>
        </p:nvSpPr>
        <p:spPr>
          <a:xfrm>
            <a:off x="8713694" y="1815353"/>
            <a:ext cx="1788459" cy="1200329"/>
          </a:xfrm>
          <a:prstGeom prst="rect">
            <a:avLst/>
          </a:prstGeom>
          <a:noFill/>
        </p:spPr>
        <p:txBody>
          <a:bodyPr wrap="square" rtlCol="0">
            <a:spAutoFit/>
          </a:bodyPr>
          <a:lstStyle/>
          <a:p>
            <a:r>
              <a:rPr lang="en-US"/>
              <a:t>Output</a:t>
            </a:r>
          </a:p>
          <a:p>
            <a:endParaRPr lang="en-US"/>
          </a:p>
          <a:p>
            <a:r>
              <a:rPr lang="en-US"/>
              <a:t>45</a:t>
            </a:r>
          </a:p>
          <a:p>
            <a:r>
              <a:rPr lang="en-US"/>
              <a:t>45.45</a:t>
            </a:r>
            <a:endParaRPr lang="en-US" dirty="0"/>
          </a:p>
        </p:txBody>
      </p:sp>
    </p:spTree>
    <p:extLst>
      <p:ext uri="{BB962C8B-B14F-4D97-AF65-F5344CB8AC3E}">
        <p14:creationId xmlns:p14="http://schemas.microsoft.com/office/powerpoint/2010/main" val="10420005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In this program, we dynamically allocated memory to two variables of </a:t>
            </a:r>
            <a:r>
              <a:rPr lang="en-US" dirty="0" err="1"/>
              <a:t>int</a:t>
            </a:r>
            <a:r>
              <a:rPr lang="en-US" dirty="0"/>
              <a:t> and float types. After assigning values to them and printing them, we finally deallocate the memories using the code</a:t>
            </a:r>
          </a:p>
          <a:p>
            <a:pPr marL="0" indent="0">
              <a:buNone/>
            </a:pPr>
            <a:r>
              <a:rPr lang="en-US" dirty="0"/>
              <a:t>delete </a:t>
            </a:r>
            <a:r>
              <a:rPr lang="en-US" dirty="0" err="1"/>
              <a:t>pointInt</a:t>
            </a:r>
            <a:r>
              <a:rPr lang="en-US" dirty="0"/>
              <a:t>;</a:t>
            </a:r>
          </a:p>
          <a:p>
            <a:pPr marL="0" indent="0">
              <a:buNone/>
            </a:pPr>
            <a:r>
              <a:rPr lang="en-US" dirty="0"/>
              <a:t>delete </a:t>
            </a:r>
            <a:r>
              <a:rPr lang="en-US" dirty="0" err="1"/>
              <a:t>pointFloat</a:t>
            </a:r>
            <a:r>
              <a:rPr lang="en-US" dirty="0"/>
              <a:t>;</a:t>
            </a:r>
          </a:p>
          <a:p>
            <a:r>
              <a:rPr lang="en-US" dirty="0"/>
              <a:t>Dynamic memory allocation can make memory management more efficient.</a:t>
            </a:r>
          </a:p>
          <a:p>
            <a:pPr marL="0" indent="0">
              <a:buNone/>
            </a:pPr>
            <a:r>
              <a:rPr lang="en-US" dirty="0"/>
              <a:t>Especially for arrays, where a lot of the times we don't know the size of the array until the run time.</a:t>
            </a:r>
          </a:p>
        </p:txBody>
      </p:sp>
    </p:spTree>
    <p:extLst>
      <p:ext uri="{BB962C8B-B14F-4D97-AF65-F5344CB8AC3E}">
        <p14:creationId xmlns:p14="http://schemas.microsoft.com/office/powerpoint/2010/main" val="860832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Example 2: C++ new and delete Operator for Arrays</a:t>
            </a:r>
            <a:br>
              <a:rPr lang="en-US" b="1" dirty="0"/>
            </a:br>
            <a:endParaRPr lang="en-US" dirty="0"/>
          </a:p>
        </p:txBody>
      </p:sp>
      <p:sp>
        <p:nvSpPr>
          <p:cNvPr id="3" name="Content Placeholder 2"/>
          <p:cNvSpPr>
            <a:spLocks noGrp="1"/>
          </p:cNvSpPr>
          <p:nvPr>
            <p:ph idx="1"/>
          </p:nvPr>
        </p:nvSpPr>
        <p:spPr>
          <a:xfrm>
            <a:off x="462181" y="1649601"/>
            <a:ext cx="5629337" cy="5947987"/>
          </a:xfrm>
        </p:spPr>
        <p:txBody>
          <a:bodyPr>
            <a:normAutofit fontScale="25000" lnSpcReduction="20000"/>
          </a:bodyPr>
          <a:lstStyle/>
          <a:p>
            <a:r>
              <a:rPr lang="en-US" sz="6400" dirty="0"/>
              <a:t>// C++ Program to store GPA of n number of students and display it</a:t>
            </a:r>
          </a:p>
          <a:p>
            <a:r>
              <a:rPr lang="en-US" sz="6400" dirty="0"/>
              <a:t>// where n is the number of students entered by the user</a:t>
            </a:r>
          </a:p>
          <a:p>
            <a:pPr marL="0" indent="0">
              <a:buNone/>
            </a:pPr>
            <a:r>
              <a:rPr lang="en-US" sz="6400" dirty="0"/>
              <a:t>#include &lt;</a:t>
            </a:r>
            <a:r>
              <a:rPr lang="en-US" sz="6400" dirty="0" err="1"/>
              <a:t>iostream</a:t>
            </a:r>
            <a:r>
              <a:rPr lang="en-US" sz="6400" dirty="0"/>
              <a:t>&gt;</a:t>
            </a:r>
          </a:p>
          <a:p>
            <a:pPr marL="0" indent="0">
              <a:buNone/>
            </a:pPr>
            <a:r>
              <a:rPr lang="en-US" sz="6400" dirty="0"/>
              <a:t>using namespace </a:t>
            </a:r>
            <a:r>
              <a:rPr lang="en-US" sz="6400" dirty="0" err="1"/>
              <a:t>std</a:t>
            </a:r>
            <a:r>
              <a:rPr lang="en-US" sz="6400" dirty="0"/>
              <a:t>;</a:t>
            </a:r>
          </a:p>
          <a:p>
            <a:pPr marL="0" indent="0">
              <a:buNone/>
            </a:pPr>
            <a:r>
              <a:rPr lang="en-US" sz="6400" dirty="0" err="1"/>
              <a:t>int</a:t>
            </a:r>
            <a:r>
              <a:rPr lang="en-US" sz="6400" dirty="0"/>
              <a:t> main() {</a:t>
            </a:r>
          </a:p>
          <a:p>
            <a:pPr marL="0" indent="0">
              <a:buNone/>
            </a:pPr>
            <a:r>
              <a:rPr lang="en-US" sz="6400" dirty="0"/>
              <a:t> </a:t>
            </a:r>
            <a:r>
              <a:rPr lang="en-US" sz="6400" dirty="0" err="1"/>
              <a:t>int</a:t>
            </a:r>
            <a:r>
              <a:rPr lang="en-US" sz="6400" dirty="0"/>
              <a:t> </a:t>
            </a:r>
            <a:r>
              <a:rPr lang="en-US" sz="6400" dirty="0" err="1"/>
              <a:t>num</a:t>
            </a:r>
            <a:r>
              <a:rPr lang="en-US" sz="6400" dirty="0"/>
              <a:t>;</a:t>
            </a:r>
          </a:p>
          <a:p>
            <a:pPr marL="0" indent="0">
              <a:buNone/>
            </a:pPr>
            <a:r>
              <a:rPr lang="en-US" sz="6400" dirty="0" err="1"/>
              <a:t>cout</a:t>
            </a:r>
            <a:r>
              <a:rPr lang="en-US" sz="6400" dirty="0"/>
              <a:t> &lt;&lt; "Enter total number of students: ";</a:t>
            </a:r>
          </a:p>
          <a:p>
            <a:pPr marL="0" indent="0">
              <a:buNone/>
            </a:pPr>
            <a:r>
              <a:rPr lang="en-US" sz="6400" dirty="0" err="1"/>
              <a:t>cin</a:t>
            </a:r>
            <a:r>
              <a:rPr lang="en-US" sz="6400" dirty="0"/>
              <a:t> &gt;&gt; </a:t>
            </a:r>
            <a:r>
              <a:rPr lang="en-US" sz="6400" dirty="0" err="1"/>
              <a:t>num</a:t>
            </a:r>
            <a:r>
              <a:rPr lang="en-US" sz="6400" dirty="0"/>
              <a:t>;</a:t>
            </a:r>
          </a:p>
          <a:p>
            <a:pPr marL="0" indent="0">
              <a:buNone/>
            </a:pPr>
            <a:r>
              <a:rPr lang="en-US" sz="6400" dirty="0"/>
              <a:t>float* </a:t>
            </a:r>
            <a:r>
              <a:rPr lang="en-US" sz="6400" dirty="0" err="1"/>
              <a:t>ptr</a:t>
            </a:r>
            <a:r>
              <a:rPr lang="en-US" sz="6400" dirty="0"/>
              <a:t>; </a:t>
            </a:r>
          </a:p>
          <a:p>
            <a:pPr marL="0" indent="0">
              <a:buNone/>
            </a:pPr>
            <a:r>
              <a:rPr lang="en-US" sz="6400" dirty="0"/>
              <a:t>// memory allocation of </a:t>
            </a:r>
            <a:r>
              <a:rPr lang="en-US" sz="6400" dirty="0" err="1"/>
              <a:t>num</a:t>
            </a:r>
            <a:r>
              <a:rPr lang="en-US" sz="6400" dirty="0"/>
              <a:t> number of floats</a:t>
            </a:r>
          </a:p>
          <a:p>
            <a:pPr marL="0" indent="0">
              <a:buNone/>
            </a:pPr>
            <a:r>
              <a:rPr lang="en-US" sz="6400" dirty="0"/>
              <a:t> </a:t>
            </a:r>
            <a:r>
              <a:rPr lang="en-US" sz="6400" dirty="0" err="1"/>
              <a:t>ptr</a:t>
            </a:r>
            <a:r>
              <a:rPr lang="en-US" sz="6400" dirty="0"/>
              <a:t> = new float[</a:t>
            </a:r>
            <a:r>
              <a:rPr lang="en-US" sz="6400" dirty="0" err="1"/>
              <a:t>num</a:t>
            </a:r>
            <a:r>
              <a:rPr lang="en-US" sz="6400" dirty="0"/>
              <a:t>];</a:t>
            </a:r>
          </a:p>
          <a:p>
            <a:pPr marL="0" indent="0">
              <a:buNone/>
            </a:pPr>
            <a:r>
              <a:rPr lang="en-US" sz="6400" dirty="0" err="1"/>
              <a:t>cout</a:t>
            </a:r>
            <a:r>
              <a:rPr lang="en-US" sz="6400" dirty="0"/>
              <a:t> &lt;&lt; "Enter GPA of students." &lt;&lt; </a:t>
            </a:r>
            <a:r>
              <a:rPr lang="en-US" sz="6400" dirty="0" err="1"/>
              <a:t>endl</a:t>
            </a:r>
            <a:r>
              <a:rPr lang="en-US" sz="6400" dirty="0"/>
              <a:t>;</a:t>
            </a:r>
          </a:p>
          <a:p>
            <a:pPr marL="0" indent="0">
              <a:buNone/>
            </a:pPr>
            <a:r>
              <a:rPr lang="en-US" sz="6400" dirty="0"/>
              <a:t> for (</a:t>
            </a:r>
            <a:r>
              <a:rPr lang="en-US" sz="6400" dirty="0" err="1"/>
              <a:t>int</a:t>
            </a:r>
            <a:r>
              <a:rPr lang="en-US" sz="6400" dirty="0"/>
              <a:t> </a:t>
            </a:r>
            <a:r>
              <a:rPr lang="en-US" sz="6400" dirty="0" err="1"/>
              <a:t>i</a:t>
            </a:r>
            <a:r>
              <a:rPr lang="en-US" sz="6400" dirty="0"/>
              <a:t> = 0; </a:t>
            </a:r>
            <a:r>
              <a:rPr lang="en-US" sz="6400" dirty="0" err="1"/>
              <a:t>i</a:t>
            </a:r>
            <a:r>
              <a:rPr lang="en-US" sz="6400" dirty="0"/>
              <a:t> &lt; </a:t>
            </a:r>
            <a:r>
              <a:rPr lang="en-US" sz="6400" dirty="0" err="1"/>
              <a:t>num</a:t>
            </a:r>
            <a:r>
              <a:rPr lang="en-US" sz="6400" dirty="0"/>
              <a:t>; ++</a:t>
            </a:r>
            <a:r>
              <a:rPr lang="en-US" sz="6400" dirty="0" err="1"/>
              <a:t>i</a:t>
            </a:r>
            <a:r>
              <a:rPr lang="en-US" sz="6400" dirty="0"/>
              <a:t>) {</a:t>
            </a:r>
          </a:p>
          <a:p>
            <a:pPr marL="0" indent="0">
              <a:buNone/>
            </a:pPr>
            <a:r>
              <a:rPr lang="en-US" sz="6400" dirty="0"/>
              <a:t>   </a:t>
            </a:r>
            <a:r>
              <a:rPr lang="en-US" sz="6400" dirty="0" err="1"/>
              <a:t>cout</a:t>
            </a:r>
            <a:r>
              <a:rPr lang="en-US" sz="6400" dirty="0"/>
              <a:t> &lt;&lt; "Student" &lt;&lt; </a:t>
            </a:r>
            <a:r>
              <a:rPr lang="en-US" sz="6400" dirty="0" err="1"/>
              <a:t>i</a:t>
            </a:r>
            <a:r>
              <a:rPr lang="en-US" sz="6400" dirty="0"/>
              <a:t> + 1 &lt;&lt; ": ";</a:t>
            </a:r>
          </a:p>
          <a:p>
            <a:pPr marL="0" indent="0">
              <a:buNone/>
            </a:pPr>
            <a:r>
              <a:rPr lang="en-US" sz="6400" dirty="0"/>
              <a:t>    </a:t>
            </a:r>
            <a:r>
              <a:rPr lang="en-US" sz="6400" dirty="0" err="1"/>
              <a:t>cin</a:t>
            </a:r>
            <a:r>
              <a:rPr lang="en-US" sz="6400" dirty="0"/>
              <a:t> &gt;&gt; *(</a:t>
            </a:r>
            <a:r>
              <a:rPr lang="en-US" sz="6400" dirty="0" err="1"/>
              <a:t>ptr</a:t>
            </a:r>
            <a:r>
              <a:rPr lang="en-US" sz="6400" dirty="0"/>
              <a:t> + </a:t>
            </a:r>
            <a:r>
              <a:rPr lang="en-US" sz="6400" dirty="0" err="1"/>
              <a:t>i</a:t>
            </a:r>
            <a:r>
              <a:rPr lang="en-US" sz="6400" dirty="0"/>
              <a:t>);</a:t>
            </a:r>
          </a:p>
          <a:p>
            <a:pPr marL="0" indent="0">
              <a:buNone/>
            </a:pPr>
            <a:r>
              <a:rPr lang="en-US" sz="6400" dirty="0"/>
              <a:t>  }</a:t>
            </a:r>
          </a:p>
          <a:p>
            <a:r>
              <a:rPr lang="en-US" dirty="0"/>
              <a:t>}</a:t>
            </a:r>
          </a:p>
        </p:txBody>
      </p:sp>
      <p:sp>
        <p:nvSpPr>
          <p:cNvPr id="5" name="TextBox 4"/>
          <p:cNvSpPr txBox="1"/>
          <p:nvPr/>
        </p:nvSpPr>
        <p:spPr>
          <a:xfrm>
            <a:off x="6454587" y="2460812"/>
            <a:ext cx="4841769" cy="2554545"/>
          </a:xfrm>
          <a:prstGeom prst="rect">
            <a:avLst/>
          </a:prstGeom>
          <a:noFill/>
        </p:spPr>
        <p:txBody>
          <a:bodyPr wrap="square" rtlCol="0">
            <a:spAutoFit/>
          </a:bodyPr>
          <a:lstStyle/>
          <a:p>
            <a:r>
              <a:rPr lang="en-US" sz="1600" dirty="0" err="1"/>
              <a:t>cout</a:t>
            </a:r>
            <a:r>
              <a:rPr lang="en-US" sz="1600" dirty="0"/>
              <a:t> &lt;&lt; "\</a:t>
            </a:r>
            <a:r>
              <a:rPr lang="en-US" sz="1600" dirty="0" err="1"/>
              <a:t>nDisplaying</a:t>
            </a:r>
            <a:r>
              <a:rPr lang="en-US" sz="1600" dirty="0"/>
              <a:t> GPA of students." &lt;&lt; </a:t>
            </a:r>
            <a:r>
              <a:rPr lang="en-US" sz="1600" dirty="0" err="1"/>
              <a:t>endl</a:t>
            </a:r>
            <a:r>
              <a:rPr lang="en-US" sz="1600" dirty="0"/>
              <a:t>;</a:t>
            </a:r>
          </a:p>
          <a:p>
            <a:endParaRPr lang="en-US" sz="1600" dirty="0">
              <a:solidFill>
                <a:schemeClr val="tx2"/>
              </a:solidFill>
            </a:endParaRPr>
          </a:p>
          <a:p>
            <a:r>
              <a:rPr lang="en-US" sz="1600" dirty="0">
                <a:solidFill>
                  <a:schemeClr val="tx2"/>
                </a:solidFill>
              </a:rPr>
              <a:t>for (int </a:t>
            </a:r>
            <a:r>
              <a:rPr lang="en-US" sz="1600" dirty="0" err="1">
                <a:solidFill>
                  <a:schemeClr val="tx2"/>
                </a:solidFill>
              </a:rPr>
              <a:t>i</a:t>
            </a:r>
            <a:r>
              <a:rPr lang="en-US" sz="1600" dirty="0">
                <a:solidFill>
                  <a:schemeClr val="tx2"/>
                </a:solidFill>
              </a:rPr>
              <a:t> = 0; </a:t>
            </a:r>
            <a:r>
              <a:rPr lang="en-US" sz="1600" dirty="0" err="1">
                <a:solidFill>
                  <a:schemeClr val="tx2"/>
                </a:solidFill>
              </a:rPr>
              <a:t>i</a:t>
            </a:r>
            <a:r>
              <a:rPr lang="en-US" sz="1600" dirty="0">
                <a:solidFill>
                  <a:schemeClr val="tx2"/>
                </a:solidFill>
              </a:rPr>
              <a:t> &lt; num; ++</a:t>
            </a:r>
            <a:r>
              <a:rPr lang="en-US" sz="1600" dirty="0" err="1">
                <a:solidFill>
                  <a:schemeClr val="tx2"/>
                </a:solidFill>
              </a:rPr>
              <a:t>i</a:t>
            </a:r>
            <a:r>
              <a:rPr lang="en-US" sz="1600" dirty="0">
                <a:solidFill>
                  <a:schemeClr val="tx2"/>
                </a:solidFill>
              </a:rPr>
              <a:t>) {</a:t>
            </a:r>
          </a:p>
          <a:p>
            <a:r>
              <a:rPr lang="en-US" sz="1600" dirty="0">
                <a:solidFill>
                  <a:schemeClr val="tx2"/>
                </a:solidFill>
              </a:rPr>
              <a:t>    </a:t>
            </a:r>
            <a:r>
              <a:rPr lang="en-US" sz="1600" dirty="0" err="1">
                <a:solidFill>
                  <a:schemeClr val="tx2"/>
                </a:solidFill>
              </a:rPr>
              <a:t>cout</a:t>
            </a:r>
            <a:r>
              <a:rPr lang="en-US" sz="1600" dirty="0">
                <a:solidFill>
                  <a:schemeClr val="tx2"/>
                </a:solidFill>
              </a:rPr>
              <a:t> &lt;&lt; "Student" &lt;&lt; </a:t>
            </a:r>
            <a:r>
              <a:rPr lang="en-US" sz="1600" dirty="0" err="1">
                <a:solidFill>
                  <a:schemeClr val="tx2"/>
                </a:solidFill>
              </a:rPr>
              <a:t>i</a:t>
            </a:r>
            <a:r>
              <a:rPr lang="en-US" sz="1600" dirty="0">
                <a:solidFill>
                  <a:schemeClr val="tx2"/>
                </a:solidFill>
              </a:rPr>
              <a:t> + 1 &lt;&lt; ": " &lt;&lt; *(</a:t>
            </a:r>
            <a:r>
              <a:rPr lang="en-US" sz="1600" dirty="0" err="1">
                <a:solidFill>
                  <a:schemeClr val="tx2"/>
                </a:solidFill>
              </a:rPr>
              <a:t>ptr</a:t>
            </a:r>
            <a:r>
              <a:rPr lang="en-US" sz="1600" dirty="0">
                <a:solidFill>
                  <a:schemeClr val="tx2"/>
                </a:solidFill>
              </a:rPr>
              <a:t> + </a:t>
            </a:r>
            <a:r>
              <a:rPr lang="en-US" sz="1600" dirty="0" err="1">
                <a:solidFill>
                  <a:schemeClr val="tx2"/>
                </a:solidFill>
              </a:rPr>
              <a:t>i</a:t>
            </a:r>
            <a:r>
              <a:rPr lang="en-US" sz="1600" dirty="0">
                <a:solidFill>
                  <a:schemeClr val="tx2"/>
                </a:solidFill>
              </a:rPr>
              <a:t>) &lt;&lt; </a:t>
            </a:r>
            <a:r>
              <a:rPr lang="en-US" sz="1600" dirty="0" err="1">
                <a:solidFill>
                  <a:schemeClr val="tx2"/>
                </a:solidFill>
              </a:rPr>
              <a:t>endl</a:t>
            </a:r>
            <a:r>
              <a:rPr lang="en-US" sz="1600" dirty="0">
                <a:solidFill>
                  <a:schemeClr val="tx2"/>
                </a:solidFill>
              </a:rPr>
              <a:t>;</a:t>
            </a:r>
          </a:p>
          <a:p>
            <a:r>
              <a:rPr lang="en-US" sz="1600" dirty="0">
                <a:solidFill>
                  <a:schemeClr val="tx2"/>
                </a:solidFill>
              </a:rPr>
              <a:t>}</a:t>
            </a:r>
          </a:p>
          <a:p>
            <a:r>
              <a:rPr lang="en-US" sz="1600" dirty="0">
                <a:solidFill>
                  <a:schemeClr val="tx2"/>
                </a:solidFill>
              </a:rPr>
              <a:t>// </a:t>
            </a:r>
            <a:r>
              <a:rPr lang="en-US" sz="1600" dirty="0" err="1">
                <a:solidFill>
                  <a:schemeClr val="tx2"/>
                </a:solidFill>
              </a:rPr>
              <a:t>ptr</a:t>
            </a:r>
            <a:r>
              <a:rPr lang="en-US" sz="1600" dirty="0">
                <a:solidFill>
                  <a:schemeClr val="tx2"/>
                </a:solidFill>
              </a:rPr>
              <a:t> memory is released</a:t>
            </a:r>
          </a:p>
          <a:p>
            <a:r>
              <a:rPr lang="en-US" sz="1600" dirty="0">
                <a:solidFill>
                  <a:schemeClr val="tx2"/>
                </a:solidFill>
              </a:rPr>
              <a:t> delete[] </a:t>
            </a:r>
            <a:r>
              <a:rPr lang="en-US" sz="1600" dirty="0" err="1">
                <a:solidFill>
                  <a:schemeClr val="tx2"/>
                </a:solidFill>
              </a:rPr>
              <a:t>ptr</a:t>
            </a:r>
            <a:r>
              <a:rPr lang="en-US" sz="1600" dirty="0">
                <a:solidFill>
                  <a:schemeClr val="tx2"/>
                </a:solidFill>
              </a:rPr>
              <a:t>;</a:t>
            </a:r>
          </a:p>
          <a:p>
            <a:r>
              <a:rPr lang="en-US" sz="1600" dirty="0">
                <a:solidFill>
                  <a:schemeClr val="tx2"/>
                </a:solidFill>
              </a:rPr>
              <a:t> return 0;</a:t>
            </a:r>
          </a:p>
          <a:p>
            <a:r>
              <a:rPr lang="en-US" sz="1600" dirty="0">
                <a:solidFill>
                  <a:schemeClr val="tx2"/>
                </a:solidFill>
              </a:rPr>
              <a:t>}</a:t>
            </a:r>
          </a:p>
        </p:txBody>
      </p:sp>
    </p:spTree>
    <p:extLst>
      <p:ext uri="{BB962C8B-B14F-4D97-AF65-F5344CB8AC3E}">
        <p14:creationId xmlns:p14="http://schemas.microsoft.com/office/powerpoint/2010/main" val="41695462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677334" y="1277471"/>
            <a:ext cx="8596668" cy="4763892"/>
          </a:xfrm>
        </p:spPr>
        <p:txBody>
          <a:bodyPr>
            <a:normAutofit fontScale="92500" lnSpcReduction="10000"/>
          </a:bodyPr>
          <a:lstStyle/>
          <a:p>
            <a:pPr marL="0" indent="0">
              <a:buNone/>
            </a:pPr>
            <a:r>
              <a:rPr lang="en-US" dirty="0"/>
              <a:t>Output</a:t>
            </a:r>
          </a:p>
          <a:p>
            <a:endParaRPr lang="en-US" dirty="0"/>
          </a:p>
          <a:p>
            <a:pPr marL="0" indent="0">
              <a:buNone/>
            </a:pPr>
            <a:r>
              <a:rPr lang="en-US" dirty="0"/>
              <a:t>Enter total number of students: 4</a:t>
            </a:r>
          </a:p>
          <a:p>
            <a:pPr marL="0" indent="0">
              <a:buNone/>
            </a:pPr>
            <a:r>
              <a:rPr lang="en-US" dirty="0"/>
              <a:t>Enter GPA of students.</a:t>
            </a:r>
          </a:p>
          <a:p>
            <a:pPr marL="0" indent="0">
              <a:buNone/>
            </a:pPr>
            <a:r>
              <a:rPr lang="en-US" dirty="0"/>
              <a:t>Student1: 3.6</a:t>
            </a:r>
          </a:p>
          <a:p>
            <a:pPr marL="0" indent="0">
              <a:buNone/>
            </a:pPr>
            <a:r>
              <a:rPr lang="en-US" dirty="0"/>
              <a:t>Student2: 3.1</a:t>
            </a:r>
          </a:p>
          <a:p>
            <a:pPr marL="0" indent="0">
              <a:buNone/>
            </a:pPr>
            <a:r>
              <a:rPr lang="en-US" dirty="0"/>
              <a:t>Student3: 3.9</a:t>
            </a:r>
          </a:p>
          <a:p>
            <a:pPr marL="0" indent="0">
              <a:buNone/>
            </a:pPr>
            <a:r>
              <a:rPr lang="en-US" dirty="0"/>
              <a:t>Student4: 2.9</a:t>
            </a:r>
          </a:p>
          <a:p>
            <a:pPr marL="0" indent="0">
              <a:buNone/>
            </a:pPr>
            <a:r>
              <a:rPr lang="en-US" dirty="0"/>
              <a:t>Displaying GPA of students.</a:t>
            </a:r>
          </a:p>
          <a:p>
            <a:pPr marL="0" indent="0">
              <a:buNone/>
            </a:pPr>
            <a:r>
              <a:rPr lang="en-US" dirty="0"/>
              <a:t>Student1: 3.6</a:t>
            </a:r>
          </a:p>
          <a:p>
            <a:pPr marL="0" indent="0">
              <a:buNone/>
            </a:pPr>
            <a:r>
              <a:rPr lang="en-US" dirty="0"/>
              <a:t>Student2: 3.1</a:t>
            </a:r>
          </a:p>
          <a:p>
            <a:pPr marL="0" indent="0">
              <a:buNone/>
            </a:pPr>
            <a:r>
              <a:rPr lang="en-US" dirty="0"/>
              <a:t>Student3: 3.9</a:t>
            </a:r>
          </a:p>
          <a:p>
            <a:pPr marL="0" indent="0">
              <a:buNone/>
            </a:pPr>
            <a:r>
              <a:rPr lang="en-US" dirty="0"/>
              <a:t>Student4: 2.9</a:t>
            </a:r>
          </a:p>
        </p:txBody>
      </p:sp>
    </p:spTree>
    <p:extLst>
      <p:ext uri="{BB962C8B-B14F-4D97-AF65-F5344CB8AC3E}">
        <p14:creationId xmlns:p14="http://schemas.microsoft.com/office/powerpoint/2010/main" val="26882376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a:t>In this program, we have asked the user to enter the number of students and store it in the </a:t>
            </a:r>
            <a:r>
              <a:rPr lang="en-US" dirty="0" err="1"/>
              <a:t>num</a:t>
            </a:r>
            <a:r>
              <a:rPr lang="en-US" dirty="0"/>
              <a:t> variable.</a:t>
            </a:r>
          </a:p>
          <a:p>
            <a:endParaRPr lang="en-US" dirty="0"/>
          </a:p>
          <a:p>
            <a:r>
              <a:rPr lang="en-US" dirty="0"/>
              <a:t>Then, we have allocated the memory dynamically for the float array using new.</a:t>
            </a:r>
          </a:p>
          <a:p>
            <a:endParaRPr lang="en-US" dirty="0"/>
          </a:p>
          <a:p>
            <a:r>
              <a:rPr lang="en-US" dirty="0"/>
              <a:t>We enter data into the array (and later print them) using pointer notation.</a:t>
            </a:r>
          </a:p>
          <a:p>
            <a:endParaRPr lang="en-US" dirty="0"/>
          </a:p>
          <a:p>
            <a:r>
              <a:rPr lang="en-US" dirty="0"/>
              <a:t>After we no longer need the array, we deallocate the array memory using the code delete[] </a:t>
            </a:r>
            <a:r>
              <a:rPr lang="en-US" dirty="0" err="1"/>
              <a:t>ptr</a:t>
            </a:r>
            <a:r>
              <a:rPr lang="en-US" dirty="0"/>
              <a:t>;.</a:t>
            </a:r>
          </a:p>
          <a:p>
            <a:endParaRPr lang="en-US" dirty="0"/>
          </a:p>
          <a:p>
            <a:r>
              <a:rPr lang="en-US" dirty="0"/>
              <a:t>Notice the use of [] after delete. We use the square brackets [] in order to denote that the memory deallocation is that of an array.</a:t>
            </a:r>
          </a:p>
          <a:p>
            <a:endParaRPr lang="en-US" dirty="0"/>
          </a:p>
          <a:p>
            <a:endParaRPr lang="en-US" dirty="0"/>
          </a:p>
        </p:txBody>
      </p:sp>
    </p:spTree>
    <p:extLst>
      <p:ext uri="{BB962C8B-B14F-4D97-AF65-F5344CB8AC3E}">
        <p14:creationId xmlns:p14="http://schemas.microsoft.com/office/powerpoint/2010/main" val="34255804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3" y="609600"/>
            <a:ext cx="10160995" cy="829235"/>
          </a:xfrm>
        </p:spPr>
        <p:txBody>
          <a:bodyPr>
            <a:normAutofit fontScale="90000"/>
          </a:bodyPr>
          <a:lstStyle/>
          <a:p>
            <a:r>
              <a:rPr lang="en-US" dirty="0"/>
              <a:t>Example 3: C++ new and delete Operator for Objects</a:t>
            </a:r>
          </a:p>
        </p:txBody>
      </p:sp>
      <p:sp>
        <p:nvSpPr>
          <p:cNvPr id="3" name="Content Placeholder 2"/>
          <p:cNvSpPr>
            <a:spLocks noGrp="1"/>
          </p:cNvSpPr>
          <p:nvPr>
            <p:ph idx="1"/>
          </p:nvPr>
        </p:nvSpPr>
        <p:spPr>
          <a:xfrm>
            <a:off x="677333" y="1438835"/>
            <a:ext cx="4082925" cy="5244353"/>
          </a:xfrm>
        </p:spPr>
        <p:txBody>
          <a:bodyPr>
            <a:normAutofit fontScale="85000" lnSpcReduction="20000"/>
          </a:bodyPr>
          <a:lstStyle/>
          <a:p>
            <a:r>
              <a:rPr lang="en-US" dirty="0"/>
              <a:t>#include &lt;</a:t>
            </a:r>
            <a:r>
              <a:rPr lang="en-US" dirty="0" err="1"/>
              <a:t>iostream</a:t>
            </a:r>
            <a:r>
              <a:rPr lang="en-US" dirty="0"/>
              <a:t>&gt;</a:t>
            </a:r>
          </a:p>
          <a:p>
            <a:r>
              <a:rPr lang="en-US" dirty="0"/>
              <a:t>using namespace </a:t>
            </a:r>
            <a:r>
              <a:rPr lang="en-US" dirty="0" err="1"/>
              <a:t>std</a:t>
            </a:r>
            <a:r>
              <a:rPr lang="en-US" dirty="0"/>
              <a:t>;</a:t>
            </a:r>
          </a:p>
          <a:p>
            <a:endParaRPr lang="en-US" dirty="0"/>
          </a:p>
          <a:p>
            <a:r>
              <a:rPr lang="en-US" dirty="0"/>
              <a:t>class Student {</a:t>
            </a:r>
          </a:p>
          <a:p>
            <a:r>
              <a:rPr lang="en-US" dirty="0"/>
              <a:t>  private:</a:t>
            </a:r>
          </a:p>
          <a:p>
            <a:r>
              <a:rPr lang="en-US" dirty="0"/>
              <a:t>    </a:t>
            </a:r>
            <a:r>
              <a:rPr lang="en-US" dirty="0" err="1"/>
              <a:t>int</a:t>
            </a:r>
            <a:r>
              <a:rPr lang="en-US" dirty="0"/>
              <a:t> age;</a:t>
            </a:r>
          </a:p>
          <a:p>
            <a:endParaRPr lang="en-US" dirty="0"/>
          </a:p>
          <a:p>
            <a:r>
              <a:rPr lang="en-US" dirty="0"/>
              <a:t>  public:</a:t>
            </a:r>
          </a:p>
          <a:p>
            <a:endParaRPr lang="en-US" dirty="0"/>
          </a:p>
          <a:p>
            <a:r>
              <a:rPr lang="en-US" dirty="0"/>
              <a:t>    // constructor initializes age to 12</a:t>
            </a:r>
          </a:p>
          <a:p>
            <a:r>
              <a:rPr lang="en-US" dirty="0"/>
              <a:t>    Student() : age(12) {}</a:t>
            </a:r>
          </a:p>
          <a:p>
            <a:endParaRPr lang="en-US" dirty="0"/>
          </a:p>
          <a:p>
            <a:r>
              <a:rPr lang="en-US" dirty="0"/>
              <a:t>    void </a:t>
            </a:r>
            <a:r>
              <a:rPr lang="en-US" dirty="0" err="1"/>
              <a:t>getAge</a:t>
            </a:r>
            <a:r>
              <a:rPr lang="en-US" dirty="0"/>
              <a:t>() {</a:t>
            </a:r>
          </a:p>
          <a:p>
            <a:r>
              <a:rPr lang="en-US" dirty="0"/>
              <a:t>      </a:t>
            </a:r>
            <a:r>
              <a:rPr lang="en-US" dirty="0" err="1"/>
              <a:t>cout</a:t>
            </a:r>
            <a:r>
              <a:rPr lang="en-US" dirty="0"/>
              <a:t> &lt;&lt; "Age = " &lt;&lt; age &lt;&lt; </a:t>
            </a:r>
            <a:r>
              <a:rPr lang="en-US" dirty="0" err="1"/>
              <a:t>endl</a:t>
            </a:r>
            <a:r>
              <a:rPr lang="en-US" dirty="0"/>
              <a:t>;</a:t>
            </a:r>
          </a:p>
          <a:p>
            <a:r>
              <a:rPr lang="en-US" dirty="0"/>
              <a:t>    }</a:t>
            </a:r>
          </a:p>
          <a:p>
            <a:r>
              <a:rPr lang="en-US" dirty="0"/>
              <a:t>};</a:t>
            </a:r>
          </a:p>
        </p:txBody>
      </p:sp>
      <p:sp>
        <p:nvSpPr>
          <p:cNvPr id="4" name="TextBox 3"/>
          <p:cNvSpPr txBox="1"/>
          <p:nvPr/>
        </p:nvSpPr>
        <p:spPr>
          <a:xfrm>
            <a:off x="5930153" y="1438835"/>
            <a:ext cx="5298142" cy="3293209"/>
          </a:xfrm>
          <a:prstGeom prst="rect">
            <a:avLst/>
          </a:prstGeom>
          <a:noFill/>
        </p:spPr>
        <p:txBody>
          <a:bodyPr wrap="square" rtlCol="0">
            <a:spAutoFit/>
          </a:bodyPr>
          <a:lstStyle/>
          <a:p>
            <a:r>
              <a:rPr lang="en-US" sz="1600" dirty="0" err="1">
                <a:solidFill>
                  <a:schemeClr val="tx2"/>
                </a:solidFill>
              </a:rPr>
              <a:t>int</a:t>
            </a:r>
            <a:r>
              <a:rPr lang="en-US" sz="1600" dirty="0">
                <a:solidFill>
                  <a:schemeClr val="tx2"/>
                </a:solidFill>
              </a:rPr>
              <a:t> main() {</a:t>
            </a:r>
          </a:p>
          <a:p>
            <a:endParaRPr lang="en-US" sz="1600" dirty="0">
              <a:solidFill>
                <a:schemeClr val="tx2"/>
              </a:solidFill>
            </a:endParaRPr>
          </a:p>
          <a:p>
            <a:r>
              <a:rPr lang="en-US" sz="1600" dirty="0">
                <a:solidFill>
                  <a:schemeClr val="tx2"/>
                </a:solidFill>
              </a:rPr>
              <a:t>  // dynamically declare Student object</a:t>
            </a:r>
          </a:p>
          <a:p>
            <a:r>
              <a:rPr lang="en-US" sz="1600" dirty="0">
                <a:solidFill>
                  <a:schemeClr val="tx2"/>
                </a:solidFill>
              </a:rPr>
              <a:t>  Student* </a:t>
            </a:r>
            <a:r>
              <a:rPr lang="en-US" sz="1600" dirty="0" err="1">
                <a:solidFill>
                  <a:schemeClr val="tx2"/>
                </a:solidFill>
              </a:rPr>
              <a:t>ptr</a:t>
            </a:r>
            <a:r>
              <a:rPr lang="en-US" sz="1600" dirty="0">
                <a:solidFill>
                  <a:schemeClr val="tx2"/>
                </a:solidFill>
              </a:rPr>
              <a:t> = new Student();</a:t>
            </a:r>
          </a:p>
          <a:p>
            <a:endParaRPr lang="en-US" sz="1600" dirty="0">
              <a:solidFill>
                <a:schemeClr val="tx2"/>
              </a:solidFill>
            </a:endParaRPr>
          </a:p>
          <a:p>
            <a:r>
              <a:rPr lang="en-US" sz="1600" dirty="0">
                <a:solidFill>
                  <a:schemeClr val="tx2"/>
                </a:solidFill>
              </a:rPr>
              <a:t>  // call </a:t>
            </a:r>
            <a:r>
              <a:rPr lang="en-US" sz="1600" dirty="0" err="1">
                <a:solidFill>
                  <a:schemeClr val="tx2"/>
                </a:solidFill>
              </a:rPr>
              <a:t>getAge</a:t>
            </a:r>
            <a:r>
              <a:rPr lang="en-US" sz="1600" dirty="0">
                <a:solidFill>
                  <a:schemeClr val="tx2"/>
                </a:solidFill>
              </a:rPr>
              <a:t>() function</a:t>
            </a:r>
          </a:p>
          <a:p>
            <a:r>
              <a:rPr lang="en-US" sz="1600" dirty="0">
                <a:solidFill>
                  <a:schemeClr val="tx2"/>
                </a:solidFill>
              </a:rPr>
              <a:t>  </a:t>
            </a:r>
            <a:r>
              <a:rPr lang="en-US" sz="1600" dirty="0" err="1">
                <a:solidFill>
                  <a:schemeClr val="tx2"/>
                </a:solidFill>
              </a:rPr>
              <a:t>ptr</a:t>
            </a:r>
            <a:r>
              <a:rPr lang="en-US" sz="1600" dirty="0">
                <a:solidFill>
                  <a:schemeClr val="tx2"/>
                </a:solidFill>
              </a:rPr>
              <a:t>-&gt;</a:t>
            </a:r>
            <a:r>
              <a:rPr lang="en-US" sz="1600" dirty="0" err="1">
                <a:solidFill>
                  <a:schemeClr val="tx2"/>
                </a:solidFill>
              </a:rPr>
              <a:t>getAge</a:t>
            </a:r>
            <a:r>
              <a:rPr lang="en-US" sz="1600" dirty="0">
                <a:solidFill>
                  <a:schemeClr val="tx2"/>
                </a:solidFill>
              </a:rPr>
              <a:t>();</a:t>
            </a:r>
          </a:p>
          <a:p>
            <a:endParaRPr lang="en-US" sz="1600" dirty="0">
              <a:solidFill>
                <a:schemeClr val="tx2"/>
              </a:solidFill>
            </a:endParaRPr>
          </a:p>
          <a:p>
            <a:r>
              <a:rPr lang="en-US" sz="1600" dirty="0">
                <a:solidFill>
                  <a:schemeClr val="tx2"/>
                </a:solidFill>
              </a:rPr>
              <a:t>  // </a:t>
            </a:r>
            <a:r>
              <a:rPr lang="en-US" sz="1600" dirty="0" err="1">
                <a:solidFill>
                  <a:schemeClr val="tx2"/>
                </a:solidFill>
              </a:rPr>
              <a:t>ptr</a:t>
            </a:r>
            <a:r>
              <a:rPr lang="en-US" sz="1600" dirty="0">
                <a:solidFill>
                  <a:schemeClr val="tx2"/>
                </a:solidFill>
              </a:rPr>
              <a:t> memory is released</a:t>
            </a:r>
          </a:p>
          <a:p>
            <a:r>
              <a:rPr lang="en-US" sz="1600" dirty="0">
                <a:solidFill>
                  <a:schemeClr val="tx2"/>
                </a:solidFill>
              </a:rPr>
              <a:t>  delete </a:t>
            </a:r>
            <a:r>
              <a:rPr lang="en-US" sz="1600" dirty="0" err="1">
                <a:solidFill>
                  <a:schemeClr val="tx2"/>
                </a:solidFill>
              </a:rPr>
              <a:t>ptr</a:t>
            </a:r>
            <a:r>
              <a:rPr lang="en-US" sz="1600" dirty="0">
                <a:solidFill>
                  <a:schemeClr val="tx2"/>
                </a:solidFill>
              </a:rPr>
              <a:t>;</a:t>
            </a:r>
          </a:p>
          <a:p>
            <a:endParaRPr lang="en-US" sz="1600" dirty="0">
              <a:solidFill>
                <a:schemeClr val="tx2"/>
              </a:solidFill>
            </a:endParaRPr>
          </a:p>
          <a:p>
            <a:r>
              <a:rPr lang="en-US" sz="1600" dirty="0">
                <a:solidFill>
                  <a:schemeClr val="tx2"/>
                </a:solidFill>
              </a:rPr>
              <a:t>  return 0;</a:t>
            </a:r>
          </a:p>
          <a:p>
            <a:r>
              <a:rPr lang="en-US" sz="1600" dirty="0">
                <a:solidFill>
                  <a:schemeClr val="tx2"/>
                </a:solidFill>
              </a:rPr>
              <a:t>}</a:t>
            </a:r>
          </a:p>
        </p:txBody>
      </p:sp>
    </p:spTree>
    <p:extLst>
      <p:ext uri="{BB962C8B-B14F-4D97-AF65-F5344CB8AC3E}">
        <p14:creationId xmlns:p14="http://schemas.microsoft.com/office/powerpoint/2010/main" val="38817898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9536" y="309488"/>
            <a:ext cx="9423269" cy="5685003"/>
          </a:xfrm>
        </p:spPr>
        <p:txBody>
          <a:bodyPr>
            <a:normAutofit fontScale="92500" lnSpcReduction="20000"/>
          </a:bodyPr>
          <a:lstStyle/>
          <a:p>
            <a:r>
              <a:rPr lang="en-US" dirty="0"/>
              <a:t>Output</a:t>
            </a:r>
          </a:p>
          <a:p>
            <a:endParaRPr lang="en-US" dirty="0"/>
          </a:p>
          <a:p>
            <a:pPr marL="0" indent="0">
              <a:buNone/>
            </a:pPr>
            <a:r>
              <a:rPr lang="en-US" dirty="0"/>
              <a:t>Age = 12</a:t>
            </a:r>
          </a:p>
          <a:p>
            <a:r>
              <a:rPr lang="en-US" dirty="0"/>
              <a:t>In this program, we have created a Student class that has a private variable age.</a:t>
            </a:r>
          </a:p>
          <a:p>
            <a:endParaRPr lang="en-US" dirty="0"/>
          </a:p>
          <a:p>
            <a:r>
              <a:rPr lang="en-US" dirty="0"/>
              <a:t>We have initialized age to 12 in the default constructor Student() and print its value with the function </a:t>
            </a:r>
            <a:r>
              <a:rPr lang="en-US" dirty="0" err="1"/>
              <a:t>getAge</a:t>
            </a:r>
            <a:r>
              <a:rPr lang="en-US" dirty="0"/>
              <a:t>().</a:t>
            </a:r>
          </a:p>
          <a:p>
            <a:endParaRPr lang="en-US" dirty="0"/>
          </a:p>
          <a:p>
            <a:r>
              <a:rPr lang="en-US" dirty="0"/>
              <a:t>In main(), we have created a Student object using the new operator and use the pointer </a:t>
            </a:r>
            <a:r>
              <a:rPr lang="en-US" dirty="0" err="1"/>
              <a:t>ptr</a:t>
            </a:r>
            <a:r>
              <a:rPr lang="en-US" dirty="0"/>
              <a:t> to point to its address.</a:t>
            </a:r>
          </a:p>
          <a:p>
            <a:endParaRPr lang="en-US" dirty="0"/>
          </a:p>
          <a:p>
            <a:r>
              <a:rPr lang="en-US" dirty="0"/>
              <a:t>The moment the object is created, the Student() constructor initializes age to 12.</a:t>
            </a:r>
          </a:p>
          <a:p>
            <a:endParaRPr lang="en-US" dirty="0"/>
          </a:p>
          <a:p>
            <a:r>
              <a:rPr lang="en-US" dirty="0"/>
              <a:t>We then call the </a:t>
            </a:r>
            <a:r>
              <a:rPr lang="en-US" dirty="0" err="1"/>
              <a:t>getAge</a:t>
            </a:r>
            <a:r>
              <a:rPr lang="en-US" dirty="0"/>
              <a:t>() function using the code:</a:t>
            </a:r>
          </a:p>
          <a:p>
            <a:endParaRPr lang="en-US" dirty="0"/>
          </a:p>
          <a:p>
            <a:pPr marL="0" indent="0">
              <a:buNone/>
            </a:pPr>
            <a:r>
              <a:rPr lang="en-US" dirty="0" err="1"/>
              <a:t>ptr</a:t>
            </a:r>
            <a:r>
              <a:rPr lang="en-US" dirty="0"/>
              <a:t>-&gt;</a:t>
            </a:r>
            <a:r>
              <a:rPr lang="en-US" dirty="0" err="1"/>
              <a:t>getAge</a:t>
            </a:r>
            <a:r>
              <a:rPr lang="en-US" dirty="0"/>
              <a:t>();</a:t>
            </a:r>
          </a:p>
          <a:p>
            <a:r>
              <a:rPr lang="en-US" dirty="0"/>
              <a:t>Notice the arrow operator -&gt;. This operator is used to access class members using pointers.</a:t>
            </a:r>
          </a:p>
          <a:p>
            <a:endParaRPr lang="en-US" dirty="0"/>
          </a:p>
          <a:p>
            <a:endParaRPr lang="en-US" dirty="0"/>
          </a:p>
        </p:txBody>
      </p:sp>
    </p:spTree>
    <p:extLst>
      <p:ext uri="{BB962C8B-B14F-4D97-AF65-F5344CB8AC3E}">
        <p14:creationId xmlns:p14="http://schemas.microsoft.com/office/powerpoint/2010/main" val="35374719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AAFEAE-0ACF-0452-A798-688124AFECCF}"/>
              </a:ext>
            </a:extLst>
          </p:cNvPr>
          <p:cNvSpPr>
            <a:spLocks noGrp="1"/>
          </p:cNvSpPr>
          <p:nvPr>
            <p:ph idx="1"/>
          </p:nvPr>
        </p:nvSpPr>
        <p:spPr>
          <a:xfrm>
            <a:off x="0" y="168813"/>
            <a:ext cx="12192000" cy="6689188"/>
          </a:xfrm>
        </p:spPr>
        <p:txBody>
          <a:bodyPr numCol="3">
            <a:normAutofit/>
          </a:bodyPr>
          <a:lstStyle/>
          <a:p>
            <a:pPr marL="0" indent="0">
              <a:buNone/>
            </a:pPr>
            <a:r>
              <a:rPr lang="en-US" dirty="0"/>
              <a:t>#include &lt;iostream&gt;</a:t>
            </a:r>
          </a:p>
          <a:p>
            <a:pPr marL="0" indent="0">
              <a:buNone/>
            </a:pPr>
            <a:r>
              <a:rPr lang="en-US" dirty="0"/>
              <a:t>using namespace std;</a:t>
            </a:r>
          </a:p>
          <a:p>
            <a:pPr marL="0" indent="0">
              <a:buNone/>
            </a:pPr>
            <a:endParaRPr lang="en-US" dirty="0"/>
          </a:p>
          <a:p>
            <a:pPr marL="0" indent="0">
              <a:buNone/>
            </a:pPr>
            <a:r>
              <a:rPr lang="en-US" dirty="0"/>
              <a:t>class Student {</a:t>
            </a:r>
          </a:p>
          <a:p>
            <a:pPr marL="0" indent="0">
              <a:buNone/>
            </a:pPr>
            <a:r>
              <a:rPr lang="en-US" dirty="0"/>
              <a:t>private:</a:t>
            </a:r>
          </a:p>
          <a:p>
            <a:pPr marL="0" indent="0">
              <a:buNone/>
            </a:pPr>
            <a:r>
              <a:rPr lang="en-US" dirty="0"/>
              <a:t>    string name;</a:t>
            </a:r>
          </a:p>
          <a:p>
            <a:pPr marL="0" indent="0">
              <a:buNone/>
            </a:pPr>
            <a:r>
              <a:rPr lang="en-US" dirty="0"/>
              <a:t>    int age;</a:t>
            </a:r>
          </a:p>
          <a:p>
            <a:pPr marL="0" indent="0">
              <a:buNone/>
            </a:pPr>
            <a:endParaRPr lang="en-US" dirty="0"/>
          </a:p>
          <a:p>
            <a:pPr marL="0" indent="0">
              <a:buNone/>
            </a:pPr>
            <a:r>
              <a:rPr lang="en-US" dirty="0"/>
              <a:t>public:</a:t>
            </a:r>
          </a:p>
          <a:p>
            <a:pPr marL="0" indent="0">
              <a:buNone/>
            </a:pPr>
            <a:r>
              <a:rPr lang="en-US" dirty="0"/>
              <a:t>void input() {</a:t>
            </a:r>
          </a:p>
          <a:p>
            <a:pPr marL="0" indent="0">
              <a:buNone/>
            </a:pPr>
            <a:r>
              <a:rPr lang="en-US" dirty="0"/>
              <a:t>        </a:t>
            </a:r>
            <a:r>
              <a:rPr lang="en-US" dirty="0" err="1"/>
              <a:t>cout</a:t>
            </a:r>
            <a:r>
              <a:rPr lang="en-US" dirty="0"/>
              <a:t> &lt;&lt; "Enter Name: ";</a:t>
            </a:r>
          </a:p>
          <a:p>
            <a:pPr marL="0" indent="0">
              <a:buNone/>
            </a:pPr>
            <a:r>
              <a:rPr lang="en-US" dirty="0"/>
              <a:t>        </a:t>
            </a:r>
            <a:r>
              <a:rPr lang="en-US" dirty="0" err="1"/>
              <a:t>cin</a:t>
            </a:r>
            <a:r>
              <a:rPr lang="en-US" dirty="0"/>
              <a:t> &gt;&gt; name;</a:t>
            </a:r>
          </a:p>
          <a:p>
            <a:pPr marL="0" indent="0">
              <a:buNone/>
            </a:pPr>
            <a:endParaRPr lang="en-US" dirty="0"/>
          </a:p>
          <a:p>
            <a:pPr marL="0" indent="0">
              <a:buNone/>
            </a:pPr>
            <a:r>
              <a:rPr lang="en-US" dirty="0"/>
              <a:t>        </a:t>
            </a:r>
            <a:r>
              <a:rPr lang="en-US" dirty="0" err="1"/>
              <a:t>cout</a:t>
            </a:r>
            <a:r>
              <a:rPr lang="en-US" dirty="0"/>
              <a:t> &lt;&lt; "Enter Age: ";</a:t>
            </a:r>
          </a:p>
          <a:p>
            <a:pPr marL="0" indent="0">
              <a:buNone/>
            </a:pPr>
            <a:r>
              <a:rPr lang="en-US" dirty="0"/>
              <a:t>        </a:t>
            </a:r>
            <a:r>
              <a:rPr lang="en-US" dirty="0" err="1"/>
              <a:t>cin</a:t>
            </a:r>
            <a:r>
              <a:rPr lang="en-US" dirty="0"/>
              <a:t> &gt;&gt; age;</a:t>
            </a:r>
          </a:p>
          <a:p>
            <a:pPr marL="0" indent="0">
              <a:buNone/>
            </a:pPr>
            <a:r>
              <a:rPr lang="en-US" dirty="0"/>
              <a:t>    }</a:t>
            </a:r>
          </a:p>
          <a:p>
            <a:pPr marL="0" indent="0">
              <a:buNone/>
            </a:pPr>
            <a:r>
              <a:rPr lang="en-US" dirty="0"/>
              <a:t>void display() {</a:t>
            </a:r>
          </a:p>
          <a:p>
            <a:pPr marL="0" indent="0">
              <a:buNone/>
            </a:pPr>
            <a:r>
              <a:rPr lang="en-US" dirty="0"/>
              <a:t>        </a:t>
            </a:r>
            <a:r>
              <a:rPr lang="en-US" dirty="0" err="1"/>
              <a:t>cout</a:t>
            </a:r>
            <a:r>
              <a:rPr lang="en-US" dirty="0"/>
              <a:t> &lt;&lt; "Name: " &lt;&lt; name &lt;&lt; </a:t>
            </a:r>
            <a:r>
              <a:rPr lang="en-US" dirty="0" err="1"/>
              <a:t>endl</a:t>
            </a:r>
            <a:r>
              <a:rPr lang="en-US" dirty="0"/>
              <a:t>;</a:t>
            </a:r>
          </a:p>
          <a:p>
            <a:pPr marL="0" indent="0">
              <a:buNone/>
            </a:pPr>
            <a:r>
              <a:rPr lang="en-US" dirty="0"/>
              <a:t>        </a:t>
            </a:r>
            <a:r>
              <a:rPr lang="en-US" dirty="0" err="1"/>
              <a:t>cout</a:t>
            </a:r>
            <a:r>
              <a:rPr lang="en-US" dirty="0"/>
              <a:t> &lt;&lt; "Age: " &lt;&lt; age &lt;&lt; </a:t>
            </a:r>
            <a:r>
              <a:rPr lang="en-US" dirty="0" err="1"/>
              <a:t>endl</a:t>
            </a:r>
            <a:r>
              <a:rPr lang="en-US" dirty="0"/>
              <a:t>;</a:t>
            </a:r>
          </a:p>
          <a:p>
            <a:pPr marL="0" indent="0">
              <a:buNone/>
            </a:pPr>
            <a:r>
              <a:rPr lang="en-US" dirty="0"/>
              <a:t>    }</a:t>
            </a:r>
          </a:p>
          <a:p>
            <a:pPr marL="0" indent="0">
              <a:buNone/>
            </a:pPr>
            <a:r>
              <a:rPr lang="en-US" dirty="0"/>
              <a:t>};</a:t>
            </a:r>
          </a:p>
          <a:p>
            <a:pPr marL="0" indent="0">
              <a:buNone/>
            </a:pPr>
            <a:endParaRPr lang="en-US" dirty="0"/>
          </a:p>
          <a:p>
            <a:pPr marL="0" indent="0">
              <a:buNone/>
            </a:pPr>
            <a:r>
              <a:rPr lang="en-US" dirty="0"/>
              <a:t>int main() {</a:t>
            </a:r>
          </a:p>
          <a:p>
            <a:pPr marL="0" indent="0">
              <a:buNone/>
            </a:pPr>
            <a:r>
              <a:rPr lang="en-US" dirty="0"/>
              <a:t>    int n;</a:t>
            </a:r>
          </a:p>
          <a:p>
            <a:pPr marL="0" indent="0">
              <a:buNone/>
            </a:pPr>
            <a:r>
              <a:rPr lang="en-US" dirty="0"/>
              <a:t>  </a:t>
            </a:r>
            <a:r>
              <a:rPr lang="en-US" dirty="0" err="1"/>
              <a:t>cout</a:t>
            </a:r>
            <a:r>
              <a:rPr lang="en-US" dirty="0"/>
              <a:t> &lt;&lt; "Enter number of students: ";   </a:t>
            </a:r>
          </a:p>
          <a:p>
            <a:pPr marL="0" indent="0">
              <a:buNone/>
            </a:pPr>
            <a:r>
              <a:rPr lang="en-US" dirty="0"/>
              <a:t>    </a:t>
            </a:r>
            <a:r>
              <a:rPr lang="en-US" dirty="0" err="1"/>
              <a:t>cin</a:t>
            </a:r>
            <a:r>
              <a:rPr lang="en-US" dirty="0"/>
              <a:t> &gt;&gt; n;</a:t>
            </a:r>
          </a:p>
          <a:p>
            <a:pPr marL="0" indent="0">
              <a:buNone/>
            </a:pPr>
            <a:r>
              <a:rPr lang="en-US" dirty="0"/>
              <a:t>Student* s = new Student[n];</a:t>
            </a:r>
          </a:p>
          <a:p>
            <a:pPr marL="0" indent="0">
              <a:buNone/>
            </a:pPr>
            <a:r>
              <a:rPr lang="en-US" dirty="0" err="1"/>
              <a:t>cout</a:t>
            </a:r>
            <a:r>
              <a:rPr lang="en-US" dirty="0"/>
              <a:t> &lt;&lt; "\</a:t>
            </a:r>
            <a:r>
              <a:rPr lang="en-US" dirty="0" err="1"/>
              <a:t>nEnter</a:t>
            </a:r>
            <a:r>
              <a:rPr lang="en-US" dirty="0"/>
              <a:t> Student Information:\n";</a:t>
            </a:r>
          </a:p>
          <a:p>
            <a:pPr marL="0" indent="0">
              <a:buNone/>
            </a:pPr>
            <a:r>
              <a:rPr lang="en-US" dirty="0"/>
              <a:t>    for (int </a:t>
            </a:r>
            <a:r>
              <a:rPr lang="en-US" dirty="0" err="1"/>
              <a:t>i</a:t>
            </a:r>
            <a:r>
              <a:rPr lang="en-US" dirty="0"/>
              <a:t> = 0; </a:t>
            </a:r>
            <a:r>
              <a:rPr lang="en-US" dirty="0" err="1"/>
              <a:t>i</a:t>
            </a:r>
            <a:r>
              <a:rPr lang="en-US" dirty="0"/>
              <a:t> &lt; n; </a:t>
            </a:r>
            <a:r>
              <a:rPr lang="en-US" dirty="0" err="1"/>
              <a:t>i</a:t>
            </a:r>
            <a:r>
              <a:rPr lang="en-US" dirty="0"/>
              <a:t>++) {</a:t>
            </a:r>
          </a:p>
          <a:p>
            <a:pPr marL="0" indent="0">
              <a:buNone/>
            </a:pPr>
            <a:r>
              <a:rPr lang="en-US" dirty="0"/>
              <a:t>        </a:t>
            </a:r>
            <a:r>
              <a:rPr lang="en-US" dirty="0" err="1"/>
              <a:t>cout</a:t>
            </a:r>
            <a:r>
              <a:rPr lang="en-US" dirty="0"/>
              <a:t> &lt;&lt; "\</a:t>
            </a:r>
            <a:r>
              <a:rPr lang="en-US" dirty="0" err="1"/>
              <a:t>nStudent</a:t>
            </a:r>
            <a:r>
              <a:rPr lang="en-US" dirty="0"/>
              <a:t> " &lt;&lt; </a:t>
            </a:r>
            <a:r>
              <a:rPr lang="en-US" dirty="0" err="1"/>
              <a:t>i</a:t>
            </a:r>
            <a:r>
              <a:rPr lang="en-US" dirty="0"/>
              <a:t> + 1 &lt;&lt; </a:t>
            </a:r>
            <a:r>
              <a:rPr lang="en-US" dirty="0" err="1"/>
              <a:t>endl</a:t>
            </a:r>
            <a:r>
              <a:rPr lang="en-US" dirty="0"/>
              <a:t>;</a:t>
            </a:r>
          </a:p>
          <a:p>
            <a:pPr marL="0" indent="0">
              <a:buNone/>
            </a:pPr>
            <a:r>
              <a:rPr lang="en-US" dirty="0"/>
              <a:t>        s[</a:t>
            </a:r>
            <a:r>
              <a:rPr lang="en-US" dirty="0" err="1"/>
              <a:t>i</a:t>
            </a:r>
            <a:r>
              <a:rPr lang="en-US" dirty="0"/>
              <a:t>].input();</a:t>
            </a:r>
          </a:p>
          <a:p>
            <a:pPr marL="0" indent="0">
              <a:buNone/>
            </a:pPr>
            <a:r>
              <a:rPr lang="en-US" dirty="0"/>
              <a:t>    }</a:t>
            </a:r>
          </a:p>
          <a:p>
            <a:pPr marL="0" indent="0">
              <a:buNone/>
            </a:pPr>
            <a:r>
              <a:rPr lang="en-US" dirty="0" err="1"/>
              <a:t>cout</a:t>
            </a:r>
            <a:r>
              <a:rPr lang="en-US" dirty="0"/>
              <a:t> &lt;&lt; "\</a:t>
            </a:r>
            <a:r>
              <a:rPr lang="en-US" dirty="0" err="1"/>
              <a:t>nStudent</a:t>
            </a:r>
            <a:r>
              <a:rPr lang="en-US" dirty="0"/>
              <a:t> Details:\n";</a:t>
            </a:r>
          </a:p>
          <a:p>
            <a:pPr marL="0" indent="0">
              <a:buNone/>
            </a:pPr>
            <a:r>
              <a:rPr lang="en-US" dirty="0"/>
              <a:t>    for (int </a:t>
            </a:r>
            <a:r>
              <a:rPr lang="en-US" dirty="0" err="1"/>
              <a:t>i</a:t>
            </a:r>
            <a:r>
              <a:rPr lang="en-US" dirty="0"/>
              <a:t> = 0; </a:t>
            </a:r>
            <a:r>
              <a:rPr lang="en-US" dirty="0" err="1"/>
              <a:t>i</a:t>
            </a:r>
            <a:r>
              <a:rPr lang="en-US" dirty="0"/>
              <a:t> &lt; n; </a:t>
            </a:r>
            <a:r>
              <a:rPr lang="en-US" dirty="0" err="1"/>
              <a:t>i</a:t>
            </a:r>
            <a:r>
              <a:rPr lang="en-US" dirty="0"/>
              <a:t>++) {</a:t>
            </a:r>
          </a:p>
          <a:p>
            <a:pPr marL="0" indent="0">
              <a:buNone/>
            </a:pPr>
            <a:r>
              <a:rPr lang="en-US" dirty="0"/>
              <a:t>        </a:t>
            </a:r>
            <a:r>
              <a:rPr lang="en-US" dirty="0" err="1"/>
              <a:t>cout</a:t>
            </a:r>
            <a:r>
              <a:rPr lang="en-US" dirty="0"/>
              <a:t> &lt;&lt; "\</a:t>
            </a:r>
            <a:r>
              <a:rPr lang="en-US" dirty="0" err="1"/>
              <a:t>nStudent</a:t>
            </a:r>
            <a:r>
              <a:rPr lang="en-US" dirty="0"/>
              <a:t> " &lt;&lt; </a:t>
            </a:r>
            <a:r>
              <a:rPr lang="en-US" dirty="0" err="1"/>
              <a:t>i</a:t>
            </a:r>
            <a:r>
              <a:rPr lang="en-US" dirty="0"/>
              <a:t> + 1 &lt;&lt; </a:t>
            </a:r>
            <a:r>
              <a:rPr lang="en-US" dirty="0" err="1"/>
              <a:t>endl</a:t>
            </a:r>
            <a:r>
              <a:rPr lang="en-US" dirty="0"/>
              <a:t>;</a:t>
            </a:r>
          </a:p>
          <a:p>
            <a:pPr marL="0" indent="0">
              <a:buNone/>
            </a:pPr>
            <a:r>
              <a:rPr lang="en-US" dirty="0"/>
              <a:t>        s[</a:t>
            </a:r>
            <a:r>
              <a:rPr lang="en-US" dirty="0" err="1"/>
              <a:t>i</a:t>
            </a:r>
            <a:r>
              <a:rPr lang="en-US" dirty="0"/>
              <a:t>].display();</a:t>
            </a:r>
          </a:p>
          <a:p>
            <a:pPr marL="0" indent="0">
              <a:buNone/>
            </a:pPr>
            <a:r>
              <a:rPr lang="en-US" dirty="0"/>
              <a:t>    }</a:t>
            </a:r>
          </a:p>
          <a:p>
            <a:pPr marL="0" indent="0">
              <a:buNone/>
            </a:pPr>
            <a:endParaRPr lang="en-US" dirty="0"/>
          </a:p>
          <a:p>
            <a:pPr marL="0" indent="0">
              <a:buNone/>
            </a:pPr>
            <a:r>
              <a:rPr lang="en-US" dirty="0"/>
              <a:t>  delete[] s;</a:t>
            </a:r>
          </a:p>
          <a:p>
            <a:pPr marL="0" indent="0">
              <a:buNone/>
            </a:pPr>
            <a:endParaRPr lang="en-US" dirty="0"/>
          </a:p>
          <a:p>
            <a:pPr marL="0" indent="0">
              <a:buNone/>
            </a:pPr>
            <a:r>
              <a:rPr lang="en-US" dirty="0"/>
              <a:t>    return 0;</a:t>
            </a:r>
          </a:p>
          <a:p>
            <a:pPr marL="0" indent="0">
              <a:buNone/>
            </a:pPr>
            <a:r>
              <a:rPr lang="en-US" dirty="0"/>
              <a:t>}</a:t>
            </a:r>
          </a:p>
        </p:txBody>
      </p:sp>
    </p:spTree>
    <p:extLst>
      <p:ext uri="{BB962C8B-B14F-4D97-AF65-F5344CB8AC3E}">
        <p14:creationId xmlns:p14="http://schemas.microsoft.com/office/powerpoint/2010/main" val="38717303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79DB5-23F2-C2A7-96B4-BB2FD2EF9E77}"/>
              </a:ext>
            </a:extLst>
          </p:cNvPr>
          <p:cNvSpPr>
            <a:spLocks noGrp="1"/>
          </p:cNvSpPr>
          <p:nvPr>
            <p:ph type="title"/>
          </p:nvPr>
        </p:nvSpPr>
        <p:spPr/>
        <p:txBody>
          <a:bodyPr/>
          <a:lstStyle/>
          <a:p>
            <a:r>
              <a:rPr lang="en-US" dirty="0"/>
              <a:t>Exercise</a:t>
            </a:r>
            <a:br>
              <a:rPr lang="en-US" dirty="0"/>
            </a:br>
            <a:endParaRPr lang="en-US" dirty="0"/>
          </a:p>
        </p:txBody>
      </p:sp>
      <p:sp>
        <p:nvSpPr>
          <p:cNvPr id="3" name="Content Placeholder 2">
            <a:extLst>
              <a:ext uri="{FF2B5EF4-FFF2-40B4-BE49-F238E27FC236}">
                <a16:creationId xmlns:a16="http://schemas.microsoft.com/office/drawing/2014/main" id="{471ACDE0-3DF2-F050-4A30-F915E2049D23}"/>
              </a:ext>
            </a:extLst>
          </p:cNvPr>
          <p:cNvSpPr>
            <a:spLocks noGrp="1"/>
          </p:cNvSpPr>
          <p:nvPr>
            <p:ph idx="1"/>
          </p:nvPr>
        </p:nvSpPr>
        <p:spPr>
          <a:xfrm>
            <a:off x="677333" y="1294229"/>
            <a:ext cx="10534617" cy="5317586"/>
          </a:xfrm>
        </p:spPr>
        <p:txBody>
          <a:bodyPr>
            <a:normAutofit/>
          </a:bodyPr>
          <a:lstStyle/>
          <a:p>
            <a:r>
              <a:rPr lang="en-US" dirty="0"/>
              <a:t>Exercise 1: Dynamic Array of Objects (Basic)Create a class Student </a:t>
            </a:r>
            <a:r>
              <a:rPr lang="en-US" dirty="0" err="1"/>
              <a:t>with:Student</a:t>
            </a:r>
            <a:r>
              <a:rPr lang="en-US" dirty="0"/>
              <a:t> ID ,Name ,CGPA, Requirements:</a:t>
            </a:r>
          </a:p>
          <a:p>
            <a:pPr marL="0" indent="0">
              <a:buNone/>
            </a:pPr>
            <a:r>
              <a:rPr lang="en-US" dirty="0"/>
              <a:t>Take the number of students dynamically.</a:t>
            </a:r>
          </a:p>
          <a:p>
            <a:pPr marL="0" indent="0">
              <a:buNone/>
            </a:pPr>
            <a:r>
              <a:rPr lang="en-US" dirty="0"/>
              <a:t>Allocate memory using new.</a:t>
            </a:r>
          </a:p>
          <a:p>
            <a:pPr marL="0" indent="0">
              <a:buNone/>
            </a:pPr>
            <a:r>
              <a:rPr lang="en-US" dirty="0"/>
              <a:t>Input and display student information.</a:t>
            </a:r>
          </a:p>
          <a:p>
            <a:pPr marL="0" indent="0">
              <a:buNone/>
            </a:pPr>
            <a:r>
              <a:rPr lang="en-US" dirty="0"/>
              <a:t>Release memory using delete[].</a:t>
            </a:r>
          </a:p>
          <a:p>
            <a:r>
              <a:rPr lang="en-US" dirty="0"/>
              <a:t>Exercise 2: Dynamic Memory Allocation for Employee Records to Create a class Employee </a:t>
            </a:r>
            <a:r>
              <a:rPr lang="en-US" dirty="0" err="1"/>
              <a:t>with:Employee</a:t>
            </a:r>
            <a:r>
              <a:rPr lang="en-US" dirty="0"/>
              <a:t> Name, Employee ID, Salary.</a:t>
            </a:r>
          </a:p>
          <a:p>
            <a:pPr marL="0" indent="0">
              <a:buNone/>
            </a:pPr>
            <a:r>
              <a:rPr lang="en-US" dirty="0"/>
              <a:t>Requirements:</a:t>
            </a:r>
          </a:p>
          <a:p>
            <a:pPr marL="0" indent="0">
              <a:buNone/>
            </a:pPr>
            <a:r>
              <a:rPr lang="en-US" dirty="0"/>
              <a:t>Dynamically allocate memory for multiple employees.</a:t>
            </a:r>
          </a:p>
          <a:p>
            <a:pPr marL="0" indent="0">
              <a:buNone/>
            </a:pPr>
            <a:r>
              <a:rPr lang="en-US" dirty="0"/>
              <a:t>Display the employee with the highest salary.</a:t>
            </a:r>
          </a:p>
        </p:txBody>
      </p:sp>
    </p:spTree>
    <p:extLst>
      <p:ext uri="{BB962C8B-B14F-4D97-AF65-F5344CB8AC3E}">
        <p14:creationId xmlns:p14="http://schemas.microsoft.com/office/powerpoint/2010/main" val="3202890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5422" y="436099"/>
            <a:ext cx="11507372" cy="5605264"/>
          </a:xfrm>
        </p:spPr>
        <p:txBody>
          <a:bodyPr>
            <a:normAutofit fontScale="40000" lnSpcReduction="20000"/>
          </a:bodyPr>
          <a:lstStyle/>
          <a:p>
            <a:pPr marL="0" indent="0" algn="r">
              <a:buNone/>
            </a:pPr>
            <a:endParaRPr lang="en-US" sz="4800" dirty="0"/>
          </a:p>
          <a:p>
            <a:pPr>
              <a:buFont typeface="Wingdings" panose="05000000000000000000" pitchFamily="2" charset="2"/>
              <a:buChar char="Ø"/>
            </a:pPr>
            <a:r>
              <a:rPr lang="en-US" sz="4800" dirty="0"/>
              <a:t>Exercise 3: Constructor and Destructor with Dynamic Allocation.</a:t>
            </a:r>
          </a:p>
          <a:p>
            <a:pPr marL="0" indent="0">
              <a:buNone/>
            </a:pPr>
            <a:r>
              <a:rPr lang="en-US" sz="4800" dirty="0"/>
              <a:t>Create a class Book </a:t>
            </a:r>
            <a:r>
              <a:rPr lang="en-US" sz="4800" dirty="0" err="1"/>
              <a:t>with:Book</a:t>
            </a:r>
            <a:r>
              <a:rPr lang="en-US" sz="4800" dirty="0"/>
              <a:t> </a:t>
            </a:r>
            <a:r>
              <a:rPr lang="en-US" sz="4800" dirty="0" err="1"/>
              <a:t>Name,Author</a:t>
            </a:r>
            <a:r>
              <a:rPr lang="en-US" sz="4800" dirty="0"/>
              <a:t> Name, Price.</a:t>
            </a:r>
          </a:p>
          <a:p>
            <a:pPr marL="0" indent="0">
              <a:buNone/>
            </a:pPr>
            <a:r>
              <a:rPr lang="en-US" sz="4800" dirty="0"/>
              <a:t>Requirements:</a:t>
            </a:r>
          </a:p>
          <a:p>
            <a:pPr marL="0" indent="0">
              <a:buNone/>
            </a:pPr>
            <a:r>
              <a:rPr lang="en-US" sz="4800" dirty="0"/>
              <a:t>Use parameterized constructor.</a:t>
            </a:r>
          </a:p>
          <a:p>
            <a:pPr marL="0" indent="0">
              <a:buNone/>
            </a:pPr>
            <a:r>
              <a:rPr lang="en-US" sz="4800" dirty="0"/>
              <a:t>Create an array of book objects dynamically.</a:t>
            </a:r>
          </a:p>
          <a:p>
            <a:pPr marL="0" indent="0">
              <a:buNone/>
            </a:pPr>
            <a:r>
              <a:rPr lang="en-US" sz="4800" dirty="0"/>
              <a:t>Destructor should print:</a:t>
            </a:r>
          </a:p>
          <a:p>
            <a:pPr marL="0" indent="0">
              <a:buNone/>
            </a:pPr>
            <a:r>
              <a:rPr lang="en-US" sz="4800" dirty="0"/>
              <a:t>Dynamic Memory Allocation Using Pointer to Object.</a:t>
            </a:r>
          </a:p>
          <a:p>
            <a:pPr>
              <a:buFont typeface="Wingdings" panose="05000000000000000000" pitchFamily="2" charset="2"/>
              <a:buChar char="Ø"/>
            </a:pPr>
            <a:r>
              <a:rPr lang="en-US" sz="4800" dirty="0"/>
              <a:t>Exercise 4: Create a class Rectangle.</a:t>
            </a:r>
          </a:p>
          <a:p>
            <a:pPr marL="0" indent="0">
              <a:buNone/>
            </a:pPr>
            <a:r>
              <a:rPr lang="en-US" sz="4800" dirty="0"/>
              <a:t>Requirements:</a:t>
            </a:r>
          </a:p>
          <a:p>
            <a:pPr marL="0" indent="0">
              <a:buNone/>
            </a:pPr>
            <a:r>
              <a:rPr lang="en-US" sz="4800" dirty="0"/>
              <a:t>Dynamically create one object using pointer.</a:t>
            </a:r>
          </a:p>
          <a:p>
            <a:pPr marL="0" indent="0">
              <a:buNone/>
            </a:pPr>
            <a:r>
              <a:rPr lang="en-US" sz="4800" dirty="0"/>
              <a:t>Input length and width.</a:t>
            </a:r>
          </a:p>
          <a:p>
            <a:pPr marL="0" indent="0">
              <a:buNone/>
            </a:pPr>
            <a:r>
              <a:rPr lang="en-US" sz="4800" dirty="0"/>
              <a:t>Calculate area.</a:t>
            </a:r>
          </a:p>
          <a:p>
            <a:pPr marL="0" indent="0">
              <a:buNone/>
            </a:pPr>
            <a:r>
              <a:rPr lang="en-US" sz="4800" dirty="0" err="1"/>
              <a:t>Example:Rectangle</a:t>
            </a:r>
            <a:r>
              <a:rPr lang="en-US" sz="4800" dirty="0"/>
              <a:t> *r = new Rectangle;</a:t>
            </a:r>
          </a:p>
          <a:p>
            <a:pPr marL="0" indent="0" algn="r">
              <a:buNone/>
            </a:pPr>
            <a:endParaRPr lang="en-US" sz="4800" dirty="0"/>
          </a:p>
          <a:p>
            <a:pPr marL="0" indent="0" algn="r">
              <a:buNone/>
            </a:pPr>
            <a:endParaRPr lang="en-US" sz="4800" dirty="0"/>
          </a:p>
        </p:txBody>
      </p:sp>
    </p:spTree>
    <p:extLst>
      <p:ext uri="{BB962C8B-B14F-4D97-AF65-F5344CB8AC3E}">
        <p14:creationId xmlns:p14="http://schemas.microsoft.com/office/powerpoint/2010/main" val="12612183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101</TotalTime>
  <Words>1690</Words>
  <Application>Microsoft Office PowerPoint</Application>
  <PresentationFormat>Widescreen</PresentationFormat>
  <Paragraphs>242</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Trebuchet MS</vt:lpstr>
      <vt:lpstr>Wingdings</vt:lpstr>
      <vt:lpstr>Wingdings 3</vt:lpstr>
      <vt:lpstr>Facet</vt:lpstr>
      <vt:lpstr>Dynamic memory Allocation</vt:lpstr>
      <vt:lpstr>Objects Memory Allocation in C++</vt:lpstr>
      <vt:lpstr>C++ Memory Management </vt:lpstr>
      <vt:lpstr>C++ new Operator </vt:lpstr>
      <vt:lpstr>PowerPoint Presentation</vt:lpstr>
      <vt:lpstr>delete Operator </vt:lpstr>
      <vt:lpstr>PowerPoint Presentation</vt:lpstr>
      <vt:lpstr>Example 1: C++ Dynamic Memory Allocation </vt:lpstr>
      <vt:lpstr>PowerPoint Presentation</vt:lpstr>
      <vt:lpstr>Example 2: C++ new and delete Operator for Arrays </vt:lpstr>
      <vt:lpstr>PowerPoint Presentation</vt:lpstr>
      <vt:lpstr>PowerPoint Presentation</vt:lpstr>
      <vt:lpstr>Example 3: C++ new and delete Operator for Objects</vt:lpstr>
      <vt:lpstr>PowerPoint Presentation</vt:lpstr>
      <vt:lpstr>PowerPoint Presentation</vt:lpstr>
      <vt:lpstr>Exercise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memory Allocation</dc:title>
  <dc:creator>Windows User</dc:creator>
  <cp:lastModifiedBy>Mousumi Hasan Mukti</cp:lastModifiedBy>
  <cp:revision>18</cp:revision>
  <dcterms:created xsi:type="dcterms:W3CDTF">2024-01-23T08:42:10Z</dcterms:created>
  <dcterms:modified xsi:type="dcterms:W3CDTF">2026-06-29T03:06:55Z</dcterms:modified>
</cp:coreProperties>
</file>