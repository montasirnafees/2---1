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70" r:id="rId3"/>
    <p:sldId id="261" r:id="rId4"/>
    <p:sldId id="259" r:id="rId5"/>
    <p:sldId id="260" r:id="rId6"/>
    <p:sldId id="271" r:id="rId7"/>
    <p:sldId id="272" r:id="rId8"/>
    <p:sldId id="273" r:id="rId9"/>
    <p:sldId id="276" r:id="rId10"/>
    <p:sldId id="277" r:id="rId11"/>
    <p:sldId id="262" r:id="rId12"/>
    <p:sldId id="269" r:id="rId13"/>
    <p:sldId id="263" r:id="rId14"/>
    <p:sldId id="279" r:id="rId15"/>
    <p:sldId id="264" r:id="rId16"/>
    <p:sldId id="278" r:id="rId17"/>
    <p:sldId id="265" r:id="rId18"/>
    <p:sldId id="268" r:id="rId19"/>
    <p:sldId id="275" r:id="rId20"/>
    <p:sldId id="266" r:id="rId21"/>
    <p:sldId id="267" r:id="rId22"/>
    <p:sldId id="286" r:id="rId23"/>
    <p:sldId id="287" r:id="rId24"/>
    <p:sldId id="288" r:id="rId25"/>
    <p:sldId id="289" r:id="rId26"/>
    <p:sldId id="290" r:id="rId27"/>
    <p:sldId id="291" r:id="rId28"/>
    <p:sldId id="280" r:id="rId29"/>
    <p:sldId id="281" r:id="rId30"/>
    <p:sldId id="282" r:id="rId31"/>
    <p:sldId id="283" r:id="rId32"/>
    <p:sldId id="284" r:id="rId33"/>
    <p:sldId id="285" r:id="rId34"/>
    <p:sldId id="27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364" autoAdjust="0"/>
  </p:normalViewPr>
  <p:slideViewPr>
    <p:cSldViewPr snapToGrid="0">
      <p:cViewPr varScale="1">
        <p:scale>
          <a:sx n="104" d="100"/>
          <a:sy n="104" d="100"/>
        </p:scale>
        <p:origin x="138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573555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7545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70009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071054-6487-4AA5-9CCB-4905172CE377}" type="datetimeFigureOut">
              <a:rPr lang="en-US" smtClean="0"/>
              <a:t>28-Oct-24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131213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071054-6487-4AA5-9CCB-4905172CE377}" type="datetimeFigureOut">
              <a:rPr lang="en-US" smtClean="0"/>
              <a:t>28-Oct-24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028700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071054-6487-4AA5-9CCB-4905172CE377}" type="datetimeFigureOut">
              <a:rPr lang="en-US" smtClean="0"/>
              <a:t>28-Oct-24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810935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071054-6487-4AA5-9CCB-4905172CE377}" type="datetimeFigureOut">
              <a:rPr lang="en-US" smtClean="0"/>
              <a:t>28-Oct-24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81602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071054-6487-4AA5-9CCB-4905172CE377}" type="datetimeFigureOut">
              <a:rPr lang="en-US" smtClean="0"/>
              <a:t>28-Oct-24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4062593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4071054-6487-4AA5-9CCB-4905172CE377}" type="datetimeFigureOut">
              <a:rPr lang="en-US" smtClean="0"/>
              <a:t>28-Oct-24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191627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51323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45391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2478987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8733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316799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1672887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71054-6487-4AA5-9CCB-4905172CE377}" type="datetimeFigureOut">
              <a:rPr lang="en-US" smtClean="0"/>
              <a:t>28-Oct-24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03946-AD06-4E58-A503-07AD30A1669A}" type="slidenum">
              <a:rPr lang="en-US" smtClean="0"/>
              <a:t>‹#›</a:t>
            </a:fld>
            <a:endParaRPr lang="en-US"/>
          </a:p>
        </p:txBody>
      </p:sp>
    </p:spTree>
    <p:extLst>
      <p:ext uri="{BB962C8B-B14F-4D97-AF65-F5344CB8AC3E}">
        <p14:creationId xmlns:p14="http://schemas.microsoft.com/office/powerpoint/2010/main" val="653772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4071054-6487-4AA5-9CCB-4905172CE377}" type="datetimeFigureOut">
              <a:rPr lang="en-US" smtClean="0"/>
              <a:t>28-Oct-24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3B03946-AD06-4E58-A503-07AD30A1669A}" type="slidenum">
              <a:rPr lang="en-US" smtClean="0"/>
              <a:t>‹#›</a:t>
            </a:fld>
            <a:endParaRPr lang="en-US"/>
          </a:p>
        </p:txBody>
      </p:sp>
    </p:spTree>
    <p:extLst>
      <p:ext uri="{BB962C8B-B14F-4D97-AF65-F5344CB8AC3E}">
        <p14:creationId xmlns:p14="http://schemas.microsoft.com/office/powerpoint/2010/main" val="172931361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geeksforgeeks.org/polymorphism-in-c/"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virtual-destructor/"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Inheritance in C++</a:t>
            </a:r>
          </a:p>
        </p:txBody>
      </p:sp>
    </p:spTree>
    <p:extLst>
      <p:ext uri="{BB962C8B-B14F-4D97-AF65-F5344CB8AC3E}">
        <p14:creationId xmlns:p14="http://schemas.microsoft.com/office/powerpoint/2010/main" val="316004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Insect Taxonomy</a:t>
            </a:r>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2</a:t>
            </a:fld>
            <a:endParaRPr lang="en-US"/>
          </a:p>
        </p:txBody>
      </p:sp>
      <p:pic>
        <p:nvPicPr>
          <p:cNvPr id="6" name="Picture 5" descr="1501sowc cop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351" y="1542256"/>
            <a:ext cx="7268071" cy="424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370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79"/>
          <p:cNvSpPr>
            <a:spLocks noChangeArrowheads="1"/>
          </p:cNvSpPr>
          <p:nvPr/>
        </p:nvSpPr>
        <p:spPr bwMode="auto">
          <a:xfrm>
            <a:off x="1981200" y="1219201"/>
            <a:ext cx="80772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IN" altLang="en-US" sz="2400" dirty="0">
                <a:solidFill>
                  <a:schemeClr val="tx1"/>
                </a:solidFill>
              </a:rPr>
              <a:t>One of the most important concepts in object-oriented programming is that of inheritance. Inheritance allows us to define a class in terms of another class, which makes it easier to create and maintain an application. This also provides an opportunity to reuse the code functionality and fast implementation time.</a:t>
            </a:r>
            <a:endParaRPr lang="en-US" altLang="en-US" dirty="0">
              <a:solidFill>
                <a:schemeClr val="tx1"/>
              </a:solidFill>
            </a:endParaRPr>
          </a:p>
          <a:p>
            <a:pPr algn="just" eaLnBrk="1" hangingPunct="1"/>
            <a:endParaRPr lang="en-IN" altLang="en-US" sz="2400" dirty="0">
              <a:solidFill>
                <a:schemeClr val="tx1"/>
              </a:solidFill>
            </a:endParaRPr>
          </a:p>
          <a:p>
            <a:pPr algn="just" eaLnBrk="1" hangingPunct="1"/>
            <a:r>
              <a:rPr lang="en-IN" altLang="en-US" sz="2400" dirty="0">
                <a:solidFill>
                  <a:schemeClr val="tx1"/>
                </a:solidFill>
              </a:rPr>
              <a:t>When creating a class, instead of writing completely new data members and member functions, the programmer can designate that the new class should inherit the members of an existing class. This existing class is called the </a:t>
            </a:r>
            <a:r>
              <a:rPr lang="en-IN" altLang="en-US" sz="2400" b="1" dirty="0">
                <a:solidFill>
                  <a:schemeClr val="tx1"/>
                </a:solidFill>
              </a:rPr>
              <a:t>base</a:t>
            </a:r>
            <a:r>
              <a:rPr lang="en-IN" altLang="en-US" sz="2400" dirty="0">
                <a:solidFill>
                  <a:schemeClr val="tx1"/>
                </a:solidFill>
              </a:rPr>
              <a:t> class, and the new class is referred to as the </a:t>
            </a:r>
            <a:r>
              <a:rPr lang="en-IN" altLang="en-US" sz="2400" b="1" dirty="0">
                <a:solidFill>
                  <a:schemeClr val="tx1"/>
                </a:solidFill>
              </a:rPr>
              <a:t>derived</a:t>
            </a:r>
            <a:r>
              <a:rPr lang="en-IN" altLang="en-US" sz="2400" dirty="0">
                <a:solidFill>
                  <a:schemeClr val="tx1"/>
                </a:solidFill>
              </a:rPr>
              <a:t> class.</a:t>
            </a:r>
            <a:endParaRPr lang="en-US" altLang="en-US" dirty="0">
              <a:solidFill>
                <a:schemeClr val="tx1"/>
              </a:solidFill>
            </a:endParaRPr>
          </a:p>
        </p:txBody>
      </p:sp>
      <p:sp>
        <p:nvSpPr>
          <p:cNvPr id="11267" name="Rectangle 181"/>
          <p:cNvSpPr>
            <a:spLocks noChangeArrowheads="1"/>
          </p:cNvSpPr>
          <p:nvPr/>
        </p:nvSpPr>
        <p:spPr bwMode="auto">
          <a:xfrm>
            <a:off x="4114800" y="228601"/>
            <a:ext cx="3441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u="sng" dirty="0">
                <a:solidFill>
                  <a:schemeClr val="accent5">
                    <a:lumMod val="75000"/>
                  </a:schemeClr>
                </a:solidFill>
                <a:latin typeface="Times New Roman" panose="02020603050405020304" pitchFamily="18" charset="0"/>
                <a:cs typeface="Times New Roman" panose="02020603050405020304" pitchFamily="18" charset="0"/>
              </a:rPr>
              <a:t>C++ Inheritance</a:t>
            </a:r>
            <a:endParaRPr lang="en-US" altLang="en-US" u="sng"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27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3" name="Rectangle 17"/>
          <p:cNvSpPr>
            <a:spLocks noGrp="1" noChangeArrowheads="1"/>
          </p:cNvSpPr>
          <p:nvPr>
            <p:ph type="title"/>
          </p:nvPr>
        </p:nvSpPr>
        <p:spPr/>
        <p:txBody>
          <a:bodyPr/>
          <a:lstStyle/>
          <a:p>
            <a:r>
              <a:rPr lang="en-US" b="1" u="sng" dirty="0">
                <a:ea typeface="MS Mincho" charset="-128"/>
              </a:rPr>
              <a:t>Inheritance </a:t>
            </a:r>
          </a:p>
        </p:txBody>
      </p:sp>
      <p:sp>
        <p:nvSpPr>
          <p:cNvPr id="4114" name="Rectangle 18"/>
          <p:cNvSpPr>
            <a:spLocks noGrp="1" noChangeArrowheads="1"/>
          </p:cNvSpPr>
          <p:nvPr>
            <p:ph idx="1"/>
          </p:nvPr>
        </p:nvSpPr>
        <p:spPr/>
        <p:txBody>
          <a:bodyPr/>
          <a:lstStyle/>
          <a:p>
            <a:r>
              <a:rPr lang="en-US" dirty="0">
                <a:ea typeface="MS Mincho" charset="-128"/>
              </a:rPr>
              <a:t>The language mechanism by which one class acquires the properties (data and operations) of another class</a:t>
            </a:r>
            <a:r>
              <a:rPr lang="en-US" dirty="0"/>
              <a:t> </a:t>
            </a:r>
          </a:p>
          <a:p>
            <a:r>
              <a:rPr lang="en-US" u="sng" dirty="0">
                <a:ea typeface="MS Mincho" charset="-128"/>
              </a:rPr>
              <a:t>Base Class (or superclass</a:t>
            </a:r>
            <a:r>
              <a:rPr lang="en-US" dirty="0">
                <a:ea typeface="MS Mincho" charset="-128"/>
              </a:rPr>
              <a:t>): the class being inherited from</a:t>
            </a:r>
            <a:endParaRPr lang="en-US" dirty="0">
              <a:latin typeface="Courier New" panose="02070309020205020404" pitchFamily="49" charset="0"/>
              <a:cs typeface="Times New Roman" panose="02020603050405020304" pitchFamily="18" charset="0"/>
            </a:endParaRPr>
          </a:p>
          <a:p>
            <a:r>
              <a:rPr lang="en-US" u="sng" dirty="0">
                <a:ea typeface="MS Mincho" charset="-128"/>
              </a:rPr>
              <a:t>Derived Class (or subclass</a:t>
            </a:r>
            <a:r>
              <a:rPr lang="en-US" dirty="0">
                <a:ea typeface="MS Mincho" charset="-128"/>
              </a:rPr>
              <a:t>): the class that inherits</a:t>
            </a:r>
            <a:endParaRPr lang="en-US" dirty="0"/>
          </a:p>
        </p:txBody>
      </p:sp>
    </p:spTree>
    <p:extLst>
      <p:ext uri="{BB962C8B-B14F-4D97-AF65-F5344CB8AC3E}">
        <p14:creationId xmlns:p14="http://schemas.microsoft.com/office/powerpoint/2010/main" val="717259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ea typeface="MS Mincho" charset="-128"/>
              </a:rPr>
              <a:t>Advantages of inheritance</a:t>
            </a:r>
            <a:endParaRPr lang="en-US">
              <a:latin typeface="Courier New" panose="02070309020205020404" pitchFamily="49" charset="0"/>
              <a:cs typeface="Times New Roman" panose="02020603050405020304" pitchFamily="18" charset="0"/>
            </a:endParaRPr>
          </a:p>
        </p:txBody>
      </p:sp>
      <p:sp>
        <p:nvSpPr>
          <p:cNvPr id="6147" name="Rectangle 3"/>
          <p:cNvSpPr>
            <a:spLocks noGrp="1" noChangeArrowheads="1"/>
          </p:cNvSpPr>
          <p:nvPr>
            <p:ph idx="1"/>
          </p:nvPr>
        </p:nvSpPr>
        <p:spPr>
          <a:xfrm>
            <a:off x="2133600" y="1752600"/>
            <a:ext cx="7772400" cy="4419600"/>
          </a:xfrm>
        </p:spPr>
        <p:txBody>
          <a:bodyPr/>
          <a:lstStyle/>
          <a:p>
            <a:pPr>
              <a:lnSpc>
                <a:spcPct val="90000"/>
              </a:lnSpc>
            </a:pPr>
            <a:r>
              <a:rPr lang="en-US" dirty="0">
                <a:ea typeface="MS Mincho" charset="-128"/>
              </a:rPr>
              <a:t>When a class inherits from another class, there are </a:t>
            </a:r>
            <a:r>
              <a:rPr lang="en-US" dirty="0">
                <a:effectLst>
                  <a:outerShdw blurRad="38100" dist="38100" dir="2700000" algn="tl">
                    <a:srgbClr val="000000"/>
                  </a:outerShdw>
                </a:effectLst>
                <a:ea typeface="MS Mincho" charset="-128"/>
              </a:rPr>
              <a:t>three</a:t>
            </a:r>
            <a:r>
              <a:rPr lang="en-US" dirty="0">
                <a:ea typeface="MS Mincho" charset="-128"/>
              </a:rPr>
              <a:t> benefits:</a:t>
            </a:r>
          </a:p>
          <a:p>
            <a:pPr>
              <a:lnSpc>
                <a:spcPct val="90000"/>
              </a:lnSpc>
            </a:pPr>
            <a:r>
              <a:rPr lang="en-US" dirty="0">
                <a:ea typeface="MS Mincho" charset="-128"/>
              </a:rPr>
              <a:t>(1) You can</a:t>
            </a:r>
            <a:r>
              <a:rPr lang="en-US" dirty="0">
                <a:solidFill>
                  <a:srgbClr val="FF0000"/>
                </a:solidFill>
                <a:ea typeface="MS Mincho" charset="-128"/>
              </a:rPr>
              <a:t> </a:t>
            </a:r>
            <a:r>
              <a:rPr lang="en-US" i="1" u="sng" dirty="0">
                <a:solidFill>
                  <a:srgbClr val="FF0000"/>
                </a:solidFill>
                <a:ea typeface="MS Mincho" charset="-128"/>
              </a:rPr>
              <a:t>reuse</a:t>
            </a:r>
            <a:r>
              <a:rPr lang="en-US" dirty="0">
                <a:solidFill>
                  <a:srgbClr val="FF0000"/>
                </a:solidFill>
                <a:ea typeface="MS Mincho" charset="-128"/>
              </a:rPr>
              <a:t> </a:t>
            </a:r>
            <a:r>
              <a:rPr lang="en-US" dirty="0">
                <a:ea typeface="MS Mincho" charset="-128"/>
              </a:rPr>
              <a:t>the methods and data of the existing class</a:t>
            </a:r>
            <a:endParaRPr lang="en-US" dirty="0">
              <a:latin typeface="Courier New" panose="02070309020205020404" pitchFamily="49" charset="0"/>
              <a:cs typeface="Times New Roman" panose="02020603050405020304" pitchFamily="18" charset="0"/>
            </a:endParaRPr>
          </a:p>
          <a:p>
            <a:pPr>
              <a:lnSpc>
                <a:spcPct val="90000"/>
              </a:lnSpc>
              <a:buFontTx/>
              <a:buNone/>
            </a:pPr>
            <a:r>
              <a:rPr lang="en-US" dirty="0">
                <a:ea typeface="MS Mincho" charset="-128"/>
              </a:rPr>
              <a:t>	(2) You can </a:t>
            </a:r>
            <a:r>
              <a:rPr lang="en-US" i="1" u="sng" dirty="0">
                <a:solidFill>
                  <a:srgbClr val="FF0000"/>
                </a:solidFill>
                <a:ea typeface="MS Mincho" charset="-128"/>
              </a:rPr>
              <a:t>extend</a:t>
            </a:r>
            <a:r>
              <a:rPr lang="en-US" dirty="0">
                <a:solidFill>
                  <a:srgbClr val="FF0000"/>
                </a:solidFill>
                <a:ea typeface="MS Mincho" charset="-128"/>
              </a:rPr>
              <a:t> </a:t>
            </a:r>
            <a:r>
              <a:rPr lang="en-US" dirty="0">
                <a:ea typeface="MS Mincho" charset="-128"/>
              </a:rPr>
              <a:t>the existing class by adding new data and new methods</a:t>
            </a:r>
            <a:endParaRPr lang="en-US" dirty="0">
              <a:latin typeface="Courier New" panose="02070309020205020404" pitchFamily="49" charset="0"/>
              <a:cs typeface="Times New Roman" panose="02020603050405020304" pitchFamily="18" charset="0"/>
            </a:endParaRPr>
          </a:p>
          <a:p>
            <a:pPr>
              <a:lnSpc>
                <a:spcPct val="90000"/>
              </a:lnSpc>
              <a:buFontTx/>
              <a:buNone/>
            </a:pPr>
            <a:r>
              <a:rPr lang="en-US" dirty="0">
                <a:ea typeface="MS Mincho" charset="-128"/>
              </a:rPr>
              <a:t>	(3) You can </a:t>
            </a:r>
            <a:r>
              <a:rPr lang="en-US" i="1" u="sng" dirty="0">
                <a:solidFill>
                  <a:srgbClr val="FF0000"/>
                </a:solidFill>
                <a:ea typeface="MS Mincho" charset="-128"/>
              </a:rPr>
              <a:t>modify</a:t>
            </a:r>
            <a:r>
              <a:rPr lang="en-US" dirty="0">
                <a:ea typeface="MS Mincho" charset="-128"/>
              </a:rPr>
              <a:t> the existing class by overloading its methods with your own implementations</a:t>
            </a:r>
            <a:r>
              <a:rPr lang="en-US" dirty="0"/>
              <a:t> </a:t>
            </a:r>
          </a:p>
        </p:txBody>
      </p:sp>
    </p:spTree>
    <p:extLst>
      <p:ext uri="{BB962C8B-B14F-4D97-AF65-F5344CB8AC3E}">
        <p14:creationId xmlns:p14="http://schemas.microsoft.com/office/powerpoint/2010/main" val="3849784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"is a" Relationship</a:t>
            </a:r>
            <a:endParaRPr lang="en-US" dirty="0"/>
          </a:p>
        </p:txBody>
      </p:sp>
      <p:sp>
        <p:nvSpPr>
          <p:cNvPr id="3" name="Content Placeholder 2"/>
          <p:cNvSpPr>
            <a:spLocks noGrp="1"/>
          </p:cNvSpPr>
          <p:nvPr>
            <p:ph idx="1"/>
          </p:nvPr>
        </p:nvSpPr>
        <p:spPr/>
        <p:txBody>
          <a:bodyPr/>
          <a:lstStyle/>
          <a:p>
            <a:pPr lvl="0" fontAlgn="base">
              <a:spcAft>
                <a:spcPct val="0"/>
              </a:spcAft>
              <a:buFontTx/>
              <a:buChar char="•"/>
            </a:pPr>
            <a:r>
              <a:rPr lang="en-US" altLang="en-US" kern="0" dirty="0">
                <a:solidFill>
                  <a:srgbClr val="000000"/>
                </a:solidFill>
                <a:latin typeface="Arial"/>
                <a:cs typeface="Arial"/>
              </a:rPr>
              <a:t>Inheritance establishes an "is a" relationship between classes.</a:t>
            </a:r>
          </a:p>
          <a:p>
            <a:pPr lvl="1" fontAlgn="base">
              <a:spcAft>
                <a:spcPct val="0"/>
              </a:spcAft>
              <a:buFontTx/>
              <a:buChar char="–"/>
            </a:pPr>
            <a:r>
              <a:rPr lang="en-US" altLang="en-US" kern="0" dirty="0">
                <a:solidFill>
                  <a:srgbClr val="000000"/>
                </a:solidFill>
                <a:latin typeface="Arial"/>
                <a:cs typeface="Arial"/>
              </a:rPr>
              <a:t>A poodle is a dog</a:t>
            </a:r>
          </a:p>
          <a:p>
            <a:pPr lvl="1" fontAlgn="base">
              <a:spcAft>
                <a:spcPct val="0"/>
              </a:spcAft>
              <a:buFontTx/>
              <a:buChar char="–"/>
            </a:pPr>
            <a:r>
              <a:rPr lang="en-US" altLang="en-US" kern="0" dirty="0">
                <a:solidFill>
                  <a:srgbClr val="000000"/>
                </a:solidFill>
                <a:latin typeface="Arial"/>
                <a:cs typeface="Arial"/>
              </a:rPr>
              <a:t>A car is a vehicle</a:t>
            </a:r>
          </a:p>
          <a:p>
            <a:pPr lvl="1" fontAlgn="base">
              <a:spcAft>
                <a:spcPct val="0"/>
              </a:spcAft>
              <a:buFontTx/>
              <a:buChar char="–"/>
            </a:pPr>
            <a:r>
              <a:rPr lang="en-US" altLang="en-US" kern="0" dirty="0">
                <a:solidFill>
                  <a:srgbClr val="000000"/>
                </a:solidFill>
                <a:latin typeface="Arial"/>
                <a:cs typeface="Arial"/>
              </a:rPr>
              <a:t>A flower is a plant</a:t>
            </a:r>
          </a:p>
          <a:p>
            <a:pPr lvl="1" fontAlgn="base">
              <a:spcAft>
                <a:spcPct val="0"/>
              </a:spcAft>
              <a:buFontTx/>
              <a:buChar char="–"/>
            </a:pPr>
            <a:r>
              <a:rPr lang="en-US" altLang="en-US" kern="0" dirty="0">
                <a:solidFill>
                  <a:srgbClr val="000000"/>
                </a:solidFill>
                <a:latin typeface="Arial"/>
                <a:cs typeface="Arial"/>
              </a:rPr>
              <a:t>A football player is an athlete</a:t>
            </a:r>
          </a:p>
          <a:p>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6</a:t>
            </a:fld>
            <a:endParaRPr lang="en-US"/>
          </a:p>
        </p:txBody>
      </p:sp>
    </p:spTree>
    <p:extLst>
      <p:ext uri="{BB962C8B-B14F-4D97-AF65-F5344CB8AC3E}">
        <p14:creationId xmlns:p14="http://schemas.microsoft.com/office/powerpoint/2010/main" val="2570277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Inheritance – Terminology and Notation in C++</a:t>
            </a:r>
            <a:endParaRPr lang="en-US" dirty="0"/>
          </a:p>
        </p:txBody>
      </p:sp>
      <p:sp>
        <p:nvSpPr>
          <p:cNvPr id="3" name="Content Placeholder 2"/>
          <p:cNvSpPr>
            <a:spLocks noGrp="1"/>
          </p:cNvSpPr>
          <p:nvPr>
            <p:ph idx="1"/>
          </p:nvPr>
        </p:nvSpPr>
        <p:spPr>
          <a:xfrm>
            <a:off x="1981200" y="1600200"/>
            <a:ext cx="8229600" cy="4648200"/>
          </a:xfrm>
        </p:spPr>
        <p:txBody>
          <a:bodyPr>
            <a:normAutofit/>
          </a:bodyPr>
          <a:lstStyle/>
          <a:p>
            <a:pPr>
              <a:lnSpc>
                <a:spcPct val="85000"/>
              </a:lnSpc>
            </a:pPr>
            <a:r>
              <a:rPr lang="en-US" altLang="en-US" u="sng" dirty="0"/>
              <a:t>Base</a:t>
            </a:r>
            <a:r>
              <a:rPr lang="en-US" altLang="en-US" dirty="0"/>
              <a:t> class (or parent) – inherited from</a:t>
            </a:r>
          </a:p>
          <a:p>
            <a:pPr>
              <a:lnSpc>
                <a:spcPct val="85000"/>
              </a:lnSpc>
            </a:pPr>
            <a:r>
              <a:rPr lang="en-US" altLang="en-US" u="sng" dirty="0"/>
              <a:t>Derived</a:t>
            </a:r>
            <a:r>
              <a:rPr lang="en-US" altLang="en-US" dirty="0"/>
              <a:t> class (or child) – inherits from the base class</a:t>
            </a:r>
          </a:p>
          <a:p>
            <a:pPr>
              <a:lnSpc>
                <a:spcPct val="85000"/>
              </a:lnSpc>
            </a:pPr>
            <a:r>
              <a:rPr lang="en-US" altLang="en-US" dirty="0"/>
              <a:t>Notation:</a:t>
            </a:r>
          </a:p>
          <a:p>
            <a:pPr lvl="1">
              <a:buFontTx/>
              <a:buNone/>
            </a:pPr>
            <a:r>
              <a:rPr lang="en-US" altLang="en-US" dirty="0">
                <a:latin typeface="Courier New" pitchFamily="112" charset="0"/>
              </a:rPr>
              <a:t>	class Student 	      // base class</a:t>
            </a:r>
          </a:p>
          <a:p>
            <a:pPr lvl="1">
              <a:buFontTx/>
              <a:buNone/>
            </a:pPr>
            <a:r>
              <a:rPr lang="en-US" altLang="en-US" dirty="0">
                <a:latin typeface="Courier New" pitchFamily="112" charset="0"/>
              </a:rPr>
              <a:t>	{</a:t>
            </a:r>
          </a:p>
          <a:p>
            <a:pPr lvl="1">
              <a:buFontTx/>
              <a:buNone/>
            </a:pPr>
            <a:r>
              <a:rPr lang="en-US" altLang="en-US" dirty="0">
                <a:latin typeface="Courier New" pitchFamily="112" charset="0"/>
              </a:rPr>
              <a:t>		. . .</a:t>
            </a:r>
          </a:p>
          <a:p>
            <a:pPr lvl="1">
              <a:buFontTx/>
              <a:buNone/>
            </a:pPr>
            <a:r>
              <a:rPr lang="en-US" altLang="en-US" dirty="0">
                <a:latin typeface="Courier New" pitchFamily="112" charset="0"/>
              </a:rPr>
              <a:t>	};</a:t>
            </a:r>
          </a:p>
          <a:p>
            <a:pPr lvl="1">
              <a:buFontTx/>
              <a:buNone/>
            </a:pPr>
            <a:r>
              <a:rPr lang="en-US" altLang="en-US" dirty="0">
                <a:latin typeface="Courier New" pitchFamily="112" charset="0"/>
              </a:rPr>
              <a:t>	class </a:t>
            </a:r>
            <a:r>
              <a:rPr lang="en-US" altLang="en-US" dirty="0" err="1">
                <a:latin typeface="Courier New" pitchFamily="112" charset="0"/>
              </a:rPr>
              <a:t>UnderGrad</a:t>
            </a:r>
            <a:r>
              <a:rPr lang="en-US" altLang="en-US" dirty="0">
                <a:latin typeface="Courier New" pitchFamily="112" charset="0"/>
              </a:rPr>
              <a:t> : public student </a:t>
            </a:r>
          </a:p>
          <a:p>
            <a:pPr lvl="1">
              <a:buFontTx/>
              <a:buNone/>
            </a:pPr>
            <a:r>
              <a:rPr lang="en-US" altLang="en-US" dirty="0">
                <a:latin typeface="Courier New" pitchFamily="112" charset="0"/>
              </a:rPr>
              <a:t>	{					// derived class</a:t>
            </a:r>
          </a:p>
          <a:p>
            <a:pPr lvl="1">
              <a:buFontTx/>
              <a:buNone/>
            </a:pPr>
            <a:r>
              <a:rPr lang="en-US" altLang="en-US" dirty="0">
                <a:latin typeface="Courier New" pitchFamily="112" charset="0"/>
              </a:rPr>
              <a:t>		. . .</a:t>
            </a:r>
          </a:p>
          <a:p>
            <a:pPr lvl="1">
              <a:buFontTx/>
              <a:buNone/>
            </a:pPr>
            <a:r>
              <a:rPr lang="en-US" altLang="en-US" dirty="0">
                <a:latin typeface="Courier New" pitchFamily="112" charset="0"/>
              </a:rPr>
              <a:t>	};</a:t>
            </a:r>
          </a:p>
          <a:p>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t>7</a:t>
            </a:fld>
            <a:endParaRPr lang="en-US"/>
          </a:p>
        </p:txBody>
      </p:sp>
    </p:spTree>
    <p:extLst>
      <p:ext uri="{BB962C8B-B14F-4D97-AF65-F5344CB8AC3E}">
        <p14:creationId xmlns:p14="http://schemas.microsoft.com/office/powerpoint/2010/main" val="1890194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Back to the ‘is a’ Relationship</a:t>
            </a:r>
            <a:endParaRPr lang="en-US" dirty="0"/>
          </a:p>
        </p:txBody>
      </p:sp>
      <p:sp>
        <p:nvSpPr>
          <p:cNvPr id="3" name="Content Placeholder 2"/>
          <p:cNvSpPr>
            <a:spLocks noGrp="1"/>
          </p:cNvSpPr>
          <p:nvPr>
            <p:ph idx="1"/>
          </p:nvPr>
        </p:nvSpPr>
        <p:spPr/>
        <p:txBody>
          <a:bodyPr>
            <a:normAutofit/>
          </a:bodyPr>
          <a:lstStyle/>
          <a:p>
            <a:pPr>
              <a:lnSpc>
                <a:spcPct val="90000"/>
              </a:lnSpc>
              <a:spcBef>
                <a:spcPct val="50000"/>
              </a:spcBef>
            </a:pPr>
            <a:r>
              <a:rPr lang="en-US" altLang="en-US" dirty="0"/>
              <a:t>An object of a derived class 'is a(n)' object of the base class</a:t>
            </a:r>
          </a:p>
          <a:p>
            <a:pPr>
              <a:lnSpc>
                <a:spcPct val="90000"/>
              </a:lnSpc>
              <a:spcBef>
                <a:spcPct val="50000"/>
              </a:spcBef>
            </a:pPr>
            <a:r>
              <a:rPr lang="en-US" altLang="en-US" dirty="0"/>
              <a:t>Example: </a:t>
            </a:r>
          </a:p>
          <a:p>
            <a:pPr lvl="1">
              <a:lnSpc>
                <a:spcPct val="90000"/>
              </a:lnSpc>
              <a:spcBef>
                <a:spcPct val="50000"/>
              </a:spcBef>
            </a:pPr>
            <a:r>
              <a:rPr lang="en-US" altLang="en-US" dirty="0"/>
              <a:t>an </a:t>
            </a:r>
            <a:r>
              <a:rPr lang="en-US" altLang="en-US" dirty="0" err="1">
                <a:latin typeface="Courier New" pitchFamily="112" charset="0"/>
              </a:rPr>
              <a:t>UnderGrad</a:t>
            </a:r>
            <a:r>
              <a:rPr lang="en-US" altLang="en-US" dirty="0"/>
              <a:t> is a </a:t>
            </a:r>
            <a:r>
              <a:rPr lang="en-US" altLang="en-US" dirty="0">
                <a:latin typeface="Courier New" pitchFamily="112" charset="0"/>
              </a:rPr>
              <a:t>Student</a:t>
            </a:r>
          </a:p>
          <a:p>
            <a:pPr lvl="1">
              <a:lnSpc>
                <a:spcPct val="90000"/>
              </a:lnSpc>
              <a:spcBef>
                <a:spcPct val="50000"/>
              </a:spcBef>
            </a:pPr>
            <a:r>
              <a:rPr lang="en-US" altLang="en-US" dirty="0"/>
              <a:t>a </a:t>
            </a:r>
            <a:r>
              <a:rPr lang="en-US" altLang="en-US" dirty="0">
                <a:latin typeface="Courier New" pitchFamily="112" charset="0"/>
              </a:rPr>
              <a:t>Mammal</a:t>
            </a:r>
            <a:r>
              <a:rPr lang="en-US" altLang="en-US" dirty="0"/>
              <a:t> is an </a:t>
            </a:r>
            <a:r>
              <a:rPr lang="en-US" altLang="en-US" dirty="0">
                <a:latin typeface="Courier New" pitchFamily="112" charset="0"/>
              </a:rPr>
              <a:t>Animal</a:t>
            </a:r>
          </a:p>
          <a:p>
            <a:pPr>
              <a:lnSpc>
                <a:spcPct val="90000"/>
              </a:lnSpc>
              <a:spcBef>
                <a:spcPct val="50000"/>
              </a:spcBef>
            </a:pPr>
            <a:r>
              <a:rPr lang="en-US" altLang="en-US" dirty="0"/>
              <a:t>A derived object has </a:t>
            </a:r>
            <a:r>
              <a:rPr lang="en-US" altLang="en-US" b="1" dirty="0"/>
              <a:t>all</a:t>
            </a:r>
            <a:r>
              <a:rPr lang="en-US" altLang="en-US" dirty="0"/>
              <a:t> of the characteristics of the base class</a:t>
            </a:r>
          </a:p>
          <a:p>
            <a:endParaRPr lang="en-US" sz="3600" dirty="0"/>
          </a:p>
        </p:txBody>
      </p:sp>
      <p:sp>
        <p:nvSpPr>
          <p:cNvPr id="4" name="Footer Placeholder 3"/>
          <p:cNvSpPr>
            <a:spLocks noGrp="1"/>
          </p:cNvSpPr>
          <p:nvPr>
            <p:ph type="ftr" sz="quarter" idx="11"/>
          </p:nvPr>
        </p:nvSpPr>
        <p:spPr/>
        <p:txBody>
          <a:bodyPr/>
          <a:lstStyle/>
          <a:p>
            <a:r>
              <a:rPr lang="en-US"/>
              <a:t>CS1 -- Inheritance and Polymorphism</a:t>
            </a:r>
          </a:p>
        </p:txBody>
      </p:sp>
      <p:sp>
        <p:nvSpPr>
          <p:cNvPr id="5" name="Slide Number Placeholder 4"/>
          <p:cNvSpPr>
            <a:spLocks noGrp="1"/>
          </p:cNvSpPr>
          <p:nvPr>
            <p:ph type="sldNum" sz="quarter" idx="12"/>
          </p:nvPr>
        </p:nvSpPr>
        <p:spPr/>
        <p:txBody>
          <a:bodyPr/>
          <a:lstStyle/>
          <a:p>
            <a:fld id="{1FFC834F-BCAD-4C47-9DE1-3D1137B00E0E}" type="slidenum">
              <a:rPr lang="en-US" smtClean="0"/>
              <a:t>8</a:t>
            </a:fld>
            <a:endParaRPr lang="en-US"/>
          </a:p>
        </p:txBody>
      </p:sp>
    </p:spTree>
    <p:extLst>
      <p:ext uri="{BB962C8B-B14F-4D97-AF65-F5344CB8AC3E}">
        <p14:creationId xmlns:p14="http://schemas.microsoft.com/office/powerpoint/2010/main" val="893893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 Protected Access </a:t>
            </a:r>
            <a:r>
              <a:rPr lang="en-US" b="1" u="sng" dirty="0" err="1"/>
              <a:t>Specifier</a:t>
            </a:r>
            <a:endParaRPr lang="en-US" b="1" u="sng" dirty="0"/>
          </a:p>
        </p:txBody>
      </p:sp>
      <p:sp>
        <p:nvSpPr>
          <p:cNvPr id="6" name="Rectangle 5"/>
          <p:cNvSpPr/>
          <p:nvPr/>
        </p:nvSpPr>
        <p:spPr>
          <a:xfrm>
            <a:off x="1009934" y="1542196"/>
            <a:ext cx="10167582" cy="3970318"/>
          </a:xfrm>
          <a:prstGeom prst="rect">
            <a:avLst/>
          </a:prstGeom>
        </p:spPr>
        <p:txBody>
          <a:bodyPr wrap="square">
            <a:spAutoFit/>
          </a:bodyPr>
          <a:lstStyle/>
          <a:p>
            <a:r>
              <a:rPr lang="en-US" sz="2800" dirty="0"/>
              <a:t>The access modifier protected is especially relevant when it comes to C++ inheritance.</a:t>
            </a:r>
          </a:p>
          <a:p>
            <a:endParaRPr lang="en-US" sz="2800" dirty="0"/>
          </a:p>
          <a:p>
            <a:r>
              <a:rPr lang="en-US" sz="2800" dirty="0"/>
              <a:t>Like private members, protected members are inaccessible outside of the class. However, they can be accessed by derived classes and friend classes/functions.</a:t>
            </a:r>
          </a:p>
          <a:p>
            <a:endParaRPr lang="en-US" sz="2800" dirty="0"/>
          </a:p>
          <a:p>
            <a:r>
              <a:rPr lang="en-US" sz="2800" dirty="0"/>
              <a:t>We need protected members if we want to hide the data of a class, but still want that data to be inherited by its derived classes.</a:t>
            </a:r>
          </a:p>
        </p:txBody>
      </p:sp>
    </p:spTree>
    <p:extLst>
      <p:ext uri="{BB962C8B-B14F-4D97-AF65-F5344CB8AC3E}">
        <p14:creationId xmlns:p14="http://schemas.microsoft.com/office/powerpoint/2010/main" val="3326696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715" y="535543"/>
            <a:ext cx="3644407" cy="598145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504" y="535543"/>
            <a:ext cx="3943900" cy="298174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6504" y="3517284"/>
            <a:ext cx="3943900" cy="3340716"/>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40552" y="535543"/>
            <a:ext cx="2772298" cy="1892204"/>
          </a:xfrm>
          <a:prstGeom prst="rect">
            <a:avLst/>
          </a:prstGeom>
        </p:spPr>
      </p:pic>
      <p:sp>
        <p:nvSpPr>
          <p:cNvPr id="10" name="Title 1"/>
          <p:cNvSpPr>
            <a:spLocks noGrp="1"/>
          </p:cNvSpPr>
          <p:nvPr>
            <p:ph type="title"/>
          </p:nvPr>
        </p:nvSpPr>
        <p:spPr>
          <a:xfrm>
            <a:off x="2585113" y="93825"/>
            <a:ext cx="10257430" cy="194349"/>
          </a:xfrm>
        </p:spPr>
        <p:txBody>
          <a:bodyPr>
            <a:normAutofit fontScale="90000"/>
          </a:bodyPr>
          <a:lstStyle/>
          <a:p>
            <a:r>
              <a:rPr lang="en-US" b="1" u="sng" dirty="0"/>
              <a:t>C++ Protected Access </a:t>
            </a:r>
            <a:r>
              <a:rPr lang="en-US" b="1" u="sng" dirty="0" err="1"/>
              <a:t>Specifier</a:t>
            </a:r>
            <a:endParaRPr lang="en-US" b="1" u="sng" dirty="0"/>
          </a:p>
        </p:txBody>
      </p:sp>
      <p:sp>
        <p:nvSpPr>
          <p:cNvPr id="12" name="Rectangle 11"/>
          <p:cNvSpPr/>
          <p:nvPr/>
        </p:nvSpPr>
        <p:spPr>
          <a:xfrm>
            <a:off x="8404157" y="3343407"/>
            <a:ext cx="3787843" cy="2585323"/>
          </a:xfrm>
          <a:prstGeom prst="rect">
            <a:avLst/>
          </a:prstGeom>
        </p:spPr>
        <p:txBody>
          <a:bodyPr wrap="square">
            <a:spAutoFit/>
          </a:bodyPr>
          <a:lstStyle/>
          <a:p>
            <a:r>
              <a:rPr lang="en-US" dirty="0"/>
              <a:t>Here, the variable </a:t>
            </a:r>
            <a:r>
              <a:rPr lang="en-US" dirty="0">
                <a:solidFill>
                  <a:srgbClr val="FF0000"/>
                </a:solidFill>
              </a:rPr>
              <a:t>type </a:t>
            </a:r>
            <a:r>
              <a:rPr lang="en-US" dirty="0"/>
              <a:t>is protected and is thus accessible from the derived class Dog. We can see this as we have initialized </a:t>
            </a:r>
            <a:r>
              <a:rPr lang="en-US" dirty="0">
                <a:solidFill>
                  <a:srgbClr val="FF0000"/>
                </a:solidFill>
              </a:rPr>
              <a:t>type</a:t>
            </a:r>
            <a:r>
              <a:rPr lang="en-US" dirty="0"/>
              <a:t> in the Dog class using the function </a:t>
            </a:r>
            <a:r>
              <a:rPr lang="en-US" dirty="0" err="1"/>
              <a:t>setType</a:t>
            </a:r>
            <a:r>
              <a:rPr lang="en-US" dirty="0"/>
              <a:t>().</a:t>
            </a:r>
          </a:p>
          <a:p>
            <a:endParaRPr lang="en-US" dirty="0"/>
          </a:p>
          <a:p>
            <a:r>
              <a:rPr lang="en-US" dirty="0"/>
              <a:t>On the other hand, the private variable </a:t>
            </a:r>
            <a:r>
              <a:rPr lang="en-US" dirty="0">
                <a:solidFill>
                  <a:srgbClr val="FF0000"/>
                </a:solidFill>
              </a:rPr>
              <a:t>color</a:t>
            </a:r>
            <a:r>
              <a:rPr lang="en-US" dirty="0"/>
              <a:t> cannot be initialized in Dog.</a:t>
            </a:r>
          </a:p>
        </p:txBody>
      </p:sp>
    </p:spTree>
    <p:extLst>
      <p:ext uri="{BB962C8B-B14F-4D97-AF65-F5344CB8AC3E}">
        <p14:creationId xmlns:p14="http://schemas.microsoft.com/office/powerpoint/2010/main" val="396428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99"/>
          <p:cNvSpPr>
            <a:spLocks noChangeArrowheads="1"/>
          </p:cNvSpPr>
          <p:nvPr/>
        </p:nvSpPr>
        <p:spPr bwMode="auto">
          <a:xfrm>
            <a:off x="1981200" y="1062039"/>
            <a:ext cx="83058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dirty="0">
                <a:solidFill>
                  <a:schemeClr val="accent5">
                    <a:lumMod val="75000"/>
                  </a:schemeClr>
                </a:solidFill>
              </a:rPr>
              <a:t>1. Single class Inheritance:</a:t>
            </a:r>
            <a:endParaRPr lang="en-US" altLang="en-US" dirty="0">
              <a:solidFill>
                <a:schemeClr val="accent5">
                  <a:lumMod val="75000"/>
                </a:schemeClr>
              </a:solidFill>
            </a:endParaRPr>
          </a:p>
          <a:p>
            <a:pPr eaLnBrk="1" hangingPunct="1"/>
            <a:endParaRPr lang="en-US" altLang="en-US" sz="2800" dirty="0">
              <a:solidFill>
                <a:schemeClr val="accent5">
                  <a:lumMod val="75000"/>
                </a:schemeClr>
              </a:solidFill>
            </a:endParaRPr>
          </a:p>
          <a:p>
            <a:pPr algn="just" eaLnBrk="1" hangingPunct="1"/>
            <a:r>
              <a:rPr lang="en-US" altLang="en-US" sz="2800" dirty="0">
                <a:solidFill>
                  <a:schemeClr val="accent5">
                    <a:lumMod val="75000"/>
                  </a:schemeClr>
                </a:solidFill>
              </a:rPr>
              <a:t>Single inheritance is the one where you have a single base class and a single derived class.</a:t>
            </a:r>
            <a:endParaRPr lang="en-US" altLang="en-US" dirty="0">
              <a:solidFill>
                <a:schemeClr val="accent5">
                  <a:lumMod val="75000"/>
                </a:schemeClr>
              </a:solidFill>
            </a:endParaRPr>
          </a:p>
        </p:txBody>
      </p:sp>
      <p:sp>
        <p:nvSpPr>
          <p:cNvPr id="18435" name="Rectangle 30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18436" name="Group -854"/>
          <p:cNvGrpSpPr>
            <a:grpSpLocks/>
          </p:cNvGrpSpPr>
          <p:nvPr/>
        </p:nvGrpSpPr>
        <p:grpSpPr bwMode="auto">
          <a:xfrm>
            <a:off x="3429001" y="3548062"/>
            <a:ext cx="6194723" cy="1626136"/>
            <a:chOff x="2861604" y="2812400"/>
            <a:chExt cx="5615721" cy="1626366"/>
          </a:xfrm>
        </p:grpSpPr>
        <p:sp>
          <p:nvSpPr>
            <p:cNvPr id="18437" name="Rectangle 303"/>
            <p:cNvSpPr>
              <a:spLocks/>
            </p:cNvSpPr>
            <p:nvPr/>
          </p:nvSpPr>
          <p:spPr bwMode="auto">
            <a:xfrm>
              <a:off x="2861604" y="2812400"/>
              <a:ext cx="2361811" cy="46379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Employee </a:t>
              </a:r>
              <a:endParaRPr lang="en-US" altLang="en-US">
                <a:solidFill>
                  <a:schemeClr val="accent5">
                    <a:lumMod val="75000"/>
                  </a:schemeClr>
                </a:solidFill>
              </a:endParaRPr>
            </a:p>
          </p:txBody>
        </p:sp>
        <p:sp>
          <p:nvSpPr>
            <p:cNvPr id="18438" name="Rectangle 305"/>
            <p:cNvSpPr>
              <a:spLocks/>
            </p:cNvSpPr>
            <p:nvPr/>
          </p:nvSpPr>
          <p:spPr bwMode="auto">
            <a:xfrm>
              <a:off x="2867361" y="3962367"/>
              <a:ext cx="2363250" cy="457446"/>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Manager</a:t>
              </a:r>
              <a:endParaRPr lang="en-US" altLang="en-US">
                <a:solidFill>
                  <a:schemeClr val="accent5">
                    <a:lumMod val="75000"/>
                  </a:schemeClr>
                </a:solidFill>
              </a:endParaRPr>
            </a:p>
          </p:txBody>
        </p:sp>
        <p:sp>
          <p:nvSpPr>
            <p:cNvPr id="18439" name="Line 307"/>
            <p:cNvSpPr>
              <a:spLocks noChangeShapeType="1"/>
            </p:cNvSpPr>
            <p:nvPr/>
          </p:nvSpPr>
          <p:spPr bwMode="auto">
            <a:xfrm flipV="1">
              <a:off x="4038600" y="3276600"/>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8440" name="Rectangle 309"/>
            <p:cNvSpPr>
              <a:spLocks noChangeArrowheads="1"/>
            </p:cNvSpPr>
            <p:nvPr/>
          </p:nvSpPr>
          <p:spPr bwMode="auto">
            <a:xfrm>
              <a:off x="5410200" y="2925375"/>
              <a:ext cx="2895600" cy="396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zh-CN" altLang="en-US" sz="2000" b="1">
                  <a:solidFill>
                    <a:schemeClr val="accent5">
                      <a:lumMod val="75000"/>
                    </a:schemeClr>
                  </a:solidFill>
                  <a:ea typeface="宋体" panose="02010600030101010101" pitchFamily="2" charset="-122"/>
                  <a:cs typeface="Times New Roman" panose="02020603050405020304" pitchFamily="18" charset="0"/>
                </a:rPr>
                <a:t>It is a Base class (super)</a:t>
              </a:r>
              <a:endParaRPr lang="en-US" altLang="en-US">
                <a:solidFill>
                  <a:schemeClr val="accent5">
                    <a:lumMod val="75000"/>
                  </a:schemeClr>
                </a:solidFill>
                <a:ea typeface="宋体" panose="02010600030101010101" pitchFamily="2" charset="-122"/>
                <a:cs typeface="Times New Roman" panose="02020603050405020304" pitchFamily="18" charset="0"/>
              </a:endParaRPr>
            </a:p>
          </p:txBody>
        </p:sp>
        <p:sp>
          <p:nvSpPr>
            <p:cNvPr id="18441" name="Rectangle 311"/>
            <p:cNvSpPr>
              <a:spLocks noChangeArrowheads="1"/>
            </p:cNvSpPr>
            <p:nvPr/>
          </p:nvSpPr>
          <p:spPr bwMode="auto">
            <a:xfrm>
              <a:off x="5486400" y="4038600"/>
              <a:ext cx="2990925" cy="40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it is a sub class (derived) </a:t>
              </a:r>
              <a:endParaRPr lang="en-US" altLang="en-US">
                <a:solidFill>
                  <a:schemeClr val="accent5">
                    <a:lumMod val="75000"/>
                  </a:schemeClr>
                </a:solidFill>
              </a:endParaRPr>
            </a:p>
          </p:txBody>
        </p:sp>
      </p:grpSp>
    </p:spTree>
    <p:extLst>
      <p:ext uri="{BB962C8B-B14F-4D97-AF65-F5344CB8AC3E}">
        <p14:creationId xmlns:p14="http://schemas.microsoft.com/office/powerpoint/2010/main" val="418544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3731" y="0"/>
            <a:ext cx="6096000" cy="7294305"/>
          </a:xfrm>
          <a:prstGeom prst="rect">
            <a:avLst/>
          </a:prstGeom>
        </p:spPr>
        <p:txBody>
          <a:bodyPr>
            <a:spAutoFit/>
          </a:bodyPr>
          <a:lstStyle/>
          <a:p>
            <a:r>
              <a:rPr lang="en-US" dirty="0"/>
              <a:t>#include &lt;</a:t>
            </a:r>
            <a:r>
              <a:rPr lang="en-US" dirty="0" err="1"/>
              <a:t>iostream</a:t>
            </a:r>
            <a:r>
              <a:rPr lang="en-US" dirty="0"/>
              <a:t>&gt; </a:t>
            </a:r>
          </a:p>
          <a:p>
            <a:r>
              <a:rPr lang="en-US" dirty="0"/>
              <a:t>using namespace </a:t>
            </a:r>
            <a:r>
              <a:rPr lang="en-US" dirty="0" err="1"/>
              <a:t>std</a:t>
            </a:r>
            <a:r>
              <a:rPr lang="en-US" dirty="0"/>
              <a:t>; </a:t>
            </a:r>
          </a:p>
          <a:p>
            <a:r>
              <a:rPr lang="en-US" b="1" dirty="0"/>
              <a:t>class base    //single base class</a:t>
            </a:r>
          </a:p>
          <a:p>
            <a:r>
              <a:rPr lang="en-US" dirty="0"/>
              <a:t>{</a:t>
            </a:r>
          </a:p>
          <a:p>
            <a:r>
              <a:rPr lang="en-US" dirty="0"/>
              <a:t>   public:</a:t>
            </a:r>
          </a:p>
          <a:p>
            <a:r>
              <a:rPr lang="en-US" dirty="0"/>
              <a:t>     </a:t>
            </a:r>
            <a:r>
              <a:rPr lang="en-US" dirty="0" err="1"/>
              <a:t>int</a:t>
            </a:r>
            <a:r>
              <a:rPr lang="en-US" dirty="0"/>
              <a:t> x;</a:t>
            </a:r>
          </a:p>
          <a:p>
            <a:r>
              <a:rPr lang="en-US" dirty="0"/>
              <a:t>   void </a:t>
            </a:r>
            <a:r>
              <a:rPr lang="en-US" dirty="0" err="1"/>
              <a:t>getdata</a:t>
            </a:r>
            <a:r>
              <a:rPr lang="en-US" dirty="0"/>
              <a:t>()</a:t>
            </a:r>
          </a:p>
          <a:p>
            <a:r>
              <a:rPr lang="en-US" dirty="0"/>
              <a:t>   {</a:t>
            </a:r>
          </a:p>
          <a:p>
            <a:r>
              <a:rPr lang="en-US" dirty="0"/>
              <a:t>     </a:t>
            </a:r>
            <a:r>
              <a:rPr lang="en-US" dirty="0" err="1"/>
              <a:t>cout</a:t>
            </a:r>
            <a:r>
              <a:rPr lang="en-US" dirty="0"/>
              <a:t> &lt;&lt; "Enter the value of x = "; </a:t>
            </a:r>
            <a:r>
              <a:rPr lang="en-US" dirty="0" err="1"/>
              <a:t>cin</a:t>
            </a:r>
            <a:r>
              <a:rPr lang="en-US" dirty="0"/>
              <a:t> &gt;&gt; x;</a:t>
            </a:r>
          </a:p>
          <a:p>
            <a:r>
              <a:rPr lang="en-US" dirty="0"/>
              <a:t>   }</a:t>
            </a:r>
          </a:p>
          <a:p>
            <a:r>
              <a:rPr lang="en-US" dirty="0"/>
              <a:t> };</a:t>
            </a:r>
          </a:p>
          <a:p>
            <a:r>
              <a:rPr lang="en-US" b="1" dirty="0"/>
              <a:t>class derive : public base    //single derived class</a:t>
            </a:r>
          </a:p>
          <a:p>
            <a:r>
              <a:rPr lang="en-US" dirty="0"/>
              <a:t>{</a:t>
            </a:r>
          </a:p>
          <a:p>
            <a:r>
              <a:rPr lang="en-US" dirty="0"/>
              <a:t>   private:</a:t>
            </a:r>
          </a:p>
          <a:p>
            <a:r>
              <a:rPr lang="en-US" dirty="0"/>
              <a:t>    </a:t>
            </a:r>
            <a:r>
              <a:rPr lang="en-US" dirty="0" err="1"/>
              <a:t>int</a:t>
            </a:r>
            <a:r>
              <a:rPr lang="en-US" dirty="0"/>
              <a:t> y;</a:t>
            </a:r>
          </a:p>
          <a:p>
            <a:r>
              <a:rPr lang="en-US" dirty="0"/>
              <a:t>   public:</a:t>
            </a:r>
          </a:p>
          <a:p>
            <a:r>
              <a:rPr lang="en-US" dirty="0"/>
              <a:t>   void </a:t>
            </a:r>
            <a:r>
              <a:rPr lang="en-US" dirty="0" err="1"/>
              <a:t>readdata</a:t>
            </a:r>
            <a:r>
              <a:rPr lang="en-US" dirty="0"/>
              <a:t>()</a:t>
            </a:r>
          </a:p>
          <a:p>
            <a:r>
              <a:rPr lang="en-US" dirty="0"/>
              <a:t>   {</a:t>
            </a:r>
          </a:p>
          <a:p>
            <a:r>
              <a:rPr lang="en-US" dirty="0"/>
              <a:t>     </a:t>
            </a:r>
            <a:r>
              <a:rPr lang="en-US" dirty="0" err="1"/>
              <a:t>cout</a:t>
            </a:r>
            <a:r>
              <a:rPr lang="en-US" dirty="0"/>
              <a:t> &lt;&lt; "Enter the value of y = "; </a:t>
            </a:r>
            <a:r>
              <a:rPr lang="en-US" dirty="0" err="1"/>
              <a:t>cin</a:t>
            </a:r>
            <a:r>
              <a:rPr lang="en-US" dirty="0"/>
              <a:t> &gt;&gt; y;</a:t>
            </a:r>
          </a:p>
          <a:p>
            <a:r>
              <a:rPr lang="en-US" dirty="0"/>
              <a:t>   }</a:t>
            </a:r>
          </a:p>
          <a:p>
            <a:r>
              <a:rPr lang="en-US" dirty="0"/>
              <a:t>   void product()</a:t>
            </a:r>
          </a:p>
          <a:p>
            <a:r>
              <a:rPr lang="en-US" dirty="0"/>
              <a:t>   {</a:t>
            </a:r>
          </a:p>
          <a:p>
            <a:r>
              <a:rPr lang="en-US" dirty="0"/>
              <a:t>     </a:t>
            </a:r>
            <a:r>
              <a:rPr lang="en-US" dirty="0" err="1"/>
              <a:t>cout</a:t>
            </a:r>
            <a:r>
              <a:rPr lang="en-US" dirty="0"/>
              <a:t> &lt;&lt; "Product = " &lt;&lt; x * y;</a:t>
            </a:r>
          </a:p>
          <a:p>
            <a:r>
              <a:rPr lang="en-US" dirty="0"/>
              <a:t>   } };</a:t>
            </a:r>
          </a:p>
          <a:p>
            <a:r>
              <a:rPr lang="en-US" dirty="0"/>
              <a:t> </a:t>
            </a:r>
          </a:p>
          <a:p>
            <a:r>
              <a:rPr lang="en-US" dirty="0"/>
              <a:t> </a:t>
            </a:r>
          </a:p>
        </p:txBody>
      </p:sp>
      <p:sp>
        <p:nvSpPr>
          <p:cNvPr id="9" name="Rectangle 8"/>
          <p:cNvSpPr/>
          <p:nvPr/>
        </p:nvSpPr>
        <p:spPr>
          <a:xfrm>
            <a:off x="6209731" y="473333"/>
            <a:ext cx="6096000" cy="2308324"/>
          </a:xfrm>
          <a:prstGeom prst="rect">
            <a:avLst/>
          </a:prstGeom>
        </p:spPr>
        <p:txBody>
          <a:bodyPr>
            <a:spAutoFit/>
          </a:bodyPr>
          <a:lstStyle/>
          <a:p>
            <a:r>
              <a:rPr lang="en-US" dirty="0" err="1"/>
              <a:t>int</a:t>
            </a:r>
            <a:r>
              <a:rPr lang="en-US" dirty="0"/>
              <a:t> main()</a:t>
            </a:r>
          </a:p>
          <a:p>
            <a:r>
              <a:rPr lang="en-US" dirty="0"/>
              <a:t> {</a:t>
            </a:r>
          </a:p>
          <a:p>
            <a:r>
              <a:rPr lang="en-US" dirty="0"/>
              <a:t>    derive a;     //object of derived class</a:t>
            </a:r>
          </a:p>
          <a:p>
            <a:r>
              <a:rPr lang="en-US" dirty="0"/>
              <a:t>    </a:t>
            </a:r>
            <a:r>
              <a:rPr lang="en-US" dirty="0" err="1"/>
              <a:t>a.getdata</a:t>
            </a:r>
            <a:r>
              <a:rPr lang="en-US" dirty="0"/>
              <a:t>();</a:t>
            </a:r>
          </a:p>
          <a:p>
            <a:r>
              <a:rPr lang="en-US" dirty="0"/>
              <a:t>    </a:t>
            </a:r>
            <a:r>
              <a:rPr lang="en-US" dirty="0" err="1"/>
              <a:t>a.readdata</a:t>
            </a:r>
            <a:r>
              <a:rPr lang="en-US" dirty="0"/>
              <a:t>();</a:t>
            </a:r>
          </a:p>
          <a:p>
            <a:r>
              <a:rPr lang="en-US" dirty="0"/>
              <a:t>    </a:t>
            </a:r>
            <a:r>
              <a:rPr lang="en-US" dirty="0" err="1"/>
              <a:t>a.product</a:t>
            </a:r>
            <a:r>
              <a:rPr lang="en-US" dirty="0"/>
              <a:t>();</a:t>
            </a:r>
          </a:p>
          <a:p>
            <a:r>
              <a:rPr lang="en-US" dirty="0"/>
              <a:t>    return 0;</a:t>
            </a:r>
          </a:p>
          <a:p>
            <a:r>
              <a:rPr lang="en-US" dirty="0"/>
              <a:t> } </a:t>
            </a:r>
          </a:p>
        </p:txBody>
      </p:sp>
      <p:sp>
        <p:nvSpPr>
          <p:cNvPr id="10" name="Rectangle 4"/>
          <p:cNvSpPr>
            <a:spLocks noChangeArrowheads="1"/>
          </p:cNvSpPr>
          <p:nvPr/>
        </p:nvSpPr>
        <p:spPr bwMode="auto">
          <a:xfrm>
            <a:off x="6564573" y="4005088"/>
            <a:ext cx="4053385" cy="161061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2539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sng" strike="noStrike" cap="none" normalizeH="0" baseline="0" dirty="0">
                <a:ln>
                  <a:noFill/>
                </a:ln>
                <a:solidFill>
                  <a:srgbClr val="292B2C"/>
                </a:solidFill>
                <a:effectLst/>
                <a:latin typeface="Courier New" panose="02070309020205020404" pitchFamily="49" charset="0"/>
                <a:cs typeface="Courier New" panose="02070309020205020404" pitchFamily="49" charset="0"/>
              </a:rPr>
              <a:t>OUTPUT: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Enter the value of x = 3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Enter the value of y = 4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92B2C"/>
                </a:solidFill>
                <a:effectLst/>
                <a:latin typeface="Courier New" panose="02070309020205020404" pitchFamily="49" charset="0"/>
                <a:cs typeface="Courier New" panose="02070309020205020404" pitchFamily="49" charset="0"/>
              </a:rPr>
              <a:t>Product = 12</a:t>
            </a:r>
            <a:r>
              <a:rPr kumimoji="0" lang="en-US" sz="2800" b="0" i="0" u="none" strike="noStrike" cap="none" normalizeH="0" baseline="0" dirty="0">
                <a:ln>
                  <a:noFill/>
                </a:ln>
                <a:solidFill>
                  <a:schemeClr val="tx1"/>
                </a:solidFill>
                <a:effectLst/>
              </a:rPr>
              <a:t> </a:t>
            </a:r>
            <a:endParaRPr kumimoji="0" 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9412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19"/>
          <p:cNvSpPr>
            <a:spLocks noChangeArrowheads="1"/>
          </p:cNvSpPr>
          <p:nvPr/>
        </p:nvSpPr>
        <p:spPr bwMode="auto">
          <a:xfrm>
            <a:off x="1981200" y="1062038"/>
            <a:ext cx="83058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a:solidFill>
                  <a:schemeClr val="accent5">
                    <a:lumMod val="75000"/>
                  </a:schemeClr>
                </a:solidFill>
              </a:rPr>
              <a:t>2. Multilevel Inheritance:</a:t>
            </a:r>
            <a:endParaRPr lang="en-US" altLang="en-US">
              <a:solidFill>
                <a:schemeClr val="accent5">
                  <a:lumMod val="75000"/>
                </a:schemeClr>
              </a:solidFill>
            </a:endParaRPr>
          </a:p>
          <a:p>
            <a:pPr algn="just" eaLnBrk="1" hangingPunct="1"/>
            <a:r>
              <a:rPr lang="en-US" altLang="en-US" sz="2800">
                <a:solidFill>
                  <a:schemeClr val="accent5">
                    <a:lumMod val="75000"/>
                  </a:schemeClr>
                </a:solidFill>
              </a:rPr>
              <a:t>In Multi level inheritance, a class inherits its properties from another derived class.</a:t>
            </a:r>
            <a:endParaRPr lang="en-US" altLang="en-US">
              <a:solidFill>
                <a:schemeClr val="accent5">
                  <a:lumMod val="75000"/>
                </a:schemeClr>
              </a:solidFill>
            </a:endParaRPr>
          </a:p>
        </p:txBody>
      </p:sp>
      <p:sp>
        <p:nvSpPr>
          <p:cNvPr id="19459" name="Rectangle 32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19460" name="Group -848"/>
          <p:cNvGrpSpPr>
            <a:grpSpLocks/>
          </p:cNvGrpSpPr>
          <p:nvPr/>
        </p:nvGrpSpPr>
        <p:grpSpPr bwMode="auto">
          <a:xfrm>
            <a:off x="3352800" y="3048001"/>
            <a:ext cx="6477000" cy="2792413"/>
            <a:chOff x="1524000" y="2769514"/>
            <a:chExt cx="6477000" cy="2793086"/>
          </a:xfrm>
        </p:grpSpPr>
        <p:sp>
          <p:nvSpPr>
            <p:cNvPr id="19461" name="Rectangle 323"/>
            <p:cNvSpPr>
              <a:spLocks/>
            </p:cNvSpPr>
            <p:nvPr/>
          </p:nvSpPr>
          <p:spPr bwMode="auto">
            <a:xfrm>
              <a:off x="1524000" y="2812387"/>
              <a:ext cx="2362200" cy="463662"/>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A </a:t>
              </a:r>
              <a:endParaRPr lang="en-US" altLang="en-US">
                <a:solidFill>
                  <a:schemeClr val="accent5">
                    <a:lumMod val="75000"/>
                  </a:schemeClr>
                </a:solidFill>
              </a:endParaRPr>
            </a:p>
          </p:txBody>
        </p:sp>
        <p:sp>
          <p:nvSpPr>
            <p:cNvPr id="19462" name="Rectangle 325"/>
            <p:cNvSpPr>
              <a:spLocks/>
            </p:cNvSpPr>
            <p:nvPr/>
          </p:nvSpPr>
          <p:spPr bwMode="auto">
            <a:xfrm>
              <a:off x="1530350" y="3962014"/>
              <a:ext cx="2362200" cy="457310"/>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a:solidFill>
                    <a:schemeClr val="accent5">
                      <a:lumMod val="75000"/>
                    </a:schemeClr>
                  </a:solidFill>
                </a:rPr>
                <a:t>Class B</a:t>
              </a:r>
              <a:endParaRPr lang="en-US" altLang="en-US">
                <a:solidFill>
                  <a:schemeClr val="accent5">
                    <a:lumMod val="75000"/>
                  </a:schemeClr>
                </a:solidFill>
              </a:endParaRPr>
            </a:p>
          </p:txBody>
        </p:sp>
        <p:sp>
          <p:nvSpPr>
            <p:cNvPr id="19463" name="Line 327"/>
            <p:cNvSpPr>
              <a:spLocks noChangeShapeType="1"/>
            </p:cNvSpPr>
            <p:nvPr/>
          </p:nvSpPr>
          <p:spPr bwMode="auto">
            <a:xfrm flipV="1">
              <a:off x="2700996" y="3276600"/>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9464" name="Rectangle 329"/>
            <p:cNvSpPr>
              <a:spLocks noChangeArrowheads="1"/>
            </p:cNvSpPr>
            <p:nvPr/>
          </p:nvSpPr>
          <p:spPr bwMode="auto">
            <a:xfrm>
              <a:off x="4191000" y="2769514"/>
              <a:ext cx="3810000" cy="40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en-US" altLang="en-US" sz="2000" b="1">
                  <a:solidFill>
                    <a:schemeClr val="accent5">
                      <a:lumMod val="75000"/>
                    </a:schemeClr>
                  </a:solidFill>
                </a:rPr>
                <a:t>it is a Base class (super) of B</a:t>
              </a:r>
              <a:endParaRPr lang="en-US" altLang="en-US">
                <a:solidFill>
                  <a:schemeClr val="accent5">
                    <a:lumMod val="75000"/>
                  </a:schemeClr>
                </a:solidFill>
              </a:endParaRPr>
            </a:p>
          </p:txBody>
        </p:sp>
        <p:sp>
          <p:nvSpPr>
            <p:cNvPr id="19465" name="Rectangle 331"/>
            <p:cNvSpPr>
              <a:spLocks noChangeArrowheads="1"/>
            </p:cNvSpPr>
            <p:nvPr/>
          </p:nvSpPr>
          <p:spPr bwMode="auto">
            <a:xfrm>
              <a:off x="4186624" y="3886200"/>
              <a:ext cx="3788345" cy="708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it is a sub class (derived) of A</a:t>
              </a:r>
              <a:endParaRPr lang="en-US" altLang="en-US">
                <a:solidFill>
                  <a:schemeClr val="accent5">
                    <a:lumMod val="75000"/>
                  </a:schemeClr>
                </a:solidFill>
              </a:endParaRPr>
            </a:p>
            <a:p>
              <a:pPr eaLnBrk="1" hangingPunct="1"/>
              <a:r>
                <a:rPr lang="en-US" altLang="en-US" sz="2000" b="1">
                  <a:solidFill>
                    <a:schemeClr val="accent5">
                      <a:lumMod val="75000"/>
                    </a:schemeClr>
                  </a:solidFill>
                </a:rPr>
                <a:t> and base class of class C </a:t>
              </a:r>
              <a:endParaRPr lang="en-US" altLang="en-US">
                <a:solidFill>
                  <a:schemeClr val="accent5">
                    <a:lumMod val="75000"/>
                  </a:schemeClr>
                </a:solidFill>
              </a:endParaRPr>
            </a:p>
          </p:txBody>
        </p:sp>
        <p:sp>
          <p:nvSpPr>
            <p:cNvPr id="19466" name="Rectangle 333"/>
            <p:cNvSpPr>
              <a:spLocks/>
            </p:cNvSpPr>
            <p:nvPr/>
          </p:nvSpPr>
          <p:spPr bwMode="auto">
            <a:xfrm>
              <a:off x="1557338" y="5105290"/>
              <a:ext cx="2362200" cy="457310"/>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C</a:t>
              </a:r>
              <a:endParaRPr lang="en-US" altLang="en-US" dirty="0">
                <a:solidFill>
                  <a:schemeClr val="accent5">
                    <a:lumMod val="75000"/>
                  </a:schemeClr>
                </a:solidFill>
              </a:endParaRPr>
            </a:p>
          </p:txBody>
        </p:sp>
        <p:sp>
          <p:nvSpPr>
            <p:cNvPr id="19467" name="Line 335"/>
            <p:cNvSpPr>
              <a:spLocks noChangeShapeType="1"/>
            </p:cNvSpPr>
            <p:nvPr/>
          </p:nvSpPr>
          <p:spPr bwMode="auto">
            <a:xfrm flipV="1">
              <a:off x="2729132" y="4419599"/>
              <a:ext cx="0" cy="692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19468" name="Rectangle 337"/>
            <p:cNvSpPr>
              <a:spLocks noChangeArrowheads="1"/>
            </p:cNvSpPr>
            <p:nvPr/>
          </p:nvSpPr>
          <p:spPr bwMode="auto">
            <a:xfrm>
              <a:off x="4267200" y="5105400"/>
              <a:ext cx="3716082" cy="40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derived class(sub) of class B</a:t>
              </a:r>
              <a:endParaRPr lang="en-US" altLang="en-US">
                <a:solidFill>
                  <a:schemeClr val="accent5">
                    <a:lumMod val="75000"/>
                  </a:schemeClr>
                </a:solidFill>
              </a:endParaRPr>
            </a:p>
          </p:txBody>
        </p:sp>
      </p:grpSp>
    </p:spTree>
    <p:extLst>
      <p:ext uri="{BB962C8B-B14F-4D97-AF65-F5344CB8AC3E}">
        <p14:creationId xmlns:p14="http://schemas.microsoft.com/office/powerpoint/2010/main" val="830313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61397" y="191068"/>
            <a:ext cx="6096000" cy="6463308"/>
          </a:xfrm>
          <a:prstGeom prst="rect">
            <a:avLst/>
          </a:prstGeom>
        </p:spPr>
        <p:txBody>
          <a:bodyPr>
            <a:spAutoFit/>
          </a:bodyPr>
          <a:lstStyle/>
          <a:p>
            <a:r>
              <a:rPr lang="en-US" b="0" i="0" dirty="0">
                <a:solidFill>
                  <a:srgbClr val="008000"/>
                </a:solidFill>
                <a:effectLst/>
                <a:latin typeface="Consolas" panose="020B0609020204030204" pitchFamily="49" charset="0"/>
              </a:rPr>
              <a:t>// Base class (parent)</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A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void</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myFunction</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cout</a:t>
            </a:r>
            <a:r>
              <a:rPr lang="en-US" b="0" i="0" dirty="0">
                <a:solidFill>
                  <a:srgbClr val="000000"/>
                </a:solidFill>
                <a:effectLst/>
                <a:latin typeface="Consolas" panose="020B0609020204030204" pitchFamily="49" charset="0"/>
              </a:rPr>
              <a:t> &lt;&lt; </a:t>
            </a:r>
            <a:r>
              <a:rPr lang="en-US" b="0" i="0" dirty="0">
                <a:solidFill>
                  <a:srgbClr val="A52A2A"/>
                </a:solidFill>
                <a:effectLst/>
                <a:latin typeface="Consolas" panose="020B0609020204030204" pitchFamily="49" charset="0"/>
              </a:rPr>
              <a:t>"Some content in parent class."</a:t>
            </a: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8000"/>
                </a:solidFill>
                <a:effectLst/>
                <a:latin typeface="Consolas" panose="020B0609020204030204" pitchFamily="49" charset="0"/>
              </a:rPr>
              <a:t>// Derived class (child)</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B: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 A {</a:t>
            </a:r>
          </a:p>
          <a:p>
            <a:r>
              <a:rPr lang="en-US" dirty="0">
                <a:solidFill>
                  <a:srgbClr val="000000"/>
                </a:solidFill>
                <a:latin typeface="Consolas" panose="020B0609020204030204" pitchFamily="49" charset="0"/>
              </a:rPr>
              <a:t>//some operation</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8000"/>
                </a:solidFill>
                <a:effectLst/>
                <a:latin typeface="Consolas" panose="020B0609020204030204" pitchFamily="49" charset="0"/>
              </a:rPr>
              <a:t>// Derived class (grandchild)</a:t>
            </a:r>
            <a:br>
              <a:rPr lang="en-US" b="0" i="0" dirty="0">
                <a:solidFill>
                  <a:srgbClr val="008000"/>
                </a:solidFill>
                <a:effectLst/>
                <a:latin typeface="Consolas" panose="020B0609020204030204" pitchFamily="49" charset="0"/>
              </a:rPr>
            </a:br>
            <a:r>
              <a:rPr lang="en-US" b="0" i="0" dirty="0">
                <a:solidFill>
                  <a:srgbClr val="0000CD"/>
                </a:solidFill>
                <a:effectLst/>
                <a:latin typeface="Consolas" panose="020B0609020204030204" pitchFamily="49" charset="0"/>
              </a:rPr>
              <a:t>class</a:t>
            </a:r>
            <a:r>
              <a:rPr lang="en-US" b="0" i="0" dirty="0">
                <a:solidFill>
                  <a:srgbClr val="000000"/>
                </a:solidFill>
                <a:effectLst/>
                <a:latin typeface="Consolas" panose="020B0609020204030204" pitchFamily="49" charset="0"/>
              </a:rPr>
              <a:t> C: </a:t>
            </a:r>
            <a:r>
              <a:rPr lang="en-US" b="0" i="0" dirty="0">
                <a:solidFill>
                  <a:srgbClr val="0000CD"/>
                </a:solidFill>
                <a:effectLst/>
                <a:latin typeface="Consolas" panose="020B0609020204030204" pitchFamily="49" charset="0"/>
              </a:rPr>
              <a:t>public</a:t>
            </a:r>
            <a:r>
              <a:rPr lang="en-US" b="0" i="0" dirty="0">
                <a:solidFill>
                  <a:srgbClr val="000000"/>
                </a:solidFill>
                <a:effectLst/>
                <a:latin typeface="Consolas" panose="020B0609020204030204" pitchFamily="49" charset="0"/>
              </a:rPr>
              <a:t> B {</a:t>
            </a:r>
          </a:p>
          <a:p>
            <a:r>
              <a:rPr lang="en-US" dirty="0">
                <a:solidFill>
                  <a:srgbClr val="000000"/>
                </a:solidFill>
                <a:latin typeface="Consolas" panose="020B0609020204030204" pitchFamily="49" charset="0"/>
              </a:rPr>
              <a:t>//some operation</a:t>
            </a:r>
            <a:br>
              <a:rPr lang="en-US" dirty="0"/>
            </a:br>
            <a:r>
              <a:rPr lang="en-US" b="0" i="0" dirty="0">
                <a:solidFill>
                  <a:srgbClr val="000000"/>
                </a:solidFill>
                <a:effectLst/>
                <a:latin typeface="Consolas" panose="020B0609020204030204" pitchFamily="49" charset="0"/>
              </a:rPr>
              <a:t>};</a:t>
            </a:r>
            <a:br>
              <a:rPr lang="en-US" dirty="0"/>
            </a:br>
            <a:br>
              <a:rPr lang="en-US" dirty="0"/>
            </a:br>
            <a:r>
              <a:rPr lang="en-US" b="0" i="0" dirty="0" err="1">
                <a:solidFill>
                  <a:srgbClr val="0000CD"/>
                </a:solidFill>
                <a:effectLst/>
                <a:latin typeface="Consolas" panose="020B0609020204030204" pitchFamily="49" charset="0"/>
              </a:rPr>
              <a:t>int</a:t>
            </a:r>
            <a:r>
              <a:rPr lang="en-US" b="0" i="0" dirty="0">
                <a:solidFill>
                  <a:srgbClr val="000000"/>
                </a:solidFill>
                <a:effectLst/>
                <a:latin typeface="Consolas" panose="020B0609020204030204" pitchFamily="49" charset="0"/>
              </a:rPr>
              <a:t> main() {</a:t>
            </a:r>
            <a:br>
              <a:rPr lang="en-US" dirty="0"/>
            </a:br>
            <a:r>
              <a:rPr lang="en-US" b="0" i="0" dirty="0">
                <a:solidFill>
                  <a:srgbClr val="000000"/>
                </a:solidFill>
                <a:effectLst/>
                <a:latin typeface="Consolas" panose="020B0609020204030204" pitchFamily="49" charset="0"/>
              </a:rPr>
              <a:t>  C </a:t>
            </a:r>
            <a:r>
              <a:rPr lang="en-US" b="0" i="0" dirty="0" err="1">
                <a:solidFill>
                  <a:srgbClr val="000000"/>
                </a:solidFill>
                <a:effectLst/>
                <a:latin typeface="Consolas" panose="020B0609020204030204" pitchFamily="49" charset="0"/>
              </a:rPr>
              <a:t>myObj</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myObj.myFunction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return</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0</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2148621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45"/>
          <p:cNvSpPr>
            <a:spLocks noChangeArrowheads="1"/>
          </p:cNvSpPr>
          <p:nvPr/>
        </p:nvSpPr>
        <p:spPr bwMode="auto">
          <a:xfrm>
            <a:off x="1981200" y="1062038"/>
            <a:ext cx="83058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a:solidFill>
                  <a:schemeClr val="accent5">
                    <a:lumMod val="75000"/>
                  </a:schemeClr>
                </a:solidFill>
              </a:rPr>
              <a:t>3. Multiple Inheritances:</a:t>
            </a:r>
            <a:endParaRPr lang="en-US" altLang="en-US">
              <a:solidFill>
                <a:schemeClr val="accent5">
                  <a:lumMod val="75000"/>
                </a:schemeClr>
              </a:solidFill>
            </a:endParaRPr>
          </a:p>
          <a:p>
            <a:pPr algn="just" eaLnBrk="1" hangingPunct="1"/>
            <a:endParaRPr lang="en-US" altLang="en-US" sz="2800">
              <a:solidFill>
                <a:schemeClr val="accent5">
                  <a:lumMod val="75000"/>
                </a:schemeClr>
              </a:solidFill>
            </a:endParaRPr>
          </a:p>
          <a:p>
            <a:pPr algn="just" eaLnBrk="1" hangingPunct="1"/>
            <a:r>
              <a:rPr lang="en-US" altLang="en-US" sz="2800">
                <a:solidFill>
                  <a:schemeClr val="accent5">
                    <a:lumMod val="75000"/>
                  </a:schemeClr>
                </a:solidFill>
              </a:rPr>
              <a:t>In Multiple inheritances, a derived class inherits from multiple base classes. It has properties of both the base classes.</a:t>
            </a:r>
            <a:endParaRPr lang="en-US" altLang="en-US">
              <a:solidFill>
                <a:schemeClr val="accent5">
                  <a:lumMod val="75000"/>
                </a:schemeClr>
              </a:solidFill>
            </a:endParaRPr>
          </a:p>
        </p:txBody>
      </p:sp>
      <p:sp>
        <p:nvSpPr>
          <p:cNvPr id="20483" name="Rectangle 347"/>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0484" name="Group -842"/>
          <p:cNvGrpSpPr>
            <a:grpSpLocks/>
          </p:cNvGrpSpPr>
          <p:nvPr/>
        </p:nvGrpSpPr>
        <p:grpSpPr bwMode="auto">
          <a:xfrm>
            <a:off x="3200400" y="3733800"/>
            <a:ext cx="6858000" cy="2077014"/>
            <a:chOff x="1752600" y="3276600"/>
            <a:chExt cx="6858000" cy="2076390"/>
          </a:xfrm>
        </p:grpSpPr>
        <p:sp>
          <p:nvSpPr>
            <p:cNvPr id="20485" name="Rectangle 349"/>
            <p:cNvSpPr>
              <a:spLocks/>
            </p:cNvSpPr>
            <p:nvPr/>
          </p:nvSpPr>
          <p:spPr bwMode="auto">
            <a:xfrm>
              <a:off x="1752600" y="3352802"/>
              <a:ext cx="2362200" cy="46356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A </a:t>
              </a:r>
              <a:endParaRPr lang="en-US" altLang="en-US" dirty="0">
                <a:solidFill>
                  <a:schemeClr val="accent5">
                    <a:lumMod val="75000"/>
                  </a:schemeClr>
                </a:solidFill>
              </a:endParaRPr>
            </a:p>
          </p:txBody>
        </p:sp>
        <p:sp>
          <p:nvSpPr>
            <p:cNvPr id="20486" name="Rectangle 351"/>
            <p:cNvSpPr>
              <a:spLocks/>
            </p:cNvSpPr>
            <p:nvPr/>
          </p:nvSpPr>
          <p:spPr bwMode="auto">
            <a:xfrm>
              <a:off x="4495800" y="3352802"/>
              <a:ext cx="2362200" cy="45721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B</a:t>
              </a:r>
              <a:endParaRPr lang="en-US" altLang="en-US" dirty="0">
                <a:solidFill>
                  <a:schemeClr val="accent5">
                    <a:lumMod val="75000"/>
                  </a:schemeClr>
                </a:solidFill>
              </a:endParaRPr>
            </a:p>
          </p:txBody>
        </p:sp>
        <p:sp>
          <p:nvSpPr>
            <p:cNvPr id="20487" name="Line 353"/>
            <p:cNvSpPr>
              <a:spLocks noChangeShapeType="1"/>
            </p:cNvSpPr>
            <p:nvPr/>
          </p:nvSpPr>
          <p:spPr bwMode="auto">
            <a:xfrm flipV="1">
              <a:off x="4419600" y="3810000"/>
              <a:ext cx="838200" cy="10732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0488" name="Rectangle 355"/>
            <p:cNvSpPr>
              <a:spLocks noChangeArrowheads="1"/>
            </p:cNvSpPr>
            <p:nvPr/>
          </p:nvSpPr>
          <p:spPr bwMode="auto">
            <a:xfrm>
              <a:off x="7086600" y="3276600"/>
              <a:ext cx="152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tabLst>
                  <a:tab pos="455613" algn="l"/>
                </a:tabLst>
                <a:defRPr>
                  <a:solidFill>
                    <a:srgbClr val="000000"/>
                  </a:solidFill>
                  <a:latin typeface="Arial" panose="020B0604020202020204" pitchFamily="34" charset="0"/>
                  <a:ea typeface="方正姚体"/>
                  <a:cs typeface="方正姚体"/>
                  <a:sym typeface="Arial" panose="020B0604020202020204" pitchFamily="34" charset="0"/>
                </a:defRPr>
              </a:lvl9pPr>
            </a:lstStyle>
            <a:p>
              <a:r>
                <a:rPr lang="en-US" altLang="en-US" sz="2000" b="1">
                  <a:solidFill>
                    <a:schemeClr val="accent5">
                      <a:lumMod val="75000"/>
                    </a:schemeClr>
                  </a:solidFill>
                </a:rPr>
                <a:t>Base class </a:t>
              </a:r>
              <a:endParaRPr lang="en-US" altLang="en-US">
                <a:solidFill>
                  <a:schemeClr val="accent5">
                    <a:lumMod val="75000"/>
                  </a:schemeClr>
                </a:solidFill>
              </a:endParaRPr>
            </a:p>
          </p:txBody>
        </p:sp>
        <p:sp>
          <p:nvSpPr>
            <p:cNvPr id="20489" name="Rectangle 357"/>
            <p:cNvSpPr>
              <a:spLocks/>
            </p:cNvSpPr>
            <p:nvPr/>
          </p:nvSpPr>
          <p:spPr bwMode="auto">
            <a:xfrm>
              <a:off x="2819400" y="4876846"/>
              <a:ext cx="2362200" cy="457213"/>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400" b="1" dirty="0">
                  <a:solidFill>
                    <a:schemeClr val="accent5">
                      <a:lumMod val="75000"/>
                    </a:schemeClr>
                  </a:solidFill>
                </a:rPr>
                <a:t>Class C</a:t>
              </a:r>
              <a:endParaRPr lang="en-US" altLang="en-US" dirty="0">
                <a:solidFill>
                  <a:schemeClr val="accent5">
                    <a:lumMod val="75000"/>
                  </a:schemeClr>
                </a:solidFill>
              </a:endParaRPr>
            </a:p>
          </p:txBody>
        </p:sp>
        <p:sp>
          <p:nvSpPr>
            <p:cNvPr id="20490" name="Line 359"/>
            <p:cNvSpPr>
              <a:spLocks noChangeShapeType="1"/>
            </p:cNvSpPr>
            <p:nvPr/>
          </p:nvSpPr>
          <p:spPr bwMode="auto">
            <a:xfrm flipH="1" flipV="1">
              <a:off x="2971800" y="3886200"/>
              <a:ext cx="762000" cy="99704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0491" name="Rectangle 361"/>
            <p:cNvSpPr>
              <a:spLocks noChangeArrowheads="1"/>
            </p:cNvSpPr>
            <p:nvPr/>
          </p:nvSpPr>
          <p:spPr bwMode="auto">
            <a:xfrm>
              <a:off x="5410200" y="4953000"/>
              <a:ext cx="1837362" cy="399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2000" b="1">
                  <a:solidFill>
                    <a:schemeClr val="accent5">
                      <a:lumMod val="75000"/>
                    </a:schemeClr>
                  </a:solidFill>
                </a:rPr>
                <a:t>Derived class</a:t>
              </a:r>
              <a:endParaRPr lang="en-US" altLang="en-US">
                <a:solidFill>
                  <a:schemeClr val="accent5">
                    <a:lumMod val="75000"/>
                  </a:schemeClr>
                </a:solidFill>
              </a:endParaRPr>
            </a:p>
          </p:txBody>
        </p:sp>
      </p:grpSp>
    </p:spTree>
    <p:extLst>
      <p:ext uri="{BB962C8B-B14F-4D97-AF65-F5344CB8AC3E}">
        <p14:creationId xmlns:p14="http://schemas.microsoft.com/office/powerpoint/2010/main" val="1089862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0334" y="197346"/>
            <a:ext cx="6096000" cy="7294305"/>
          </a:xfrm>
          <a:prstGeom prst="rect">
            <a:avLst/>
          </a:prstGeom>
        </p:spPr>
        <p:txBody>
          <a:bodyPr>
            <a:spAutoFit/>
          </a:bodyPr>
          <a:lstStyle/>
          <a:p>
            <a:r>
              <a:rPr lang="en-US" dirty="0"/>
              <a:t>#include &lt;</a:t>
            </a:r>
            <a:r>
              <a:rPr lang="en-US" dirty="0" err="1"/>
              <a:t>iostream</a:t>
            </a:r>
            <a:r>
              <a:rPr lang="en-US" dirty="0"/>
              <a:t>&gt;</a:t>
            </a:r>
          </a:p>
          <a:p>
            <a:r>
              <a:rPr lang="en-US" dirty="0"/>
              <a:t>using namespace </a:t>
            </a:r>
            <a:r>
              <a:rPr lang="en-US" dirty="0" err="1"/>
              <a:t>std</a:t>
            </a:r>
            <a:r>
              <a:rPr lang="en-US" dirty="0"/>
              <a:t>;</a:t>
            </a:r>
          </a:p>
          <a:p>
            <a:endParaRPr lang="en-US" dirty="0"/>
          </a:p>
          <a:p>
            <a:r>
              <a:rPr lang="en-US" dirty="0"/>
              <a:t>class Mammal {</a:t>
            </a:r>
          </a:p>
          <a:p>
            <a:r>
              <a:rPr lang="en-US" dirty="0"/>
              <a:t>  public:</a:t>
            </a:r>
          </a:p>
          <a:p>
            <a:r>
              <a:rPr lang="en-US" dirty="0"/>
              <a:t>    Mammal() {</a:t>
            </a:r>
          </a:p>
          <a:p>
            <a:r>
              <a:rPr lang="en-US" dirty="0"/>
              <a:t>      </a:t>
            </a:r>
            <a:r>
              <a:rPr lang="en-US" dirty="0" err="1"/>
              <a:t>cout</a:t>
            </a:r>
            <a:r>
              <a:rPr lang="en-US" dirty="0"/>
              <a:t> &lt;&lt; "Mammals can give direct birth." &lt;&lt; </a:t>
            </a:r>
            <a:r>
              <a:rPr lang="en-US" dirty="0" err="1"/>
              <a:t>endl</a:t>
            </a:r>
            <a:r>
              <a:rPr lang="en-US" dirty="0"/>
              <a:t>;</a:t>
            </a:r>
          </a:p>
          <a:p>
            <a:r>
              <a:rPr lang="en-US" dirty="0"/>
              <a:t>    }</a:t>
            </a:r>
          </a:p>
          <a:p>
            <a:r>
              <a:rPr lang="en-US" dirty="0"/>
              <a:t>};</a:t>
            </a:r>
          </a:p>
          <a:p>
            <a:endParaRPr lang="en-US" dirty="0"/>
          </a:p>
          <a:p>
            <a:r>
              <a:rPr lang="en-US" dirty="0"/>
              <a:t>class </a:t>
            </a:r>
            <a:r>
              <a:rPr lang="en-US" dirty="0" err="1"/>
              <a:t>WingedAnimal</a:t>
            </a:r>
            <a:r>
              <a:rPr lang="en-US" dirty="0"/>
              <a:t> {</a:t>
            </a:r>
          </a:p>
          <a:p>
            <a:r>
              <a:rPr lang="en-US" dirty="0"/>
              <a:t>  public:</a:t>
            </a:r>
          </a:p>
          <a:p>
            <a:r>
              <a:rPr lang="en-US" dirty="0"/>
              <a:t>    () {</a:t>
            </a:r>
          </a:p>
          <a:p>
            <a:r>
              <a:rPr lang="en-US" dirty="0"/>
              <a:t>    </a:t>
            </a:r>
            <a:r>
              <a:rPr lang="en-US" dirty="0" err="1"/>
              <a:t>WingedAnimal</a:t>
            </a:r>
            <a:r>
              <a:rPr lang="en-US" dirty="0"/>
              <a:t>  </a:t>
            </a:r>
            <a:r>
              <a:rPr lang="en-US" dirty="0" err="1"/>
              <a:t>cout</a:t>
            </a:r>
            <a:r>
              <a:rPr lang="en-US" dirty="0"/>
              <a:t> &lt;&lt; "Winged animal can flap." &lt;&lt; </a:t>
            </a:r>
            <a:r>
              <a:rPr lang="en-US" dirty="0" err="1"/>
              <a:t>endl</a:t>
            </a:r>
            <a:r>
              <a:rPr lang="en-US" dirty="0"/>
              <a:t>;</a:t>
            </a:r>
          </a:p>
          <a:p>
            <a:r>
              <a:rPr lang="en-US" dirty="0"/>
              <a:t>    }</a:t>
            </a:r>
          </a:p>
          <a:p>
            <a:r>
              <a:rPr lang="en-US" dirty="0"/>
              <a:t>};</a:t>
            </a:r>
          </a:p>
          <a:p>
            <a:endParaRPr lang="en-US" dirty="0"/>
          </a:p>
          <a:p>
            <a:r>
              <a:rPr lang="en-US" b="1" dirty="0"/>
              <a:t>class Bat: public Mammal, public </a:t>
            </a:r>
            <a:r>
              <a:rPr lang="en-US" b="1" dirty="0" err="1"/>
              <a:t>WingedAnimal</a:t>
            </a:r>
            <a:r>
              <a:rPr lang="en-US" b="1" dirty="0"/>
              <a:t> {</a:t>
            </a:r>
          </a:p>
          <a:p>
            <a:r>
              <a:rPr lang="en-US" b="1" dirty="0"/>
              <a:t>Public:</a:t>
            </a:r>
          </a:p>
          <a:p>
            <a:r>
              <a:rPr lang="en-US" b="1" dirty="0" err="1"/>
              <a:t>Somemethod</a:t>
            </a:r>
            <a:r>
              <a:rPr lang="en-US" b="1" dirty="0"/>
              <a:t>(){};</a:t>
            </a:r>
          </a:p>
          <a:p>
            <a:r>
              <a:rPr lang="en-US" b="1" dirty="0"/>
              <a:t>};</a:t>
            </a:r>
            <a:endParaRPr lang="en-US" dirty="0"/>
          </a:p>
          <a:p>
            <a:r>
              <a:rPr lang="en-US" dirty="0" err="1"/>
              <a:t>int</a:t>
            </a:r>
            <a:r>
              <a:rPr lang="en-US" dirty="0"/>
              <a:t> main() {</a:t>
            </a:r>
          </a:p>
          <a:p>
            <a:r>
              <a:rPr lang="en-US" dirty="0"/>
              <a:t>    Bat b1;</a:t>
            </a:r>
          </a:p>
          <a:p>
            <a:r>
              <a:rPr lang="en-US" dirty="0"/>
              <a:t>    return 0;</a:t>
            </a:r>
          </a:p>
          <a:p>
            <a:r>
              <a:rPr lang="en-US" dirty="0"/>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96" y="2233745"/>
            <a:ext cx="4504887" cy="1813848"/>
          </a:xfrm>
          <a:prstGeom prst="rect">
            <a:avLst/>
          </a:prstGeom>
        </p:spPr>
      </p:pic>
    </p:spTree>
    <p:extLst>
      <p:ext uri="{BB962C8B-B14F-4D97-AF65-F5344CB8AC3E}">
        <p14:creationId xmlns:p14="http://schemas.microsoft.com/office/powerpoint/2010/main" val="3461443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69"/>
          <p:cNvSpPr>
            <a:spLocks noChangeArrowheads="1"/>
          </p:cNvSpPr>
          <p:nvPr/>
        </p:nvSpPr>
        <p:spPr bwMode="auto">
          <a:xfrm>
            <a:off x="1981200" y="1062039"/>
            <a:ext cx="8305800"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US" altLang="en-US" sz="3200" b="1" dirty="0">
                <a:solidFill>
                  <a:schemeClr val="accent5">
                    <a:lumMod val="75000"/>
                  </a:schemeClr>
                </a:solidFill>
              </a:rPr>
              <a:t>4. Hierarchical Inheritance:</a:t>
            </a:r>
            <a:endParaRPr lang="en-US" altLang="en-US" dirty="0">
              <a:solidFill>
                <a:schemeClr val="accent5">
                  <a:lumMod val="75000"/>
                </a:schemeClr>
              </a:solidFill>
            </a:endParaRPr>
          </a:p>
          <a:p>
            <a:pPr algn="just" eaLnBrk="1" hangingPunct="1"/>
            <a:endParaRPr lang="en-US" altLang="en-US" sz="2800" dirty="0">
              <a:solidFill>
                <a:schemeClr val="accent5">
                  <a:lumMod val="75000"/>
                </a:schemeClr>
              </a:solidFill>
            </a:endParaRPr>
          </a:p>
          <a:p>
            <a:pPr algn="just" eaLnBrk="1" hangingPunct="1"/>
            <a:r>
              <a:rPr lang="en-US" altLang="en-US" sz="2800" dirty="0">
                <a:solidFill>
                  <a:schemeClr val="accent5">
                    <a:lumMod val="75000"/>
                  </a:schemeClr>
                </a:solidFill>
              </a:rPr>
              <a:t>In hierarchical Inheritance, it's like an inverted tree. So multiple classes inherit from a single base class. It's quite analogous to the File system in a </a:t>
            </a:r>
            <a:r>
              <a:rPr lang="en-US" altLang="en-US" sz="2800" dirty="0" err="1">
                <a:solidFill>
                  <a:schemeClr val="accent5">
                    <a:lumMod val="75000"/>
                  </a:schemeClr>
                </a:solidFill>
              </a:rPr>
              <a:t>unix</a:t>
            </a:r>
            <a:r>
              <a:rPr lang="en-US" altLang="en-US" sz="2800" dirty="0">
                <a:solidFill>
                  <a:schemeClr val="accent5">
                    <a:lumMod val="75000"/>
                  </a:schemeClr>
                </a:solidFill>
              </a:rPr>
              <a:t> based system.</a:t>
            </a:r>
            <a:endParaRPr lang="en-US" altLang="en-US" dirty="0">
              <a:solidFill>
                <a:schemeClr val="accent5">
                  <a:lumMod val="75000"/>
                </a:schemeClr>
              </a:solidFill>
            </a:endParaRPr>
          </a:p>
        </p:txBody>
      </p:sp>
      <p:sp>
        <p:nvSpPr>
          <p:cNvPr id="21507" name="Rectangle 37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1508" name="Group -836"/>
          <p:cNvGrpSpPr>
            <a:grpSpLocks/>
          </p:cNvGrpSpPr>
          <p:nvPr/>
        </p:nvGrpSpPr>
        <p:grpSpPr bwMode="auto">
          <a:xfrm>
            <a:off x="2667000" y="4191000"/>
            <a:ext cx="7112000" cy="1949450"/>
            <a:chOff x="1176996" y="3505200"/>
            <a:chExt cx="7110632" cy="1949141"/>
          </a:xfrm>
        </p:grpSpPr>
        <p:sp>
          <p:nvSpPr>
            <p:cNvPr id="21509" name="Rectangle 373"/>
            <p:cNvSpPr>
              <a:spLocks/>
            </p:cNvSpPr>
            <p:nvPr/>
          </p:nvSpPr>
          <p:spPr bwMode="auto">
            <a:xfrm>
              <a:off x="3657782" y="3505200"/>
              <a:ext cx="1757024" cy="699977"/>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A  </a:t>
              </a:r>
              <a:endParaRPr lang="en-US" altLang="en-US" dirty="0">
                <a:solidFill>
                  <a:schemeClr val="accent5">
                    <a:lumMod val="75000"/>
                  </a:schemeClr>
                </a:solidFill>
              </a:endParaRPr>
            </a:p>
          </p:txBody>
        </p:sp>
        <p:sp>
          <p:nvSpPr>
            <p:cNvPr id="21510" name="Rectangle 375"/>
            <p:cNvSpPr>
              <a:spLocks/>
            </p:cNvSpPr>
            <p:nvPr/>
          </p:nvSpPr>
          <p:spPr bwMode="auto">
            <a:xfrm>
              <a:off x="1176996" y="4848012"/>
              <a:ext cx="1641159" cy="60632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B</a:t>
              </a:r>
              <a:endParaRPr lang="en-US" altLang="en-US" dirty="0">
                <a:solidFill>
                  <a:schemeClr val="accent5">
                    <a:lumMod val="75000"/>
                  </a:schemeClr>
                </a:solidFill>
              </a:endParaRPr>
            </a:p>
          </p:txBody>
        </p:sp>
        <p:sp>
          <p:nvSpPr>
            <p:cNvPr id="21511" name="Rectangle 377"/>
            <p:cNvSpPr>
              <a:spLocks/>
            </p:cNvSpPr>
            <p:nvPr/>
          </p:nvSpPr>
          <p:spPr bwMode="auto">
            <a:xfrm>
              <a:off x="6705195" y="4786110"/>
              <a:ext cx="1582433" cy="6237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C</a:t>
              </a:r>
              <a:endParaRPr lang="en-US" altLang="en-US" dirty="0">
                <a:solidFill>
                  <a:schemeClr val="accent5">
                    <a:lumMod val="75000"/>
                  </a:schemeClr>
                </a:solidFill>
              </a:endParaRPr>
            </a:p>
          </p:txBody>
        </p:sp>
        <p:pic>
          <p:nvPicPr>
            <p:cNvPr id="215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086" y="3770334"/>
              <a:ext cx="1822353" cy="103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4052" y="3697194"/>
              <a:ext cx="2200233" cy="1109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Rectangle 379"/>
            <p:cNvSpPr>
              <a:spLocks/>
            </p:cNvSpPr>
            <p:nvPr/>
          </p:nvSpPr>
          <p:spPr bwMode="auto">
            <a:xfrm>
              <a:off x="3733967" y="4800395"/>
              <a:ext cx="1641159" cy="623789"/>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D</a:t>
              </a:r>
              <a:endParaRPr lang="en-US" altLang="en-US" dirty="0">
                <a:solidFill>
                  <a:schemeClr val="accent5">
                    <a:lumMod val="75000"/>
                  </a:schemeClr>
                </a:solidFill>
              </a:endParaRPr>
            </a:p>
          </p:txBody>
        </p:sp>
        <p:sp>
          <p:nvSpPr>
            <p:cNvPr id="21515" name="Line 381"/>
            <p:cNvSpPr>
              <a:spLocks noChangeShapeType="1"/>
            </p:cNvSpPr>
            <p:nvPr/>
          </p:nvSpPr>
          <p:spPr bwMode="auto">
            <a:xfrm flipV="1">
              <a:off x="4495800" y="4267200"/>
              <a:ext cx="0" cy="533400"/>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grpSp>
    </p:spTree>
    <p:extLst>
      <p:ext uri="{BB962C8B-B14F-4D97-AF65-F5344CB8AC3E}">
        <p14:creationId xmlns:p14="http://schemas.microsoft.com/office/powerpoint/2010/main" val="3239712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281" y="115966"/>
            <a:ext cx="6096000" cy="6463308"/>
          </a:xfrm>
          <a:prstGeom prst="rect">
            <a:avLst/>
          </a:prstGeom>
        </p:spPr>
        <p:txBody>
          <a:bodyPr>
            <a:spAutoFit/>
          </a:bodyPr>
          <a:lstStyle/>
          <a:p>
            <a:r>
              <a:rPr lang="en-US" dirty="0"/>
              <a:t>#include &lt;</a:t>
            </a:r>
            <a:r>
              <a:rPr lang="en-US" dirty="0" err="1"/>
              <a:t>iostream</a:t>
            </a:r>
            <a:r>
              <a:rPr lang="en-US" dirty="0"/>
              <a:t>&gt;</a:t>
            </a:r>
          </a:p>
          <a:p>
            <a:r>
              <a:rPr lang="en-US" b="1" dirty="0"/>
              <a:t>// Base class</a:t>
            </a:r>
          </a:p>
          <a:p>
            <a:r>
              <a:rPr lang="en-US" b="1" dirty="0"/>
              <a:t>class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generic shape." &lt;&lt; </a:t>
            </a:r>
            <a:r>
              <a:rPr lang="en-US" dirty="0" err="1"/>
              <a:t>std</a:t>
            </a:r>
            <a:r>
              <a:rPr lang="en-US" dirty="0"/>
              <a:t>::</a:t>
            </a:r>
            <a:r>
              <a:rPr lang="en-US" dirty="0" err="1"/>
              <a:t>endl</a:t>
            </a:r>
            <a:r>
              <a:rPr lang="en-US" dirty="0"/>
              <a:t>;</a:t>
            </a:r>
          </a:p>
          <a:p>
            <a:r>
              <a:rPr lang="en-US" dirty="0"/>
              <a:t>    }</a:t>
            </a:r>
          </a:p>
          <a:p>
            <a:r>
              <a:rPr lang="en-US" dirty="0"/>
              <a:t>};</a:t>
            </a:r>
          </a:p>
          <a:p>
            <a:r>
              <a:rPr lang="en-US" b="1" dirty="0"/>
              <a:t>// Derived class Rectangle inheriting from Shape</a:t>
            </a:r>
          </a:p>
          <a:p>
            <a:r>
              <a:rPr lang="en-US" b="1" dirty="0"/>
              <a:t>class Rectangle : public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rectangle." &lt;&lt; </a:t>
            </a:r>
            <a:r>
              <a:rPr lang="en-US" dirty="0" err="1"/>
              <a:t>std</a:t>
            </a:r>
            <a:r>
              <a:rPr lang="en-US" dirty="0"/>
              <a:t>::</a:t>
            </a:r>
            <a:r>
              <a:rPr lang="en-US" dirty="0" err="1"/>
              <a:t>endl</a:t>
            </a:r>
            <a:r>
              <a:rPr lang="en-US" dirty="0"/>
              <a:t>;</a:t>
            </a:r>
          </a:p>
          <a:p>
            <a:r>
              <a:rPr lang="en-US" dirty="0"/>
              <a:t>    }</a:t>
            </a:r>
          </a:p>
          <a:p>
            <a:r>
              <a:rPr lang="en-US" dirty="0"/>
              <a:t>};</a:t>
            </a:r>
          </a:p>
          <a:p>
            <a:r>
              <a:rPr lang="en-US" b="1" dirty="0"/>
              <a:t>// Derived class Circle inheriting from Shape</a:t>
            </a:r>
          </a:p>
          <a:p>
            <a:r>
              <a:rPr lang="en-US" b="1" dirty="0"/>
              <a:t>class Circle : public Shape </a:t>
            </a:r>
            <a:r>
              <a:rPr lang="en-US" dirty="0"/>
              <a:t>{</a:t>
            </a:r>
          </a:p>
          <a:p>
            <a:r>
              <a:rPr lang="en-US" dirty="0"/>
              <a:t>public:</a:t>
            </a:r>
          </a:p>
          <a:p>
            <a:r>
              <a:rPr lang="en-US" dirty="0"/>
              <a:t>    void draw() {</a:t>
            </a:r>
          </a:p>
          <a:p>
            <a:r>
              <a:rPr lang="en-US" dirty="0"/>
              <a:t>        </a:t>
            </a:r>
            <a:r>
              <a:rPr lang="en-US" dirty="0" err="1"/>
              <a:t>std</a:t>
            </a:r>
            <a:r>
              <a:rPr lang="en-US" dirty="0"/>
              <a:t>::</a:t>
            </a:r>
            <a:r>
              <a:rPr lang="en-US" dirty="0" err="1"/>
              <a:t>cout</a:t>
            </a:r>
            <a:r>
              <a:rPr lang="en-US" dirty="0"/>
              <a:t> &lt;&lt; "Drawing a circle." &lt;&lt; </a:t>
            </a:r>
            <a:r>
              <a:rPr lang="en-US" dirty="0" err="1"/>
              <a:t>std</a:t>
            </a:r>
            <a:r>
              <a:rPr lang="en-US" dirty="0"/>
              <a:t>::</a:t>
            </a:r>
            <a:r>
              <a:rPr lang="en-US" dirty="0" err="1"/>
              <a:t>endl</a:t>
            </a:r>
            <a:r>
              <a:rPr lang="en-US" dirty="0"/>
              <a:t>;</a:t>
            </a:r>
          </a:p>
          <a:p>
            <a:r>
              <a:rPr lang="en-US" dirty="0"/>
              <a:t>    }</a:t>
            </a:r>
          </a:p>
          <a:p>
            <a:r>
              <a:rPr lang="en-US" dirty="0"/>
              <a:t>};</a:t>
            </a:r>
          </a:p>
          <a:p>
            <a:endParaRPr lang="en-US" dirty="0"/>
          </a:p>
        </p:txBody>
      </p:sp>
      <p:sp>
        <p:nvSpPr>
          <p:cNvPr id="6" name="Rectangle 5"/>
          <p:cNvSpPr/>
          <p:nvPr/>
        </p:nvSpPr>
        <p:spPr>
          <a:xfrm>
            <a:off x="6214281" y="891865"/>
            <a:ext cx="6096000" cy="5632311"/>
          </a:xfrm>
          <a:prstGeom prst="rect">
            <a:avLst/>
          </a:prstGeom>
        </p:spPr>
        <p:txBody>
          <a:bodyPr>
            <a:spAutoFit/>
          </a:bodyPr>
          <a:lstStyle/>
          <a:p>
            <a:r>
              <a:rPr lang="en-US" dirty="0" err="1"/>
              <a:t>int</a:t>
            </a:r>
            <a:r>
              <a:rPr lang="en-US" dirty="0"/>
              <a:t> main() {</a:t>
            </a:r>
          </a:p>
          <a:p>
            <a:r>
              <a:rPr lang="en-US" dirty="0"/>
              <a:t>    // Create objects of the derived classes</a:t>
            </a:r>
          </a:p>
          <a:p>
            <a:r>
              <a:rPr lang="en-US" dirty="0"/>
              <a:t>    Rectangle rec1;</a:t>
            </a:r>
          </a:p>
          <a:p>
            <a:r>
              <a:rPr lang="en-US" dirty="0"/>
              <a:t>    Circle cir1;</a:t>
            </a:r>
          </a:p>
          <a:p>
            <a:r>
              <a:rPr lang="en-US" dirty="0"/>
              <a:t>Shape sh1;</a:t>
            </a:r>
          </a:p>
          <a:p>
            <a:r>
              <a:rPr lang="en-US" dirty="0"/>
              <a:t>Sh1.draw();</a:t>
            </a:r>
          </a:p>
          <a:p>
            <a:endParaRPr lang="en-US" dirty="0"/>
          </a:p>
          <a:p>
            <a:r>
              <a:rPr lang="en-US" dirty="0"/>
              <a:t>    // Call the draw() function of the objects</a:t>
            </a:r>
          </a:p>
          <a:p>
            <a:r>
              <a:rPr lang="en-US" dirty="0"/>
              <a:t>    rec1.draw(); </a:t>
            </a:r>
            <a:r>
              <a:rPr lang="en-US" b="1" dirty="0"/>
              <a:t>// Output: "Drawing a rectangle."</a:t>
            </a:r>
          </a:p>
          <a:p>
            <a:r>
              <a:rPr lang="en-US" dirty="0"/>
              <a:t>    cir1.draw();    </a:t>
            </a:r>
            <a:r>
              <a:rPr lang="en-US" b="1" dirty="0"/>
              <a:t>// Output: "Drawing a circle."</a:t>
            </a:r>
          </a:p>
          <a:p>
            <a:endParaRPr lang="en-US" dirty="0"/>
          </a:p>
          <a:p>
            <a:r>
              <a:rPr lang="en-US" dirty="0"/>
              <a:t>    // Call the draw() function of the base class through the derived class objects</a:t>
            </a:r>
          </a:p>
          <a:p>
            <a:r>
              <a:rPr lang="en-US" dirty="0"/>
              <a:t>    rec1.Shape::draw(); </a:t>
            </a:r>
            <a:r>
              <a:rPr lang="en-US" b="1" dirty="0"/>
              <a:t>// Output: "Drawing a generic shape."</a:t>
            </a:r>
          </a:p>
          <a:p>
            <a:r>
              <a:rPr lang="en-US" dirty="0"/>
              <a:t>    cir1.Shape::draw();    </a:t>
            </a:r>
            <a:r>
              <a:rPr lang="en-US" b="1" dirty="0"/>
              <a:t>// Output: "Drawing a generic shape."</a:t>
            </a:r>
          </a:p>
          <a:p>
            <a:endParaRPr lang="en-US" dirty="0"/>
          </a:p>
          <a:p>
            <a:r>
              <a:rPr lang="en-US" dirty="0"/>
              <a:t>    return 0;</a:t>
            </a:r>
          </a:p>
          <a:p>
            <a:r>
              <a:rPr lang="en-US" dirty="0"/>
              <a:t>}</a:t>
            </a:r>
          </a:p>
        </p:txBody>
      </p:sp>
      <p:sp>
        <p:nvSpPr>
          <p:cNvPr id="7" name="TextBox 6"/>
          <p:cNvSpPr txBox="1"/>
          <p:nvPr/>
        </p:nvSpPr>
        <p:spPr>
          <a:xfrm>
            <a:off x="6214281" y="259307"/>
            <a:ext cx="5454555" cy="382138"/>
          </a:xfrm>
          <a:prstGeom prst="rect">
            <a:avLst/>
          </a:prstGeom>
          <a:solidFill>
            <a:schemeClr val="accent1">
              <a:lumMod val="40000"/>
              <a:lumOff val="60000"/>
            </a:schemeClr>
          </a:solidFill>
        </p:spPr>
        <p:txBody>
          <a:bodyPr wrap="square" rtlCol="0">
            <a:spAutoFit/>
          </a:bodyPr>
          <a:lstStyle/>
          <a:p>
            <a:pPr algn="ctr"/>
            <a:r>
              <a:rPr lang="en-US" b="1" dirty="0"/>
              <a:t>Function Overriding</a:t>
            </a:r>
          </a:p>
        </p:txBody>
      </p:sp>
    </p:spTree>
    <p:extLst>
      <p:ext uri="{BB962C8B-B14F-4D97-AF65-F5344CB8AC3E}">
        <p14:creationId xmlns:p14="http://schemas.microsoft.com/office/powerpoint/2010/main" val="333611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Function Overriding </a:t>
            </a:r>
          </a:p>
        </p:txBody>
      </p:sp>
      <p:sp>
        <p:nvSpPr>
          <p:cNvPr id="3" name="Content Placeholder 2"/>
          <p:cNvSpPr>
            <a:spLocks noGrp="1"/>
          </p:cNvSpPr>
          <p:nvPr>
            <p:ph idx="1"/>
          </p:nvPr>
        </p:nvSpPr>
        <p:spPr/>
        <p:txBody>
          <a:bodyPr/>
          <a:lstStyle/>
          <a:p>
            <a:r>
              <a:rPr lang="en-US" dirty="0"/>
              <a:t>Function overriding is a concept in C++ that allows a derived class to provide a specific implementation for a method that is already defined in its base class. When a function is overridden in the derived class, the derived class's version of the function takes precedence over the base class's version when called through a derived class object.</a:t>
            </a:r>
          </a:p>
          <a:p>
            <a:r>
              <a:rPr lang="en-US" dirty="0"/>
              <a:t>To achieve function overriding, the base class function must be declared as virtual, and the derived class function must have the same function signature (name, return type, and parameters) as the base class function.</a:t>
            </a:r>
          </a:p>
          <a:p>
            <a:endParaRPr lang="en-US" dirty="0"/>
          </a:p>
        </p:txBody>
      </p:sp>
    </p:spTree>
    <p:extLst>
      <p:ext uri="{BB962C8B-B14F-4D97-AF65-F5344CB8AC3E}">
        <p14:creationId xmlns:p14="http://schemas.microsoft.com/office/powerpoint/2010/main" val="3827433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89"/>
          <p:cNvSpPr>
            <a:spLocks noChangeArrowheads="1"/>
          </p:cNvSpPr>
          <p:nvPr/>
        </p:nvSpPr>
        <p:spPr bwMode="auto">
          <a:xfrm>
            <a:off x="1981200" y="1062039"/>
            <a:ext cx="83058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dirty="0">
                <a:solidFill>
                  <a:schemeClr val="accent5">
                    <a:lumMod val="75000"/>
                  </a:schemeClr>
                </a:solidFill>
              </a:rPr>
              <a:t>5. Hybrid Inheritance:</a:t>
            </a:r>
            <a:endParaRPr lang="en-US" altLang="en-US" dirty="0">
              <a:solidFill>
                <a:schemeClr val="accent5">
                  <a:lumMod val="75000"/>
                </a:schemeClr>
              </a:solidFill>
            </a:endParaRPr>
          </a:p>
          <a:p>
            <a:pPr algn="just" eaLnBrk="1" hangingPunct="1"/>
            <a:endParaRPr lang="en-IN" altLang="en-US" sz="2000" b="1"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In this type of inheritance, we can have mixture of number of inheritances but this can generate an error of using same name function from no of classes, which will bother the </a:t>
            </a:r>
            <a:r>
              <a:rPr lang="en-US" altLang="en-US" sz="2800" u="sng" dirty="0">
                <a:solidFill>
                  <a:schemeClr val="accent5">
                    <a:lumMod val="75000"/>
                  </a:schemeClr>
                </a:solidFill>
              </a:rPr>
              <a:t>compiler</a:t>
            </a:r>
            <a:r>
              <a:rPr lang="en-US" altLang="en-US" sz="2800" dirty="0">
                <a:solidFill>
                  <a:schemeClr val="accent5">
                    <a:lumMod val="75000"/>
                  </a:schemeClr>
                </a:solidFill>
              </a:rPr>
              <a:t> to how to use the functions.</a:t>
            </a:r>
            <a:endParaRPr lang="en-US" altLang="en-US" dirty="0">
              <a:solidFill>
                <a:schemeClr val="accent5">
                  <a:lumMod val="75000"/>
                </a:schemeClr>
              </a:solidFill>
            </a:endParaRPr>
          </a:p>
          <a:p>
            <a:pPr algn="just" eaLnBrk="1" hangingPunct="1"/>
            <a:endParaRPr lang="en-IN" altLang="en-US"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Therefore, it will generate errors in the program. This has known as ambiguity or duplicity.</a:t>
            </a:r>
            <a:endParaRPr lang="en-US" altLang="en-US" dirty="0">
              <a:solidFill>
                <a:schemeClr val="accent5">
                  <a:lumMod val="75000"/>
                </a:schemeClr>
              </a:solidFill>
            </a:endParaRPr>
          </a:p>
          <a:p>
            <a:pPr algn="just" eaLnBrk="1" hangingPunct="1"/>
            <a:endParaRPr lang="en-IN" altLang="en-US" dirty="0">
              <a:solidFill>
                <a:schemeClr val="accent5">
                  <a:lumMod val="75000"/>
                </a:schemeClr>
              </a:solidFill>
            </a:endParaRPr>
          </a:p>
          <a:p>
            <a:pPr algn="just" eaLnBrk="1" hangingPunct="1">
              <a:buFont typeface="Wingdings" panose="05000000000000000000" pitchFamily="2" charset="2"/>
              <a:buChar char="ü"/>
            </a:pPr>
            <a:r>
              <a:rPr lang="en-US" altLang="en-US" sz="2800" dirty="0">
                <a:solidFill>
                  <a:schemeClr val="accent5">
                    <a:lumMod val="75000"/>
                  </a:schemeClr>
                </a:solidFill>
              </a:rPr>
              <a:t>Ambiguity problem can be solved by using </a:t>
            </a:r>
            <a:r>
              <a:rPr lang="en-US" altLang="en-US" sz="2800" b="1" dirty="0">
                <a:solidFill>
                  <a:schemeClr val="accent5">
                    <a:lumMod val="75000"/>
                  </a:schemeClr>
                </a:solidFill>
              </a:rPr>
              <a:t>virtual base classes </a:t>
            </a:r>
            <a:endParaRPr lang="en-US" altLang="en-US" dirty="0">
              <a:solidFill>
                <a:schemeClr val="accent5">
                  <a:lumMod val="75000"/>
                </a:schemeClr>
              </a:solidFill>
            </a:endParaRPr>
          </a:p>
        </p:txBody>
      </p:sp>
      <p:sp>
        <p:nvSpPr>
          <p:cNvPr id="22531" name="Rectangle 391"/>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spTree>
    <p:extLst>
      <p:ext uri="{BB962C8B-B14F-4D97-AF65-F5344CB8AC3E}">
        <p14:creationId xmlns:p14="http://schemas.microsoft.com/office/powerpoint/2010/main" val="1422962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99"/>
          <p:cNvSpPr>
            <a:spLocks noChangeArrowheads="1"/>
          </p:cNvSpPr>
          <p:nvPr/>
        </p:nvSpPr>
        <p:spPr bwMode="auto">
          <a:xfrm>
            <a:off x="4114800" y="228601"/>
            <a:ext cx="463883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eaLnBrk="1" hangingPunct="1"/>
            <a:r>
              <a:rPr lang="en-IN" altLang="en-US" sz="3600" b="1">
                <a:solidFill>
                  <a:schemeClr val="accent5">
                    <a:lumMod val="75000"/>
                  </a:schemeClr>
                </a:solidFill>
              </a:rPr>
              <a:t>Types of Inheritance</a:t>
            </a:r>
            <a:endParaRPr lang="en-US" altLang="en-US">
              <a:solidFill>
                <a:schemeClr val="accent5">
                  <a:lumMod val="75000"/>
                </a:schemeClr>
              </a:solidFill>
            </a:endParaRPr>
          </a:p>
        </p:txBody>
      </p:sp>
      <p:grpSp>
        <p:nvGrpSpPr>
          <p:cNvPr id="23555" name="Group -826"/>
          <p:cNvGrpSpPr>
            <a:grpSpLocks/>
          </p:cNvGrpSpPr>
          <p:nvPr/>
        </p:nvGrpSpPr>
        <p:grpSpPr bwMode="auto">
          <a:xfrm>
            <a:off x="2286000" y="2133600"/>
            <a:ext cx="7543800" cy="3581400"/>
            <a:chOff x="990600" y="1600200"/>
            <a:chExt cx="6324600" cy="3076575"/>
          </a:xfrm>
        </p:grpSpPr>
        <p:sp>
          <p:nvSpPr>
            <p:cNvPr id="23557" name="Rectangle 401"/>
            <p:cNvSpPr>
              <a:spLocks/>
            </p:cNvSpPr>
            <p:nvPr/>
          </p:nvSpPr>
          <p:spPr bwMode="auto">
            <a:xfrm>
              <a:off x="3353009" y="1600200"/>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A</a:t>
              </a:r>
              <a:endParaRPr lang="en-US" altLang="en-US" dirty="0">
                <a:solidFill>
                  <a:schemeClr val="accent5">
                    <a:lumMod val="75000"/>
                  </a:schemeClr>
                </a:solidFill>
              </a:endParaRPr>
            </a:p>
          </p:txBody>
        </p:sp>
        <p:sp>
          <p:nvSpPr>
            <p:cNvPr id="23558" name="Rectangle 403"/>
            <p:cNvSpPr>
              <a:spLocks/>
            </p:cNvSpPr>
            <p:nvPr/>
          </p:nvSpPr>
          <p:spPr bwMode="auto">
            <a:xfrm>
              <a:off x="990600" y="2819375"/>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B</a:t>
              </a:r>
              <a:endParaRPr lang="en-US" altLang="en-US" dirty="0">
                <a:solidFill>
                  <a:schemeClr val="accent5">
                    <a:lumMod val="75000"/>
                  </a:schemeClr>
                </a:solidFill>
              </a:endParaRPr>
            </a:p>
          </p:txBody>
        </p:sp>
        <p:sp>
          <p:nvSpPr>
            <p:cNvPr id="23559" name="Rectangle 405"/>
            <p:cNvSpPr>
              <a:spLocks/>
            </p:cNvSpPr>
            <p:nvPr/>
          </p:nvSpPr>
          <p:spPr bwMode="auto">
            <a:xfrm>
              <a:off x="3504735" y="4191287"/>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D</a:t>
              </a:r>
              <a:endParaRPr lang="en-US" altLang="en-US" dirty="0">
                <a:solidFill>
                  <a:schemeClr val="accent5">
                    <a:lumMod val="75000"/>
                  </a:schemeClr>
                </a:solidFill>
              </a:endParaRPr>
            </a:p>
          </p:txBody>
        </p:sp>
        <p:sp>
          <p:nvSpPr>
            <p:cNvPr id="23560" name="Rectangle 407"/>
            <p:cNvSpPr>
              <a:spLocks/>
            </p:cNvSpPr>
            <p:nvPr/>
          </p:nvSpPr>
          <p:spPr bwMode="auto">
            <a:xfrm>
              <a:off x="5867143" y="2895744"/>
              <a:ext cx="1448057" cy="485488"/>
            </a:xfrm>
            <a:prstGeom prst="rect">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ctr" eaLnBrk="1" hangingPunct="1">
                <a:spcAft>
                  <a:spcPts val="1000"/>
                </a:spcAft>
              </a:pPr>
              <a:r>
                <a:rPr lang="en-IN" altLang="en-US" sz="2800" b="1" dirty="0">
                  <a:solidFill>
                    <a:schemeClr val="accent5">
                      <a:lumMod val="75000"/>
                    </a:schemeClr>
                  </a:solidFill>
                </a:rPr>
                <a:t>Class C</a:t>
              </a:r>
              <a:endParaRPr lang="en-US" altLang="en-US" dirty="0">
                <a:solidFill>
                  <a:schemeClr val="accent5">
                    <a:lumMod val="75000"/>
                  </a:schemeClr>
                </a:solidFill>
              </a:endParaRPr>
            </a:p>
            <a:p>
              <a:pPr eaLnBrk="1" hangingPunct="1"/>
              <a:endParaRPr lang="en-US" altLang="en-US" sz="4400" b="1" dirty="0">
                <a:solidFill>
                  <a:schemeClr val="accent5">
                    <a:lumMod val="75000"/>
                  </a:schemeClr>
                </a:solidFill>
              </a:endParaRPr>
            </a:p>
          </p:txBody>
        </p:sp>
        <p:sp>
          <p:nvSpPr>
            <p:cNvPr id="23561" name="Line 409"/>
            <p:cNvSpPr>
              <a:spLocks noChangeShapeType="1"/>
            </p:cNvSpPr>
            <p:nvPr/>
          </p:nvSpPr>
          <p:spPr bwMode="auto">
            <a:xfrm flipH="1" flipV="1">
              <a:off x="1829089" y="3352594"/>
              <a:ext cx="2150790" cy="790963"/>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2" name="Line 411"/>
            <p:cNvSpPr>
              <a:spLocks noChangeShapeType="1"/>
            </p:cNvSpPr>
            <p:nvPr/>
          </p:nvSpPr>
          <p:spPr bwMode="auto">
            <a:xfrm flipV="1">
              <a:off x="4496281" y="3428962"/>
              <a:ext cx="1980430" cy="714595"/>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3" name="Line 413"/>
            <p:cNvSpPr>
              <a:spLocks noChangeShapeType="1"/>
            </p:cNvSpPr>
            <p:nvPr/>
          </p:nvSpPr>
          <p:spPr bwMode="auto">
            <a:xfrm flipH="1" flipV="1">
              <a:off x="4801065" y="1752938"/>
              <a:ext cx="1700934" cy="1095076"/>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sp>
          <p:nvSpPr>
            <p:cNvPr id="23564" name="Line 415"/>
            <p:cNvSpPr>
              <a:spLocks noChangeShapeType="1"/>
            </p:cNvSpPr>
            <p:nvPr/>
          </p:nvSpPr>
          <p:spPr bwMode="auto">
            <a:xfrm flipV="1">
              <a:off x="1600168" y="1829307"/>
              <a:ext cx="1752841" cy="942338"/>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chemeClr val="accent5">
                    <a:lumMod val="75000"/>
                  </a:schemeClr>
                </a:solidFill>
              </a:endParaRPr>
            </a:p>
          </p:txBody>
        </p:sp>
      </p:grpSp>
      <p:sp>
        <p:nvSpPr>
          <p:cNvPr id="23556" name="Rectangle 417"/>
          <p:cNvSpPr>
            <a:spLocks noChangeArrowheads="1"/>
          </p:cNvSpPr>
          <p:nvPr/>
        </p:nvSpPr>
        <p:spPr bwMode="auto">
          <a:xfrm>
            <a:off x="1822576" y="1066801"/>
            <a:ext cx="43733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1pPr>
            <a:lvl2pPr marL="742950" indent="-28575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2pPr>
            <a:lvl3pPr marL="11430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3pPr>
            <a:lvl4pPr marL="16002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4pPr>
            <a:lvl5pPr marL="2057400" indent="-228600" defTabSz="912813" eaLnBrk="0" hangingPunct="0">
              <a:defRPr>
                <a:solidFill>
                  <a:srgbClr val="000000"/>
                </a:solidFill>
                <a:latin typeface="Arial" panose="020B0604020202020204" pitchFamily="34" charset="0"/>
                <a:ea typeface="方正姚体"/>
                <a:cs typeface="方正姚体"/>
                <a:sym typeface="Arial" panose="020B0604020202020204" pitchFamily="34" charset="0"/>
              </a:defRPr>
            </a:lvl5pPr>
            <a:lvl6pPr marL="25146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6pPr>
            <a:lvl7pPr marL="29718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7pPr>
            <a:lvl8pPr marL="34290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8pPr>
            <a:lvl9pPr marL="3886200" indent="-228600" defTabSz="912813" eaLnBrk="0" fontAlgn="base" hangingPunct="0">
              <a:spcBef>
                <a:spcPct val="0"/>
              </a:spcBef>
              <a:spcAft>
                <a:spcPct val="0"/>
              </a:spcAft>
              <a:defRPr>
                <a:solidFill>
                  <a:srgbClr val="000000"/>
                </a:solidFill>
                <a:latin typeface="Arial" panose="020B0604020202020204" pitchFamily="34" charset="0"/>
                <a:ea typeface="方正姚体"/>
                <a:cs typeface="方正姚体"/>
                <a:sym typeface="Arial" panose="020B0604020202020204" pitchFamily="34" charset="0"/>
              </a:defRPr>
            </a:lvl9pPr>
          </a:lstStyle>
          <a:p>
            <a:pPr algn="just" eaLnBrk="1" hangingPunct="1"/>
            <a:r>
              <a:rPr lang="en-US" altLang="en-US" sz="3200" b="1">
                <a:solidFill>
                  <a:schemeClr val="accent5">
                    <a:lumMod val="75000"/>
                  </a:schemeClr>
                </a:solidFill>
              </a:rPr>
              <a:t>5. Hybrid Inheritance:</a:t>
            </a:r>
            <a:endParaRPr lang="en-US" altLang="en-US">
              <a:solidFill>
                <a:schemeClr val="accent5">
                  <a:lumMod val="75000"/>
                </a:schemeClr>
              </a:solidFill>
            </a:endParaRPr>
          </a:p>
        </p:txBody>
      </p:sp>
    </p:spTree>
    <p:extLst>
      <p:ext uri="{BB962C8B-B14F-4D97-AF65-F5344CB8AC3E}">
        <p14:creationId xmlns:p14="http://schemas.microsoft.com/office/powerpoint/2010/main" val="2827630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1D9A-84A2-92CA-FD40-4940F0D43D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75A35A-9F5A-7A41-AFAF-239622009A4D}"/>
              </a:ext>
            </a:extLst>
          </p:cNvPr>
          <p:cNvSpPr>
            <a:spLocks noGrp="1"/>
          </p:cNvSpPr>
          <p:nvPr>
            <p:ph idx="1"/>
          </p:nvPr>
        </p:nvSpPr>
        <p:spPr/>
        <p:txBody>
          <a:bodyPr/>
          <a:lstStyle/>
          <a:p>
            <a:r>
              <a:rPr lang="en-US" dirty="0"/>
              <a:t>Here, when D inherits from multiple classes;</a:t>
            </a:r>
          </a:p>
          <a:p>
            <a:r>
              <a:rPr lang="en-US" dirty="0"/>
              <a:t> B and C having the same base class; A,</a:t>
            </a:r>
          </a:p>
          <a:p>
            <a:r>
              <a:rPr lang="en-US" dirty="0"/>
              <a:t> it may inherit multiple instances of the base class. This is known as the diamond problem.</a:t>
            </a:r>
          </a:p>
          <a:p>
            <a:r>
              <a:rPr lang="en-US" dirty="0"/>
              <a:t>We can avoid this problem using virtual inheritance.</a:t>
            </a:r>
          </a:p>
        </p:txBody>
      </p:sp>
    </p:spTree>
    <p:extLst>
      <p:ext uri="{BB962C8B-B14F-4D97-AF65-F5344CB8AC3E}">
        <p14:creationId xmlns:p14="http://schemas.microsoft.com/office/powerpoint/2010/main" val="4096187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158E6-974A-7A97-424E-45D3C2ADB8DF}"/>
              </a:ext>
            </a:extLst>
          </p:cNvPr>
          <p:cNvSpPr>
            <a:spLocks noGrp="1"/>
          </p:cNvSpPr>
          <p:nvPr>
            <p:ph idx="1"/>
          </p:nvPr>
        </p:nvSpPr>
        <p:spPr>
          <a:xfrm>
            <a:off x="677334" y="609600"/>
            <a:ext cx="5813408" cy="5986071"/>
          </a:xfrm>
        </p:spPr>
        <p:txBody>
          <a:bodyPr>
            <a:normAutofit/>
          </a:bodyPr>
          <a:lstStyle/>
          <a:p>
            <a:pPr marL="0" indent="0">
              <a:buNone/>
            </a:pPr>
            <a:r>
              <a:rPr lang="en-US" dirty="0"/>
              <a:t>class Base {</a:t>
            </a:r>
          </a:p>
          <a:p>
            <a:pPr marL="0" indent="0">
              <a:buNone/>
            </a:pPr>
            <a:r>
              <a:rPr lang="en-US" dirty="0"/>
              <a:t>... .. ...</a:t>
            </a:r>
          </a:p>
          <a:p>
            <a:pPr marL="0" indent="0">
              <a:buNone/>
            </a:pPr>
            <a:r>
              <a:rPr lang="en-US" dirty="0"/>
              <a:t>};</a:t>
            </a:r>
          </a:p>
          <a:p>
            <a:endParaRPr lang="en-US" dirty="0"/>
          </a:p>
          <a:p>
            <a:pPr marL="0" indent="0">
              <a:buNone/>
            </a:pPr>
            <a:r>
              <a:rPr lang="en-US" dirty="0"/>
              <a:t>class Derived1 : virtual public Base {</a:t>
            </a:r>
          </a:p>
          <a:p>
            <a:pPr marL="0" indent="0">
              <a:buNone/>
            </a:pPr>
            <a:r>
              <a:rPr lang="en-US" dirty="0"/>
              <a:t>... .. ...</a:t>
            </a:r>
          </a:p>
          <a:p>
            <a:pPr marL="0" indent="0">
              <a:buNone/>
            </a:pPr>
            <a:r>
              <a:rPr lang="en-US" dirty="0"/>
              <a:t>};</a:t>
            </a:r>
          </a:p>
          <a:p>
            <a:endParaRPr lang="en-US" dirty="0"/>
          </a:p>
          <a:p>
            <a:pPr marL="0" indent="0">
              <a:buNone/>
            </a:pPr>
            <a:r>
              <a:rPr lang="en-US" dirty="0"/>
              <a:t>class Derived2 : virtual public Base {</a:t>
            </a:r>
          </a:p>
          <a:p>
            <a:pPr marL="0" indent="0">
              <a:buNone/>
            </a:pPr>
            <a:r>
              <a:rPr lang="en-US" dirty="0"/>
              <a:t>... .. ...</a:t>
            </a:r>
          </a:p>
          <a:p>
            <a:pPr marL="0" indent="0">
              <a:buNone/>
            </a:pPr>
            <a:r>
              <a:rPr lang="en-US" dirty="0"/>
              <a:t>};</a:t>
            </a:r>
          </a:p>
          <a:p>
            <a:endParaRPr lang="en-US" dirty="0"/>
          </a:p>
          <a:p>
            <a:pPr marL="0" indent="0">
              <a:buNone/>
            </a:pPr>
            <a:r>
              <a:rPr lang="en-US" dirty="0"/>
              <a:t>class Derived3 : public Derived1, public Derived2 {</a:t>
            </a:r>
          </a:p>
          <a:p>
            <a:pPr marL="0" indent="0">
              <a:buNone/>
            </a:pPr>
            <a:r>
              <a:rPr lang="en-US" dirty="0"/>
              <a:t>... ... ...</a:t>
            </a:r>
          </a:p>
          <a:p>
            <a:pPr marL="0" indent="0">
              <a:buNone/>
            </a:pPr>
            <a:r>
              <a:rPr lang="en-US" dirty="0"/>
              <a:t>};</a:t>
            </a:r>
          </a:p>
        </p:txBody>
      </p:sp>
      <p:sp>
        <p:nvSpPr>
          <p:cNvPr id="4" name="TextBox 3">
            <a:extLst>
              <a:ext uri="{FF2B5EF4-FFF2-40B4-BE49-F238E27FC236}">
                <a16:creationId xmlns:a16="http://schemas.microsoft.com/office/drawing/2014/main" id="{6AC8033D-EE65-B3CB-1957-B494CC21F19C}"/>
              </a:ext>
            </a:extLst>
          </p:cNvPr>
          <p:cNvSpPr txBox="1"/>
          <p:nvPr/>
        </p:nvSpPr>
        <p:spPr>
          <a:xfrm>
            <a:off x="6340840" y="2338466"/>
            <a:ext cx="5173826" cy="1477328"/>
          </a:xfrm>
          <a:prstGeom prst="rect">
            <a:avLst/>
          </a:prstGeom>
          <a:noFill/>
        </p:spPr>
        <p:txBody>
          <a:bodyPr wrap="square" rtlCol="0">
            <a:spAutoFit/>
          </a:bodyPr>
          <a:lstStyle/>
          <a:p>
            <a:r>
              <a:rPr lang="en-US"/>
              <a:t>Here, Derived1 and Derived2 both inherit from Base virtually, ensuring that Derived3 will have only one set of Base member variables, even though it inherits from both Derived1 and Derived2.</a:t>
            </a:r>
            <a:endParaRPr lang="en-US" dirty="0"/>
          </a:p>
        </p:txBody>
      </p:sp>
    </p:spTree>
    <p:extLst>
      <p:ext uri="{BB962C8B-B14F-4D97-AF65-F5344CB8AC3E}">
        <p14:creationId xmlns:p14="http://schemas.microsoft.com/office/powerpoint/2010/main" val="1171018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DBBDB-554A-D515-698C-6EE93D6B02AC}"/>
              </a:ext>
            </a:extLst>
          </p:cNvPr>
          <p:cNvSpPr>
            <a:spLocks noGrp="1"/>
          </p:cNvSpPr>
          <p:nvPr>
            <p:ph idx="1"/>
          </p:nvPr>
        </p:nvSpPr>
        <p:spPr>
          <a:xfrm>
            <a:off x="677333" y="1"/>
            <a:ext cx="10205525" cy="6700602"/>
          </a:xfrm>
        </p:spPr>
        <p:txBody>
          <a:bodyPr>
            <a:normAutofit fontScale="92500" lnSpcReduction="20000"/>
          </a:bodyPr>
          <a:lstStyle/>
          <a:p>
            <a:r>
              <a:rPr lang="en-US" dirty="0"/>
              <a:t>#include &lt;iostream&gt;</a:t>
            </a:r>
          </a:p>
          <a:p>
            <a:r>
              <a:rPr lang="en-US" dirty="0"/>
              <a:t>using namespace std;</a:t>
            </a:r>
          </a:p>
          <a:p>
            <a:endParaRPr lang="en-US" dirty="0"/>
          </a:p>
          <a:p>
            <a:r>
              <a:rPr lang="en-US" dirty="0"/>
              <a:t>// base class with a </a:t>
            </a:r>
            <a:r>
              <a:rPr lang="en-US" dirty="0" err="1"/>
              <a:t>speciesName</a:t>
            </a:r>
            <a:r>
              <a:rPr lang="en-US" dirty="0"/>
              <a:t> member variable</a:t>
            </a:r>
          </a:p>
          <a:p>
            <a:r>
              <a:rPr lang="en-US" dirty="0"/>
              <a:t>class Animal {</a:t>
            </a:r>
          </a:p>
          <a:p>
            <a:r>
              <a:rPr lang="en-US" dirty="0"/>
              <a:t>private:</a:t>
            </a:r>
          </a:p>
          <a:p>
            <a:r>
              <a:rPr lang="en-US" dirty="0"/>
              <a:t>    string </a:t>
            </a:r>
            <a:r>
              <a:rPr lang="en-US" dirty="0" err="1"/>
              <a:t>species_name</a:t>
            </a:r>
            <a:r>
              <a:rPr lang="en-US" dirty="0"/>
              <a:t>;</a:t>
            </a:r>
          </a:p>
          <a:p>
            <a:endParaRPr lang="en-US" dirty="0"/>
          </a:p>
          <a:p>
            <a:r>
              <a:rPr lang="en-US" dirty="0"/>
              <a:t>public:</a:t>
            </a:r>
          </a:p>
          <a:p>
            <a:endParaRPr lang="en-US" dirty="0"/>
          </a:p>
          <a:p>
            <a:r>
              <a:rPr lang="en-US" dirty="0"/>
              <a:t>    // constructor that accepts </a:t>
            </a:r>
          </a:p>
          <a:p>
            <a:r>
              <a:rPr lang="en-US" dirty="0"/>
              <a:t>    // a species name for initialization</a:t>
            </a:r>
          </a:p>
          <a:p>
            <a:r>
              <a:rPr lang="en-US" dirty="0"/>
              <a:t>    Animal(const string&amp; name) : </a:t>
            </a:r>
            <a:r>
              <a:rPr lang="en-US" dirty="0" err="1"/>
              <a:t>species_name</a:t>
            </a:r>
            <a:r>
              <a:rPr lang="en-US" dirty="0"/>
              <a:t>(name) {</a:t>
            </a:r>
          </a:p>
          <a:p>
            <a:r>
              <a:rPr lang="en-US" dirty="0"/>
              <a:t>        </a:t>
            </a:r>
            <a:r>
              <a:rPr lang="en-US" dirty="0" err="1"/>
              <a:t>cout</a:t>
            </a:r>
            <a:r>
              <a:rPr lang="en-US" dirty="0"/>
              <a:t> &lt;&lt; "Animal constructor called" &lt;&lt; </a:t>
            </a:r>
            <a:r>
              <a:rPr lang="en-US" dirty="0" err="1"/>
              <a:t>endl</a:t>
            </a:r>
            <a:r>
              <a:rPr lang="en-US" dirty="0"/>
              <a:t>;</a:t>
            </a:r>
          </a:p>
          <a:p>
            <a:r>
              <a:rPr lang="en-US" dirty="0"/>
              <a:t>    }</a:t>
            </a:r>
          </a:p>
          <a:p>
            <a:endParaRPr lang="en-US" dirty="0"/>
          </a:p>
          <a:p>
            <a:r>
              <a:rPr lang="en-US" dirty="0"/>
              <a:t>    void </a:t>
            </a:r>
            <a:r>
              <a:rPr lang="en-US" dirty="0" err="1"/>
              <a:t>show_species</a:t>
            </a:r>
            <a:r>
              <a:rPr lang="en-US" dirty="0"/>
              <a:t>() const {</a:t>
            </a:r>
          </a:p>
          <a:p>
            <a:r>
              <a:rPr lang="en-US" dirty="0"/>
              <a:t>        </a:t>
            </a:r>
            <a:r>
              <a:rPr lang="en-US" dirty="0" err="1"/>
              <a:t>cout</a:t>
            </a:r>
            <a:r>
              <a:rPr lang="en-US" dirty="0"/>
              <a:t> &lt;&lt; "This animal belongs to the species: " &lt;&lt; </a:t>
            </a:r>
            <a:r>
              <a:rPr lang="en-US" dirty="0" err="1"/>
              <a:t>species_name</a:t>
            </a:r>
            <a:r>
              <a:rPr lang="en-US" dirty="0"/>
              <a:t> &lt;&lt; </a:t>
            </a:r>
            <a:r>
              <a:rPr lang="en-US" dirty="0" err="1"/>
              <a:t>endl</a:t>
            </a:r>
            <a:r>
              <a:rPr lang="en-US" dirty="0"/>
              <a:t>;</a:t>
            </a:r>
          </a:p>
          <a:p>
            <a:r>
              <a:rPr lang="en-US" dirty="0"/>
              <a:t>    }</a:t>
            </a:r>
          </a:p>
          <a:p>
            <a:r>
              <a:rPr lang="en-US" dirty="0"/>
              <a:t>};</a:t>
            </a:r>
          </a:p>
        </p:txBody>
      </p:sp>
    </p:spTree>
    <p:extLst>
      <p:ext uri="{BB962C8B-B14F-4D97-AF65-F5344CB8AC3E}">
        <p14:creationId xmlns:p14="http://schemas.microsoft.com/office/powerpoint/2010/main" val="4252847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73EF4F-593F-3B8B-2099-1E3073C7736F}"/>
              </a:ext>
            </a:extLst>
          </p:cNvPr>
          <p:cNvSpPr>
            <a:spLocks noGrp="1"/>
          </p:cNvSpPr>
          <p:nvPr>
            <p:ph idx="1"/>
          </p:nvPr>
        </p:nvSpPr>
        <p:spPr>
          <a:xfrm>
            <a:off x="677334" y="314793"/>
            <a:ext cx="10310456" cy="6400800"/>
          </a:xfrm>
        </p:spPr>
        <p:txBody>
          <a:bodyPr>
            <a:normAutofit fontScale="92500" lnSpcReduction="20000"/>
          </a:bodyPr>
          <a:lstStyle/>
          <a:p>
            <a:r>
              <a:rPr lang="en-US" dirty="0"/>
              <a:t>/ </a:t>
            </a:r>
            <a:r>
              <a:rPr lang="en-US" dirty="0" err="1"/>
              <a:t>WingedAnimal</a:t>
            </a:r>
            <a:r>
              <a:rPr lang="en-US" dirty="0"/>
              <a:t> class with virtual inheritance from Animal</a:t>
            </a:r>
          </a:p>
          <a:p>
            <a:r>
              <a:rPr lang="en-US" dirty="0"/>
              <a:t>class </a:t>
            </a:r>
            <a:r>
              <a:rPr lang="en-US" dirty="0" err="1"/>
              <a:t>WingedAnimal</a:t>
            </a:r>
            <a:r>
              <a:rPr lang="en-US" dirty="0"/>
              <a:t> : virtual public Animal {</a:t>
            </a:r>
          </a:p>
          <a:p>
            <a:r>
              <a:rPr lang="en-US" dirty="0"/>
              <a:t>public:</a:t>
            </a:r>
          </a:p>
          <a:p>
            <a:r>
              <a:rPr lang="en-US" dirty="0"/>
              <a:t>    // constructor that initializes </a:t>
            </a:r>
          </a:p>
          <a:p>
            <a:r>
              <a:rPr lang="en-US" dirty="0"/>
              <a:t>    // the Animal part of </a:t>
            </a:r>
            <a:r>
              <a:rPr lang="en-US" dirty="0" err="1"/>
              <a:t>WingedAnimal</a:t>
            </a:r>
            <a:endParaRPr lang="en-US" dirty="0"/>
          </a:p>
          <a:p>
            <a:r>
              <a:rPr lang="en-US" dirty="0"/>
              <a:t>    </a:t>
            </a:r>
            <a:r>
              <a:rPr lang="en-US" dirty="0" err="1"/>
              <a:t>WingedAnimal</a:t>
            </a:r>
            <a:r>
              <a:rPr lang="en-US" dirty="0"/>
              <a:t>(const string&amp; name) : Animal(name) {</a:t>
            </a:r>
          </a:p>
          <a:p>
            <a:r>
              <a:rPr lang="en-US" dirty="0"/>
              <a:t>        </a:t>
            </a:r>
            <a:r>
              <a:rPr lang="en-US" dirty="0" err="1"/>
              <a:t>cout</a:t>
            </a:r>
            <a:r>
              <a:rPr lang="en-US" dirty="0"/>
              <a:t> &lt;&lt; "</a:t>
            </a:r>
            <a:r>
              <a:rPr lang="en-US" dirty="0" err="1"/>
              <a:t>WingedAnimal</a:t>
            </a:r>
            <a:r>
              <a:rPr lang="en-US" dirty="0"/>
              <a:t> constructor called" &lt;&lt; </a:t>
            </a:r>
            <a:r>
              <a:rPr lang="en-US" dirty="0" err="1"/>
              <a:t>endl</a:t>
            </a:r>
            <a:r>
              <a:rPr lang="en-US" dirty="0"/>
              <a:t>;</a:t>
            </a:r>
          </a:p>
          <a:p>
            <a:r>
              <a:rPr lang="en-US" dirty="0"/>
              <a:t>    }</a:t>
            </a:r>
          </a:p>
          <a:p>
            <a:r>
              <a:rPr lang="en-US" dirty="0"/>
              <a:t>};</a:t>
            </a:r>
          </a:p>
          <a:p>
            <a:endParaRPr lang="en-US" dirty="0"/>
          </a:p>
          <a:p>
            <a:r>
              <a:rPr lang="en-US" dirty="0"/>
              <a:t>// Mammal class with virtual inheritance from Animal</a:t>
            </a:r>
          </a:p>
          <a:p>
            <a:r>
              <a:rPr lang="en-US" dirty="0"/>
              <a:t>class Mammal : virtual public Animal {</a:t>
            </a:r>
          </a:p>
          <a:p>
            <a:r>
              <a:rPr lang="en-US" dirty="0"/>
              <a:t>public:</a:t>
            </a:r>
          </a:p>
          <a:p>
            <a:r>
              <a:rPr lang="en-US" dirty="0"/>
              <a:t>    // constructor that initializes </a:t>
            </a:r>
          </a:p>
          <a:p>
            <a:r>
              <a:rPr lang="en-US" dirty="0"/>
              <a:t>    // the Animal part of Mammal</a:t>
            </a:r>
          </a:p>
          <a:p>
            <a:r>
              <a:rPr lang="en-US" dirty="0"/>
              <a:t>    Mammal(const string&amp; name) : Animal(name) {</a:t>
            </a:r>
          </a:p>
          <a:p>
            <a:r>
              <a:rPr lang="en-US" dirty="0"/>
              <a:t>        </a:t>
            </a:r>
            <a:r>
              <a:rPr lang="en-US" dirty="0" err="1"/>
              <a:t>cout</a:t>
            </a:r>
            <a:r>
              <a:rPr lang="en-US" dirty="0"/>
              <a:t> &lt;&lt; "Mammals constructor called" &lt;&lt; </a:t>
            </a:r>
            <a:r>
              <a:rPr lang="en-US" dirty="0" err="1"/>
              <a:t>endl</a:t>
            </a:r>
            <a:r>
              <a:rPr lang="en-US" dirty="0"/>
              <a:t>;</a:t>
            </a:r>
          </a:p>
          <a:p>
            <a:r>
              <a:rPr lang="en-US" dirty="0"/>
              <a:t>    }</a:t>
            </a:r>
          </a:p>
          <a:p>
            <a:r>
              <a:rPr lang="en-US" dirty="0"/>
              <a:t>};</a:t>
            </a:r>
          </a:p>
          <a:p>
            <a:endParaRPr lang="en-US" dirty="0"/>
          </a:p>
        </p:txBody>
      </p:sp>
    </p:spTree>
    <p:extLst>
      <p:ext uri="{BB962C8B-B14F-4D97-AF65-F5344CB8AC3E}">
        <p14:creationId xmlns:p14="http://schemas.microsoft.com/office/powerpoint/2010/main" val="419126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9574DB-53E4-1199-5995-7F8F62096663}"/>
              </a:ext>
            </a:extLst>
          </p:cNvPr>
          <p:cNvSpPr>
            <a:spLocks noGrp="1"/>
          </p:cNvSpPr>
          <p:nvPr>
            <p:ph idx="1"/>
          </p:nvPr>
        </p:nvSpPr>
        <p:spPr>
          <a:xfrm>
            <a:off x="677334" y="104931"/>
            <a:ext cx="9950692" cy="6753069"/>
          </a:xfrm>
        </p:spPr>
        <p:txBody>
          <a:bodyPr>
            <a:normAutofit fontScale="70000" lnSpcReduction="20000"/>
          </a:bodyPr>
          <a:lstStyle/>
          <a:p>
            <a:r>
              <a:rPr lang="en-US" dirty="0"/>
              <a:t>// Bat class inherits from </a:t>
            </a:r>
            <a:r>
              <a:rPr lang="en-US" dirty="0" err="1"/>
              <a:t>WingedAnimal</a:t>
            </a:r>
            <a:r>
              <a:rPr lang="en-US" dirty="0"/>
              <a:t> and Mammal</a:t>
            </a:r>
          </a:p>
          <a:p>
            <a:r>
              <a:rPr lang="en-US" dirty="0"/>
              <a:t>class Bat : public </a:t>
            </a:r>
            <a:r>
              <a:rPr lang="en-US" dirty="0" err="1"/>
              <a:t>WingedAnimal</a:t>
            </a:r>
            <a:r>
              <a:rPr lang="en-US" dirty="0"/>
              <a:t>, public Mammal {</a:t>
            </a:r>
          </a:p>
          <a:p>
            <a:r>
              <a:rPr lang="en-US" dirty="0"/>
              <a:t>public:</a:t>
            </a:r>
          </a:p>
          <a:p>
            <a:r>
              <a:rPr lang="en-US" dirty="0"/>
              <a:t>    // Bat constructor</a:t>
            </a:r>
          </a:p>
          <a:p>
            <a:r>
              <a:rPr lang="en-US" dirty="0"/>
              <a:t>    // note that Animal's constructor will only be called once</a:t>
            </a:r>
          </a:p>
          <a:p>
            <a:r>
              <a:rPr lang="en-US" dirty="0"/>
              <a:t>    // due to virtual inheritance.</a:t>
            </a:r>
          </a:p>
          <a:p>
            <a:r>
              <a:rPr lang="en-US" dirty="0"/>
              <a:t>    Bat() : Animal("Bat"), </a:t>
            </a:r>
            <a:r>
              <a:rPr lang="en-US" dirty="0" err="1"/>
              <a:t>WingedAnimal</a:t>
            </a:r>
            <a:r>
              <a:rPr lang="en-US" dirty="0"/>
              <a:t>("Bat"), Mammal("Bat") {</a:t>
            </a:r>
          </a:p>
          <a:p>
            <a:r>
              <a:rPr lang="en-US" dirty="0"/>
              <a:t>    }</a:t>
            </a:r>
          </a:p>
          <a:p>
            <a:endParaRPr lang="en-US" dirty="0"/>
          </a:p>
          <a:p>
            <a:r>
              <a:rPr lang="en-US" dirty="0"/>
              <a:t>    void </a:t>
            </a:r>
            <a:r>
              <a:rPr lang="en-US" dirty="0" err="1"/>
              <a:t>show_info</a:t>
            </a:r>
            <a:r>
              <a:rPr lang="en-US" dirty="0"/>
              <a:t>() {</a:t>
            </a:r>
          </a:p>
          <a:p>
            <a:r>
              <a:rPr lang="en-US" dirty="0"/>
              <a:t>        </a:t>
            </a:r>
            <a:r>
              <a:rPr lang="en-US" dirty="0" err="1"/>
              <a:t>cout</a:t>
            </a:r>
            <a:r>
              <a:rPr lang="en-US" dirty="0"/>
              <a:t> &lt;&lt; </a:t>
            </a:r>
            <a:r>
              <a:rPr lang="en-US" dirty="0" err="1"/>
              <a:t>endl</a:t>
            </a:r>
            <a:r>
              <a:rPr lang="en-US" dirty="0"/>
              <a:t> &lt;&lt; "It's a unique animal! Here are some details:" &lt;&lt; </a:t>
            </a:r>
            <a:r>
              <a:rPr lang="en-US" dirty="0" err="1"/>
              <a:t>endl</a:t>
            </a:r>
            <a:r>
              <a:rPr lang="en-US" dirty="0"/>
              <a:t>;</a:t>
            </a:r>
          </a:p>
          <a:p>
            <a:r>
              <a:rPr lang="en-US" dirty="0"/>
              <a:t>        </a:t>
            </a:r>
          </a:p>
          <a:p>
            <a:r>
              <a:rPr lang="en-US" dirty="0"/>
              <a:t>          // show the </a:t>
            </a:r>
            <a:r>
              <a:rPr lang="en-US" dirty="0" err="1"/>
              <a:t>species_name</a:t>
            </a:r>
            <a:endParaRPr lang="en-US" dirty="0"/>
          </a:p>
          <a:p>
            <a:r>
              <a:rPr lang="en-US" dirty="0"/>
              <a:t>          // demonstrating the shared member variable</a:t>
            </a:r>
          </a:p>
          <a:p>
            <a:r>
              <a:rPr lang="en-US" dirty="0"/>
              <a:t>        </a:t>
            </a:r>
            <a:r>
              <a:rPr lang="en-US" dirty="0" err="1"/>
              <a:t>show_species</a:t>
            </a:r>
            <a:r>
              <a:rPr lang="en-US" dirty="0"/>
              <a:t>();</a:t>
            </a:r>
          </a:p>
          <a:p>
            <a:r>
              <a:rPr lang="en-US" dirty="0"/>
              <a:t>    }</a:t>
            </a:r>
          </a:p>
          <a:p>
            <a:r>
              <a:rPr lang="en-US" dirty="0"/>
              <a:t>};</a:t>
            </a:r>
          </a:p>
          <a:p>
            <a:endParaRPr lang="en-US" dirty="0"/>
          </a:p>
          <a:p>
            <a:r>
              <a:rPr lang="en-US" dirty="0"/>
              <a:t>int main() {</a:t>
            </a:r>
          </a:p>
          <a:p>
            <a:r>
              <a:rPr lang="en-US" dirty="0"/>
              <a:t>    Bat </a:t>
            </a:r>
            <a:r>
              <a:rPr lang="en-US" dirty="0" err="1"/>
              <a:t>my_bat</a:t>
            </a:r>
            <a:r>
              <a:rPr lang="en-US" dirty="0"/>
              <a:t>;</a:t>
            </a:r>
          </a:p>
          <a:p>
            <a:r>
              <a:rPr lang="en-US" dirty="0"/>
              <a:t>    </a:t>
            </a:r>
            <a:r>
              <a:rPr lang="en-US" dirty="0" err="1"/>
              <a:t>my_bat.show_info</a:t>
            </a:r>
            <a:r>
              <a:rPr lang="en-US" dirty="0"/>
              <a:t>();</a:t>
            </a:r>
          </a:p>
          <a:p>
            <a:r>
              <a:rPr lang="en-US" dirty="0"/>
              <a:t>    return 0;</a:t>
            </a:r>
          </a:p>
          <a:p>
            <a:r>
              <a:rPr lang="en-US" dirty="0"/>
              <a:t>}</a:t>
            </a:r>
          </a:p>
        </p:txBody>
      </p:sp>
    </p:spTree>
    <p:extLst>
      <p:ext uri="{BB962C8B-B14F-4D97-AF65-F5344CB8AC3E}">
        <p14:creationId xmlns:p14="http://schemas.microsoft.com/office/powerpoint/2010/main" val="2490807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98C8-6527-FE76-F62C-052DBACEFD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5E67BF-DA19-0CE1-1153-788D2739A333}"/>
              </a:ext>
            </a:extLst>
          </p:cNvPr>
          <p:cNvSpPr>
            <a:spLocks noGrp="1"/>
          </p:cNvSpPr>
          <p:nvPr>
            <p:ph idx="1"/>
          </p:nvPr>
        </p:nvSpPr>
        <p:spPr/>
        <p:txBody>
          <a:bodyPr/>
          <a:lstStyle/>
          <a:p>
            <a:r>
              <a:rPr lang="en-US" dirty="0"/>
              <a:t>Output</a:t>
            </a:r>
          </a:p>
          <a:p>
            <a:endParaRPr lang="en-US" dirty="0"/>
          </a:p>
          <a:p>
            <a:r>
              <a:rPr lang="en-US" dirty="0"/>
              <a:t>Animal constructor called</a:t>
            </a:r>
          </a:p>
          <a:p>
            <a:r>
              <a:rPr lang="en-US" dirty="0" err="1"/>
              <a:t>WingedAnimal</a:t>
            </a:r>
            <a:r>
              <a:rPr lang="en-US" dirty="0"/>
              <a:t> constructor called</a:t>
            </a:r>
          </a:p>
          <a:p>
            <a:r>
              <a:rPr lang="en-US" dirty="0"/>
              <a:t>Mammals constructor called</a:t>
            </a:r>
          </a:p>
          <a:p>
            <a:endParaRPr lang="en-US" dirty="0"/>
          </a:p>
          <a:p>
            <a:r>
              <a:rPr lang="en-US" dirty="0"/>
              <a:t>It's a unique animal! Here are some details:</a:t>
            </a:r>
          </a:p>
          <a:p>
            <a:r>
              <a:rPr lang="en-US"/>
              <a:t>This animal belongs to the species: Bat</a:t>
            </a:r>
          </a:p>
        </p:txBody>
      </p:sp>
    </p:spTree>
    <p:extLst>
      <p:ext uri="{BB962C8B-B14F-4D97-AF65-F5344CB8AC3E}">
        <p14:creationId xmlns:p14="http://schemas.microsoft.com/office/powerpoint/2010/main" val="3668227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Functions</a:t>
            </a:r>
          </a:p>
        </p:txBody>
      </p:sp>
      <p:sp>
        <p:nvSpPr>
          <p:cNvPr id="3" name="Content Placeholder 2"/>
          <p:cNvSpPr>
            <a:spLocks noGrp="1"/>
          </p:cNvSpPr>
          <p:nvPr>
            <p:ph idx="1"/>
          </p:nvPr>
        </p:nvSpPr>
        <p:spPr>
          <a:xfrm>
            <a:off x="677333" y="1405719"/>
            <a:ext cx="11018797" cy="4635643"/>
          </a:xfrm>
        </p:spPr>
        <p:txBody>
          <a:bodyPr/>
          <a:lstStyle/>
          <a:p>
            <a:pPr fontAlgn="base"/>
            <a:r>
              <a:rPr lang="en-US" dirty="0"/>
              <a:t>A virtual function (also known as virtual methods) is a member function that is declared within a base class and is re-defined (overridden) by a derived class. When you refer to a derived class object using a pointer or a reference to the base class, you can call a virtual function for that object and execute the derived class’s version of the method.</a:t>
            </a:r>
          </a:p>
          <a:p>
            <a:pPr fontAlgn="base"/>
            <a:r>
              <a:rPr lang="en-US" dirty="0"/>
              <a:t>Virtual functions ensure that the correct function is called for an object, regardless of the type of reference (or pointer) used for the function call.</a:t>
            </a:r>
          </a:p>
          <a:p>
            <a:pPr fontAlgn="base"/>
            <a:r>
              <a:rPr lang="en-US" dirty="0"/>
              <a:t>They are mainly used to achieve </a:t>
            </a:r>
            <a:r>
              <a:rPr lang="en-US" u="sng" dirty="0">
                <a:hlinkClick r:id="rId2"/>
              </a:rPr>
              <a:t>Runtime polymorphism</a:t>
            </a:r>
            <a:r>
              <a:rPr lang="en-US" dirty="0"/>
              <a:t>.</a:t>
            </a:r>
          </a:p>
          <a:p>
            <a:pPr fontAlgn="base"/>
            <a:r>
              <a:rPr lang="en-US" dirty="0"/>
              <a:t>Functions are declared with a </a:t>
            </a:r>
            <a:r>
              <a:rPr lang="en-US" b="1" dirty="0"/>
              <a:t>virtual </a:t>
            </a:r>
            <a:r>
              <a:rPr lang="en-US" dirty="0"/>
              <a:t>keyword in a base class.</a:t>
            </a:r>
          </a:p>
          <a:p>
            <a:pPr fontAlgn="base"/>
            <a:r>
              <a:rPr lang="en-US" dirty="0"/>
              <a:t>The resolving of a function call is done at runtime.</a:t>
            </a:r>
          </a:p>
          <a:p>
            <a:endParaRPr lang="en-US" dirty="0"/>
          </a:p>
        </p:txBody>
      </p:sp>
    </p:spTree>
    <p:extLst>
      <p:ext uri="{BB962C8B-B14F-4D97-AF65-F5344CB8AC3E}">
        <p14:creationId xmlns:p14="http://schemas.microsoft.com/office/powerpoint/2010/main" val="1795233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Rules for Virtual Functions</a:t>
            </a:r>
            <a:br>
              <a:rPr lang="en-US" b="1" dirty="0"/>
            </a:br>
            <a:endParaRPr lang="en-US" dirty="0"/>
          </a:p>
        </p:txBody>
      </p:sp>
      <p:sp>
        <p:nvSpPr>
          <p:cNvPr id="3" name="Content Placeholder 2"/>
          <p:cNvSpPr>
            <a:spLocks noGrp="1"/>
          </p:cNvSpPr>
          <p:nvPr>
            <p:ph idx="1"/>
          </p:nvPr>
        </p:nvSpPr>
        <p:spPr>
          <a:xfrm>
            <a:off x="677333" y="1692322"/>
            <a:ext cx="9872385" cy="5165677"/>
          </a:xfrm>
        </p:spPr>
        <p:txBody>
          <a:bodyPr/>
          <a:lstStyle/>
          <a:p>
            <a:pPr fontAlgn="base"/>
            <a:r>
              <a:rPr lang="en-US" dirty="0"/>
              <a:t>The rules for the virtual functions in C++ are as follows:</a:t>
            </a:r>
          </a:p>
          <a:p>
            <a:pPr fontAlgn="base"/>
            <a:r>
              <a:rPr lang="en-US" dirty="0"/>
              <a:t>Virtual functions cannot be static.</a:t>
            </a:r>
          </a:p>
          <a:p>
            <a:pPr fontAlgn="base"/>
            <a:r>
              <a:rPr lang="en-US" dirty="0"/>
              <a:t>A virtual function can be a friend function of another class.</a:t>
            </a:r>
          </a:p>
          <a:p>
            <a:pPr fontAlgn="base"/>
            <a:r>
              <a:rPr lang="en-US" dirty="0"/>
              <a:t>Virtual functions should be accessed using a pointer or reference of base class type to achieve runtime polymorphism.</a:t>
            </a:r>
          </a:p>
          <a:p>
            <a:pPr fontAlgn="base"/>
            <a:r>
              <a:rPr lang="en-US" dirty="0"/>
              <a:t>The prototype of virtual functions should be the same in the base as well as the derived class.</a:t>
            </a:r>
          </a:p>
          <a:p>
            <a:pPr fontAlgn="base"/>
            <a:r>
              <a:rPr lang="en-US" dirty="0"/>
              <a:t>They are always defined in the base class and overridden in a derived class. It is not mandatory for the derived class to override (or re-define the virtual function), in that case, the base class version of the function is used.</a:t>
            </a:r>
          </a:p>
          <a:p>
            <a:pPr fontAlgn="base"/>
            <a:r>
              <a:rPr lang="en-US" dirty="0"/>
              <a:t>A class may have a </a:t>
            </a:r>
            <a:r>
              <a:rPr lang="en-US" u="sng" dirty="0">
                <a:hlinkClick r:id="rId2"/>
              </a:rPr>
              <a:t>virtual destructor</a:t>
            </a:r>
            <a:r>
              <a:rPr lang="en-US" dirty="0"/>
              <a:t> but it cannot have a virtual constructor.</a:t>
            </a:r>
          </a:p>
          <a:p>
            <a:endParaRPr lang="en-US" dirty="0"/>
          </a:p>
        </p:txBody>
      </p:sp>
    </p:spTree>
    <p:extLst>
      <p:ext uri="{BB962C8B-B14F-4D97-AF65-F5344CB8AC3E}">
        <p14:creationId xmlns:p14="http://schemas.microsoft.com/office/powerpoint/2010/main" val="478840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1992706"/>
            <a:ext cx="9749556"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#include &lt;</a:t>
            </a:r>
            <a:r>
              <a:rPr kumimoji="0" lang="en-US" altLang="en-US" sz="1600" b="0" i="0" u="none" strike="noStrike" cap="none" normalizeH="0" baseline="0" dirty="0" err="1">
                <a:ln>
                  <a:noFill/>
                </a:ln>
                <a:solidFill>
                  <a:srgbClr val="808080"/>
                </a:solidFill>
                <a:effectLst/>
                <a:latin typeface="Consolas" panose="020B0609020204030204" pitchFamily="49" charset="0"/>
              </a:rPr>
              <a:t>iostream</a:t>
            </a:r>
            <a:r>
              <a:rPr kumimoji="0" lang="en-US" altLang="en-US" sz="1600" b="0" i="0" u="none" strike="noStrike" cap="none" normalizeH="0" baseline="0" dirty="0">
                <a:ln>
                  <a:noFill/>
                </a:ln>
                <a:solidFill>
                  <a:srgbClr val="808080"/>
                </a:solidFill>
                <a:effectLst/>
                <a:latin typeface="Consolas" panose="020B0609020204030204" pitchFamily="49"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using</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namespace</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print()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"print base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show()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"show base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print()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"print derived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show()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"show derived class\n"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1144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5" y="2592870"/>
            <a:ext cx="5136612"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808080"/>
                </a:solidFill>
                <a:effectLst/>
                <a:latin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main()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base*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derived 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 = &amp;d;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Virtual function, </a:t>
            </a:r>
            <a:r>
              <a:rPr kumimoji="0" lang="en-US" altLang="en-US" sz="1400" b="0" i="0" u="none" strike="noStrike" cap="none" normalizeH="0" baseline="0" dirty="0" err="1">
                <a:ln>
                  <a:noFill/>
                </a:ln>
                <a:solidFill>
                  <a:srgbClr val="008200"/>
                </a:solidFill>
                <a:effectLst/>
                <a:latin typeface="Consolas" panose="020B0609020204030204" pitchFamily="49" charset="0"/>
              </a:rPr>
              <a:t>binded</a:t>
            </a:r>
            <a:r>
              <a:rPr kumimoji="0" lang="en-US" altLang="en-US" sz="1400" b="0" i="0" u="none" strike="noStrike" cap="none" normalizeH="0" baseline="0" dirty="0">
                <a:ln>
                  <a:noFill/>
                </a:ln>
                <a:solidFill>
                  <a:srgbClr val="008200"/>
                </a:solidFill>
                <a:effectLst/>
                <a:latin typeface="Consolas" panose="020B0609020204030204" pitchFamily="49" charset="0"/>
              </a:rPr>
              <a:t> at runtime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-&gt;print();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Non-virtual function, </a:t>
            </a:r>
            <a:r>
              <a:rPr kumimoji="0" lang="en-US" altLang="en-US" sz="1400" b="0" i="0" u="none" strike="noStrike" cap="none" normalizeH="0" baseline="0" dirty="0" err="1">
                <a:ln>
                  <a:noFill/>
                </a:ln>
                <a:solidFill>
                  <a:srgbClr val="008200"/>
                </a:solidFill>
                <a:effectLst/>
                <a:latin typeface="Consolas" panose="020B0609020204030204" pitchFamily="49" charset="0"/>
              </a:rPr>
              <a:t>binded</a:t>
            </a:r>
            <a:r>
              <a:rPr kumimoji="0" lang="en-US" altLang="en-US" sz="1400" b="0" i="0" u="none" strike="noStrike" cap="none" normalizeH="0" baseline="0" dirty="0">
                <a:ln>
                  <a:noFill/>
                </a:ln>
                <a:solidFill>
                  <a:srgbClr val="008200"/>
                </a:solidFill>
                <a:effectLst/>
                <a:latin typeface="Consolas" panose="020B0609020204030204" pitchFamily="49" charset="0"/>
              </a:rPr>
              <a:t> at compile time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bptr</a:t>
            </a:r>
            <a:r>
              <a:rPr kumimoji="0" lang="en-US" altLang="en-US" sz="1400" b="0" i="0" u="none" strike="noStrike" cap="none" normalizeH="0" baseline="0" dirty="0">
                <a:ln>
                  <a:noFill/>
                </a:ln>
                <a:solidFill>
                  <a:srgbClr val="000000"/>
                </a:solidFill>
                <a:effectLst/>
                <a:latin typeface="Consolas" panose="020B0609020204030204" pitchFamily="49" charset="0"/>
              </a:rPr>
              <a:t>-&gt;show();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return</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p:txBody>
      </p:sp>
      <p:sp>
        <p:nvSpPr>
          <p:cNvPr id="7" name="TextBox 6"/>
          <p:cNvSpPr txBox="1"/>
          <p:nvPr/>
        </p:nvSpPr>
        <p:spPr>
          <a:xfrm>
            <a:off x="296969" y="5948384"/>
            <a:ext cx="2538484" cy="646331"/>
          </a:xfrm>
          <a:prstGeom prst="rect">
            <a:avLst/>
          </a:prstGeom>
          <a:noFill/>
        </p:spPr>
        <p:txBody>
          <a:bodyPr wrap="square" rtlCol="0">
            <a:spAutoFit/>
          </a:bodyPr>
          <a:lstStyle/>
          <a:p>
            <a:r>
              <a:rPr lang="en-US"/>
              <a:t>print derived class</a:t>
            </a:r>
          </a:p>
          <a:p>
            <a:r>
              <a:rPr lang="en-US"/>
              <a:t>show base class</a:t>
            </a:r>
            <a:endParaRPr lang="en-US" dirty="0"/>
          </a:p>
        </p:txBody>
      </p:sp>
    </p:spTree>
    <p:extLst>
      <p:ext uri="{BB962C8B-B14F-4D97-AF65-F5344CB8AC3E}">
        <p14:creationId xmlns:p14="http://schemas.microsoft.com/office/powerpoint/2010/main" val="648373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1761874"/>
            <a:ext cx="538609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8200"/>
                </a:solidFill>
                <a:effectLst/>
                <a:latin typeface="Consolas" panose="020B0609020204030204" pitchFamily="49" charset="0"/>
              </a:rPr>
              <a:t>// C++ program to illustrate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8200"/>
                </a:solidFill>
                <a:effectLst/>
                <a:latin typeface="Consolas" panose="020B0609020204030204" pitchFamily="49" charset="0"/>
              </a:rPr>
              <a:t>// working of Virtual Functions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#include &lt;</a:t>
            </a:r>
            <a:r>
              <a:rPr kumimoji="0" lang="en-US" altLang="en-US" sz="1600" b="0" i="0" u="none" strike="noStrike" cap="none" normalizeH="0" baseline="0" dirty="0" err="1">
                <a:ln>
                  <a:noFill/>
                </a:ln>
                <a:solidFill>
                  <a:srgbClr val="808080"/>
                </a:solidFill>
                <a:effectLst/>
                <a:latin typeface="Consolas" panose="020B0609020204030204" pitchFamily="49" charset="0"/>
              </a:rPr>
              <a:t>iostream</a:t>
            </a:r>
            <a:r>
              <a:rPr kumimoji="0" lang="en-US" altLang="en-US" sz="1600" b="0" i="0" u="none" strike="noStrike" cap="none" normalizeH="0" baseline="0" dirty="0">
                <a:ln>
                  <a:noFill/>
                </a:ln>
                <a:solidFill>
                  <a:srgbClr val="808080"/>
                </a:solidFill>
                <a:effectLst/>
                <a:latin typeface="Consolas" panose="020B0609020204030204" pitchFamily="49"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using</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namespace</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fun_1()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"base-1\n"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fun_2()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"base-2\n"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fun_3()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"base-3\n"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virtual</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fun_4()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"base-4\n"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class</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 </a:t>
            </a: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6699"/>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fun_1()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"derived-1\n"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fun_2()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"derived-2\n"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void</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fun_4(</a:t>
            </a:r>
            <a:r>
              <a:rPr kumimoji="0" lang="en-US" altLang="en-US" sz="1600" b="1" i="0" u="none" strike="noStrike" cap="none" normalizeH="0" baseline="0" dirty="0" err="1">
                <a:ln>
                  <a:noFill/>
                </a:ln>
                <a:solidFill>
                  <a:srgbClr val="808080"/>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x) { </a:t>
            </a:r>
            <a:r>
              <a:rPr kumimoji="0" lang="en-US" altLang="en-US" sz="1600" b="0" i="0" u="none" strike="noStrike" cap="none" normalizeH="0" baseline="0" dirty="0" err="1">
                <a:ln>
                  <a:noFill/>
                </a:ln>
                <a:solidFill>
                  <a:srgbClr val="000000"/>
                </a:solidFill>
                <a:effectLst/>
                <a:latin typeface="Consolas" panose="020B0609020204030204" pitchFamily="49" charset="0"/>
              </a:rPr>
              <a:t>cout</a:t>
            </a:r>
            <a:r>
              <a:rPr kumimoji="0" lang="en-US" altLang="en-US" sz="1600" b="0" i="0" u="none" strike="noStrike" cap="none" normalizeH="0" baseline="0" dirty="0">
                <a:ln>
                  <a:noFill/>
                </a:ln>
                <a:solidFill>
                  <a:srgbClr val="000000"/>
                </a:solidFill>
                <a:effectLst/>
                <a:latin typeface="Consolas" panose="020B0609020204030204" pitchFamily="49" charset="0"/>
              </a:rPr>
              <a:t> &lt;&lt; </a:t>
            </a:r>
            <a:r>
              <a:rPr kumimoji="0" lang="en-US" altLang="en-US" sz="1600" b="0" i="0" u="none" strike="noStrike" cap="none" normalizeH="0" baseline="0" dirty="0">
                <a:ln>
                  <a:noFill/>
                </a:ln>
                <a:solidFill>
                  <a:srgbClr val="0000FF"/>
                </a:solidFill>
                <a:effectLst/>
                <a:latin typeface="Consolas" panose="020B0609020204030204" pitchFamily="49" charset="0"/>
              </a:rPr>
              <a:t>"derived-4\n"</a:t>
            </a:r>
            <a:r>
              <a:rPr kumimoji="0" lang="en-US" altLang="en-US" sz="1600" b="0" i="0" u="none" strike="noStrike" cap="none" normalizeH="0" baseline="0" dirty="0">
                <a:ln>
                  <a:noFill/>
                </a:ln>
                <a:solidFill>
                  <a:srgbClr val="000000"/>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47682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2"/>
          <p:cNvSpPr>
            <a:spLocks noGrp="1" noChangeArrowheads="1"/>
          </p:cNvSpPr>
          <p:nvPr>
            <p:ph idx="1"/>
          </p:nvPr>
        </p:nvSpPr>
        <p:spPr bwMode="auto">
          <a:xfrm>
            <a:off x="677334" y="776989"/>
            <a:ext cx="5610510"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808080"/>
                </a:solidFill>
                <a:effectLst/>
                <a:latin typeface="Consolas" panose="020B0609020204030204" pitchFamily="49" charset="0"/>
              </a:rPr>
              <a:t>int</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main()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base* 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derived obj1;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 = &amp;obj1;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Early binding because fun1() is non-virtual</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in base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p-&gt;fun_2();</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p-&gt;fun_3();</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Late binding (RTP)</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p-&gt;fun_4();</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Early binding but this function call is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illegal (produces error) because pointer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is of base type and function is of</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derived class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8200"/>
                </a:solidFill>
                <a:effectLst/>
                <a:latin typeface="Consolas" panose="020B0609020204030204" pitchFamily="49" charset="0"/>
              </a:rPr>
              <a:t>// p-&gt;fun_4(5);</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006699"/>
                </a:solidFill>
                <a:effectLst/>
                <a:latin typeface="Consolas" panose="020B0609020204030204" pitchFamily="49" charset="0"/>
              </a:rPr>
              <a:t>return</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a:ln>
                  <a:noFill/>
                </a:ln>
                <a:solidFill>
                  <a:srgbClr val="000000"/>
                </a:solidFill>
                <a:effectLst/>
                <a:latin typeface="Consolas" panose="020B0609020204030204" pitchFamily="49" charset="0"/>
              </a:rPr>
              <a:t>0;</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1600" b="0" i="0" u="none" strike="noStrike" cap="none" normalizeH="0" baseline="0" dirty="0">
              <a:ln>
                <a:noFill/>
              </a:ln>
              <a:solidFill>
                <a:schemeClr val="tx1"/>
              </a:solidFill>
              <a:effectLst/>
            </a:endParaRPr>
          </a:p>
        </p:txBody>
      </p:sp>
      <p:sp>
        <p:nvSpPr>
          <p:cNvPr id="5" name="TextBox 4"/>
          <p:cNvSpPr txBox="1"/>
          <p:nvPr/>
        </p:nvSpPr>
        <p:spPr>
          <a:xfrm>
            <a:off x="7765576" y="2470245"/>
            <a:ext cx="3152633" cy="1477328"/>
          </a:xfrm>
          <a:prstGeom prst="rect">
            <a:avLst/>
          </a:prstGeom>
          <a:noFill/>
        </p:spPr>
        <p:txBody>
          <a:bodyPr wrap="square" rtlCol="0">
            <a:spAutoFit/>
          </a:bodyPr>
          <a:lstStyle/>
          <a:p>
            <a:r>
              <a:rPr lang="en-US" dirty="0"/>
              <a:t>Output:</a:t>
            </a:r>
          </a:p>
          <a:p>
            <a:r>
              <a:rPr lang="en-US" dirty="0"/>
              <a:t>base-1</a:t>
            </a:r>
          </a:p>
          <a:p>
            <a:r>
              <a:rPr lang="en-US" dirty="0"/>
              <a:t>derived-2</a:t>
            </a:r>
          </a:p>
          <a:p>
            <a:r>
              <a:rPr lang="en-US" dirty="0"/>
              <a:t>base-3</a:t>
            </a:r>
          </a:p>
          <a:p>
            <a:r>
              <a:rPr lang="en-US" dirty="0"/>
              <a:t>base-4</a:t>
            </a:r>
          </a:p>
        </p:txBody>
      </p:sp>
    </p:spTree>
    <p:extLst>
      <p:ext uri="{BB962C8B-B14F-4D97-AF65-F5344CB8AC3E}">
        <p14:creationId xmlns:p14="http://schemas.microsoft.com/office/powerpoint/2010/main" val="1613700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7455379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435</TotalTime>
  <Words>2727</Words>
  <Application>Microsoft Office PowerPoint</Application>
  <PresentationFormat>Widescreen</PresentationFormat>
  <Paragraphs>401</Paragraphs>
  <Slides>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MS Mincho</vt:lpstr>
      <vt:lpstr>宋体</vt:lpstr>
      <vt:lpstr>Arial</vt:lpstr>
      <vt:lpstr>Consolas</vt:lpstr>
      <vt:lpstr>Courier New</vt:lpstr>
      <vt:lpstr>Times New Roman</vt:lpstr>
      <vt:lpstr>Trebuchet MS</vt:lpstr>
      <vt:lpstr>Wingdings</vt:lpstr>
      <vt:lpstr>Wingdings 3</vt:lpstr>
      <vt:lpstr>Facet</vt:lpstr>
      <vt:lpstr>Inheritance in C++</vt:lpstr>
      <vt:lpstr>Example: Insect Taxonomy</vt:lpstr>
      <vt:lpstr>PowerPoint Presentation</vt:lpstr>
      <vt:lpstr>Inheritance </vt:lpstr>
      <vt:lpstr>Advantages of inheritance</vt:lpstr>
      <vt:lpstr>The "is a" Relationship</vt:lpstr>
      <vt:lpstr>Inheritance – Terminology and Notation in C++</vt:lpstr>
      <vt:lpstr>Back to the ‘is a’ Relationship</vt:lpstr>
      <vt:lpstr>C++ Protected Access Specifier</vt:lpstr>
      <vt:lpstr>C++ Protected Access Specifier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 Overriding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 Functions</vt:lpstr>
      <vt:lpstr>Rules for Virtual Functions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 in C++</dc:title>
  <dc:creator>MASUD</dc:creator>
  <cp:lastModifiedBy>Hasan Abdullah</cp:lastModifiedBy>
  <cp:revision>28</cp:revision>
  <dcterms:created xsi:type="dcterms:W3CDTF">2023-07-20T14:29:35Z</dcterms:created>
  <dcterms:modified xsi:type="dcterms:W3CDTF">2024-10-28T04:12:53Z</dcterms:modified>
</cp:coreProperties>
</file>