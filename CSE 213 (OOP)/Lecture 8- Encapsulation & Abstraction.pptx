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25"/>
  </p:notesMasterIdLst>
  <p:sldIdLst>
    <p:sldId id="256" r:id="rId2"/>
    <p:sldId id="268" r:id="rId3"/>
    <p:sldId id="257" r:id="rId4"/>
    <p:sldId id="258" r:id="rId5"/>
    <p:sldId id="259" r:id="rId6"/>
    <p:sldId id="260" r:id="rId7"/>
    <p:sldId id="261" r:id="rId8"/>
    <p:sldId id="265" r:id="rId9"/>
    <p:sldId id="266" r:id="rId10"/>
    <p:sldId id="262" r:id="rId11"/>
    <p:sldId id="267" r:id="rId12"/>
    <p:sldId id="269" r:id="rId13"/>
    <p:sldId id="270" r:id="rId14"/>
    <p:sldId id="271" r:id="rId15"/>
    <p:sldId id="276" r:id="rId16"/>
    <p:sldId id="278" r:id="rId17"/>
    <p:sldId id="288" r:id="rId18"/>
    <p:sldId id="273" r:id="rId19"/>
    <p:sldId id="274" r:id="rId20"/>
    <p:sldId id="275" r:id="rId21"/>
    <p:sldId id="264" r:id="rId22"/>
    <p:sldId id="287" r:id="rId23"/>
    <p:sldId id="263" r:id="rId24"/>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0BED8F84-66C4-4E91-88FD-1AC9FAD2FFE5}" type="datetimeFigureOut">
              <a:rPr lang="en-US" smtClean="0"/>
              <a:t>6/21/2026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137FA107-9CDC-476A-9983-736E5E4180B5}" type="slidenum">
              <a:rPr lang="en-US" smtClean="0"/>
              <a:t>‹#›</a:t>
            </a:fld>
            <a:endParaRPr lang="en-US"/>
          </a:p>
        </p:txBody>
      </p:sp>
    </p:spTree>
    <p:extLst>
      <p:ext uri="{BB962C8B-B14F-4D97-AF65-F5344CB8AC3E}">
        <p14:creationId xmlns:p14="http://schemas.microsoft.com/office/powerpoint/2010/main" val="1714518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5E9C104-8AC0-41B6-81F7-CA0583E63F12}" type="datetime1">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9BFDF-C99B-4C75-B7E7-538F0F20BAF7}" type="slidenum">
              <a:rPr lang="en-US" smtClean="0"/>
              <a:t>‹#›</a:t>
            </a:fld>
            <a:endParaRPr lang="en-US"/>
          </a:p>
        </p:txBody>
      </p:sp>
    </p:spTree>
    <p:extLst>
      <p:ext uri="{BB962C8B-B14F-4D97-AF65-F5344CB8AC3E}">
        <p14:creationId xmlns:p14="http://schemas.microsoft.com/office/powerpoint/2010/main" val="4133560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06C573-09F7-403B-84A1-C63E3E4BA51F}" type="datetime1">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9BFDF-C99B-4C75-B7E7-538F0F20BAF7}" type="slidenum">
              <a:rPr lang="en-US" smtClean="0"/>
              <a:t>‹#›</a:t>
            </a:fld>
            <a:endParaRPr lang="en-US"/>
          </a:p>
        </p:txBody>
      </p:sp>
    </p:spTree>
    <p:extLst>
      <p:ext uri="{BB962C8B-B14F-4D97-AF65-F5344CB8AC3E}">
        <p14:creationId xmlns:p14="http://schemas.microsoft.com/office/powerpoint/2010/main" val="3299121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28A5EB7-257C-4FF1-9609-1EBA37BC6003}" type="datetime1">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9BFDF-C99B-4C75-B7E7-538F0F20BAF7}" type="slidenum">
              <a:rPr lang="en-US" smtClean="0"/>
              <a:t>‹#›</a:t>
            </a:fld>
            <a:endParaRPr lang="en-US"/>
          </a:p>
        </p:txBody>
      </p:sp>
    </p:spTree>
    <p:extLst>
      <p:ext uri="{BB962C8B-B14F-4D97-AF65-F5344CB8AC3E}">
        <p14:creationId xmlns:p14="http://schemas.microsoft.com/office/powerpoint/2010/main" val="3604621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567280-D55A-44B7-94CE-B0A720977F7F}" type="datetime1">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29BFDF-C99B-4C75-B7E7-538F0F20BAF7}" type="slidenum">
              <a:rPr lang="en-US" smtClean="0"/>
              <a:t>‹#›</a:t>
            </a:fld>
            <a:endParaRPr lang="en-US"/>
          </a:p>
        </p:txBody>
      </p:sp>
    </p:spTree>
    <p:extLst>
      <p:ext uri="{BB962C8B-B14F-4D97-AF65-F5344CB8AC3E}">
        <p14:creationId xmlns:p14="http://schemas.microsoft.com/office/powerpoint/2010/main" val="964833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D44D9B-D882-4729-9D4A-329E79B255B9}" type="datetime1">
              <a:rPr lang="en-US" smtClean="0"/>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29BFDF-C99B-4C75-B7E7-538F0F20BAF7}" type="slidenum">
              <a:rPr lang="en-US" smtClean="0"/>
              <a:t>‹#›</a:t>
            </a:fld>
            <a:endParaRPr lang="en-US"/>
          </a:p>
        </p:txBody>
      </p:sp>
    </p:spTree>
    <p:extLst>
      <p:ext uri="{BB962C8B-B14F-4D97-AF65-F5344CB8AC3E}">
        <p14:creationId xmlns:p14="http://schemas.microsoft.com/office/powerpoint/2010/main" val="365095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9A3134-6416-48B3-B000-C14452411B32}" type="datetime1">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29BFDF-C99B-4C75-B7E7-538F0F20BAF7}" type="slidenum">
              <a:rPr lang="en-US" smtClean="0"/>
              <a:t>‹#›</a:t>
            </a:fld>
            <a:endParaRPr lang="en-US"/>
          </a:p>
        </p:txBody>
      </p:sp>
    </p:spTree>
    <p:extLst>
      <p:ext uri="{BB962C8B-B14F-4D97-AF65-F5344CB8AC3E}">
        <p14:creationId xmlns:p14="http://schemas.microsoft.com/office/powerpoint/2010/main" val="3560999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75FE64-1E95-4672-A406-1302C8DB0D15}" type="datetime1">
              <a:rPr lang="en-US" smtClean="0"/>
              <a:t>6/21/2026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29BFDF-C99B-4C75-B7E7-538F0F20BAF7}" type="slidenum">
              <a:rPr lang="en-US" smtClean="0"/>
              <a:t>‹#›</a:t>
            </a:fld>
            <a:endParaRPr lang="en-US"/>
          </a:p>
        </p:txBody>
      </p:sp>
    </p:spTree>
    <p:extLst>
      <p:ext uri="{BB962C8B-B14F-4D97-AF65-F5344CB8AC3E}">
        <p14:creationId xmlns:p14="http://schemas.microsoft.com/office/powerpoint/2010/main" val="3626831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ACDB7F-29C7-4C5D-A7FF-E4D9821CC98D}" type="datetime1">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29BFDF-C99B-4C75-B7E7-538F0F20BAF7}" type="slidenum">
              <a:rPr lang="en-US" smtClean="0"/>
              <a:t>‹#›</a:t>
            </a:fld>
            <a:endParaRPr lang="en-US"/>
          </a:p>
        </p:txBody>
      </p:sp>
    </p:spTree>
    <p:extLst>
      <p:ext uri="{BB962C8B-B14F-4D97-AF65-F5344CB8AC3E}">
        <p14:creationId xmlns:p14="http://schemas.microsoft.com/office/powerpoint/2010/main" val="1875202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DE56E09-E1C7-485C-868A-C9B7A719762B}" type="datetime1">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29BFDF-C99B-4C75-B7E7-538F0F20BAF7}" type="slidenum">
              <a:rPr lang="en-US" smtClean="0"/>
              <a:t>‹#›</a:t>
            </a:fld>
            <a:endParaRPr lang="en-US"/>
          </a:p>
        </p:txBody>
      </p:sp>
    </p:spTree>
    <p:extLst>
      <p:ext uri="{BB962C8B-B14F-4D97-AF65-F5344CB8AC3E}">
        <p14:creationId xmlns:p14="http://schemas.microsoft.com/office/powerpoint/2010/main" val="2613715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B928B5E-16D6-4462-9EB8-B7B9F4A29ED9}" type="datetime1">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9BFDF-C99B-4C75-B7E7-538F0F20BAF7}" type="slidenum">
              <a:rPr lang="en-US" smtClean="0"/>
              <a:t>‹#›</a:t>
            </a:fld>
            <a:endParaRPr lang="en-US"/>
          </a:p>
        </p:txBody>
      </p:sp>
    </p:spTree>
    <p:extLst>
      <p:ext uri="{BB962C8B-B14F-4D97-AF65-F5344CB8AC3E}">
        <p14:creationId xmlns:p14="http://schemas.microsoft.com/office/powerpoint/2010/main" val="58262926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B928B5E-16D6-4462-9EB8-B7B9F4A29ED9}" type="datetime1">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9BFDF-C99B-4C75-B7E7-538F0F20BAF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1561593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B928B5E-16D6-4462-9EB8-B7B9F4A29ED9}" type="datetime1">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9BFDF-C99B-4C75-B7E7-538F0F20BAF7}" type="slidenum">
              <a:rPr lang="en-US" smtClean="0"/>
              <a:t>‹#›</a:t>
            </a:fld>
            <a:endParaRPr lang="en-US"/>
          </a:p>
        </p:txBody>
      </p:sp>
    </p:spTree>
    <p:extLst>
      <p:ext uri="{BB962C8B-B14F-4D97-AF65-F5344CB8AC3E}">
        <p14:creationId xmlns:p14="http://schemas.microsoft.com/office/powerpoint/2010/main" val="337202715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B928B5E-16D6-4462-9EB8-B7B9F4A29ED9}" type="datetime1">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9BFDF-C99B-4C75-B7E7-538F0F20BAF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7442793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B928B5E-16D6-4462-9EB8-B7B9F4A29ED9}" type="datetime1">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9BFDF-C99B-4C75-B7E7-538F0F20BAF7}" type="slidenum">
              <a:rPr lang="en-US" smtClean="0"/>
              <a:t>‹#›</a:t>
            </a:fld>
            <a:endParaRPr lang="en-US"/>
          </a:p>
        </p:txBody>
      </p:sp>
    </p:spTree>
    <p:extLst>
      <p:ext uri="{BB962C8B-B14F-4D97-AF65-F5344CB8AC3E}">
        <p14:creationId xmlns:p14="http://schemas.microsoft.com/office/powerpoint/2010/main" val="145152897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0C4324-4E22-4233-B2C2-4CD4F295AD51}" type="datetime1">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9BFDF-C99B-4C75-B7E7-538F0F20BAF7}" type="slidenum">
              <a:rPr lang="en-US" smtClean="0"/>
              <a:t>‹#›</a:t>
            </a:fld>
            <a:endParaRPr lang="en-US"/>
          </a:p>
        </p:txBody>
      </p:sp>
    </p:spTree>
    <p:extLst>
      <p:ext uri="{BB962C8B-B14F-4D97-AF65-F5344CB8AC3E}">
        <p14:creationId xmlns:p14="http://schemas.microsoft.com/office/powerpoint/2010/main" val="3648178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B941E6-28EA-4452-B82D-3A0FA2EC91D2}" type="datetime1">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9BFDF-C99B-4C75-B7E7-538F0F20BAF7}" type="slidenum">
              <a:rPr lang="en-US" smtClean="0"/>
              <a:t>‹#›</a:t>
            </a:fld>
            <a:endParaRPr lang="en-US"/>
          </a:p>
        </p:txBody>
      </p:sp>
    </p:spTree>
    <p:extLst>
      <p:ext uri="{BB962C8B-B14F-4D97-AF65-F5344CB8AC3E}">
        <p14:creationId xmlns:p14="http://schemas.microsoft.com/office/powerpoint/2010/main" val="3615183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B928B5E-16D6-4462-9EB8-B7B9F4A29ED9}" type="datetime1">
              <a:rPr lang="en-US" smtClean="0"/>
              <a:t>6/21/2026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029BFDF-C99B-4C75-B7E7-538F0F20BAF7}" type="slidenum">
              <a:rPr lang="en-US" smtClean="0"/>
              <a:t>‹#›</a:t>
            </a:fld>
            <a:endParaRPr lang="en-US"/>
          </a:p>
        </p:txBody>
      </p:sp>
    </p:spTree>
    <p:extLst>
      <p:ext uri="{BB962C8B-B14F-4D97-AF65-F5344CB8AC3E}">
        <p14:creationId xmlns:p14="http://schemas.microsoft.com/office/powerpoint/2010/main" val="146799682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Encapsulation &amp; Abstraction</a:t>
            </a:r>
          </a:p>
        </p:txBody>
      </p:sp>
      <p:sp>
        <p:nvSpPr>
          <p:cNvPr id="3" name="Subtitle 2"/>
          <p:cNvSpPr>
            <a:spLocks noGrp="1"/>
          </p:cNvSpPr>
          <p:nvPr>
            <p:ph type="subTitle" idx="1"/>
          </p:nvPr>
        </p:nvSpPr>
        <p:spPr/>
        <p:txBody>
          <a:bodyPr/>
          <a:lstStyle/>
          <a:p>
            <a:r>
              <a:rPr lang="en-US" dirty="0" err="1"/>
              <a:t>Mousumi</a:t>
            </a:r>
            <a:r>
              <a:rPr lang="en-US" dirty="0"/>
              <a:t> Hasan</a:t>
            </a:r>
          </a:p>
          <a:p>
            <a:r>
              <a:rPr lang="en-US"/>
              <a:t>Assitant</a:t>
            </a:r>
            <a:r>
              <a:rPr lang="en-US" dirty="0"/>
              <a:t> Professor, CSE Dept.</a:t>
            </a:r>
          </a:p>
        </p:txBody>
      </p:sp>
    </p:spTree>
    <p:extLst>
      <p:ext uri="{BB962C8B-B14F-4D97-AF65-F5344CB8AC3E}">
        <p14:creationId xmlns:p14="http://schemas.microsoft.com/office/powerpoint/2010/main" val="2859464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8000" b="1" u="sng" dirty="0"/>
              <a:t>Encapsulation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7664" y="2160588"/>
            <a:ext cx="6676710" cy="3881437"/>
          </a:xfrm>
        </p:spPr>
      </p:pic>
    </p:spTree>
    <p:extLst>
      <p:ext uri="{BB962C8B-B14F-4D97-AF65-F5344CB8AC3E}">
        <p14:creationId xmlns:p14="http://schemas.microsoft.com/office/powerpoint/2010/main" val="3805721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Encapsulation</a:t>
            </a:r>
          </a:p>
        </p:txBody>
      </p:sp>
      <p:sp>
        <p:nvSpPr>
          <p:cNvPr id="3" name="Content Placeholder 2"/>
          <p:cNvSpPr>
            <a:spLocks noGrp="1"/>
          </p:cNvSpPr>
          <p:nvPr>
            <p:ph idx="1"/>
          </p:nvPr>
        </p:nvSpPr>
        <p:spPr/>
        <p:txBody>
          <a:bodyPr/>
          <a:lstStyle/>
          <a:p>
            <a:pPr algn="just"/>
            <a:r>
              <a:rPr lang="en-US" dirty="0"/>
              <a:t>Encapsulation</a:t>
            </a:r>
            <a:r>
              <a:rPr lang="en-US" b="1" dirty="0"/>
              <a:t> </a:t>
            </a:r>
            <a:r>
              <a:rPr lang="en-US" dirty="0"/>
              <a:t>in C++ is defined as the wrapping up of data and information in a single unit. In Object Oriented Programming, Encapsulation is defined as binding together the data and the functions that manipulate them.</a:t>
            </a:r>
          </a:p>
          <a:p>
            <a:pPr algn="just"/>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3602182"/>
            <a:ext cx="5527963" cy="3255818"/>
          </a:xfrm>
          <a:prstGeom prst="rect">
            <a:avLst/>
          </a:prstGeom>
        </p:spPr>
      </p:pic>
    </p:spTree>
    <p:extLst>
      <p:ext uri="{BB962C8B-B14F-4D97-AF65-F5344CB8AC3E}">
        <p14:creationId xmlns:p14="http://schemas.microsoft.com/office/powerpoint/2010/main" val="2972154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Encapsulation</a:t>
            </a:r>
          </a:p>
        </p:txBody>
      </p:sp>
      <p:sp>
        <p:nvSpPr>
          <p:cNvPr id="5" name="Content Placeholder 4"/>
          <p:cNvSpPr>
            <a:spLocks noGrp="1"/>
          </p:cNvSpPr>
          <p:nvPr>
            <p:ph idx="1"/>
          </p:nvPr>
        </p:nvSpPr>
        <p:spPr>
          <a:xfrm>
            <a:off x="838200" y="1399310"/>
            <a:ext cx="10515600" cy="5306290"/>
          </a:xfrm>
        </p:spPr>
        <p:txBody>
          <a:bodyPr>
            <a:normAutofit/>
          </a:bodyPr>
          <a:lstStyle/>
          <a:p>
            <a:pPr fontAlgn="base"/>
            <a:r>
              <a:rPr lang="en-US" dirty="0"/>
              <a:t>Consider a real-life example of encapsulation, in a company, there are different sections like the accounts section, finance section, sales section, etc. Now,</a:t>
            </a:r>
          </a:p>
          <a:p>
            <a:pPr lvl="1" fontAlgn="base"/>
            <a:r>
              <a:rPr lang="en-US" dirty="0"/>
              <a:t>The finance section handles all the financial transactions and keeps records of all the data related to finance.</a:t>
            </a:r>
          </a:p>
          <a:p>
            <a:pPr lvl="1" fontAlgn="base"/>
            <a:r>
              <a:rPr lang="en-US" dirty="0"/>
              <a:t>Similarly, the sales section handles all the sales-related activities and keeps records of all the sales.</a:t>
            </a:r>
          </a:p>
          <a:p>
            <a:pPr fontAlgn="base"/>
            <a:r>
              <a:rPr lang="en-US" dirty="0"/>
              <a:t>Now there may arise a situation when for some reason an official from the finance section needs all the data about sales in a particular month.</a:t>
            </a:r>
          </a:p>
          <a:p>
            <a:pPr fontAlgn="base"/>
            <a:r>
              <a:rPr lang="en-US" dirty="0"/>
              <a:t>In this case, he is not allowed to directly access the data of the sales section. He will first have to contact some other officer in the sales section and then request him to give the particular data.</a:t>
            </a:r>
          </a:p>
          <a:p>
            <a:pPr fontAlgn="base"/>
            <a:r>
              <a:rPr lang="en-US" dirty="0"/>
              <a:t>This is what </a:t>
            </a:r>
            <a:r>
              <a:rPr lang="en-US" b="1" dirty="0"/>
              <a:t>Encapsulation</a:t>
            </a:r>
            <a:r>
              <a:rPr lang="en-US" b="1" i="1" dirty="0"/>
              <a:t> </a:t>
            </a:r>
            <a:r>
              <a:rPr lang="en-US" dirty="0"/>
              <a:t>is. Here the data of the sales section and the employees that can manipulate them are wrapped under a single name “sales section”. </a:t>
            </a:r>
          </a:p>
          <a:p>
            <a:endParaRPr lang="en-US" dirty="0"/>
          </a:p>
        </p:txBody>
      </p:sp>
    </p:spTree>
    <p:extLst>
      <p:ext uri="{BB962C8B-B14F-4D97-AF65-F5344CB8AC3E}">
        <p14:creationId xmlns:p14="http://schemas.microsoft.com/office/powerpoint/2010/main" val="923747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Encapsulation</a:t>
            </a:r>
          </a:p>
        </p:txBody>
      </p:sp>
      <p:sp>
        <p:nvSpPr>
          <p:cNvPr id="3" name="Content Placeholder 2"/>
          <p:cNvSpPr>
            <a:spLocks noGrp="1"/>
          </p:cNvSpPr>
          <p:nvPr>
            <p:ph idx="1"/>
          </p:nvPr>
        </p:nvSpPr>
        <p:spPr>
          <a:xfrm>
            <a:off x="838200" y="1454727"/>
            <a:ext cx="10515600" cy="4722236"/>
          </a:xfrm>
        </p:spPr>
        <p:txBody>
          <a:bodyPr/>
          <a:lstStyle/>
          <a:p>
            <a:pPr algn="just" fontAlgn="base"/>
            <a:r>
              <a:rPr lang="en-US" b="1" dirty="0"/>
              <a:t>Two Important  property of Encapsulation </a:t>
            </a:r>
            <a:endParaRPr lang="en-US" dirty="0"/>
          </a:p>
          <a:p>
            <a:pPr algn="just" fontAlgn="base"/>
            <a:r>
              <a:rPr lang="en-US" b="1" dirty="0"/>
              <a:t>Data Protection: </a:t>
            </a:r>
            <a:r>
              <a:rPr lang="en-US" dirty="0"/>
              <a:t>Encapsulation protects the internal state of an object by keeping its data members private. Access to and modification of these data members is restricted to the class’s public methods, ensuring controlled and secure data manipulation.</a:t>
            </a:r>
          </a:p>
          <a:p>
            <a:pPr algn="just" fontAlgn="base"/>
            <a:r>
              <a:rPr lang="en-US" b="1" dirty="0"/>
              <a:t>Data Hiding: </a:t>
            </a:r>
            <a:r>
              <a:rPr lang="en-US" dirty="0"/>
              <a:t>Encapsulation hides the internal implementation details of a class from external code. Only the public interface of the class is accessible, providing abstraction and simplifying the usage of the class while allowing the internal implementation to be modified without impacting external code.</a:t>
            </a:r>
          </a:p>
          <a:p>
            <a:endParaRPr lang="en-US" dirty="0"/>
          </a:p>
        </p:txBody>
      </p:sp>
    </p:spTree>
    <p:extLst>
      <p:ext uri="{BB962C8B-B14F-4D97-AF65-F5344CB8AC3E}">
        <p14:creationId xmlns:p14="http://schemas.microsoft.com/office/powerpoint/2010/main" val="3487855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Encapsulation</a:t>
            </a:r>
          </a:p>
        </p:txBody>
      </p:sp>
      <p:sp>
        <p:nvSpPr>
          <p:cNvPr id="4" name="Content Placeholder 3"/>
          <p:cNvSpPr>
            <a:spLocks noGrp="1"/>
          </p:cNvSpPr>
          <p:nvPr>
            <p:ph idx="1"/>
          </p:nvPr>
        </p:nvSpPr>
        <p:spPr>
          <a:xfrm>
            <a:off x="838200" y="1825625"/>
            <a:ext cx="10515600" cy="4893830"/>
          </a:xfrm>
        </p:spPr>
        <p:txBody>
          <a:bodyPr>
            <a:normAutofit/>
          </a:bodyPr>
          <a:lstStyle/>
          <a:p>
            <a:pPr fontAlgn="base"/>
            <a:r>
              <a:rPr lang="en-US" b="1" u="sng" dirty="0"/>
              <a:t>Features of Encapsulation</a:t>
            </a:r>
          </a:p>
          <a:p>
            <a:pPr fontAlgn="base"/>
            <a:r>
              <a:rPr lang="en-US" dirty="0"/>
              <a:t>We can not access any function from the class directly. We need an object to access that function that is using the member variables of that class. </a:t>
            </a:r>
          </a:p>
          <a:p>
            <a:pPr fontAlgn="base"/>
            <a:r>
              <a:rPr lang="en-US" dirty="0"/>
              <a:t>The function which we are making inside the class must use only member variables, only then it is called </a:t>
            </a:r>
            <a:r>
              <a:rPr lang="en-US" i="1" dirty="0"/>
              <a:t>encapsulation</a:t>
            </a:r>
            <a:r>
              <a:rPr lang="en-US" dirty="0"/>
              <a:t>.</a:t>
            </a:r>
          </a:p>
          <a:p>
            <a:pPr fontAlgn="base"/>
            <a:r>
              <a:rPr lang="en-US" dirty="0"/>
              <a:t>If we don’t make a function inside the class which is using the member variable of the class then we don’t call it encapsulation.</a:t>
            </a:r>
          </a:p>
          <a:p>
            <a:pPr fontAlgn="base"/>
            <a:r>
              <a:rPr lang="en-US" dirty="0"/>
              <a:t>Increase in the security of data</a:t>
            </a:r>
          </a:p>
          <a:p>
            <a:pPr fontAlgn="base"/>
            <a:r>
              <a:rPr lang="en-US" dirty="0"/>
              <a:t>It helps to control the modification of our data members.</a:t>
            </a:r>
          </a:p>
          <a:p>
            <a:r>
              <a:rPr lang="en-US" dirty="0"/>
              <a:t>Data hiding:</a:t>
            </a:r>
          </a:p>
          <a:p>
            <a:r>
              <a:rPr lang="en-US" b="1" i="1" dirty="0"/>
              <a:t>Data hiding is an important aspect of encapsulation that enables the data members of a class to be hidden from the clients of the class. By making the data members private and enabling </a:t>
            </a:r>
            <a:r>
              <a:rPr lang="en-US" b="1" i="1" dirty="0" err="1"/>
              <a:t>accessor</a:t>
            </a:r>
            <a:r>
              <a:rPr lang="en-US" b="1" i="1" dirty="0"/>
              <a:t> and </a:t>
            </a:r>
            <a:r>
              <a:rPr lang="en-US" b="1" i="1" dirty="0" err="1"/>
              <a:t>mutator</a:t>
            </a:r>
            <a:r>
              <a:rPr lang="en-US" b="1" i="1" dirty="0"/>
              <a:t> functions to access and modify the data members, data hiding can be accomplished.</a:t>
            </a:r>
          </a:p>
          <a:p>
            <a:pPr fontAlgn="base"/>
            <a:endParaRPr lang="en-US" dirty="0"/>
          </a:p>
          <a:p>
            <a:endParaRPr lang="en-US" dirty="0"/>
          </a:p>
        </p:txBody>
      </p:sp>
    </p:spTree>
    <p:extLst>
      <p:ext uri="{BB962C8B-B14F-4D97-AF65-F5344CB8AC3E}">
        <p14:creationId xmlns:p14="http://schemas.microsoft.com/office/powerpoint/2010/main" val="2081174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7363" y="0"/>
            <a:ext cx="10515600" cy="443345"/>
          </a:xfrm>
        </p:spPr>
        <p:txBody>
          <a:bodyPr>
            <a:normAutofit fontScale="90000"/>
          </a:bodyPr>
          <a:lstStyle/>
          <a:p>
            <a:pPr algn="ctr"/>
            <a:r>
              <a:rPr lang="en-US" sz="3600" u="sng" dirty="0"/>
              <a:t>Example 1 Code:</a:t>
            </a:r>
          </a:p>
        </p:txBody>
      </p:sp>
      <p:sp>
        <p:nvSpPr>
          <p:cNvPr id="5" name="Rectangle 4"/>
          <p:cNvSpPr/>
          <p:nvPr/>
        </p:nvSpPr>
        <p:spPr>
          <a:xfrm>
            <a:off x="727363" y="641783"/>
            <a:ext cx="5848249" cy="4524315"/>
          </a:xfrm>
          <a:prstGeom prst="rect">
            <a:avLst/>
          </a:prstGeom>
        </p:spPr>
        <p:txBody>
          <a:bodyPr wrap="square">
            <a:spAutoFit/>
          </a:bodyPr>
          <a:lstStyle/>
          <a:p>
            <a:r>
              <a:rPr lang="en-US" dirty="0"/>
              <a:t>#include &lt;</a:t>
            </a:r>
            <a:r>
              <a:rPr lang="en-US" dirty="0" err="1"/>
              <a:t>iostream</a:t>
            </a:r>
            <a:r>
              <a:rPr lang="en-US" dirty="0"/>
              <a:t>&gt;</a:t>
            </a:r>
          </a:p>
          <a:p>
            <a:r>
              <a:rPr lang="en-US" dirty="0"/>
              <a:t>using namespace </a:t>
            </a:r>
            <a:r>
              <a:rPr lang="en-US" dirty="0" err="1"/>
              <a:t>std</a:t>
            </a:r>
            <a:r>
              <a:rPr lang="en-US" dirty="0"/>
              <a:t>;</a:t>
            </a:r>
          </a:p>
          <a:p>
            <a:r>
              <a:rPr lang="en-US" dirty="0"/>
              <a:t>class Encapsulation {</a:t>
            </a:r>
          </a:p>
          <a:p>
            <a:r>
              <a:rPr lang="en-US" dirty="0"/>
              <a:t>private:</a:t>
            </a:r>
          </a:p>
          <a:p>
            <a:r>
              <a:rPr lang="en-US" dirty="0"/>
              <a:t>	// Data hidden from outside world</a:t>
            </a:r>
          </a:p>
          <a:p>
            <a:r>
              <a:rPr lang="en-US" dirty="0"/>
              <a:t>	</a:t>
            </a:r>
            <a:r>
              <a:rPr lang="en-US" dirty="0" err="1"/>
              <a:t>int</a:t>
            </a:r>
            <a:r>
              <a:rPr lang="en-US" dirty="0"/>
              <a:t> x;</a:t>
            </a:r>
          </a:p>
          <a:p>
            <a:r>
              <a:rPr lang="en-US" dirty="0"/>
              <a:t>public:</a:t>
            </a:r>
          </a:p>
          <a:p>
            <a:r>
              <a:rPr lang="en-US" dirty="0"/>
              <a:t>	// Function to set value of</a:t>
            </a:r>
          </a:p>
          <a:p>
            <a:r>
              <a:rPr lang="en-US" dirty="0"/>
              <a:t>	// variable x</a:t>
            </a:r>
          </a:p>
          <a:p>
            <a:r>
              <a:rPr lang="en-US" dirty="0"/>
              <a:t>	void set(</a:t>
            </a:r>
            <a:r>
              <a:rPr lang="en-US" dirty="0" err="1"/>
              <a:t>int</a:t>
            </a:r>
            <a:r>
              <a:rPr lang="en-US" dirty="0"/>
              <a:t> a) { x = a; }</a:t>
            </a:r>
          </a:p>
          <a:p>
            <a:endParaRPr lang="en-US" dirty="0"/>
          </a:p>
          <a:p>
            <a:r>
              <a:rPr lang="en-US" dirty="0"/>
              <a:t>	// Function to return value of</a:t>
            </a:r>
          </a:p>
          <a:p>
            <a:r>
              <a:rPr lang="en-US" dirty="0"/>
              <a:t>	// variable x</a:t>
            </a:r>
          </a:p>
          <a:p>
            <a:r>
              <a:rPr lang="en-US" dirty="0"/>
              <a:t>	</a:t>
            </a:r>
            <a:r>
              <a:rPr lang="en-US" dirty="0" err="1"/>
              <a:t>int</a:t>
            </a:r>
            <a:r>
              <a:rPr lang="en-US" dirty="0"/>
              <a:t> get() { return x; }</a:t>
            </a:r>
          </a:p>
          <a:p>
            <a:r>
              <a:rPr lang="en-US" dirty="0"/>
              <a:t>};</a:t>
            </a:r>
          </a:p>
          <a:p>
            <a:endParaRPr lang="en-US" dirty="0"/>
          </a:p>
        </p:txBody>
      </p:sp>
      <p:sp>
        <p:nvSpPr>
          <p:cNvPr id="6" name="Rectangle 5"/>
          <p:cNvSpPr/>
          <p:nvPr/>
        </p:nvSpPr>
        <p:spPr>
          <a:xfrm>
            <a:off x="727363" y="4826675"/>
            <a:ext cx="6096000" cy="2031325"/>
          </a:xfrm>
          <a:prstGeom prst="rect">
            <a:avLst/>
          </a:prstGeom>
        </p:spPr>
        <p:txBody>
          <a:bodyPr>
            <a:spAutoFit/>
          </a:bodyPr>
          <a:lstStyle/>
          <a:p>
            <a:r>
              <a:rPr lang="en-US" dirty="0" err="1"/>
              <a:t>int</a:t>
            </a:r>
            <a:r>
              <a:rPr lang="en-US" dirty="0"/>
              <a:t> main()</a:t>
            </a:r>
          </a:p>
          <a:p>
            <a:r>
              <a:rPr lang="en-US" dirty="0"/>
              <a:t>{</a:t>
            </a:r>
          </a:p>
          <a:p>
            <a:r>
              <a:rPr lang="en-US" dirty="0"/>
              <a:t>	Encapsulation </a:t>
            </a:r>
            <a:r>
              <a:rPr lang="en-US" dirty="0" err="1"/>
              <a:t>obj</a:t>
            </a:r>
            <a:r>
              <a:rPr lang="en-US" dirty="0"/>
              <a:t>;</a:t>
            </a:r>
          </a:p>
          <a:p>
            <a:r>
              <a:rPr lang="en-US" dirty="0"/>
              <a:t>	</a:t>
            </a:r>
            <a:r>
              <a:rPr lang="en-US" dirty="0" err="1"/>
              <a:t>obj.set</a:t>
            </a:r>
            <a:r>
              <a:rPr lang="en-US" dirty="0"/>
              <a:t>(5);</a:t>
            </a:r>
          </a:p>
          <a:p>
            <a:r>
              <a:rPr lang="en-US" dirty="0"/>
              <a:t>	</a:t>
            </a:r>
            <a:r>
              <a:rPr lang="en-US" dirty="0" err="1"/>
              <a:t>cout</a:t>
            </a:r>
            <a:r>
              <a:rPr lang="en-US" dirty="0"/>
              <a:t> &lt;&lt; </a:t>
            </a:r>
            <a:r>
              <a:rPr lang="en-US" dirty="0" err="1"/>
              <a:t>obj.get</a:t>
            </a:r>
            <a:r>
              <a:rPr lang="en-US" dirty="0"/>
              <a:t>();</a:t>
            </a:r>
          </a:p>
          <a:p>
            <a:r>
              <a:rPr lang="en-US" dirty="0"/>
              <a:t>	return 0;</a:t>
            </a:r>
          </a:p>
          <a:p>
            <a:r>
              <a:rPr lang="en-US" dirty="0"/>
              <a:t>}</a:t>
            </a:r>
          </a:p>
        </p:txBody>
      </p:sp>
      <p:sp>
        <p:nvSpPr>
          <p:cNvPr id="7" name="Rectangle 1"/>
          <p:cNvSpPr>
            <a:spLocks noChangeArrowheads="1"/>
          </p:cNvSpPr>
          <p:nvPr/>
        </p:nvSpPr>
        <p:spPr bwMode="auto">
          <a:xfrm>
            <a:off x="4197925" y="6522039"/>
            <a:ext cx="1330037" cy="33596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Nunito"/>
              </a:rPr>
              <a:t>Output </a:t>
            </a:r>
            <a:r>
              <a:rPr kumimoji="0" lang="en-US" altLang="en-US" sz="1600" b="0" i="0" u="none" strike="noStrike" cap="none" normalizeH="0" baseline="0" dirty="0">
                <a:ln>
                  <a:noFill/>
                </a:ln>
                <a:solidFill>
                  <a:srgbClr val="FF0000"/>
                </a:solidFill>
                <a:effectLst/>
                <a:latin typeface="Consolas" panose="020B0609020204030204" pitchFamily="49" charset="0"/>
              </a:rPr>
              <a:t>5</a:t>
            </a:r>
            <a:r>
              <a:rPr kumimoji="0" lang="en-US" altLang="en-US" sz="1400" b="0" i="0" u="none" strike="noStrike" cap="none" normalizeH="0" baseline="0" dirty="0">
                <a:ln>
                  <a:noFill/>
                </a:ln>
                <a:solidFill>
                  <a:srgbClr val="FF0000"/>
                </a:solidFill>
                <a:effectLst/>
              </a:rPr>
              <a:t> </a:t>
            </a:r>
            <a:endParaRPr kumimoji="0" lang="en-US" altLang="en-US" sz="2400" b="0" i="0" u="none" strike="noStrike" cap="none" normalizeH="0" baseline="0" dirty="0">
              <a:ln>
                <a:noFill/>
              </a:ln>
              <a:solidFill>
                <a:srgbClr val="FF0000"/>
              </a:solidFill>
              <a:effectLst/>
              <a:latin typeface="Arial" panose="020B0604020202020204" pitchFamily="34" charset="0"/>
            </a:endParaRPr>
          </a:p>
        </p:txBody>
      </p:sp>
      <p:sp>
        <p:nvSpPr>
          <p:cNvPr id="8" name="Rectangle 7"/>
          <p:cNvSpPr/>
          <p:nvPr/>
        </p:nvSpPr>
        <p:spPr>
          <a:xfrm>
            <a:off x="6705600" y="2272130"/>
            <a:ext cx="5146963" cy="2554545"/>
          </a:xfrm>
          <a:prstGeom prst="rect">
            <a:avLst/>
          </a:prstGeom>
        </p:spPr>
        <p:txBody>
          <a:bodyPr wrap="square">
            <a:spAutoFit/>
          </a:bodyPr>
          <a:lstStyle/>
          <a:p>
            <a:r>
              <a:rPr lang="en-US" sz="2000" b="1" i="0" dirty="0">
                <a:solidFill>
                  <a:srgbClr val="273239"/>
                </a:solidFill>
                <a:effectLst/>
                <a:latin typeface="Nunito"/>
              </a:rPr>
              <a:t>Explanation: </a:t>
            </a:r>
            <a:r>
              <a:rPr lang="en-US" sz="2000" b="0" i="0" dirty="0">
                <a:solidFill>
                  <a:srgbClr val="273239"/>
                </a:solidFill>
                <a:effectLst/>
                <a:latin typeface="Nunito"/>
              </a:rPr>
              <a:t>In the above program, the variable </a:t>
            </a:r>
            <a:r>
              <a:rPr lang="en-US" sz="2000" b="1" i="0" dirty="0">
                <a:solidFill>
                  <a:srgbClr val="273239"/>
                </a:solidFill>
                <a:effectLst/>
                <a:latin typeface="Nunito"/>
              </a:rPr>
              <a:t>x</a:t>
            </a:r>
            <a:r>
              <a:rPr lang="en-US" sz="2000" b="0" i="0" dirty="0">
                <a:solidFill>
                  <a:srgbClr val="273239"/>
                </a:solidFill>
                <a:effectLst/>
                <a:latin typeface="Nunito"/>
              </a:rPr>
              <a:t> is made private. This variable can be accessed and manipulated only using the functions get() and set() which are present inside the class. Thus we can say that here, the variable x and the functions get() and set() are bound together which is encapsulation.</a:t>
            </a:r>
            <a:endParaRPr lang="en-US" sz="2000" dirty="0"/>
          </a:p>
        </p:txBody>
      </p:sp>
    </p:spTree>
    <p:extLst>
      <p:ext uri="{BB962C8B-B14F-4D97-AF65-F5344CB8AC3E}">
        <p14:creationId xmlns:p14="http://schemas.microsoft.com/office/powerpoint/2010/main" val="4144935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351356"/>
            <a:ext cx="6096000" cy="5355312"/>
          </a:xfrm>
          <a:prstGeom prst="rect">
            <a:avLst/>
          </a:prstGeom>
        </p:spPr>
        <p:txBody>
          <a:bodyPr>
            <a:spAutoFit/>
          </a:bodyPr>
          <a:lstStyle/>
          <a:p>
            <a:r>
              <a:rPr lang="en-US" dirty="0"/>
              <a:t>#include &lt;</a:t>
            </a:r>
            <a:r>
              <a:rPr lang="en-US" dirty="0" err="1"/>
              <a:t>iostream</a:t>
            </a:r>
            <a:r>
              <a:rPr lang="en-US" dirty="0"/>
              <a:t>&gt;</a:t>
            </a:r>
          </a:p>
          <a:p>
            <a:r>
              <a:rPr lang="en-US" dirty="0"/>
              <a:t>using namespace </a:t>
            </a:r>
            <a:r>
              <a:rPr lang="en-US" dirty="0" err="1"/>
              <a:t>std</a:t>
            </a:r>
            <a:r>
              <a:rPr lang="en-US" dirty="0"/>
              <a:t>;</a:t>
            </a:r>
          </a:p>
          <a:p>
            <a:endParaRPr lang="en-US" dirty="0"/>
          </a:p>
          <a:p>
            <a:r>
              <a:rPr lang="en-US" dirty="0"/>
              <a:t>class Rectangle {</a:t>
            </a:r>
          </a:p>
          <a:p>
            <a:r>
              <a:rPr lang="en-US" b="1" dirty="0"/>
              <a:t>   private:</a:t>
            </a:r>
          </a:p>
          <a:p>
            <a:r>
              <a:rPr lang="en-US" dirty="0"/>
              <a:t>    // Variables required for area calculation</a:t>
            </a:r>
          </a:p>
          <a:p>
            <a:r>
              <a:rPr lang="en-US" dirty="0"/>
              <a:t>    </a:t>
            </a:r>
            <a:r>
              <a:rPr lang="en-US" dirty="0" err="1"/>
              <a:t>int</a:t>
            </a:r>
            <a:r>
              <a:rPr lang="en-US" dirty="0"/>
              <a:t> length;</a:t>
            </a:r>
          </a:p>
          <a:p>
            <a:r>
              <a:rPr lang="en-US" dirty="0"/>
              <a:t>    </a:t>
            </a:r>
            <a:r>
              <a:rPr lang="en-US" dirty="0" err="1"/>
              <a:t>int</a:t>
            </a:r>
            <a:r>
              <a:rPr lang="en-US" dirty="0"/>
              <a:t> breadth;</a:t>
            </a:r>
          </a:p>
          <a:p>
            <a:endParaRPr lang="en-US" dirty="0"/>
          </a:p>
          <a:p>
            <a:r>
              <a:rPr lang="en-US" b="1" dirty="0"/>
              <a:t>   public:</a:t>
            </a:r>
          </a:p>
          <a:p>
            <a:r>
              <a:rPr lang="en-US" dirty="0"/>
              <a:t>    // Setter function for length</a:t>
            </a:r>
          </a:p>
          <a:p>
            <a:r>
              <a:rPr lang="en-US" dirty="0"/>
              <a:t>    void </a:t>
            </a:r>
            <a:r>
              <a:rPr lang="en-US" dirty="0" err="1"/>
              <a:t>setLength</a:t>
            </a:r>
            <a:r>
              <a:rPr lang="en-US" dirty="0"/>
              <a:t>(</a:t>
            </a:r>
            <a:r>
              <a:rPr lang="en-US" dirty="0" err="1"/>
              <a:t>int</a:t>
            </a:r>
            <a:r>
              <a:rPr lang="en-US" dirty="0"/>
              <a:t> </a:t>
            </a:r>
            <a:r>
              <a:rPr lang="en-US" dirty="0" err="1"/>
              <a:t>len</a:t>
            </a:r>
            <a:r>
              <a:rPr lang="en-US" dirty="0"/>
              <a:t>) {</a:t>
            </a:r>
          </a:p>
          <a:p>
            <a:r>
              <a:rPr lang="en-US" dirty="0"/>
              <a:t>      length = </a:t>
            </a:r>
            <a:r>
              <a:rPr lang="en-US" dirty="0" err="1"/>
              <a:t>len</a:t>
            </a:r>
            <a:r>
              <a:rPr lang="en-US" dirty="0"/>
              <a:t>;</a:t>
            </a:r>
          </a:p>
          <a:p>
            <a:r>
              <a:rPr lang="en-US" dirty="0"/>
              <a:t>    }</a:t>
            </a:r>
          </a:p>
          <a:p>
            <a:r>
              <a:rPr lang="en-US" dirty="0"/>
              <a:t>    // Setter function for breadth</a:t>
            </a:r>
          </a:p>
          <a:p>
            <a:r>
              <a:rPr lang="en-US" dirty="0"/>
              <a:t>    void </a:t>
            </a:r>
            <a:r>
              <a:rPr lang="en-US" dirty="0" err="1"/>
              <a:t>setBreadth</a:t>
            </a:r>
            <a:r>
              <a:rPr lang="en-US" dirty="0"/>
              <a:t>(</a:t>
            </a:r>
            <a:r>
              <a:rPr lang="en-US" dirty="0" err="1"/>
              <a:t>int</a:t>
            </a:r>
            <a:r>
              <a:rPr lang="en-US" dirty="0"/>
              <a:t> </a:t>
            </a:r>
            <a:r>
              <a:rPr lang="en-US" dirty="0" err="1"/>
              <a:t>brth</a:t>
            </a:r>
            <a:r>
              <a:rPr lang="en-US" dirty="0"/>
              <a:t>) {</a:t>
            </a:r>
          </a:p>
          <a:p>
            <a:r>
              <a:rPr lang="en-US" dirty="0"/>
              <a:t>      breadth = </a:t>
            </a:r>
            <a:r>
              <a:rPr lang="en-US" dirty="0" err="1"/>
              <a:t>brth</a:t>
            </a:r>
            <a:r>
              <a:rPr lang="en-US" dirty="0"/>
              <a:t>;</a:t>
            </a:r>
          </a:p>
          <a:p>
            <a:r>
              <a:rPr lang="en-US" dirty="0"/>
              <a:t>    }</a:t>
            </a:r>
          </a:p>
          <a:p>
            <a:r>
              <a:rPr lang="en-US" dirty="0"/>
              <a:t>    </a:t>
            </a:r>
          </a:p>
        </p:txBody>
      </p:sp>
      <p:sp>
        <p:nvSpPr>
          <p:cNvPr id="6" name="Rectangle 5"/>
          <p:cNvSpPr/>
          <p:nvPr/>
        </p:nvSpPr>
        <p:spPr>
          <a:xfrm>
            <a:off x="3325091" y="3029012"/>
            <a:ext cx="5267580" cy="3970318"/>
          </a:xfrm>
          <a:prstGeom prst="rect">
            <a:avLst/>
          </a:prstGeom>
        </p:spPr>
        <p:txBody>
          <a:bodyPr wrap="square">
            <a:spAutoFit/>
          </a:bodyPr>
          <a:lstStyle/>
          <a:p>
            <a:r>
              <a:rPr lang="en-US" dirty="0"/>
              <a:t>// Getter function for length</a:t>
            </a:r>
          </a:p>
          <a:p>
            <a:r>
              <a:rPr lang="en-US" dirty="0"/>
              <a:t>    </a:t>
            </a:r>
            <a:r>
              <a:rPr lang="en-US" dirty="0" err="1"/>
              <a:t>int</a:t>
            </a:r>
            <a:r>
              <a:rPr lang="en-US" dirty="0"/>
              <a:t> </a:t>
            </a:r>
            <a:r>
              <a:rPr lang="en-US" dirty="0" err="1"/>
              <a:t>getLength</a:t>
            </a:r>
            <a:r>
              <a:rPr lang="en-US" dirty="0"/>
              <a:t>() {</a:t>
            </a:r>
          </a:p>
          <a:p>
            <a:r>
              <a:rPr lang="en-US" dirty="0"/>
              <a:t>      return length;</a:t>
            </a:r>
          </a:p>
          <a:p>
            <a:r>
              <a:rPr lang="en-US" dirty="0"/>
              <a:t>    }</a:t>
            </a:r>
          </a:p>
          <a:p>
            <a:r>
              <a:rPr lang="en-US" dirty="0"/>
              <a:t>    // Getter function for breadth</a:t>
            </a:r>
          </a:p>
          <a:p>
            <a:r>
              <a:rPr lang="en-US" dirty="0"/>
              <a:t>    </a:t>
            </a:r>
            <a:r>
              <a:rPr lang="en-US" dirty="0" err="1"/>
              <a:t>int</a:t>
            </a:r>
            <a:r>
              <a:rPr lang="en-US" dirty="0"/>
              <a:t> </a:t>
            </a:r>
            <a:r>
              <a:rPr lang="en-US" dirty="0" err="1"/>
              <a:t>getBreadth</a:t>
            </a:r>
            <a:r>
              <a:rPr lang="en-US" dirty="0"/>
              <a:t>() {</a:t>
            </a:r>
          </a:p>
          <a:p>
            <a:r>
              <a:rPr lang="en-US" dirty="0"/>
              <a:t>      return breadth;</a:t>
            </a:r>
          </a:p>
          <a:p>
            <a:r>
              <a:rPr lang="en-US" dirty="0"/>
              <a:t>    }</a:t>
            </a:r>
          </a:p>
          <a:p>
            <a:r>
              <a:rPr lang="en-US" dirty="0"/>
              <a:t>    // Function to calculate area</a:t>
            </a:r>
          </a:p>
          <a:p>
            <a:r>
              <a:rPr lang="en-US" dirty="0"/>
              <a:t>    </a:t>
            </a:r>
            <a:r>
              <a:rPr lang="en-US" dirty="0" err="1"/>
              <a:t>int</a:t>
            </a:r>
            <a:r>
              <a:rPr lang="en-US" dirty="0"/>
              <a:t> </a:t>
            </a:r>
            <a:r>
              <a:rPr lang="en-US" dirty="0" err="1"/>
              <a:t>getArea</a:t>
            </a:r>
            <a:r>
              <a:rPr lang="en-US" dirty="0"/>
              <a:t>() {</a:t>
            </a:r>
          </a:p>
          <a:p>
            <a:r>
              <a:rPr lang="en-US" dirty="0"/>
              <a:t>      return length * breadth;</a:t>
            </a:r>
          </a:p>
          <a:p>
            <a:r>
              <a:rPr lang="en-US" dirty="0"/>
              <a:t>    }</a:t>
            </a:r>
          </a:p>
          <a:p>
            <a:r>
              <a:rPr lang="en-US" dirty="0"/>
              <a:t>};</a:t>
            </a:r>
          </a:p>
          <a:p>
            <a:endParaRPr lang="en-US" dirty="0"/>
          </a:p>
        </p:txBody>
      </p:sp>
      <p:sp>
        <p:nvSpPr>
          <p:cNvPr id="7" name="Rectangle 6"/>
          <p:cNvSpPr/>
          <p:nvPr/>
        </p:nvSpPr>
        <p:spPr>
          <a:xfrm>
            <a:off x="6747164" y="806854"/>
            <a:ext cx="6096000" cy="5909310"/>
          </a:xfrm>
          <a:prstGeom prst="rect">
            <a:avLst/>
          </a:prstGeom>
        </p:spPr>
        <p:txBody>
          <a:bodyPr>
            <a:spAutoFit/>
          </a:bodyPr>
          <a:lstStyle/>
          <a:p>
            <a:r>
              <a:rPr lang="en-US" dirty="0" err="1"/>
              <a:t>int</a:t>
            </a:r>
            <a:r>
              <a:rPr lang="en-US" dirty="0"/>
              <a:t> main() {</a:t>
            </a:r>
          </a:p>
          <a:p>
            <a:r>
              <a:rPr lang="en-US" dirty="0"/>
              <a:t>  // Create object of Rectangle class</a:t>
            </a:r>
          </a:p>
          <a:p>
            <a:r>
              <a:rPr lang="en-US" dirty="0"/>
              <a:t>  Rectangle rectangle1;</a:t>
            </a:r>
          </a:p>
          <a:p>
            <a:endParaRPr lang="en-US" dirty="0"/>
          </a:p>
          <a:p>
            <a:r>
              <a:rPr lang="en-US" dirty="0"/>
              <a:t>  // Initialize length using Setter function</a:t>
            </a:r>
          </a:p>
          <a:p>
            <a:r>
              <a:rPr lang="en-US" dirty="0"/>
              <a:t>  rectangle1.setLength(8);</a:t>
            </a:r>
          </a:p>
          <a:p>
            <a:endParaRPr lang="en-US" dirty="0"/>
          </a:p>
          <a:p>
            <a:r>
              <a:rPr lang="en-US" dirty="0"/>
              <a:t>  // Initialize breadth using Setter function</a:t>
            </a:r>
          </a:p>
          <a:p>
            <a:r>
              <a:rPr lang="en-US" dirty="0"/>
              <a:t>  rectangle1.setBreadth(6);</a:t>
            </a:r>
          </a:p>
          <a:p>
            <a:endParaRPr lang="en-US" dirty="0"/>
          </a:p>
          <a:p>
            <a:r>
              <a:rPr lang="en-US" dirty="0"/>
              <a:t>  // Access length using Getter function</a:t>
            </a:r>
          </a:p>
          <a:p>
            <a:r>
              <a:rPr lang="en-US" dirty="0"/>
              <a:t>  </a:t>
            </a:r>
            <a:r>
              <a:rPr lang="en-US" dirty="0" err="1"/>
              <a:t>cout</a:t>
            </a:r>
            <a:r>
              <a:rPr lang="en-US" dirty="0"/>
              <a:t> &lt;&lt; "Length = " &lt;&lt; rectangle1.getLength() &lt;&lt; </a:t>
            </a:r>
            <a:r>
              <a:rPr lang="en-US" dirty="0" err="1"/>
              <a:t>endl</a:t>
            </a:r>
            <a:r>
              <a:rPr lang="en-US" dirty="0"/>
              <a:t>;</a:t>
            </a:r>
          </a:p>
          <a:p>
            <a:endParaRPr lang="en-US" dirty="0"/>
          </a:p>
          <a:p>
            <a:r>
              <a:rPr lang="en-US" dirty="0"/>
              <a:t>  // Access breadth using Getter function</a:t>
            </a:r>
          </a:p>
          <a:p>
            <a:r>
              <a:rPr lang="en-US" dirty="0"/>
              <a:t>  </a:t>
            </a:r>
            <a:r>
              <a:rPr lang="en-US" dirty="0" err="1"/>
              <a:t>cout</a:t>
            </a:r>
            <a:r>
              <a:rPr lang="en-US" dirty="0"/>
              <a:t> &lt;&lt; "Breadth = " &lt;&lt; rectangle1.getBreadth() &lt;&lt; </a:t>
            </a:r>
            <a:r>
              <a:rPr lang="en-US" dirty="0" err="1"/>
              <a:t>endl</a:t>
            </a:r>
            <a:r>
              <a:rPr lang="en-US" dirty="0"/>
              <a:t>;</a:t>
            </a:r>
          </a:p>
          <a:p>
            <a:endParaRPr lang="en-US" dirty="0"/>
          </a:p>
          <a:p>
            <a:r>
              <a:rPr lang="en-US" dirty="0"/>
              <a:t>  // Call </a:t>
            </a:r>
            <a:r>
              <a:rPr lang="en-US" dirty="0" err="1"/>
              <a:t>getArea</a:t>
            </a:r>
            <a:r>
              <a:rPr lang="en-US" dirty="0"/>
              <a:t>() function</a:t>
            </a:r>
          </a:p>
          <a:p>
            <a:r>
              <a:rPr lang="en-US" dirty="0"/>
              <a:t>  </a:t>
            </a:r>
            <a:r>
              <a:rPr lang="en-US" dirty="0" err="1"/>
              <a:t>cout</a:t>
            </a:r>
            <a:r>
              <a:rPr lang="en-US" dirty="0"/>
              <a:t> &lt;&lt; "Area = " &lt;&lt; rectangle1.getArea();</a:t>
            </a:r>
          </a:p>
          <a:p>
            <a:endParaRPr lang="en-US" dirty="0"/>
          </a:p>
          <a:p>
            <a:r>
              <a:rPr lang="en-US" dirty="0"/>
              <a:t>  return 0;</a:t>
            </a:r>
          </a:p>
          <a:p>
            <a:r>
              <a:rPr lang="en-US" dirty="0"/>
              <a:t>}</a:t>
            </a:r>
          </a:p>
        </p:txBody>
      </p:sp>
      <p:cxnSp>
        <p:nvCxnSpPr>
          <p:cNvPr id="9" name="Straight Connector 8"/>
          <p:cNvCxnSpPr/>
          <p:nvPr/>
        </p:nvCxnSpPr>
        <p:spPr>
          <a:xfrm flipH="1">
            <a:off x="6567055" y="806854"/>
            <a:ext cx="41563" cy="57463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a:xfrm>
            <a:off x="727363" y="0"/>
            <a:ext cx="10515600" cy="443345"/>
          </a:xfrm>
        </p:spPr>
        <p:txBody>
          <a:bodyPr>
            <a:normAutofit fontScale="90000"/>
          </a:bodyPr>
          <a:lstStyle/>
          <a:p>
            <a:pPr algn="ctr"/>
            <a:r>
              <a:rPr lang="en-US" sz="3600" u="sng" dirty="0"/>
              <a:t>Example 2 Code:</a:t>
            </a:r>
          </a:p>
        </p:txBody>
      </p:sp>
    </p:spTree>
    <p:extLst>
      <p:ext uri="{BB962C8B-B14F-4D97-AF65-F5344CB8AC3E}">
        <p14:creationId xmlns:p14="http://schemas.microsoft.com/office/powerpoint/2010/main" val="1018518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Explanation of Example 2</a:t>
            </a:r>
          </a:p>
        </p:txBody>
      </p:sp>
      <p:sp>
        <p:nvSpPr>
          <p:cNvPr id="3" name="Content Placeholder 2"/>
          <p:cNvSpPr>
            <a:spLocks noGrp="1"/>
          </p:cNvSpPr>
          <p:nvPr>
            <p:ph idx="1"/>
          </p:nvPr>
        </p:nvSpPr>
        <p:spPr/>
        <p:txBody>
          <a:bodyPr>
            <a:normAutofit fontScale="85000" lnSpcReduction="10000"/>
          </a:bodyPr>
          <a:lstStyle/>
          <a:p>
            <a:r>
              <a:rPr lang="en-US" dirty="0"/>
              <a:t>Here, we have made the </a:t>
            </a:r>
            <a:r>
              <a:rPr lang="en-US" b="1" i="1" dirty="0"/>
              <a:t>length and breadth </a:t>
            </a:r>
            <a:r>
              <a:rPr lang="en-US" dirty="0"/>
              <a:t>variables </a:t>
            </a:r>
            <a:r>
              <a:rPr lang="en-US" dirty="0">
                <a:solidFill>
                  <a:srgbClr val="FF0000"/>
                </a:solidFill>
              </a:rPr>
              <a:t>private.</a:t>
            </a:r>
          </a:p>
          <a:p>
            <a:endParaRPr lang="en-US" dirty="0"/>
          </a:p>
          <a:p>
            <a:r>
              <a:rPr lang="en-US" dirty="0"/>
              <a:t>This means that these variables cannot be directly accessed outside of the Rectangle class.</a:t>
            </a:r>
          </a:p>
          <a:p>
            <a:endParaRPr lang="en-US" dirty="0"/>
          </a:p>
          <a:p>
            <a:r>
              <a:rPr lang="en-US" dirty="0"/>
              <a:t>To access these private variables, we have used </a:t>
            </a:r>
            <a:r>
              <a:rPr lang="en-US" b="1" i="1" dirty="0"/>
              <a:t>public functions </a:t>
            </a:r>
            <a:r>
              <a:rPr lang="en-US" b="1" i="1" dirty="0" err="1"/>
              <a:t>setLength</a:t>
            </a:r>
            <a:r>
              <a:rPr lang="en-US" b="1" i="1" dirty="0"/>
              <a:t>(), </a:t>
            </a:r>
            <a:r>
              <a:rPr lang="en-US" b="1" i="1" dirty="0" err="1"/>
              <a:t>getLength</a:t>
            </a:r>
            <a:r>
              <a:rPr lang="en-US" b="1" i="1" dirty="0"/>
              <a:t>(), </a:t>
            </a:r>
            <a:r>
              <a:rPr lang="en-US" b="1" i="1" dirty="0" err="1"/>
              <a:t>setBreadth</a:t>
            </a:r>
            <a:r>
              <a:rPr lang="en-US" b="1" i="1" dirty="0"/>
              <a:t>(), and </a:t>
            </a:r>
            <a:r>
              <a:rPr lang="en-US" b="1" i="1" dirty="0" err="1"/>
              <a:t>getBreadth</a:t>
            </a:r>
            <a:r>
              <a:rPr lang="en-US" b="1" i="1" dirty="0"/>
              <a:t>(). </a:t>
            </a:r>
            <a:r>
              <a:rPr lang="en-US" dirty="0"/>
              <a:t>These are called getter and setter functions.</a:t>
            </a:r>
          </a:p>
          <a:p>
            <a:endParaRPr lang="en-US" dirty="0"/>
          </a:p>
          <a:p>
            <a:r>
              <a:rPr lang="en-US" b="1" dirty="0">
                <a:solidFill>
                  <a:srgbClr val="FF0000"/>
                </a:solidFill>
              </a:rPr>
              <a:t>Making the variables private allowed us to restrict unauthorized access from outside the class. This is data hiding with Encapsulation.</a:t>
            </a:r>
          </a:p>
          <a:p>
            <a:endParaRPr lang="en-US" dirty="0"/>
          </a:p>
          <a:p>
            <a:r>
              <a:rPr lang="en-US" dirty="0"/>
              <a:t>If we try to directly access the variables from the main() class, we will get an error.</a:t>
            </a:r>
          </a:p>
        </p:txBody>
      </p:sp>
    </p:spTree>
    <p:extLst>
      <p:ext uri="{BB962C8B-B14F-4D97-AF65-F5344CB8AC3E}">
        <p14:creationId xmlns:p14="http://schemas.microsoft.com/office/powerpoint/2010/main" val="2226453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Role of Access Specifiers in Encapsulation</a:t>
            </a:r>
            <a:br>
              <a:rPr lang="en-US" b="1" dirty="0"/>
            </a:br>
            <a:endParaRPr lang="en-US" dirty="0"/>
          </a:p>
        </p:txBody>
      </p:sp>
      <p:sp>
        <p:nvSpPr>
          <p:cNvPr id="3" name="Content Placeholder 2"/>
          <p:cNvSpPr>
            <a:spLocks noGrp="1"/>
          </p:cNvSpPr>
          <p:nvPr>
            <p:ph idx="1"/>
          </p:nvPr>
        </p:nvSpPr>
        <p:spPr/>
        <p:txBody>
          <a:bodyPr>
            <a:normAutofit/>
          </a:bodyPr>
          <a:lstStyle/>
          <a:p>
            <a:pPr fontAlgn="base"/>
            <a:r>
              <a:rPr lang="en-US" dirty="0"/>
              <a:t>Access specifiers facilitate Data Hiding in C++ programs by restricting access to the class member functions and data members. There are three types of access specifiers in C++:</a:t>
            </a:r>
          </a:p>
          <a:p>
            <a:pPr fontAlgn="base"/>
            <a:r>
              <a:rPr lang="en-US" b="1" dirty="0"/>
              <a:t>Private</a:t>
            </a:r>
            <a:endParaRPr lang="en-US" dirty="0"/>
          </a:p>
          <a:p>
            <a:pPr fontAlgn="base"/>
            <a:r>
              <a:rPr lang="en-US" b="1" dirty="0"/>
              <a:t>Protected</a:t>
            </a:r>
            <a:endParaRPr lang="en-US" dirty="0"/>
          </a:p>
          <a:p>
            <a:pPr fontAlgn="base"/>
            <a:r>
              <a:rPr lang="en-US" b="1" dirty="0"/>
              <a:t>Public</a:t>
            </a:r>
            <a:endParaRPr lang="en-US" dirty="0"/>
          </a:p>
          <a:p>
            <a:pPr fontAlgn="base"/>
            <a:r>
              <a:rPr lang="en-US" dirty="0"/>
              <a:t>Access specifiers play an important role in implementing encapsulation in C++. The process of implementing encapsulation can be sub-divided into two steps:</a:t>
            </a:r>
          </a:p>
          <a:p>
            <a:pPr lvl="1" fontAlgn="base">
              <a:buFont typeface="Wingdings" panose="05000000000000000000" pitchFamily="2" charset="2"/>
              <a:buChar char="q"/>
            </a:pPr>
            <a:r>
              <a:rPr lang="en-US" dirty="0"/>
              <a:t>Creating a class to encapsulate all the data and methods into a single unit.</a:t>
            </a:r>
          </a:p>
          <a:p>
            <a:pPr lvl="1" fontAlgn="base">
              <a:buFont typeface="Wingdings" panose="05000000000000000000" pitchFamily="2" charset="2"/>
              <a:buChar char="q"/>
            </a:pPr>
            <a:r>
              <a:rPr lang="en-US" dirty="0"/>
              <a:t>Hiding relevant data using access specifiers.</a:t>
            </a:r>
          </a:p>
          <a:p>
            <a:endParaRPr lang="en-US" dirty="0"/>
          </a:p>
        </p:txBody>
      </p:sp>
    </p:spTree>
    <p:extLst>
      <p:ext uri="{BB962C8B-B14F-4D97-AF65-F5344CB8AC3E}">
        <p14:creationId xmlns:p14="http://schemas.microsoft.com/office/powerpoint/2010/main" val="3851290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Benefits of Encapsulation</a:t>
            </a:r>
          </a:p>
        </p:txBody>
      </p:sp>
      <p:sp>
        <p:nvSpPr>
          <p:cNvPr id="3" name="Content Placeholder 2"/>
          <p:cNvSpPr>
            <a:spLocks noGrp="1"/>
          </p:cNvSpPr>
          <p:nvPr>
            <p:ph idx="1"/>
          </p:nvPr>
        </p:nvSpPr>
        <p:spPr>
          <a:xfrm>
            <a:off x="838200" y="1524433"/>
            <a:ext cx="10799618" cy="5028767"/>
          </a:xfrm>
        </p:spPr>
        <p:txBody>
          <a:bodyPr>
            <a:normAutofit/>
          </a:bodyPr>
          <a:lstStyle/>
          <a:p>
            <a:pPr marL="0" indent="0">
              <a:buNone/>
            </a:pPr>
            <a:r>
              <a:rPr lang="en-US" dirty="0"/>
              <a:t>Encapsulation provides several benefits, including:</a:t>
            </a:r>
          </a:p>
          <a:p>
            <a:r>
              <a:rPr lang="en-US" b="1" dirty="0"/>
              <a:t>Improved code maintainability: </a:t>
            </a:r>
            <a:r>
              <a:rPr lang="en-US" dirty="0"/>
              <a:t>Encapsulation helps in improving the code maintainability by providing a clear separation between the implementation details of a class and its clients.</a:t>
            </a:r>
          </a:p>
          <a:p>
            <a:r>
              <a:rPr lang="en-US" b="1" dirty="0"/>
              <a:t>Data hiding: </a:t>
            </a:r>
            <a:r>
              <a:rPr lang="en-US" dirty="0"/>
              <a:t>Encapsulation enables data hiding, which protects the data members of a class from being accessed and modified by the clients of the class.</a:t>
            </a:r>
          </a:p>
          <a:p>
            <a:r>
              <a:rPr lang="en-US" b="1" dirty="0"/>
              <a:t>Code reuse: </a:t>
            </a:r>
            <a:r>
              <a:rPr lang="en-US" dirty="0"/>
              <a:t>Encapsulation helps in code reuse by providing a modular design that can be easily extended and modified.</a:t>
            </a:r>
          </a:p>
          <a:p>
            <a:r>
              <a:rPr lang="en-US" b="1" dirty="0"/>
              <a:t>Security: </a:t>
            </a:r>
            <a:r>
              <a:rPr lang="en-US" dirty="0"/>
              <a:t>Encapsulation provides security by preventing unauthorized access to the data members of a class.</a:t>
            </a:r>
          </a:p>
          <a:p>
            <a:endParaRPr lang="en-US" dirty="0"/>
          </a:p>
        </p:txBody>
      </p:sp>
    </p:spTree>
    <p:extLst>
      <p:ext uri="{BB962C8B-B14F-4D97-AF65-F5344CB8AC3E}">
        <p14:creationId xmlns:p14="http://schemas.microsoft.com/office/powerpoint/2010/main" val="3226414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Abstraction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99305" y="2719988"/>
            <a:ext cx="3953427" cy="2762636"/>
          </a:xfrm>
        </p:spPr>
      </p:pic>
    </p:spTree>
    <p:extLst>
      <p:ext uri="{BB962C8B-B14F-4D97-AF65-F5344CB8AC3E}">
        <p14:creationId xmlns:p14="http://schemas.microsoft.com/office/powerpoint/2010/main" val="625304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Abstraction</a:t>
            </a:r>
            <a:endParaRPr lang="en-US" dirty="0"/>
          </a:p>
        </p:txBody>
      </p:sp>
      <p:sp>
        <p:nvSpPr>
          <p:cNvPr id="3" name="Content Placeholder 2"/>
          <p:cNvSpPr>
            <a:spLocks noGrp="1"/>
          </p:cNvSpPr>
          <p:nvPr>
            <p:ph idx="1"/>
          </p:nvPr>
        </p:nvSpPr>
        <p:spPr/>
        <p:txBody>
          <a:bodyPr/>
          <a:lstStyle/>
          <a:p>
            <a:r>
              <a:rPr lang="en-US" dirty="0"/>
              <a:t>Data abstraction refers to providing only essential information to the outside world and hiding their background details, i.e., to represent the needed information in program without presenting the details.</a:t>
            </a:r>
          </a:p>
          <a:p>
            <a:r>
              <a:rPr lang="en-US" dirty="0"/>
              <a:t>Data abstraction is a programming (and design) technique that relies on the separation of interface and implementation.</a:t>
            </a:r>
          </a:p>
          <a:p>
            <a:r>
              <a:rPr lang="en-US" altLang="en-US" dirty="0"/>
              <a:t>With data abstraction we think about </a:t>
            </a:r>
            <a:r>
              <a:rPr lang="en-US" altLang="en-US" u="sng" dirty="0"/>
              <a:t>what</a:t>
            </a:r>
            <a:r>
              <a:rPr lang="en-US" altLang="en-US" dirty="0"/>
              <a:t> operations can be performed on a particular type of data and not </a:t>
            </a:r>
            <a:r>
              <a:rPr lang="en-US" altLang="en-US" u="sng" dirty="0"/>
              <a:t>how</a:t>
            </a:r>
            <a:r>
              <a:rPr lang="en-US" altLang="en-US" dirty="0"/>
              <a:t> it does it</a:t>
            </a:r>
          </a:p>
          <a:p>
            <a:endParaRPr lang="en-US" dirty="0"/>
          </a:p>
          <a:p>
            <a:endParaRPr lang="en-US" dirty="0"/>
          </a:p>
        </p:txBody>
      </p:sp>
    </p:spTree>
    <p:extLst>
      <p:ext uri="{BB962C8B-B14F-4D97-AF65-F5344CB8AC3E}">
        <p14:creationId xmlns:p14="http://schemas.microsoft.com/office/powerpoint/2010/main" val="907874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Abstraction</a:t>
            </a:r>
            <a:endParaRPr lang="en-US" dirty="0"/>
          </a:p>
        </p:txBody>
      </p:sp>
      <p:sp>
        <p:nvSpPr>
          <p:cNvPr id="3" name="Content Placeholder 2"/>
          <p:cNvSpPr>
            <a:spLocks noGrp="1"/>
          </p:cNvSpPr>
          <p:nvPr>
            <p:ph idx="1"/>
          </p:nvPr>
        </p:nvSpPr>
        <p:spPr>
          <a:xfrm>
            <a:off x="665018" y="1413164"/>
            <a:ext cx="6650183" cy="4763799"/>
          </a:xfrm>
        </p:spPr>
        <p:txBody>
          <a:bodyPr/>
          <a:lstStyle/>
          <a:p>
            <a:r>
              <a:rPr lang="en-US" dirty="0"/>
              <a:t>Consider a</a:t>
            </a:r>
            <a:r>
              <a:rPr lang="en-US" b="1" i="1" dirty="0"/>
              <a:t> real-life example of a man driving a car</a:t>
            </a:r>
            <a:r>
              <a:rPr lang="en-US" dirty="0"/>
              <a:t>. The man only knows that pressing the accelerator will increase the speed of the car or applying brakes will stop the car but he does not know how on pressing the accelerator the speed is actually increasing, he does not know about the inner mechanism of the car or the implementation of the accelerator, brakes, </a:t>
            </a:r>
            <a:r>
              <a:rPr lang="en-US" dirty="0" err="1"/>
              <a:t>etc</a:t>
            </a:r>
            <a:r>
              <a:rPr lang="en-US" dirty="0"/>
              <a:t> in the car. This is what abstraction is.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84474" y="1413164"/>
            <a:ext cx="4710544" cy="3657598"/>
          </a:xfrm>
          <a:prstGeom prst="rect">
            <a:avLst/>
          </a:prstGeom>
        </p:spPr>
      </p:pic>
    </p:spTree>
    <p:extLst>
      <p:ext uri="{BB962C8B-B14F-4D97-AF65-F5344CB8AC3E}">
        <p14:creationId xmlns:p14="http://schemas.microsoft.com/office/powerpoint/2010/main" val="858249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976746" y="1"/>
            <a:ext cx="10515600" cy="7204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u="sng" dirty="0"/>
              <a:t>How Abstraction is Achieved in C++</a:t>
            </a:r>
            <a:endParaRPr lang="en-US" dirty="0"/>
          </a:p>
        </p:txBody>
      </p:sp>
      <p:sp>
        <p:nvSpPr>
          <p:cNvPr id="3" name="Content Placeholder 2">
            <a:extLst>
              <a:ext uri="{FF2B5EF4-FFF2-40B4-BE49-F238E27FC236}">
                <a16:creationId xmlns:a16="http://schemas.microsoft.com/office/drawing/2014/main" id="{A0A8F4A4-D8C2-A15A-AAB0-3F6D8148FF91}"/>
              </a:ext>
            </a:extLst>
          </p:cNvPr>
          <p:cNvSpPr>
            <a:spLocks noGrp="1"/>
          </p:cNvSpPr>
          <p:nvPr>
            <p:ph idx="1"/>
          </p:nvPr>
        </p:nvSpPr>
        <p:spPr/>
        <p:txBody>
          <a:bodyPr/>
          <a:lstStyle/>
          <a:p>
            <a:r>
              <a:rPr lang="en-US" dirty="0"/>
              <a:t>Using:</a:t>
            </a:r>
          </a:p>
          <a:p>
            <a:r>
              <a:rPr lang="en-US" dirty="0"/>
              <a:t>Abstract class </a:t>
            </a:r>
          </a:p>
          <a:p>
            <a:r>
              <a:rPr lang="en-US" dirty="0"/>
              <a:t>Pure virtual function </a:t>
            </a:r>
          </a:p>
          <a:p>
            <a:r>
              <a:rPr lang="en-US" dirty="0"/>
              <a:t>Access control</a:t>
            </a:r>
          </a:p>
          <a:p>
            <a:endParaRPr lang="en-US" dirty="0"/>
          </a:p>
        </p:txBody>
      </p:sp>
    </p:spTree>
    <p:extLst>
      <p:ext uri="{BB962C8B-B14F-4D97-AF65-F5344CB8AC3E}">
        <p14:creationId xmlns:p14="http://schemas.microsoft.com/office/powerpoint/2010/main" val="1780722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838200" y="365126"/>
            <a:ext cx="10515600" cy="729384"/>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dirty="0"/>
              <a:t>Abstraction using Abstract Class</a:t>
            </a:r>
            <a:endParaRPr lang="en-US" altLang="en-US" dirty="0"/>
          </a:p>
        </p:txBody>
      </p:sp>
      <p:sp>
        <p:nvSpPr>
          <p:cNvPr id="6" name="Slide Number Placeholder 5"/>
          <p:cNvSpPr>
            <a:spLocks noGrp="1"/>
          </p:cNvSpPr>
          <p:nvPr>
            <p:ph type="sldNum" sz="quarter" idx="12"/>
          </p:nvPr>
        </p:nvSpPr>
        <p:spPr/>
        <p:txBody>
          <a:bodyPr/>
          <a:lstStyle/>
          <a:p>
            <a:fld id="{4C19B5FA-2C79-47E6-BBE0-ADBCF0B3B17E}" type="slidenum">
              <a:rPr lang="en-US" altLang="en-US"/>
              <a:pPr/>
              <a:t>16</a:t>
            </a:fld>
            <a:endParaRPr lang="en-US" altLang="en-US"/>
          </a:p>
        </p:txBody>
      </p:sp>
      <p:sp>
        <p:nvSpPr>
          <p:cNvPr id="3" name="TextBox 2">
            <a:extLst>
              <a:ext uri="{FF2B5EF4-FFF2-40B4-BE49-F238E27FC236}">
                <a16:creationId xmlns:a16="http://schemas.microsoft.com/office/drawing/2014/main" id="{54DAE33A-C087-1EEF-2C7F-C70F871ACBF6}"/>
              </a:ext>
            </a:extLst>
          </p:cNvPr>
          <p:cNvSpPr txBox="1"/>
          <p:nvPr/>
        </p:nvSpPr>
        <p:spPr>
          <a:xfrm>
            <a:off x="1167620" y="1328174"/>
            <a:ext cx="8398412" cy="5078313"/>
          </a:xfrm>
          <a:prstGeom prst="rect">
            <a:avLst/>
          </a:prstGeom>
          <a:noFill/>
        </p:spPr>
        <p:txBody>
          <a:bodyPr wrap="square" numCol="2" rtlCol="0">
            <a:spAutoFit/>
          </a:bodyPr>
          <a:lstStyle/>
          <a:p>
            <a:r>
              <a:rPr lang="en-US"/>
              <a:t>#include &lt;iostream&gt;</a:t>
            </a:r>
          </a:p>
          <a:p>
            <a:r>
              <a:rPr lang="en-US"/>
              <a:t>using namespace std;</a:t>
            </a:r>
          </a:p>
          <a:p>
            <a:endParaRPr lang="en-US"/>
          </a:p>
          <a:p>
            <a:r>
              <a:rPr lang="en-US"/>
              <a:t>class Shape {</a:t>
            </a:r>
          </a:p>
          <a:p>
            <a:r>
              <a:rPr lang="en-US"/>
              <a:t>public:</a:t>
            </a:r>
          </a:p>
          <a:p>
            <a:r>
              <a:rPr lang="en-US"/>
              <a:t>    virtual void area() = 0;</a:t>
            </a:r>
          </a:p>
          <a:p>
            <a:r>
              <a:rPr lang="en-US"/>
              <a:t>};</a:t>
            </a:r>
          </a:p>
          <a:p>
            <a:endParaRPr lang="en-US"/>
          </a:p>
          <a:p>
            <a:r>
              <a:rPr lang="en-US"/>
              <a:t>class Rectangle : public Shape {</a:t>
            </a:r>
          </a:p>
          <a:p>
            <a:endParaRPr lang="en-US"/>
          </a:p>
          <a:p>
            <a:r>
              <a:rPr lang="en-US"/>
              <a:t>private:</a:t>
            </a:r>
          </a:p>
          <a:p>
            <a:r>
              <a:rPr lang="en-US"/>
              <a:t>    int length, width;</a:t>
            </a:r>
          </a:p>
          <a:p>
            <a:endParaRPr lang="en-US"/>
          </a:p>
          <a:p>
            <a:r>
              <a:rPr lang="en-US"/>
              <a:t>public:</a:t>
            </a:r>
          </a:p>
          <a:p>
            <a:endParaRPr lang="en-US"/>
          </a:p>
          <a:p>
            <a:r>
              <a:rPr lang="en-US"/>
              <a:t>    Rectangle(int l, int w) {</a:t>
            </a:r>
          </a:p>
          <a:p>
            <a:r>
              <a:rPr lang="en-US"/>
              <a:t>        length = l;</a:t>
            </a:r>
          </a:p>
          <a:p>
            <a:r>
              <a:rPr lang="en-US"/>
              <a:t>        width = w;</a:t>
            </a:r>
          </a:p>
          <a:p>
            <a:r>
              <a:rPr lang="en-US"/>
              <a:t>    }</a:t>
            </a:r>
          </a:p>
          <a:p>
            <a:endParaRPr lang="en-US"/>
          </a:p>
          <a:p>
            <a:r>
              <a:rPr lang="en-US"/>
              <a:t>    void area() {</a:t>
            </a:r>
          </a:p>
          <a:p>
            <a:r>
              <a:rPr lang="en-US"/>
              <a:t>        cout &lt;&lt; "Area = "</a:t>
            </a:r>
          </a:p>
          <a:p>
            <a:r>
              <a:rPr lang="en-US"/>
              <a:t>             &lt;&lt; length * width</a:t>
            </a:r>
          </a:p>
          <a:p>
            <a:r>
              <a:rPr lang="en-US"/>
              <a:t>             &lt;&lt; endl;</a:t>
            </a:r>
          </a:p>
          <a:p>
            <a:r>
              <a:rPr lang="en-US"/>
              <a:t>    }</a:t>
            </a:r>
          </a:p>
          <a:p>
            <a:r>
              <a:rPr lang="en-US"/>
              <a:t>};</a:t>
            </a:r>
          </a:p>
          <a:p>
            <a:endParaRPr lang="en-US"/>
          </a:p>
          <a:p>
            <a:r>
              <a:rPr lang="en-US"/>
              <a:t>int main() {</a:t>
            </a:r>
          </a:p>
          <a:p>
            <a:endParaRPr lang="en-US"/>
          </a:p>
          <a:p>
            <a:r>
              <a:rPr lang="en-US"/>
              <a:t>    Rectangle r(10,5);</a:t>
            </a:r>
          </a:p>
          <a:p>
            <a:endParaRPr lang="en-US"/>
          </a:p>
          <a:p>
            <a:r>
              <a:rPr lang="en-US"/>
              <a:t>    r.area();</a:t>
            </a:r>
          </a:p>
          <a:p>
            <a:endParaRPr lang="en-US"/>
          </a:p>
          <a:p>
            <a:r>
              <a:rPr lang="en-US"/>
              <a:t>    return 0;</a:t>
            </a:r>
          </a:p>
          <a:p>
            <a:r>
              <a:rPr lang="en-US"/>
              <a:t>}</a:t>
            </a:r>
            <a:endParaRPr lang="en-US" dirty="0"/>
          </a:p>
        </p:txBody>
      </p:sp>
    </p:spTree>
    <p:extLst>
      <p:ext uri="{BB962C8B-B14F-4D97-AF65-F5344CB8AC3E}">
        <p14:creationId xmlns:p14="http://schemas.microsoft.com/office/powerpoint/2010/main" val="130667799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15A4-003E-CA8B-D229-20B62C150B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CBB6BB-993E-5E6F-345D-E762B6A5E548}"/>
              </a:ext>
            </a:extLst>
          </p:cNvPr>
          <p:cNvSpPr>
            <a:spLocks noGrp="1"/>
          </p:cNvSpPr>
          <p:nvPr>
            <p:ph idx="1"/>
          </p:nvPr>
        </p:nvSpPr>
        <p:spPr/>
        <p:txBody>
          <a:bodyPr/>
          <a:lstStyle/>
          <a:p>
            <a:r>
              <a:rPr lang="en-US" b="1" dirty="0"/>
              <a:t>Output</a:t>
            </a:r>
          </a:p>
          <a:p>
            <a:r>
              <a:rPr lang="en-US" dirty="0"/>
              <a:t>Area = 50</a:t>
            </a:r>
          </a:p>
          <a:p>
            <a:r>
              <a:rPr lang="en-US" b="1" dirty="0"/>
              <a:t>Explanation</a:t>
            </a:r>
          </a:p>
          <a:p>
            <a:r>
              <a:rPr lang="en-US" dirty="0"/>
              <a:t>Shape is an </a:t>
            </a:r>
            <a:r>
              <a:rPr lang="en-US" b="1" dirty="0"/>
              <a:t>abstract class</a:t>
            </a:r>
            <a:r>
              <a:rPr lang="en-US" dirty="0"/>
              <a:t>. </a:t>
            </a:r>
          </a:p>
          <a:p>
            <a:r>
              <a:rPr lang="en-US" dirty="0"/>
              <a:t>area() is a </a:t>
            </a:r>
            <a:r>
              <a:rPr lang="en-US" b="1" dirty="0"/>
              <a:t>pure virtual function</a:t>
            </a:r>
            <a:r>
              <a:rPr lang="en-US" dirty="0"/>
              <a:t>. </a:t>
            </a:r>
          </a:p>
          <a:p>
            <a:r>
              <a:rPr lang="en-US" dirty="0"/>
              <a:t>Rectangle provides implementation. </a:t>
            </a:r>
          </a:p>
          <a:p>
            <a:r>
              <a:rPr lang="en-US" dirty="0"/>
              <a:t>User only calls area().</a:t>
            </a:r>
          </a:p>
          <a:p>
            <a:endParaRPr lang="en-US" dirty="0"/>
          </a:p>
        </p:txBody>
      </p:sp>
    </p:spTree>
    <p:extLst>
      <p:ext uri="{BB962C8B-B14F-4D97-AF65-F5344CB8AC3E}">
        <p14:creationId xmlns:p14="http://schemas.microsoft.com/office/powerpoint/2010/main" val="2759481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Abstraction</a:t>
            </a:r>
            <a:endParaRPr lang="en-US" dirty="0"/>
          </a:p>
        </p:txBody>
      </p:sp>
      <p:sp>
        <p:nvSpPr>
          <p:cNvPr id="3" name="Content Placeholder 2"/>
          <p:cNvSpPr>
            <a:spLocks noGrp="1"/>
          </p:cNvSpPr>
          <p:nvPr>
            <p:ph idx="1"/>
          </p:nvPr>
        </p:nvSpPr>
        <p:spPr>
          <a:xfrm>
            <a:off x="838199" y="3186545"/>
            <a:ext cx="11187545" cy="3560618"/>
          </a:xfrm>
        </p:spPr>
        <p:txBody>
          <a:bodyPr>
            <a:normAutofit/>
          </a:bodyPr>
          <a:lstStyle/>
          <a:p>
            <a:r>
              <a:rPr lang="en-US" b="1" dirty="0"/>
              <a:t>Abstraction using classes:</a:t>
            </a:r>
            <a:r>
              <a:rPr lang="en-US" dirty="0"/>
              <a:t> An abstraction can be achieved using classes. A class is used to group all the data members and member functions into a single unit by using the access specifiers. A class has the responsibility to determine which data member is to be visible outside and which is not.</a:t>
            </a:r>
          </a:p>
          <a:p>
            <a:r>
              <a:rPr lang="en-US" b="1" dirty="0"/>
              <a:t>Abstraction in header files:</a:t>
            </a:r>
            <a:r>
              <a:rPr lang="en-US" dirty="0"/>
              <a:t> An another type of abstraction is header file. For example, pow() function available is used to calculate the power of a number without actually knowing which algorithm function uses to calculate the power. Thus, we can say that header files hides all the implementation details from the user.</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8389" y="1168689"/>
            <a:ext cx="3393065" cy="1865640"/>
          </a:xfrm>
          <a:prstGeom prst="rect">
            <a:avLst/>
          </a:prstGeom>
        </p:spPr>
      </p:pic>
    </p:spTree>
    <p:extLst>
      <p:ext uri="{BB962C8B-B14F-4D97-AF65-F5344CB8AC3E}">
        <p14:creationId xmlns:p14="http://schemas.microsoft.com/office/powerpoint/2010/main" val="3256695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Abstraction using header file example</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#include &lt;</a:t>
            </a:r>
            <a:r>
              <a:rPr lang="en-US" dirty="0" err="1"/>
              <a:t>iostream</a:t>
            </a:r>
            <a:r>
              <a:rPr lang="en-US" dirty="0"/>
              <a:t>&gt;  </a:t>
            </a:r>
          </a:p>
          <a:p>
            <a:pPr marL="0" indent="0">
              <a:buNone/>
            </a:pPr>
            <a:r>
              <a:rPr lang="en-US" b="1" dirty="0">
                <a:solidFill>
                  <a:srgbClr val="FF0000"/>
                </a:solidFill>
              </a:rPr>
              <a:t>#include&lt;</a:t>
            </a:r>
            <a:r>
              <a:rPr lang="en-US" b="1" dirty="0" err="1">
                <a:solidFill>
                  <a:srgbClr val="FF0000"/>
                </a:solidFill>
              </a:rPr>
              <a:t>math.h</a:t>
            </a:r>
            <a:r>
              <a:rPr lang="en-US" b="1" dirty="0">
                <a:solidFill>
                  <a:srgbClr val="FF0000"/>
                </a:solidFill>
              </a:rPr>
              <a:t>&gt;  </a:t>
            </a:r>
          </a:p>
          <a:p>
            <a:pPr marL="0" indent="0">
              <a:buNone/>
            </a:pPr>
            <a:r>
              <a:rPr lang="en-US" b="1" dirty="0"/>
              <a:t>using</a:t>
            </a:r>
            <a:r>
              <a:rPr lang="en-US" dirty="0"/>
              <a:t> </a:t>
            </a:r>
            <a:r>
              <a:rPr lang="en-US" b="1" dirty="0"/>
              <a:t>namespace</a:t>
            </a:r>
            <a:r>
              <a:rPr lang="en-US" dirty="0"/>
              <a:t> </a:t>
            </a:r>
            <a:r>
              <a:rPr lang="en-US" dirty="0" err="1"/>
              <a:t>std</a:t>
            </a:r>
            <a:r>
              <a:rPr lang="en-US" dirty="0"/>
              <a:t>;  </a:t>
            </a:r>
          </a:p>
          <a:p>
            <a:pPr marL="0" indent="0">
              <a:buNone/>
            </a:pPr>
            <a:r>
              <a:rPr lang="en-US" b="1" dirty="0" err="1"/>
              <a:t>int</a:t>
            </a:r>
            <a:r>
              <a:rPr lang="en-US" dirty="0"/>
              <a:t> main()  </a:t>
            </a:r>
          </a:p>
          <a:p>
            <a:pPr marL="0" indent="0">
              <a:buNone/>
            </a:pPr>
            <a:r>
              <a:rPr lang="en-US" dirty="0"/>
              <a:t>{    </a:t>
            </a:r>
          </a:p>
          <a:p>
            <a:pPr marL="0" indent="0">
              <a:buNone/>
            </a:pPr>
            <a:r>
              <a:rPr lang="en-US" dirty="0"/>
              <a:t> </a:t>
            </a:r>
            <a:r>
              <a:rPr lang="en-US" b="1" dirty="0" err="1"/>
              <a:t>int</a:t>
            </a:r>
            <a:r>
              <a:rPr lang="en-US" dirty="0"/>
              <a:t> n = 4;  </a:t>
            </a:r>
          </a:p>
          <a:p>
            <a:pPr marL="0" indent="0">
              <a:buNone/>
            </a:pPr>
            <a:r>
              <a:rPr lang="en-US" dirty="0"/>
              <a:t>   </a:t>
            </a:r>
            <a:r>
              <a:rPr lang="en-US" b="1" dirty="0" err="1"/>
              <a:t>int</a:t>
            </a:r>
            <a:r>
              <a:rPr lang="en-US" dirty="0"/>
              <a:t> power = 3;  </a:t>
            </a:r>
          </a:p>
          <a:p>
            <a:pPr marL="0" indent="0">
              <a:buNone/>
            </a:pPr>
            <a:r>
              <a:rPr lang="en-US" dirty="0"/>
              <a:t>   </a:t>
            </a:r>
            <a:r>
              <a:rPr lang="en-US" b="1" dirty="0" err="1"/>
              <a:t>int</a:t>
            </a:r>
            <a:r>
              <a:rPr lang="en-US" dirty="0"/>
              <a:t> result = </a:t>
            </a:r>
            <a:r>
              <a:rPr lang="en-US" b="1" dirty="0">
                <a:solidFill>
                  <a:srgbClr val="FF0000"/>
                </a:solidFill>
              </a:rPr>
              <a:t>pow(</a:t>
            </a:r>
            <a:r>
              <a:rPr lang="en-US" b="1" dirty="0" err="1">
                <a:solidFill>
                  <a:srgbClr val="FF0000"/>
                </a:solidFill>
              </a:rPr>
              <a:t>n,power</a:t>
            </a:r>
            <a:r>
              <a:rPr lang="en-US" b="1" dirty="0">
                <a:solidFill>
                  <a:srgbClr val="FF0000"/>
                </a:solidFill>
              </a:rPr>
              <a:t>);  </a:t>
            </a:r>
            <a:r>
              <a:rPr lang="en-US" dirty="0"/>
              <a:t>       // pow(</a:t>
            </a:r>
            <a:r>
              <a:rPr lang="en-US" dirty="0" err="1"/>
              <a:t>n,power</a:t>
            </a:r>
            <a:r>
              <a:rPr lang="en-US" dirty="0"/>
              <a:t>) is the  power function  </a:t>
            </a:r>
          </a:p>
          <a:p>
            <a:pPr marL="0" indent="0">
              <a:buNone/>
            </a:pPr>
            <a:r>
              <a:rPr lang="en-US" dirty="0"/>
              <a:t>   </a:t>
            </a:r>
            <a:r>
              <a:rPr lang="en-US" dirty="0" err="1"/>
              <a:t>std</a:t>
            </a:r>
            <a:r>
              <a:rPr lang="en-US" dirty="0"/>
              <a:t>::</a:t>
            </a:r>
            <a:r>
              <a:rPr lang="en-US" dirty="0" err="1"/>
              <a:t>cout</a:t>
            </a:r>
            <a:r>
              <a:rPr lang="en-US" dirty="0"/>
              <a:t> &lt;&lt; "Cube of n is : " &lt;&lt;result&lt;&lt; </a:t>
            </a:r>
            <a:r>
              <a:rPr lang="en-US" dirty="0" err="1"/>
              <a:t>std</a:t>
            </a:r>
            <a:r>
              <a:rPr lang="en-US" dirty="0"/>
              <a:t>::</a:t>
            </a:r>
            <a:r>
              <a:rPr lang="en-US" dirty="0" err="1"/>
              <a:t>endl</a:t>
            </a:r>
            <a:r>
              <a:rPr lang="en-US" dirty="0"/>
              <a:t>;  </a:t>
            </a:r>
          </a:p>
          <a:p>
            <a:pPr marL="0" indent="0">
              <a:buNone/>
            </a:pPr>
            <a:r>
              <a:rPr lang="en-US" dirty="0"/>
              <a:t>   </a:t>
            </a:r>
            <a:r>
              <a:rPr lang="en-US" b="1" dirty="0"/>
              <a:t>return</a:t>
            </a:r>
            <a:r>
              <a:rPr lang="en-US" dirty="0"/>
              <a:t> 0;  </a:t>
            </a:r>
          </a:p>
          <a:p>
            <a:pPr marL="0" indent="0">
              <a:buNone/>
            </a:pPr>
            <a:r>
              <a:rPr lang="en-US" dirty="0"/>
              <a:t>}  </a:t>
            </a:r>
          </a:p>
          <a:p>
            <a:endParaRPr lang="en-US" dirty="0"/>
          </a:p>
        </p:txBody>
      </p:sp>
      <p:sp>
        <p:nvSpPr>
          <p:cNvPr id="4" name="Rectangle 3"/>
          <p:cNvSpPr/>
          <p:nvPr/>
        </p:nvSpPr>
        <p:spPr>
          <a:xfrm>
            <a:off x="7578436" y="1825625"/>
            <a:ext cx="4364182" cy="1754326"/>
          </a:xfrm>
          <a:prstGeom prst="rect">
            <a:avLst/>
          </a:prstGeom>
          <a:ln>
            <a:solidFill>
              <a:schemeClr val="tx1"/>
            </a:solidFill>
          </a:ln>
        </p:spPr>
        <p:txBody>
          <a:bodyPr wrap="square">
            <a:spAutoFit/>
          </a:bodyPr>
          <a:lstStyle/>
          <a:p>
            <a:r>
              <a:rPr lang="en-US" i="1" dirty="0">
                <a:solidFill>
                  <a:srgbClr val="333333"/>
                </a:solidFill>
                <a:latin typeface="inter-regular"/>
              </a:rPr>
              <a:t>In the example, pow() function is used to calculate 4 raised to the power 3. The pow() function is present in the </a:t>
            </a:r>
            <a:r>
              <a:rPr lang="en-US" i="1" dirty="0" err="1">
                <a:solidFill>
                  <a:srgbClr val="333333"/>
                </a:solidFill>
                <a:latin typeface="inter-regular"/>
              </a:rPr>
              <a:t>math.h</a:t>
            </a:r>
            <a:r>
              <a:rPr lang="en-US" i="1" dirty="0">
                <a:solidFill>
                  <a:srgbClr val="333333"/>
                </a:solidFill>
                <a:latin typeface="inter-regular"/>
              </a:rPr>
              <a:t> header file in which all the implementation details of the pow() function is hidden.</a:t>
            </a:r>
            <a:endParaRPr lang="en-US" i="1" dirty="0"/>
          </a:p>
        </p:txBody>
      </p:sp>
    </p:spTree>
    <p:extLst>
      <p:ext uri="{BB962C8B-B14F-4D97-AF65-F5344CB8AC3E}">
        <p14:creationId xmlns:p14="http://schemas.microsoft.com/office/powerpoint/2010/main" val="1951028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b="1" u="sng" dirty="0"/>
              <a:t>Abstraction using Class example</a:t>
            </a:r>
            <a:endParaRPr lang="en-US" dirty="0"/>
          </a:p>
        </p:txBody>
      </p:sp>
      <p:sp>
        <p:nvSpPr>
          <p:cNvPr id="4" name="Rectangle 3"/>
          <p:cNvSpPr/>
          <p:nvPr/>
        </p:nvSpPr>
        <p:spPr>
          <a:xfrm>
            <a:off x="7578436" y="1825625"/>
            <a:ext cx="4364182" cy="1200329"/>
          </a:xfrm>
          <a:prstGeom prst="rect">
            <a:avLst/>
          </a:prstGeom>
          <a:ln>
            <a:solidFill>
              <a:schemeClr val="tx1"/>
            </a:solidFill>
          </a:ln>
        </p:spPr>
        <p:txBody>
          <a:bodyPr wrap="square">
            <a:spAutoFit/>
          </a:bodyPr>
          <a:lstStyle/>
          <a:p>
            <a:r>
              <a:rPr lang="en-US" i="1" dirty="0"/>
              <a:t>In the example, abstraction is achieved using classes. A class 'Sum' contains the private members x, y and z are only accessible by the member functions of the class.</a:t>
            </a:r>
          </a:p>
        </p:txBody>
      </p:sp>
      <p:sp>
        <p:nvSpPr>
          <p:cNvPr id="6" name="Rectangle 5"/>
          <p:cNvSpPr/>
          <p:nvPr/>
        </p:nvSpPr>
        <p:spPr>
          <a:xfrm>
            <a:off x="838200" y="1056190"/>
            <a:ext cx="6096000" cy="5632311"/>
          </a:xfrm>
          <a:prstGeom prst="rect">
            <a:avLst/>
          </a:prstGeom>
        </p:spPr>
        <p:txBody>
          <a:bodyPr>
            <a:spAutoFit/>
          </a:bodyPr>
          <a:lstStyle/>
          <a:p>
            <a:pPr algn="just"/>
            <a:r>
              <a:rPr lang="en-US" dirty="0">
                <a:solidFill>
                  <a:srgbClr val="0000FF"/>
                </a:solidFill>
                <a:latin typeface="inter-regular"/>
              </a:rPr>
              <a:t>#include &lt;</a:t>
            </a:r>
            <a:r>
              <a:rPr lang="en-US" dirty="0" err="1">
                <a:solidFill>
                  <a:srgbClr val="0000FF"/>
                </a:solidFill>
                <a:latin typeface="inter-regular"/>
              </a:rPr>
              <a:t>iostream</a:t>
            </a:r>
            <a:r>
              <a:rPr lang="en-US" dirty="0">
                <a:solidFill>
                  <a:srgbClr val="0000FF"/>
                </a:solidFill>
                <a:latin typeface="inter-regular"/>
              </a:rPr>
              <a:t>&gt;  </a:t>
            </a:r>
            <a:r>
              <a:rPr lang="en-US" dirty="0">
                <a:solidFill>
                  <a:srgbClr val="000000"/>
                </a:solidFill>
                <a:latin typeface="inter-regular"/>
              </a:rPr>
              <a:t>  </a:t>
            </a:r>
          </a:p>
          <a:p>
            <a:pPr algn="just"/>
            <a:r>
              <a:rPr lang="en-US" b="1" dirty="0">
                <a:solidFill>
                  <a:srgbClr val="006699"/>
                </a:solidFill>
                <a:latin typeface="inter-regular"/>
              </a:rPr>
              <a:t>using</a:t>
            </a:r>
            <a:r>
              <a:rPr lang="en-US" dirty="0">
                <a:solidFill>
                  <a:srgbClr val="000000"/>
                </a:solidFill>
                <a:latin typeface="inter-regular"/>
              </a:rPr>
              <a:t> </a:t>
            </a:r>
            <a:r>
              <a:rPr lang="en-US" b="1" dirty="0">
                <a:solidFill>
                  <a:srgbClr val="006699"/>
                </a:solidFill>
                <a:latin typeface="inter-regular"/>
              </a:rPr>
              <a:t>namespace</a:t>
            </a:r>
            <a:r>
              <a:rPr lang="en-US" dirty="0">
                <a:solidFill>
                  <a:srgbClr val="000000"/>
                </a:solidFill>
                <a:latin typeface="inter-regular"/>
              </a:rPr>
              <a:t> </a:t>
            </a:r>
            <a:r>
              <a:rPr lang="en-US" dirty="0" err="1">
                <a:solidFill>
                  <a:srgbClr val="000000"/>
                </a:solidFill>
                <a:latin typeface="inter-regular"/>
              </a:rPr>
              <a:t>std</a:t>
            </a:r>
            <a:r>
              <a:rPr lang="en-US" dirty="0">
                <a:solidFill>
                  <a:srgbClr val="000000"/>
                </a:solidFill>
                <a:latin typeface="inter-regular"/>
              </a:rPr>
              <a:t>;    </a:t>
            </a:r>
          </a:p>
          <a:p>
            <a:pPr algn="just"/>
            <a:r>
              <a:rPr lang="en-US" b="1" dirty="0">
                <a:solidFill>
                  <a:srgbClr val="006699"/>
                </a:solidFill>
                <a:latin typeface="inter-regular"/>
              </a:rPr>
              <a:t>class</a:t>
            </a:r>
            <a:r>
              <a:rPr lang="en-US" dirty="0">
                <a:solidFill>
                  <a:srgbClr val="000000"/>
                </a:solidFill>
                <a:latin typeface="inter-regular"/>
              </a:rPr>
              <a:t> Sum    </a:t>
            </a:r>
          </a:p>
          <a:p>
            <a:pPr algn="just"/>
            <a:r>
              <a:rPr lang="en-US" dirty="0">
                <a:solidFill>
                  <a:srgbClr val="000000"/>
                </a:solidFill>
                <a:latin typeface="inter-regular"/>
              </a:rPr>
              <a:t>{    </a:t>
            </a:r>
          </a:p>
          <a:p>
            <a:pPr algn="just"/>
            <a:r>
              <a:rPr lang="en-US" b="1" dirty="0">
                <a:solidFill>
                  <a:srgbClr val="006699"/>
                </a:solidFill>
                <a:latin typeface="inter-regular"/>
              </a:rPr>
              <a:t>private</a:t>
            </a:r>
            <a:r>
              <a:rPr lang="en-US" dirty="0">
                <a:solidFill>
                  <a:srgbClr val="000000"/>
                </a:solidFill>
                <a:latin typeface="inter-regular"/>
              </a:rPr>
              <a:t>: </a:t>
            </a:r>
            <a:r>
              <a:rPr lang="en-US" b="1" dirty="0" err="1">
                <a:solidFill>
                  <a:srgbClr val="2E8B57"/>
                </a:solidFill>
                <a:latin typeface="inter-regular"/>
              </a:rPr>
              <a:t>int</a:t>
            </a:r>
            <a:r>
              <a:rPr lang="en-US" dirty="0">
                <a:solidFill>
                  <a:srgbClr val="000000"/>
                </a:solidFill>
                <a:latin typeface="inter-regular"/>
              </a:rPr>
              <a:t> x, y, z; </a:t>
            </a:r>
            <a:r>
              <a:rPr lang="en-US" dirty="0">
                <a:solidFill>
                  <a:srgbClr val="008200"/>
                </a:solidFill>
                <a:latin typeface="inter-regular"/>
              </a:rPr>
              <a:t>// private variables</a:t>
            </a:r>
            <a:r>
              <a:rPr lang="en-US" dirty="0">
                <a:solidFill>
                  <a:srgbClr val="000000"/>
                </a:solidFill>
                <a:latin typeface="inter-regular"/>
              </a:rPr>
              <a:t>  </a:t>
            </a:r>
          </a:p>
          <a:p>
            <a:pPr algn="just"/>
            <a:r>
              <a:rPr lang="en-US" b="1" dirty="0">
                <a:solidFill>
                  <a:srgbClr val="006699"/>
                </a:solidFill>
                <a:latin typeface="inter-regular"/>
              </a:rPr>
              <a:t>public</a:t>
            </a:r>
            <a:r>
              <a:rPr lang="en-US" dirty="0">
                <a:solidFill>
                  <a:srgbClr val="000000"/>
                </a:solidFill>
                <a:latin typeface="inter-regular"/>
              </a:rPr>
              <a:t>:    </a:t>
            </a:r>
          </a:p>
          <a:p>
            <a:pPr algn="just"/>
            <a:r>
              <a:rPr lang="en-US" b="1" dirty="0">
                <a:solidFill>
                  <a:srgbClr val="006699"/>
                </a:solidFill>
                <a:latin typeface="inter-regular"/>
              </a:rPr>
              <a:t>void</a:t>
            </a:r>
            <a:r>
              <a:rPr lang="en-US" dirty="0">
                <a:solidFill>
                  <a:srgbClr val="000000"/>
                </a:solidFill>
                <a:latin typeface="inter-regular"/>
              </a:rPr>
              <a:t> add()    </a:t>
            </a:r>
          </a:p>
          <a:p>
            <a:pPr algn="just"/>
            <a:r>
              <a:rPr lang="en-US" dirty="0">
                <a:solidFill>
                  <a:srgbClr val="000000"/>
                </a:solidFill>
                <a:latin typeface="inter-regular"/>
              </a:rPr>
              <a:t>{    </a:t>
            </a:r>
          </a:p>
          <a:p>
            <a:pPr algn="just"/>
            <a:r>
              <a:rPr lang="en-US" dirty="0" err="1">
                <a:solidFill>
                  <a:srgbClr val="000000"/>
                </a:solidFill>
                <a:latin typeface="inter-regular"/>
              </a:rPr>
              <a:t>cout</a:t>
            </a:r>
            <a:r>
              <a:rPr lang="en-US" dirty="0">
                <a:solidFill>
                  <a:srgbClr val="000000"/>
                </a:solidFill>
                <a:latin typeface="inter-regular"/>
              </a:rPr>
              <a:t>&lt;&lt;</a:t>
            </a:r>
            <a:r>
              <a:rPr lang="en-US" dirty="0">
                <a:solidFill>
                  <a:srgbClr val="0000FF"/>
                </a:solidFill>
                <a:latin typeface="inter-regular"/>
              </a:rPr>
              <a:t>"Enter two numbers: "</a:t>
            </a:r>
            <a:r>
              <a:rPr lang="en-US" dirty="0">
                <a:solidFill>
                  <a:srgbClr val="000000"/>
                </a:solidFill>
                <a:latin typeface="inter-regular"/>
              </a:rPr>
              <a:t>;    </a:t>
            </a:r>
          </a:p>
          <a:p>
            <a:pPr algn="just"/>
            <a:r>
              <a:rPr lang="en-US" dirty="0" err="1">
                <a:solidFill>
                  <a:srgbClr val="000000"/>
                </a:solidFill>
                <a:latin typeface="inter-regular"/>
              </a:rPr>
              <a:t>cin</a:t>
            </a:r>
            <a:r>
              <a:rPr lang="en-US" dirty="0">
                <a:solidFill>
                  <a:srgbClr val="000000"/>
                </a:solidFill>
                <a:latin typeface="inter-regular"/>
              </a:rPr>
              <a:t>&gt;&gt;x&gt;&gt;y;    </a:t>
            </a:r>
          </a:p>
          <a:p>
            <a:pPr algn="just"/>
            <a:r>
              <a:rPr lang="en-US" dirty="0">
                <a:solidFill>
                  <a:srgbClr val="000000"/>
                </a:solidFill>
                <a:latin typeface="inter-regular"/>
              </a:rPr>
              <a:t>z= </a:t>
            </a:r>
            <a:r>
              <a:rPr lang="en-US" dirty="0" err="1">
                <a:solidFill>
                  <a:srgbClr val="000000"/>
                </a:solidFill>
                <a:latin typeface="inter-regular"/>
              </a:rPr>
              <a:t>x+y</a:t>
            </a:r>
            <a:r>
              <a:rPr lang="en-US" dirty="0">
                <a:solidFill>
                  <a:srgbClr val="000000"/>
                </a:solidFill>
                <a:latin typeface="inter-regular"/>
              </a:rPr>
              <a:t>;    </a:t>
            </a:r>
          </a:p>
          <a:p>
            <a:pPr algn="just"/>
            <a:r>
              <a:rPr lang="en-US" dirty="0" err="1">
                <a:solidFill>
                  <a:srgbClr val="000000"/>
                </a:solidFill>
                <a:latin typeface="inter-regular"/>
              </a:rPr>
              <a:t>cout</a:t>
            </a:r>
            <a:r>
              <a:rPr lang="en-US" dirty="0">
                <a:solidFill>
                  <a:srgbClr val="000000"/>
                </a:solidFill>
                <a:latin typeface="inter-regular"/>
              </a:rPr>
              <a:t>&lt;&lt;</a:t>
            </a:r>
            <a:r>
              <a:rPr lang="en-US" dirty="0">
                <a:solidFill>
                  <a:srgbClr val="0000FF"/>
                </a:solidFill>
                <a:latin typeface="inter-regular"/>
              </a:rPr>
              <a:t>"Sum of two number is: "</a:t>
            </a:r>
            <a:r>
              <a:rPr lang="en-US" dirty="0">
                <a:solidFill>
                  <a:srgbClr val="000000"/>
                </a:solidFill>
                <a:latin typeface="inter-regular"/>
              </a:rPr>
              <a:t>&lt;&lt;z&lt;&lt;</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a:t>
            </a:r>
          </a:p>
          <a:p>
            <a:pPr algn="just"/>
            <a:r>
              <a:rPr lang="en-US" dirty="0">
                <a:solidFill>
                  <a:srgbClr val="000000"/>
                </a:solidFill>
                <a:latin typeface="inter-regular"/>
              </a:rPr>
              <a:t>};    </a:t>
            </a:r>
          </a:p>
          <a:p>
            <a:pPr algn="just"/>
            <a:r>
              <a:rPr lang="en-US" b="1" dirty="0" err="1">
                <a:solidFill>
                  <a:srgbClr val="2E8B57"/>
                </a:solidFill>
                <a:latin typeface="inter-regular"/>
              </a:rPr>
              <a:t>int</a:t>
            </a:r>
            <a:r>
              <a:rPr lang="en-US" dirty="0">
                <a:solidFill>
                  <a:srgbClr val="000000"/>
                </a:solidFill>
                <a:latin typeface="inter-regular"/>
              </a:rPr>
              <a:t> main()    </a:t>
            </a:r>
          </a:p>
          <a:p>
            <a:pPr algn="just"/>
            <a:r>
              <a:rPr lang="en-US" dirty="0">
                <a:solidFill>
                  <a:srgbClr val="000000"/>
                </a:solidFill>
                <a:latin typeface="inter-regular"/>
              </a:rPr>
              <a:t>{    </a:t>
            </a:r>
          </a:p>
          <a:p>
            <a:pPr algn="just"/>
            <a:r>
              <a:rPr lang="en-US" dirty="0">
                <a:solidFill>
                  <a:srgbClr val="000000"/>
                </a:solidFill>
                <a:latin typeface="inter-regular"/>
              </a:rPr>
              <a:t>Sum </a:t>
            </a:r>
            <a:r>
              <a:rPr lang="en-US" dirty="0" err="1">
                <a:solidFill>
                  <a:srgbClr val="000000"/>
                </a:solidFill>
                <a:latin typeface="inter-regular"/>
              </a:rPr>
              <a:t>sm</a:t>
            </a:r>
            <a:r>
              <a:rPr lang="en-US" dirty="0">
                <a:solidFill>
                  <a:srgbClr val="000000"/>
                </a:solidFill>
                <a:latin typeface="inter-regular"/>
              </a:rPr>
              <a:t>;    </a:t>
            </a:r>
          </a:p>
          <a:p>
            <a:pPr algn="just"/>
            <a:r>
              <a:rPr lang="en-US" dirty="0" err="1">
                <a:solidFill>
                  <a:srgbClr val="000000"/>
                </a:solidFill>
                <a:latin typeface="inter-regular"/>
              </a:rPr>
              <a:t>sm.add</a:t>
            </a:r>
            <a:r>
              <a:rPr lang="en-US" dirty="0">
                <a:solidFill>
                  <a:srgbClr val="000000"/>
                </a:solidFill>
                <a:latin typeface="inter-regular"/>
              </a:rPr>
              <a:t>();    </a:t>
            </a:r>
          </a:p>
          <a:p>
            <a:pPr algn="just"/>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Tree>
    <p:extLst>
      <p:ext uri="{BB962C8B-B14F-4D97-AF65-F5344CB8AC3E}">
        <p14:creationId xmlns:p14="http://schemas.microsoft.com/office/powerpoint/2010/main" val="412251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5016"/>
            <a:ext cx="10515600" cy="662781"/>
          </a:xfrm>
        </p:spPr>
        <p:txBody>
          <a:bodyPr>
            <a:normAutofit fontScale="90000"/>
          </a:bodyPr>
          <a:lstStyle/>
          <a:p>
            <a:r>
              <a:rPr lang="en-US" sz="3600" dirty="0"/>
              <a:t>Difference between abstraction and encapsulation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25726869"/>
              </p:ext>
            </p:extLst>
          </p:nvPr>
        </p:nvGraphicFramePr>
        <p:xfrm>
          <a:off x="838200" y="847797"/>
          <a:ext cx="10328899" cy="6331576"/>
        </p:xfrm>
        <a:graphic>
          <a:graphicData uri="http://schemas.openxmlformats.org/drawingml/2006/table">
            <a:tbl>
              <a:tblPr>
                <a:tableStyleId>{5940675A-B579-460E-94D1-54222C63F5DA}</a:tableStyleId>
              </a:tblPr>
              <a:tblGrid>
                <a:gridCol w="738082">
                  <a:extLst>
                    <a:ext uri="{9D8B030D-6E8A-4147-A177-3AD203B41FA5}">
                      <a16:colId xmlns:a16="http://schemas.microsoft.com/office/drawing/2014/main" val="3310128795"/>
                    </a:ext>
                  </a:extLst>
                </a:gridCol>
                <a:gridCol w="4733145">
                  <a:extLst>
                    <a:ext uri="{9D8B030D-6E8A-4147-A177-3AD203B41FA5}">
                      <a16:colId xmlns:a16="http://schemas.microsoft.com/office/drawing/2014/main" val="2522590520"/>
                    </a:ext>
                  </a:extLst>
                </a:gridCol>
                <a:gridCol w="4857672">
                  <a:extLst>
                    <a:ext uri="{9D8B030D-6E8A-4147-A177-3AD203B41FA5}">
                      <a16:colId xmlns:a16="http://schemas.microsoft.com/office/drawing/2014/main" val="699749154"/>
                    </a:ext>
                  </a:extLst>
                </a:gridCol>
              </a:tblGrid>
              <a:tr h="398473">
                <a:tc>
                  <a:txBody>
                    <a:bodyPr/>
                    <a:lstStyle/>
                    <a:p>
                      <a:pPr algn="ctr" fontAlgn="base"/>
                      <a:r>
                        <a:rPr lang="en-US" sz="1800" dirty="0">
                          <a:effectLst/>
                        </a:rPr>
                        <a:t>S.NO</a:t>
                      </a:r>
                      <a:endParaRPr lang="en-US" sz="1800" b="1" dirty="0">
                        <a:effectLst/>
                      </a:endParaRPr>
                    </a:p>
                  </a:txBody>
                  <a:tcPr marL="35492" marR="35492" marT="88730" marB="88730" anchor="ctr"/>
                </a:tc>
                <a:tc>
                  <a:txBody>
                    <a:bodyPr/>
                    <a:lstStyle/>
                    <a:p>
                      <a:pPr algn="ctr" fontAlgn="base"/>
                      <a:r>
                        <a:rPr lang="en-US" sz="1800" dirty="0">
                          <a:effectLst/>
                        </a:rPr>
                        <a:t>Abstraction</a:t>
                      </a:r>
                      <a:endParaRPr lang="en-US" sz="1800" b="1" dirty="0">
                        <a:effectLst/>
                      </a:endParaRPr>
                    </a:p>
                  </a:txBody>
                  <a:tcPr marL="88730" marR="88730" marT="88730" marB="88730" anchor="ctr"/>
                </a:tc>
                <a:tc>
                  <a:txBody>
                    <a:bodyPr/>
                    <a:lstStyle/>
                    <a:p>
                      <a:pPr algn="ctr" fontAlgn="base"/>
                      <a:r>
                        <a:rPr lang="en-US" sz="1800">
                          <a:effectLst/>
                        </a:rPr>
                        <a:t>Encapsulation</a:t>
                      </a:r>
                      <a:endParaRPr lang="en-US" sz="1800" b="1">
                        <a:effectLst/>
                      </a:endParaRPr>
                    </a:p>
                  </a:txBody>
                  <a:tcPr marL="88730" marR="88730" marT="88730" marB="88730" anchor="ctr"/>
                </a:tc>
                <a:extLst>
                  <a:ext uri="{0D108BD9-81ED-4DB2-BD59-A6C34878D82A}">
                    <a16:rowId xmlns:a16="http://schemas.microsoft.com/office/drawing/2014/main" val="426328135"/>
                  </a:ext>
                </a:extLst>
              </a:tr>
              <a:tr h="650541">
                <a:tc>
                  <a:txBody>
                    <a:bodyPr/>
                    <a:lstStyle/>
                    <a:p>
                      <a:pPr algn="l" fontAlgn="ctr"/>
                      <a:r>
                        <a:rPr lang="en-US" sz="1800">
                          <a:effectLst/>
                        </a:rPr>
                        <a:t>1.</a:t>
                      </a:r>
                      <a:endParaRPr lang="en-US" sz="1800" b="0">
                        <a:effectLst/>
                      </a:endParaRPr>
                    </a:p>
                  </a:txBody>
                  <a:tcPr marL="88730" marR="88730" marT="124223" marB="124223" anchor="ctr"/>
                </a:tc>
                <a:tc>
                  <a:txBody>
                    <a:bodyPr/>
                    <a:lstStyle/>
                    <a:p>
                      <a:pPr algn="l" fontAlgn="ctr"/>
                      <a:r>
                        <a:rPr lang="en-US" sz="1800" dirty="0">
                          <a:effectLst/>
                        </a:rPr>
                        <a:t>Abstraction is the process or method of gaining the information.</a:t>
                      </a:r>
                      <a:endParaRPr lang="en-US" sz="1800" b="0" dirty="0">
                        <a:effectLst/>
                      </a:endParaRPr>
                    </a:p>
                  </a:txBody>
                  <a:tcPr marL="88730" marR="88730" marT="124223" marB="124223" anchor="ctr"/>
                </a:tc>
                <a:tc>
                  <a:txBody>
                    <a:bodyPr/>
                    <a:lstStyle/>
                    <a:p>
                      <a:pPr algn="l" fontAlgn="ctr"/>
                      <a:r>
                        <a:rPr lang="en-US" sz="1800">
                          <a:effectLst/>
                        </a:rPr>
                        <a:t>While encapsulation is the process or method to contain the information.</a:t>
                      </a:r>
                      <a:endParaRPr lang="en-US" sz="1800" b="0">
                        <a:effectLst/>
                      </a:endParaRPr>
                    </a:p>
                  </a:txBody>
                  <a:tcPr marL="88730" marR="88730" marT="124223" marB="124223" anchor="ctr"/>
                </a:tc>
                <a:extLst>
                  <a:ext uri="{0D108BD9-81ED-4DB2-BD59-A6C34878D82A}">
                    <a16:rowId xmlns:a16="http://schemas.microsoft.com/office/drawing/2014/main" val="2402116600"/>
                  </a:ext>
                </a:extLst>
              </a:tr>
              <a:tr h="650541">
                <a:tc>
                  <a:txBody>
                    <a:bodyPr/>
                    <a:lstStyle/>
                    <a:p>
                      <a:pPr algn="l" fontAlgn="ctr"/>
                      <a:r>
                        <a:rPr lang="en-US" sz="1800">
                          <a:effectLst/>
                        </a:rPr>
                        <a:t>2.</a:t>
                      </a:r>
                      <a:endParaRPr lang="en-US" sz="1800" b="0">
                        <a:effectLst/>
                      </a:endParaRPr>
                    </a:p>
                  </a:txBody>
                  <a:tcPr marL="88730" marR="88730" marT="124223" marB="124223" anchor="ctr"/>
                </a:tc>
                <a:tc>
                  <a:txBody>
                    <a:bodyPr/>
                    <a:lstStyle/>
                    <a:p>
                      <a:pPr algn="l" fontAlgn="ctr"/>
                      <a:r>
                        <a:rPr lang="en-US" sz="1800" dirty="0">
                          <a:effectLst/>
                        </a:rPr>
                        <a:t>In abstraction, problems are solved at the design or interface level.</a:t>
                      </a:r>
                      <a:endParaRPr lang="en-US" sz="1800" b="0" dirty="0">
                        <a:effectLst/>
                      </a:endParaRPr>
                    </a:p>
                  </a:txBody>
                  <a:tcPr marL="88730" marR="88730" marT="124223" marB="124223" anchor="ctr"/>
                </a:tc>
                <a:tc>
                  <a:txBody>
                    <a:bodyPr/>
                    <a:lstStyle/>
                    <a:p>
                      <a:pPr algn="l" fontAlgn="ctr"/>
                      <a:r>
                        <a:rPr lang="en-US" sz="1800" dirty="0">
                          <a:effectLst/>
                        </a:rPr>
                        <a:t>While in encapsulation, problems are solved at the implementation level.</a:t>
                      </a:r>
                      <a:endParaRPr lang="en-US" sz="1800" b="0" dirty="0">
                        <a:effectLst/>
                      </a:endParaRPr>
                    </a:p>
                  </a:txBody>
                  <a:tcPr marL="88730" marR="88730" marT="124223" marB="124223" anchor="ctr"/>
                </a:tc>
                <a:extLst>
                  <a:ext uri="{0D108BD9-81ED-4DB2-BD59-A6C34878D82A}">
                    <a16:rowId xmlns:a16="http://schemas.microsoft.com/office/drawing/2014/main" val="2933627901"/>
                  </a:ext>
                </a:extLst>
              </a:tr>
              <a:tr h="827019">
                <a:tc>
                  <a:txBody>
                    <a:bodyPr/>
                    <a:lstStyle/>
                    <a:p>
                      <a:pPr algn="l" fontAlgn="ctr"/>
                      <a:r>
                        <a:rPr lang="en-US" sz="1800">
                          <a:effectLst/>
                        </a:rPr>
                        <a:t>3.</a:t>
                      </a:r>
                      <a:endParaRPr lang="en-US" sz="1800" b="0">
                        <a:effectLst/>
                      </a:endParaRPr>
                    </a:p>
                  </a:txBody>
                  <a:tcPr marL="88730" marR="88730" marT="124223" marB="124223" anchor="ctr"/>
                </a:tc>
                <a:tc>
                  <a:txBody>
                    <a:bodyPr/>
                    <a:lstStyle/>
                    <a:p>
                      <a:pPr algn="l" fontAlgn="ctr"/>
                      <a:r>
                        <a:rPr lang="en-US" sz="1800" dirty="0">
                          <a:effectLst/>
                        </a:rPr>
                        <a:t>Abstraction is the method of hiding the unwanted information.</a:t>
                      </a:r>
                      <a:endParaRPr lang="en-US" sz="1800" b="0" dirty="0">
                        <a:effectLst/>
                      </a:endParaRPr>
                    </a:p>
                  </a:txBody>
                  <a:tcPr marL="88730" marR="88730" marT="124223" marB="124223" anchor="ctr"/>
                </a:tc>
                <a:tc>
                  <a:txBody>
                    <a:bodyPr/>
                    <a:lstStyle/>
                    <a:p>
                      <a:pPr algn="l" fontAlgn="ctr"/>
                      <a:r>
                        <a:rPr lang="en-US" sz="1800" dirty="0">
                          <a:effectLst/>
                        </a:rPr>
                        <a:t>Whereas encapsulation is a method to hide the data in a single entity or unit along with a method to protect information from outside.</a:t>
                      </a:r>
                      <a:endParaRPr lang="en-US" sz="1800" b="0" dirty="0">
                        <a:effectLst/>
                      </a:endParaRPr>
                    </a:p>
                  </a:txBody>
                  <a:tcPr marL="88730" marR="88730" marT="124223" marB="124223" anchor="ctr"/>
                </a:tc>
                <a:extLst>
                  <a:ext uri="{0D108BD9-81ED-4DB2-BD59-A6C34878D82A}">
                    <a16:rowId xmlns:a16="http://schemas.microsoft.com/office/drawing/2014/main" val="2734514334"/>
                  </a:ext>
                </a:extLst>
              </a:tr>
              <a:tr h="827019">
                <a:tc>
                  <a:txBody>
                    <a:bodyPr/>
                    <a:lstStyle/>
                    <a:p>
                      <a:pPr algn="l" fontAlgn="ctr"/>
                      <a:r>
                        <a:rPr lang="en-US" sz="1800">
                          <a:effectLst/>
                        </a:rPr>
                        <a:t>4.</a:t>
                      </a:r>
                      <a:endParaRPr lang="en-US" sz="1800" b="0">
                        <a:effectLst/>
                      </a:endParaRPr>
                    </a:p>
                  </a:txBody>
                  <a:tcPr marL="88730" marR="88730" marT="124223" marB="124223" anchor="ctr"/>
                </a:tc>
                <a:tc>
                  <a:txBody>
                    <a:bodyPr/>
                    <a:lstStyle/>
                    <a:p>
                      <a:pPr algn="l" fontAlgn="ctr"/>
                      <a:r>
                        <a:rPr lang="en-US" sz="1800" dirty="0">
                          <a:effectLst/>
                        </a:rPr>
                        <a:t>We can implement abstraction using class and abstract interfaces.</a:t>
                      </a:r>
                      <a:endParaRPr lang="en-US" sz="1800" b="0" dirty="0">
                        <a:effectLst/>
                      </a:endParaRPr>
                    </a:p>
                  </a:txBody>
                  <a:tcPr marL="88730" marR="88730" marT="124223" marB="124223" anchor="ctr"/>
                </a:tc>
                <a:tc>
                  <a:txBody>
                    <a:bodyPr/>
                    <a:lstStyle/>
                    <a:p>
                      <a:pPr algn="l" fontAlgn="ctr"/>
                      <a:r>
                        <a:rPr lang="en-US" sz="1800" dirty="0">
                          <a:effectLst/>
                        </a:rPr>
                        <a:t>Whereas encapsulation can be implemented using by access modifier i.e. private, protected and public.</a:t>
                      </a:r>
                      <a:endParaRPr lang="en-US" sz="1800" b="0" dirty="0">
                        <a:effectLst/>
                      </a:endParaRPr>
                    </a:p>
                  </a:txBody>
                  <a:tcPr marL="88730" marR="88730" marT="124223" marB="124223" anchor="ctr"/>
                </a:tc>
                <a:extLst>
                  <a:ext uri="{0D108BD9-81ED-4DB2-BD59-A6C34878D82A}">
                    <a16:rowId xmlns:a16="http://schemas.microsoft.com/office/drawing/2014/main" val="2400679115"/>
                  </a:ext>
                </a:extLst>
              </a:tr>
              <a:tr h="650541">
                <a:tc>
                  <a:txBody>
                    <a:bodyPr/>
                    <a:lstStyle/>
                    <a:p>
                      <a:pPr algn="l" fontAlgn="ctr"/>
                      <a:r>
                        <a:rPr lang="en-US" sz="1800">
                          <a:effectLst/>
                        </a:rPr>
                        <a:t>5.</a:t>
                      </a:r>
                      <a:endParaRPr lang="en-US" sz="1800" b="0">
                        <a:effectLst/>
                      </a:endParaRPr>
                    </a:p>
                  </a:txBody>
                  <a:tcPr marL="88730" marR="88730" marT="124223" marB="124223" anchor="ctr"/>
                </a:tc>
                <a:tc>
                  <a:txBody>
                    <a:bodyPr/>
                    <a:lstStyle/>
                    <a:p>
                      <a:pPr algn="l" fontAlgn="ctr"/>
                      <a:r>
                        <a:rPr lang="en-US" sz="1800" dirty="0">
                          <a:effectLst/>
                        </a:rPr>
                        <a:t>In abstraction, implementation complexities are hidden using classes and interfaces.</a:t>
                      </a:r>
                      <a:endParaRPr lang="en-US" sz="1800" b="0" dirty="0">
                        <a:effectLst/>
                      </a:endParaRPr>
                    </a:p>
                  </a:txBody>
                  <a:tcPr marL="88730" marR="88730" marT="124223" marB="124223" anchor="ctr"/>
                </a:tc>
                <a:tc>
                  <a:txBody>
                    <a:bodyPr/>
                    <a:lstStyle/>
                    <a:p>
                      <a:pPr algn="l" fontAlgn="ctr"/>
                      <a:r>
                        <a:rPr lang="en-US" sz="1800" dirty="0">
                          <a:effectLst/>
                        </a:rPr>
                        <a:t>While in encapsulation, the data is hidden using methods of getters and setters.</a:t>
                      </a:r>
                      <a:endParaRPr lang="en-US" sz="1800" b="0" dirty="0">
                        <a:effectLst/>
                      </a:endParaRPr>
                    </a:p>
                  </a:txBody>
                  <a:tcPr marL="88730" marR="88730" marT="124223" marB="124223" anchor="ctr"/>
                </a:tc>
                <a:extLst>
                  <a:ext uri="{0D108BD9-81ED-4DB2-BD59-A6C34878D82A}">
                    <a16:rowId xmlns:a16="http://schemas.microsoft.com/office/drawing/2014/main" val="683018089"/>
                  </a:ext>
                </a:extLst>
              </a:tr>
              <a:tr h="650541">
                <a:tc>
                  <a:txBody>
                    <a:bodyPr/>
                    <a:lstStyle/>
                    <a:p>
                      <a:pPr algn="l" fontAlgn="ctr"/>
                      <a:r>
                        <a:rPr lang="en-US" sz="1800">
                          <a:effectLst/>
                        </a:rPr>
                        <a:t>6.</a:t>
                      </a:r>
                      <a:endParaRPr lang="en-US" sz="1800" b="0">
                        <a:effectLst/>
                      </a:endParaRPr>
                    </a:p>
                  </a:txBody>
                  <a:tcPr marL="88730" marR="88730" marT="124223" marB="124223" anchor="ctr"/>
                </a:tc>
                <a:tc>
                  <a:txBody>
                    <a:bodyPr/>
                    <a:lstStyle/>
                    <a:p>
                      <a:pPr algn="l" fontAlgn="ctr"/>
                      <a:r>
                        <a:rPr lang="en-US" sz="1800">
                          <a:effectLst/>
                        </a:rPr>
                        <a:t>The objects that help to perform abstraction are encapsulated.</a:t>
                      </a:r>
                      <a:endParaRPr lang="en-US" sz="1800" b="0">
                        <a:effectLst/>
                      </a:endParaRPr>
                    </a:p>
                  </a:txBody>
                  <a:tcPr marL="88730" marR="88730" marT="124223" marB="124223" anchor="ctr"/>
                </a:tc>
                <a:tc>
                  <a:txBody>
                    <a:bodyPr/>
                    <a:lstStyle/>
                    <a:p>
                      <a:pPr algn="l" fontAlgn="ctr"/>
                      <a:r>
                        <a:rPr lang="en-US" sz="1800" dirty="0">
                          <a:effectLst/>
                        </a:rPr>
                        <a:t>Whereas the objects that result in encapsulation need not be abstracted.</a:t>
                      </a:r>
                      <a:endParaRPr lang="en-US" sz="1800" b="0" dirty="0">
                        <a:effectLst/>
                      </a:endParaRPr>
                    </a:p>
                  </a:txBody>
                  <a:tcPr marL="88730" marR="88730" marT="124223" marB="124223" anchor="ctr"/>
                </a:tc>
                <a:extLst>
                  <a:ext uri="{0D108BD9-81ED-4DB2-BD59-A6C34878D82A}">
                    <a16:rowId xmlns:a16="http://schemas.microsoft.com/office/drawing/2014/main" val="31144981"/>
                  </a:ext>
                </a:extLst>
              </a:tr>
            </a:tbl>
          </a:graphicData>
        </a:graphic>
      </p:graphicFrame>
    </p:spTree>
    <p:extLst>
      <p:ext uri="{BB962C8B-B14F-4D97-AF65-F5344CB8AC3E}">
        <p14:creationId xmlns:p14="http://schemas.microsoft.com/office/powerpoint/2010/main" val="945710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EED7-F33F-972A-FC4E-E1A932AEE849}"/>
              </a:ext>
            </a:extLst>
          </p:cNvPr>
          <p:cNvSpPr>
            <a:spLocks noGrp="1"/>
          </p:cNvSpPr>
          <p:nvPr>
            <p:ph type="title"/>
          </p:nvPr>
        </p:nvSpPr>
        <p:spPr>
          <a:xfrm>
            <a:off x="677332" y="156238"/>
            <a:ext cx="10281399" cy="898839"/>
          </a:xfrm>
        </p:spPr>
        <p:txBody>
          <a:bodyPr/>
          <a:lstStyle/>
          <a:p>
            <a:r>
              <a:rPr lang="en-US" dirty="0"/>
              <a:t>Combined Example (Encapsulation + Abstraction)</a:t>
            </a:r>
          </a:p>
        </p:txBody>
      </p:sp>
      <p:sp>
        <p:nvSpPr>
          <p:cNvPr id="3" name="Content Placeholder 2">
            <a:extLst>
              <a:ext uri="{FF2B5EF4-FFF2-40B4-BE49-F238E27FC236}">
                <a16:creationId xmlns:a16="http://schemas.microsoft.com/office/drawing/2014/main" id="{28F7C3ED-1447-17E5-BD42-B893DA68060D}"/>
              </a:ext>
            </a:extLst>
          </p:cNvPr>
          <p:cNvSpPr>
            <a:spLocks noGrp="1"/>
          </p:cNvSpPr>
          <p:nvPr>
            <p:ph idx="1"/>
          </p:nvPr>
        </p:nvSpPr>
        <p:spPr>
          <a:xfrm>
            <a:off x="677334" y="1055077"/>
            <a:ext cx="9803098" cy="5646685"/>
          </a:xfrm>
        </p:spPr>
        <p:txBody>
          <a:bodyPr numCol="2">
            <a:noAutofit/>
          </a:bodyPr>
          <a:lstStyle/>
          <a:p>
            <a:pPr marL="0" indent="0">
              <a:lnSpc>
                <a:spcPct val="120000"/>
              </a:lnSpc>
              <a:buNone/>
            </a:pPr>
            <a:r>
              <a:rPr lang="en-US" dirty="0"/>
              <a:t>#include &lt;iostream&gt;</a:t>
            </a:r>
          </a:p>
          <a:p>
            <a:pPr marL="0" indent="0">
              <a:lnSpc>
                <a:spcPct val="120000"/>
              </a:lnSpc>
              <a:buNone/>
            </a:pPr>
            <a:r>
              <a:rPr lang="en-US" dirty="0"/>
              <a:t>using namespace std;</a:t>
            </a:r>
          </a:p>
          <a:p>
            <a:pPr marL="0" indent="0">
              <a:lnSpc>
                <a:spcPct val="120000"/>
              </a:lnSpc>
              <a:buNone/>
            </a:pPr>
            <a:endParaRPr lang="en-US" dirty="0"/>
          </a:p>
          <a:p>
            <a:pPr marL="0" indent="0">
              <a:lnSpc>
                <a:spcPct val="120000"/>
              </a:lnSpc>
              <a:buNone/>
            </a:pPr>
            <a:r>
              <a:rPr lang="en-US" dirty="0"/>
              <a:t>class Account {</a:t>
            </a:r>
          </a:p>
          <a:p>
            <a:pPr marL="0" indent="0">
              <a:lnSpc>
                <a:spcPct val="120000"/>
              </a:lnSpc>
              <a:buNone/>
            </a:pPr>
            <a:r>
              <a:rPr lang="en-US" dirty="0"/>
              <a:t>private:</a:t>
            </a:r>
          </a:p>
          <a:p>
            <a:pPr marL="0" indent="0">
              <a:lnSpc>
                <a:spcPct val="120000"/>
              </a:lnSpc>
              <a:buNone/>
            </a:pPr>
            <a:r>
              <a:rPr lang="en-US" dirty="0"/>
              <a:t>    double balance;</a:t>
            </a:r>
          </a:p>
          <a:p>
            <a:pPr marL="0" indent="0">
              <a:lnSpc>
                <a:spcPct val="120000"/>
              </a:lnSpc>
              <a:buNone/>
            </a:pPr>
            <a:r>
              <a:rPr lang="en-US" dirty="0"/>
              <a:t>public:</a:t>
            </a:r>
          </a:p>
          <a:p>
            <a:pPr marL="0" indent="0">
              <a:lnSpc>
                <a:spcPct val="120000"/>
              </a:lnSpc>
              <a:buNone/>
            </a:pPr>
            <a:r>
              <a:rPr lang="en-US" dirty="0"/>
              <a:t>    Account(double b) {</a:t>
            </a:r>
          </a:p>
          <a:p>
            <a:pPr marL="0" indent="0">
              <a:lnSpc>
                <a:spcPct val="120000"/>
              </a:lnSpc>
              <a:buNone/>
            </a:pPr>
            <a:r>
              <a:rPr lang="en-US" dirty="0"/>
              <a:t>        balance = b;</a:t>
            </a:r>
          </a:p>
          <a:p>
            <a:pPr marL="0" indent="0">
              <a:lnSpc>
                <a:spcPct val="120000"/>
              </a:lnSpc>
              <a:buNone/>
            </a:pPr>
            <a:r>
              <a:rPr lang="en-US" dirty="0"/>
              <a:t>    }</a:t>
            </a:r>
          </a:p>
          <a:p>
            <a:pPr marL="0" indent="0">
              <a:lnSpc>
                <a:spcPct val="120000"/>
              </a:lnSpc>
              <a:buNone/>
            </a:pPr>
            <a:r>
              <a:rPr lang="en-US" dirty="0"/>
              <a:t>    void deposit(double amount) {</a:t>
            </a:r>
          </a:p>
          <a:p>
            <a:pPr marL="0" indent="0">
              <a:lnSpc>
                <a:spcPct val="120000"/>
              </a:lnSpc>
              <a:buNone/>
            </a:pPr>
            <a:r>
              <a:rPr lang="en-US" dirty="0"/>
              <a:t>        balance += amount;</a:t>
            </a:r>
          </a:p>
          <a:p>
            <a:pPr marL="0" indent="0">
              <a:lnSpc>
                <a:spcPct val="120000"/>
              </a:lnSpc>
              <a:buNone/>
            </a:pPr>
            <a:r>
              <a:rPr lang="en-US" dirty="0"/>
              <a:t>    }</a:t>
            </a:r>
          </a:p>
          <a:p>
            <a:pPr marL="0" indent="0">
              <a:lnSpc>
                <a:spcPct val="120000"/>
              </a:lnSpc>
              <a:buNone/>
            </a:pPr>
            <a:endParaRPr lang="en-US" dirty="0"/>
          </a:p>
          <a:p>
            <a:pPr marL="0" indent="0">
              <a:lnSpc>
                <a:spcPct val="120000"/>
              </a:lnSpc>
              <a:buNone/>
            </a:pPr>
            <a:r>
              <a:rPr lang="en-US" dirty="0"/>
              <a:t>    void </a:t>
            </a:r>
            <a:r>
              <a:rPr lang="en-US" dirty="0" err="1"/>
              <a:t>showBalance</a:t>
            </a:r>
            <a:r>
              <a:rPr lang="en-US" dirty="0"/>
              <a:t>() {</a:t>
            </a:r>
          </a:p>
          <a:p>
            <a:pPr marL="0" indent="0">
              <a:lnSpc>
                <a:spcPct val="120000"/>
              </a:lnSpc>
              <a:buNone/>
            </a:pPr>
            <a:r>
              <a:rPr lang="en-US" dirty="0"/>
              <a:t>        </a:t>
            </a:r>
            <a:r>
              <a:rPr lang="en-US" dirty="0" err="1"/>
              <a:t>cout</a:t>
            </a:r>
            <a:r>
              <a:rPr lang="en-US" dirty="0"/>
              <a:t> &lt;&lt; "Balance = "</a:t>
            </a:r>
          </a:p>
          <a:p>
            <a:pPr marL="0" indent="0">
              <a:lnSpc>
                <a:spcPct val="120000"/>
              </a:lnSpc>
              <a:buNone/>
            </a:pPr>
            <a:r>
              <a:rPr lang="en-US" dirty="0"/>
              <a:t>             &lt;&lt; balance</a:t>
            </a:r>
          </a:p>
          <a:p>
            <a:pPr marL="0" indent="0">
              <a:lnSpc>
                <a:spcPct val="120000"/>
              </a:lnSpc>
              <a:buNone/>
            </a:pPr>
            <a:r>
              <a:rPr lang="en-US" dirty="0"/>
              <a:t>             &lt;&lt; </a:t>
            </a:r>
            <a:r>
              <a:rPr lang="en-US" dirty="0" err="1"/>
              <a:t>endl</a:t>
            </a:r>
            <a:r>
              <a:rPr lang="en-US" dirty="0"/>
              <a:t>;</a:t>
            </a:r>
          </a:p>
          <a:p>
            <a:pPr marL="0" indent="0">
              <a:lnSpc>
                <a:spcPct val="120000"/>
              </a:lnSpc>
              <a:buNone/>
            </a:pPr>
            <a:r>
              <a:rPr lang="en-US" dirty="0"/>
              <a:t>    }</a:t>
            </a:r>
          </a:p>
          <a:p>
            <a:pPr marL="0" indent="0">
              <a:lnSpc>
                <a:spcPct val="120000"/>
              </a:lnSpc>
              <a:buNone/>
            </a:pPr>
            <a:r>
              <a:rPr lang="en-US" dirty="0"/>
              <a:t>};</a:t>
            </a:r>
          </a:p>
          <a:p>
            <a:pPr marL="0" indent="0">
              <a:lnSpc>
                <a:spcPct val="120000"/>
              </a:lnSpc>
              <a:buNone/>
            </a:pPr>
            <a:r>
              <a:rPr lang="en-US" dirty="0"/>
              <a:t>int main() {</a:t>
            </a:r>
          </a:p>
          <a:p>
            <a:pPr marL="0" indent="0">
              <a:lnSpc>
                <a:spcPct val="120000"/>
              </a:lnSpc>
              <a:buNone/>
            </a:pPr>
            <a:r>
              <a:rPr lang="en-US" dirty="0"/>
              <a:t>    Account a1(5000);</a:t>
            </a:r>
          </a:p>
          <a:p>
            <a:pPr marL="0" indent="0">
              <a:lnSpc>
                <a:spcPct val="120000"/>
              </a:lnSpc>
              <a:buNone/>
            </a:pPr>
            <a:r>
              <a:rPr lang="en-US" dirty="0"/>
              <a:t>    a1.deposit(2000);</a:t>
            </a:r>
          </a:p>
          <a:p>
            <a:pPr marL="0" indent="0">
              <a:lnSpc>
                <a:spcPct val="120000"/>
              </a:lnSpc>
              <a:buNone/>
            </a:pPr>
            <a:r>
              <a:rPr lang="en-US" dirty="0"/>
              <a:t>    a1.showBalance();</a:t>
            </a:r>
          </a:p>
          <a:p>
            <a:pPr marL="0" indent="0">
              <a:lnSpc>
                <a:spcPct val="120000"/>
              </a:lnSpc>
              <a:buNone/>
            </a:pPr>
            <a:r>
              <a:rPr lang="en-US" dirty="0"/>
              <a:t>    return 0;</a:t>
            </a:r>
          </a:p>
          <a:p>
            <a:pPr marL="0" indent="0">
              <a:lnSpc>
                <a:spcPct val="120000"/>
              </a:lnSpc>
              <a:buNone/>
            </a:pPr>
            <a:r>
              <a:rPr lang="en-US" dirty="0"/>
              <a:t>}</a:t>
            </a:r>
          </a:p>
        </p:txBody>
      </p:sp>
    </p:spTree>
    <p:extLst>
      <p:ext uri="{BB962C8B-B14F-4D97-AF65-F5344CB8AC3E}">
        <p14:creationId xmlns:p14="http://schemas.microsoft.com/office/powerpoint/2010/main" val="261607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Questions</a:t>
            </a:r>
          </a:p>
        </p:txBody>
      </p:sp>
      <p:sp>
        <p:nvSpPr>
          <p:cNvPr id="3" name="Content Placeholder 2"/>
          <p:cNvSpPr>
            <a:spLocks noGrp="1"/>
          </p:cNvSpPr>
          <p:nvPr>
            <p:ph idx="1"/>
          </p:nvPr>
        </p:nvSpPr>
        <p:spPr/>
        <p:txBody>
          <a:bodyPr/>
          <a:lstStyle/>
          <a:p>
            <a:r>
              <a:rPr lang="en-US" dirty="0"/>
              <a:t>Create a </a:t>
            </a:r>
            <a:r>
              <a:rPr lang="en-US" dirty="0" err="1"/>
              <a:t>BankAccount</a:t>
            </a:r>
            <a:r>
              <a:rPr lang="en-US" dirty="0"/>
              <a:t> class with private balance and public deposit/withdraw functions.</a:t>
            </a:r>
          </a:p>
          <a:p>
            <a:r>
              <a:rPr lang="en-US" dirty="0"/>
              <a:t>Create an abstract class Employee and derive Teacher.</a:t>
            </a:r>
          </a:p>
          <a:p>
            <a:r>
              <a:rPr lang="en-US" dirty="0"/>
              <a:t>Design a Vehicle class to demonstrate encapsulation.</a:t>
            </a:r>
          </a:p>
        </p:txBody>
      </p:sp>
    </p:spTree>
    <p:extLst>
      <p:ext uri="{BB962C8B-B14F-4D97-AF65-F5344CB8AC3E}">
        <p14:creationId xmlns:p14="http://schemas.microsoft.com/office/powerpoint/2010/main" val="315764380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310</TotalTime>
  <Words>2158</Words>
  <Application>Microsoft Office PowerPoint</Application>
  <PresentationFormat>Widescreen</PresentationFormat>
  <Paragraphs>276</Paragraphs>
  <Slides>23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Calibri</vt:lpstr>
      <vt:lpstr>Consolas</vt:lpstr>
      <vt:lpstr>inter-regular</vt:lpstr>
      <vt:lpstr>Nunito</vt:lpstr>
      <vt:lpstr>Trebuchet MS</vt:lpstr>
      <vt:lpstr>Wingdings</vt:lpstr>
      <vt:lpstr>Wingdings 3</vt:lpstr>
      <vt:lpstr>Facet</vt:lpstr>
      <vt:lpstr>Encapsulation &amp; Abstraction</vt:lpstr>
      <vt:lpstr>Encapsulation</vt:lpstr>
      <vt:lpstr>Encapsulation</vt:lpstr>
      <vt:lpstr>Encapsulation</vt:lpstr>
      <vt:lpstr>Encapsulation</vt:lpstr>
      <vt:lpstr>Encapsulation</vt:lpstr>
      <vt:lpstr>Example 1 Code:</vt:lpstr>
      <vt:lpstr>Example 2 Code:</vt:lpstr>
      <vt:lpstr>Explanation of Example 2</vt:lpstr>
      <vt:lpstr>Role of Access Specifiers in Encapsulation </vt:lpstr>
      <vt:lpstr>Benefits of Encapsulation</vt:lpstr>
      <vt:lpstr>Abstraction</vt:lpstr>
      <vt:lpstr>Abstraction</vt:lpstr>
      <vt:lpstr>Abstraction</vt:lpstr>
      <vt:lpstr>PowerPoint Presentation</vt:lpstr>
      <vt:lpstr>Abstraction using Abstract Class</vt:lpstr>
      <vt:lpstr>PowerPoint Presentation</vt:lpstr>
      <vt:lpstr>Abstraction</vt:lpstr>
      <vt:lpstr>Abstraction using header file example</vt:lpstr>
      <vt:lpstr>Abstraction using Class example</vt:lpstr>
      <vt:lpstr>Difference between abstraction and encapsulation</vt:lpstr>
      <vt:lpstr>Combined Example (Encapsulation + Abstraction)</vt:lpstr>
      <vt:lpstr>Practice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Encapsulation &amp; Abstraction</dc:title>
  <dc:creator>Shovan</dc:creator>
  <cp:lastModifiedBy>Mousumi Hasan Mukti</cp:lastModifiedBy>
  <cp:revision>25</cp:revision>
  <cp:lastPrinted>2024-01-14T06:32:20Z</cp:lastPrinted>
  <dcterms:created xsi:type="dcterms:W3CDTF">2023-07-26T19:52:39Z</dcterms:created>
  <dcterms:modified xsi:type="dcterms:W3CDTF">2026-06-21T07:01:37Z</dcterms:modified>
</cp:coreProperties>
</file>