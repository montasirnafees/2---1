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68" r:id="rId15"/>
    <p:sldId id="269" r:id="rId16"/>
    <p:sldId id="273" r:id="rId17"/>
    <p:sldId id="274" r:id="rId18"/>
    <p:sldId id="275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34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8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2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5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1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9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3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8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7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3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3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74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5992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3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3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8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C46CD-8AF5-40AD-B6D8-3688D99D836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4E02D72-5B8D-4F23-8489-F7C0D8876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2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pp/cpp_arrays.as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3- Classes &amp; Objects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CSE -213</a:t>
            </a:r>
          </a:p>
          <a:p>
            <a:r>
              <a:rPr lang="en-US" dirty="0" err="1"/>
              <a:t>Mousumi</a:t>
            </a:r>
            <a:r>
              <a:rPr lang="en-US" dirty="0"/>
              <a:t> Hasan</a:t>
            </a:r>
          </a:p>
          <a:p>
            <a:r>
              <a:rPr lang="en-US"/>
              <a:t>Assistant Professor, </a:t>
            </a:r>
            <a:r>
              <a:rPr lang="en-US" dirty="0"/>
              <a:t>CSE Dept.</a:t>
            </a:r>
          </a:p>
        </p:txBody>
      </p:sp>
    </p:spTree>
    <p:extLst>
      <p:ext uri="{BB962C8B-B14F-4D97-AF65-F5344CB8AC3E}">
        <p14:creationId xmlns:p14="http://schemas.microsoft.com/office/powerpoint/2010/main" val="77896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16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Classes are created using the keyword class. </a:t>
            </a:r>
          </a:p>
          <a:p>
            <a:r>
              <a:rPr lang="en-US" i="1" dirty="0"/>
              <a:t>A Class is a user-defined data type that has data members and member functions.</a:t>
            </a:r>
          </a:p>
          <a:p>
            <a:r>
              <a:rPr lang="en-US" dirty="0"/>
              <a:t>A class declaration defines a new type that links code and data. </a:t>
            </a:r>
          </a:p>
          <a:p>
            <a:r>
              <a:rPr lang="en-US" dirty="0"/>
              <a:t>This new type is then used to declare </a:t>
            </a:r>
            <a:r>
              <a:rPr lang="en-US" dirty="0">
                <a:solidFill>
                  <a:srgbClr val="FF0000"/>
                </a:solidFill>
              </a:rPr>
              <a:t>objects </a:t>
            </a:r>
            <a:r>
              <a:rPr lang="en-US" dirty="0"/>
              <a:t>of that class.</a:t>
            </a:r>
          </a:p>
          <a:p>
            <a:r>
              <a:rPr lang="en-US" dirty="0"/>
              <a:t>Thus, </a:t>
            </a:r>
            <a:r>
              <a:rPr lang="en-US" i="1" dirty="0">
                <a:solidFill>
                  <a:srgbClr val="FF0000"/>
                </a:solidFill>
              </a:rPr>
              <a:t>a class is a logical abstraction, but an object has physical existence. </a:t>
            </a:r>
          </a:p>
          <a:p>
            <a:r>
              <a:rPr lang="en-US" dirty="0"/>
              <a:t>In other words, an object is an instance of a class.</a:t>
            </a:r>
          </a:p>
          <a:p>
            <a:r>
              <a:rPr lang="en-US" dirty="0"/>
              <a:t>Classes are the standard unit of </a:t>
            </a:r>
            <a:r>
              <a:rPr lang="en-US" dirty="0" err="1"/>
              <a:t>oop</a:t>
            </a:r>
            <a:r>
              <a:rPr lang="en-US" dirty="0"/>
              <a:t> programming</a:t>
            </a:r>
          </a:p>
          <a:p>
            <a:r>
              <a:rPr lang="en-US" dirty="0"/>
              <a:t>A class is like a blueprint – reusable</a:t>
            </a:r>
          </a:p>
          <a:p>
            <a:r>
              <a:rPr lang="en-US" dirty="0"/>
              <a:t>Objects are instantiated (created) from the class </a:t>
            </a:r>
          </a:p>
        </p:txBody>
      </p:sp>
    </p:spTree>
    <p:extLst>
      <p:ext uri="{BB962C8B-B14F-4D97-AF65-F5344CB8AC3E}">
        <p14:creationId xmlns:p14="http://schemas.microsoft.com/office/powerpoint/2010/main" val="300748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Access Specifiers in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specifiers define how the members (attributes and methods) of a class can be accessed. </a:t>
            </a:r>
          </a:p>
          <a:p>
            <a:r>
              <a:rPr lang="en-US" dirty="0"/>
              <a:t>In C++, there are three access specifiers:</a:t>
            </a:r>
          </a:p>
          <a:p>
            <a:endParaRPr lang="en-US" dirty="0"/>
          </a:p>
          <a:p>
            <a:pPr algn="just"/>
            <a:r>
              <a:rPr lang="en-US" b="1" dirty="0"/>
              <a:t>public - </a:t>
            </a:r>
            <a:r>
              <a:rPr lang="en-US" dirty="0"/>
              <a:t>members are accessible from outside the class</a:t>
            </a:r>
          </a:p>
          <a:p>
            <a:pPr algn="just"/>
            <a:r>
              <a:rPr lang="en-US" b="1" dirty="0"/>
              <a:t>private - </a:t>
            </a:r>
            <a:r>
              <a:rPr lang="en-US" dirty="0"/>
              <a:t>members cannot be accessed (or viewed) from outside the class</a:t>
            </a:r>
          </a:p>
          <a:p>
            <a:pPr algn="just"/>
            <a:r>
              <a:rPr lang="en-US" b="1" dirty="0"/>
              <a:t>protected - </a:t>
            </a:r>
            <a:r>
              <a:rPr lang="en-US" dirty="0"/>
              <a:t>members cannot be accessed from outside the class, however, they can be accessed in inherited classes. You will learn more about Inheritance later.</a:t>
            </a:r>
          </a:p>
        </p:txBody>
      </p:sp>
    </p:spTree>
    <p:extLst>
      <p:ext uri="{BB962C8B-B14F-4D97-AF65-F5344CB8AC3E}">
        <p14:creationId xmlns:p14="http://schemas.microsoft.com/office/powerpoint/2010/main" val="36641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Access Specifiers in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91157"/>
            <a:ext cx="10515600" cy="485805"/>
          </a:xfrm>
        </p:spPr>
        <p:txBody>
          <a:bodyPr>
            <a:normAutofit/>
          </a:bodyPr>
          <a:lstStyle/>
          <a:p>
            <a:r>
              <a:rPr lang="en-US" dirty="0"/>
              <a:t>OUTPUT= error: y is private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42109" y="1428765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access specifier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x;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attribute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Private access specifier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y;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Private attribute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Allowed (public)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Not allowed (private)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77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Access Specifiers in Class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805641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By default, all members of a class are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if you don't specify an access specifier: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271145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x;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Private attribute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y;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Private attribute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6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526"/>
          </a:xfrm>
        </p:spPr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869" y="1525373"/>
            <a:ext cx="6122158" cy="518932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class keyword is used to create a class called </a:t>
            </a:r>
            <a:r>
              <a:rPr lang="en-US" dirty="0" err="1"/>
              <a:t>MyClass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public keyword is an access </a:t>
            </a:r>
            <a:r>
              <a:rPr lang="en-US" dirty="0" err="1"/>
              <a:t>specifier</a:t>
            </a:r>
            <a:r>
              <a:rPr lang="en-US" dirty="0"/>
              <a:t>, which specifies that members (attributes and methods) of the class are accessible from outside the class. </a:t>
            </a:r>
          </a:p>
          <a:p>
            <a:pPr algn="just"/>
            <a:r>
              <a:rPr lang="en-US" dirty="0"/>
              <a:t>Inside the class, there is an integer variable </a:t>
            </a:r>
            <a:r>
              <a:rPr lang="en-US" dirty="0" err="1"/>
              <a:t>myNum</a:t>
            </a:r>
            <a:r>
              <a:rPr lang="en-US" dirty="0"/>
              <a:t> and a string variable </a:t>
            </a:r>
            <a:r>
              <a:rPr lang="en-US" dirty="0" err="1"/>
              <a:t>myString</a:t>
            </a:r>
            <a:r>
              <a:rPr lang="en-US" dirty="0"/>
              <a:t>. When variables are declared within a class, they are called attributes.</a:t>
            </a:r>
          </a:p>
          <a:p>
            <a:pPr algn="just"/>
            <a:r>
              <a:rPr lang="en-US" dirty="0"/>
              <a:t>At last, end the class definition with a semicolon ;</a:t>
            </a:r>
          </a:p>
          <a:p>
            <a:pPr algn="just"/>
            <a:r>
              <a:rPr lang="en-US" dirty="0"/>
              <a:t>Functions that are declared within a class are called member functions. Member functions may access any element of the class of which they are a part.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25234" y="1969969"/>
            <a:ext cx="50829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  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The class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      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specifier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Attribute (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variable)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string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myString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Attribute (string variable)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1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409"/>
            <a:ext cx="10515600" cy="61751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Classes with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677" y="777923"/>
            <a:ext cx="3601872" cy="385312"/>
          </a:xfrm>
        </p:spPr>
        <p:txBody>
          <a:bodyPr>
            <a:normAutofit/>
          </a:bodyPr>
          <a:lstStyle/>
          <a:p>
            <a:r>
              <a:rPr lang="en-US" dirty="0"/>
              <a:t>Single Object </a:t>
            </a:r>
            <a:r>
              <a:rPr lang="en-US" dirty="0" err="1"/>
              <a:t>myObj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11907" y="116323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  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The class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      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specifier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Attribute (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variable)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string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myString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Attribute (string variable)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object of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MyClass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attributes and set values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myObj.myNum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myObj.myString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"Some text"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Print attribute values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myObj.myNum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myObj.myString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1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409"/>
            <a:ext cx="10515600" cy="617514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/>
              <a:t>Classes with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3631" y="777923"/>
            <a:ext cx="5944738" cy="385312"/>
          </a:xfrm>
        </p:spPr>
        <p:txBody>
          <a:bodyPr>
            <a:normAutofit/>
          </a:bodyPr>
          <a:lstStyle/>
          <a:p>
            <a:r>
              <a:rPr lang="en-US" dirty="0"/>
              <a:t>Example of creating multiple objects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677" y="1163235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 Car class with some attributes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string brand;   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string model;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year;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object of Car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carObj1;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carObj1.brand 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carObj1.model 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"X5"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carObj1.year 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1999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another object of Car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carObj2;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carObj2.brand 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carObj2.model 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"Mustang"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carObj2.year 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1969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309815" y="182648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Print attribute values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carObj1.brand 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carObj1.model 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carObj1.year 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carObj2.brand 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carObj2.model 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carObj2.year 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95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409"/>
            <a:ext cx="10515600" cy="617514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/>
              <a:t>Methods in Classes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60529" y="883928"/>
            <a:ext cx="5944737" cy="5762531"/>
          </a:xfrm>
        </p:spPr>
        <p:txBody>
          <a:bodyPr>
            <a:normAutofit/>
          </a:bodyPr>
          <a:lstStyle/>
          <a:p>
            <a:r>
              <a:rPr lang="en-US" dirty="0"/>
              <a:t>Methods are functions that belongs to the class.</a:t>
            </a:r>
          </a:p>
          <a:p>
            <a:r>
              <a:rPr lang="en-US" dirty="0"/>
              <a:t>There are two ways to define functions that belongs to a class:</a:t>
            </a:r>
          </a:p>
          <a:p>
            <a:endParaRPr lang="en-US" dirty="0"/>
          </a:p>
          <a:p>
            <a:pPr lvl="1"/>
            <a:r>
              <a:rPr lang="en-US" dirty="0"/>
              <a:t>Inside class definition</a:t>
            </a:r>
          </a:p>
          <a:p>
            <a:pPr lvl="1"/>
            <a:r>
              <a:rPr lang="en-US" dirty="0"/>
              <a:t>Outside class definition</a:t>
            </a:r>
          </a:p>
          <a:p>
            <a:r>
              <a:rPr lang="en-US" dirty="0"/>
              <a:t>In the following example, we define a function inside the class, and we name it "</a:t>
            </a:r>
            <a:r>
              <a:rPr lang="en-US" dirty="0" err="1"/>
              <a:t>myMethod</a:t>
            </a:r>
            <a:r>
              <a:rPr lang="en-US" dirty="0"/>
              <a:t>".</a:t>
            </a:r>
          </a:p>
          <a:p>
            <a:r>
              <a:rPr lang="en-US" dirty="0"/>
              <a:t>You access methods just like you access attributes; by creating an object of the class and using the dot syntax (.):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0066" y="1361955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  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The class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       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specifier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myMethod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Method/function defined inside the class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object of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MyClass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myObj.myMethod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 the method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420227" y="777923"/>
            <a:ext cx="2076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Method Inside class</a:t>
            </a:r>
          </a:p>
        </p:txBody>
      </p:sp>
    </p:spTree>
    <p:extLst>
      <p:ext uri="{BB962C8B-B14F-4D97-AF65-F5344CB8AC3E}">
        <p14:creationId xmlns:p14="http://schemas.microsoft.com/office/powerpoint/2010/main" val="121104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409"/>
            <a:ext cx="10515600" cy="617514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/>
              <a:t>Methods in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2589"/>
            <a:ext cx="4716439" cy="4351338"/>
          </a:xfrm>
        </p:spPr>
        <p:txBody>
          <a:bodyPr/>
          <a:lstStyle/>
          <a:p>
            <a:r>
              <a:rPr lang="en-US" dirty="0"/>
              <a:t>To define a function outside the class definition, you have to declare it inside the class and then define it outside of the class. </a:t>
            </a:r>
          </a:p>
          <a:p>
            <a:r>
              <a:rPr lang="en-US" dirty="0"/>
              <a:t>This is done by </a:t>
            </a:r>
            <a:r>
              <a:rPr lang="en-US" dirty="0" err="1"/>
              <a:t>specifiying</a:t>
            </a:r>
            <a:r>
              <a:rPr lang="en-US" dirty="0"/>
              <a:t> the name of the class, followed the scope resolution :: operator, followed by the name of the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9060" y="777923"/>
            <a:ext cx="22509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Method Outside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1395437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  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The class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        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specifier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myMethod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Method/function declaration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Method/function definition outside the class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myMethod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object of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MyClass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myObj.myMethod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 the method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355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409"/>
            <a:ext cx="10515600" cy="617514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/>
              <a:t>Methods in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88975" y="747776"/>
            <a:ext cx="26140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Method With 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8337" y="932442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using namespace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speed(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maxSpeed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Car::speed(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maxSpeed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carspeed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maxSpeed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/2;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carspeed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object of Car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myObj.speed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 the method with an argument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60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1"/>
            <a:ext cx="10510619" cy="5204012"/>
          </a:xfrm>
        </p:spPr>
        <p:txBody>
          <a:bodyPr/>
          <a:lstStyle/>
          <a:p>
            <a:r>
              <a:rPr lang="en-US" dirty="0"/>
              <a:t>Structures (also called </a:t>
            </a:r>
            <a:r>
              <a:rPr lang="en-US" dirty="0" err="1"/>
              <a:t>structs</a:t>
            </a:r>
            <a:r>
              <a:rPr lang="en-US" dirty="0"/>
              <a:t>) are a way to group several related variables into one place. Each variable in the structure is known as a </a:t>
            </a:r>
            <a:r>
              <a:rPr lang="en-US" b="1" dirty="0"/>
              <a:t>member</a:t>
            </a:r>
            <a:r>
              <a:rPr lang="en-US" dirty="0"/>
              <a:t> of the structure.</a:t>
            </a:r>
          </a:p>
          <a:p>
            <a:r>
              <a:rPr lang="en-US" dirty="0"/>
              <a:t>Unlike an </a:t>
            </a:r>
            <a:r>
              <a:rPr lang="en-US" dirty="0">
                <a:hlinkClick r:id="rId2"/>
              </a:rPr>
              <a:t>array</a:t>
            </a:r>
            <a:r>
              <a:rPr lang="en-US" dirty="0"/>
              <a:t>, a structure can contain many different data types (</a:t>
            </a:r>
            <a:r>
              <a:rPr lang="en-US" dirty="0" err="1"/>
              <a:t>int</a:t>
            </a:r>
            <a:r>
              <a:rPr lang="en-US" dirty="0"/>
              <a:t>, string, bool, etc.).</a:t>
            </a:r>
          </a:p>
          <a:p>
            <a:r>
              <a:rPr lang="en-US" dirty="0"/>
              <a:t>To create a structure, use the </a:t>
            </a:r>
            <a:r>
              <a:rPr lang="en-US" dirty="0" err="1"/>
              <a:t>struct</a:t>
            </a:r>
            <a:r>
              <a:rPr lang="en-US" dirty="0"/>
              <a:t> keyword and declare each of its members inside curly braces.</a:t>
            </a:r>
          </a:p>
          <a:p>
            <a:r>
              <a:rPr lang="en-US" dirty="0"/>
              <a:t>After the declaration, specify the name of the structure variable (</a:t>
            </a:r>
            <a:r>
              <a:rPr lang="en-US" dirty="0" err="1"/>
              <a:t>myStructure</a:t>
            </a:r>
            <a:r>
              <a:rPr lang="en-US" dirty="0"/>
              <a:t> in the example below):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         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Structure declaration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    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Member (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variable)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string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Member (string variable)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myStructure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  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Structure 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37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757" y="165847"/>
            <a:ext cx="8596668" cy="681318"/>
          </a:xfrm>
        </p:spPr>
        <p:txBody>
          <a:bodyPr/>
          <a:lstStyle/>
          <a:p>
            <a:r>
              <a:rPr lang="en-US" dirty="0"/>
              <a:t>Example of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847166"/>
            <a:ext cx="9609666" cy="601083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 Declare a structure named "car"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car {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string brand;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string model;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year;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 {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Create a car structure and store it in myCar1;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car myCar1;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myCar1.brand 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"BMW"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myCar1.model 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"X5"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myCar1.year 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1999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Create another car structure and store it in myCar2;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car myCar2;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myCar2.brand 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"Ford"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myCar2.model 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"Mustang"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myCar2.year 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1969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Print the structure members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myCar1.brand &lt;&lt;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 myCar1.model &lt;&lt;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 myCar1.year &lt;&lt;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myCar2.brand &lt;&lt;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 myCar2.model &lt;&lt;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 myCar2.year &lt;&lt;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70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753"/>
          </a:xfrm>
        </p:spPr>
        <p:txBody>
          <a:bodyPr>
            <a:normAutofit/>
          </a:bodyPr>
          <a:lstStyle/>
          <a:p>
            <a:r>
              <a:rPr lang="en-US" b="1" u="sng" dirty="0"/>
              <a:t>Structure Vs. Class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402822"/>
              </p:ext>
            </p:extLst>
          </p:nvPr>
        </p:nvGraphicFramePr>
        <p:xfrm>
          <a:off x="838200" y="1364776"/>
          <a:ext cx="10515600" cy="5270678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1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55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Features</a:t>
                      </a:r>
                    </a:p>
                  </a:txBody>
                  <a:tcPr marL="80184" marR="80184" marT="80184" marB="80184">
                    <a:lnL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Structure</a:t>
                      </a:r>
                    </a:p>
                  </a:txBody>
                  <a:tcPr marL="80184" marR="80184" marT="80184" marB="80184">
                    <a:lnL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80184" marR="80184" marT="80184" marB="80184">
                    <a:lnL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4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99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Definition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 structure is a grouping of variables of various data types referenced by the same name.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 C++, a class is defined as a collection of related variables and functions contained within a single structure.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51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Basic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If no access specifier is specified, all members are set to 'public'.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If no access specifier is defined, all members are set to 'private'.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923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Declaration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struct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structure_name</a:t>
                      </a:r>
                      <a:endParaRPr lang="en-US" sz="18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{ type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struct_member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1;</a:t>
                      </a: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type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struct_member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2;</a:t>
                      </a: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type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struct_member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3; . </a:t>
                      </a: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type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struct_memberN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; </a:t>
                      </a: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};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class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class_name</a:t>
                      </a:r>
                      <a:endParaRPr lang="en-US" sz="18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{ </a:t>
                      </a: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data member;</a:t>
                      </a: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member function; </a:t>
                      </a: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};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51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Instance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Structure instance is called the 'structure variable'.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 class instance is called 'object'.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27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Inheritance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does not support inheritance.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supports inheritance.</a:t>
                      </a:r>
                    </a:p>
                  </a:txBody>
                  <a:tcPr marL="53456" marR="53456" marT="53456" marB="5345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70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753"/>
          </a:xfrm>
        </p:spPr>
        <p:txBody>
          <a:bodyPr>
            <a:normAutofit/>
          </a:bodyPr>
          <a:lstStyle/>
          <a:p>
            <a:r>
              <a:rPr lang="en-US" b="1" u="sng" dirty="0"/>
              <a:t>Structure Vs.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199" y="1050878"/>
            <a:ext cx="1108994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You might wonder why C++ contains the two virtually equivalent keywords </a:t>
            </a:r>
            <a:r>
              <a:rPr lang="en-US" sz="2400" dirty="0" err="1"/>
              <a:t>struct</a:t>
            </a:r>
            <a:r>
              <a:rPr lang="en-US" sz="2400" dirty="0"/>
              <a:t> and class. This seeming redundancy is justified for several reasons.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First, to increase the capabilities of a structure; In C, structures already provide a means of grouping data. Therefore, it is a small step to allow them to include member functions.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Second, because structures and classes are related, it may be easier to port existing C programs to C++.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Finally, although </a:t>
            </a:r>
            <a:r>
              <a:rPr lang="en-US" sz="2400" dirty="0" err="1"/>
              <a:t>struct</a:t>
            </a:r>
            <a:r>
              <a:rPr lang="en-US" sz="2400" dirty="0"/>
              <a:t> and class are virtually equivalent today, providing two different keywords allows the definition of a class to be free to evolve.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In order for C++ to remain compatible with C, the definition of </a:t>
            </a:r>
            <a:r>
              <a:rPr lang="en-US" sz="2400" dirty="0" err="1"/>
              <a:t>struct</a:t>
            </a:r>
            <a:r>
              <a:rPr lang="en-US" sz="2400" dirty="0"/>
              <a:t> must always be tied to its C definition.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Although you can use a </a:t>
            </a:r>
            <a:r>
              <a:rPr lang="en-US" sz="2400" dirty="0" err="1"/>
              <a:t>struct</a:t>
            </a:r>
            <a:r>
              <a:rPr lang="en-US" sz="2400" dirty="0"/>
              <a:t> where you use a class, most programmers don't. Usually it is best to use a class when you want a class, and a </a:t>
            </a:r>
            <a:r>
              <a:rPr lang="en-US" sz="2400" dirty="0" err="1"/>
              <a:t>struct</a:t>
            </a:r>
            <a:r>
              <a:rPr lang="en-US" sz="2400" dirty="0"/>
              <a:t> when you want a C-like structure.</a:t>
            </a:r>
          </a:p>
        </p:txBody>
      </p:sp>
    </p:spTree>
    <p:extLst>
      <p:ext uri="{BB962C8B-B14F-4D97-AF65-F5344CB8AC3E}">
        <p14:creationId xmlns:p14="http://schemas.microsoft.com/office/powerpoint/2010/main" val="1045826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2989E-03B0-8B51-00CD-5BA124AB9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09489"/>
            <a:ext cx="9662420" cy="573187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 1: Simple Class Creation</a:t>
            </a:r>
          </a:p>
          <a:p>
            <a:r>
              <a:rPr lang="en-US" dirty="0"/>
              <a:t>Create a class Student with:</a:t>
            </a:r>
          </a:p>
          <a:p>
            <a:r>
              <a:rPr lang="en-US" dirty="0"/>
              <a:t>attributes: name, id </a:t>
            </a:r>
          </a:p>
          <a:p>
            <a:r>
              <a:rPr lang="en-US" dirty="0"/>
              <a:t>create one object and print the values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Problem 2: Access Specifier Check</a:t>
            </a:r>
          </a:p>
          <a:p>
            <a:r>
              <a:rPr lang="en-US" dirty="0"/>
              <a:t>Write a class with:</a:t>
            </a:r>
          </a:p>
          <a:p>
            <a:r>
              <a:rPr lang="en-US" dirty="0"/>
              <a:t>one public variable </a:t>
            </a:r>
          </a:p>
          <a:p>
            <a:r>
              <a:rPr lang="en-US" dirty="0"/>
              <a:t>one private variable</a:t>
            </a:r>
            <a:br>
              <a:rPr lang="en-US" dirty="0"/>
            </a:br>
            <a:r>
              <a:rPr lang="en-US" dirty="0"/>
              <a:t>Try accessing both from main() and observe the error.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Problem 3: Multiple Objects</a:t>
            </a:r>
          </a:p>
          <a:p>
            <a:r>
              <a:rPr lang="en-US" dirty="0"/>
              <a:t> Create a class Book with:</a:t>
            </a:r>
          </a:p>
          <a:p>
            <a:r>
              <a:rPr lang="en-US" dirty="0"/>
              <a:t>title, author, price</a:t>
            </a:r>
            <a:br>
              <a:rPr lang="en-US" dirty="0"/>
            </a:br>
            <a:r>
              <a:rPr lang="en-US" dirty="0"/>
              <a:t>Create </a:t>
            </a:r>
            <a:r>
              <a:rPr lang="en-US" b="1" dirty="0"/>
              <a:t>two objects</a:t>
            </a:r>
            <a:r>
              <a:rPr lang="en-US" dirty="0"/>
              <a:t> and print their details.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804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F306C-9CDA-0E76-8375-CF1FD0D7F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0"/>
            <a:ext cx="10717497" cy="66962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Problem 4: Method Inside Class</a:t>
            </a:r>
          </a:p>
          <a:p>
            <a:r>
              <a:rPr lang="en-US" dirty="0"/>
              <a:t> Create a class Rectangle:</a:t>
            </a:r>
          </a:p>
          <a:p>
            <a:r>
              <a:rPr lang="en-US" dirty="0"/>
              <a:t>attributes: length, width </a:t>
            </a:r>
          </a:p>
          <a:p>
            <a:r>
              <a:rPr lang="en-US" dirty="0"/>
              <a:t>method: area() inside class</a:t>
            </a:r>
            <a:br>
              <a:rPr lang="en-US" dirty="0"/>
            </a:br>
            <a:r>
              <a:rPr lang="en-US" dirty="0"/>
              <a:t>Print the area using object. </a:t>
            </a:r>
          </a:p>
          <a:p>
            <a:pPr marL="0" indent="0">
              <a:buNone/>
            </a:pPr>
            <a:r>
              <a:rPr lang="en-US" b="1" dirty="0"/>
              <a:t>Problem 5: Method Outside Class</a:t>
            </a:r>
          </a:p>
          <a:p>
            <a:r>
              <a:rPr lang="en-US" dirty="0"/>
              <a:t> Modify Problem 4:</a:t>
            </a:r>
          </a:p>
          <a:p>
            <a:r>
              <a:rPr lang="en-US" dirty="0"/>
              <a:t>declare method inside class </a:t>
            </a:r>
          </a:p>
          <a:p>
            <a:r>
              <a:rPr lang="en-US" dirty="0"/>
              <a:t>define it outside using ::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 Problem 6: Method with Parameter</a:t>
            </a:r>
          </a:p>
          <a:p>
            <a:r>
              <a:rPr lang="en-US" dirty="0"/>
              <a:t>Create a class Calculator:</a:t>
            </a:r>
          </a:p>
          <a:p>
            <a:r>
              <a:rPr lang="en-US" dirty="0"/>
              <a:t>method: add(int a, int b) </a:t>
            </a:r>
          </a:p>
          <a:p>
            <a:r>
              <a:rPr lang="en-US" dirty="0"/>
              <a:t>return sum </a:t>
            </a:r>
          </a:p>
          <a:p>
            <a:r>
              <a:rPr lang="en-US" dirty="0"/>
              <a:t>Call the function using object.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 Problem 7: Real-Life Example</a:t>
            </a:r>
          </a:p>
          <a:p>
            <a:r>
              <a:rPr lang="en-US" dirty="0"/>
              <a:t>Create a class Car:</a:t>
            </a:r>
          </a:p>
          <a:p>
            <a:r>
              <a:rPr lang="en-US" dirty="0"/>
              <a:t>attributes: brand, model, year </a:t>
            </a:r>
          </a:p>
          <a:p>
            <a:r>
              <a:rPr lang="en-US" dirty="0"/>
              <a:t>method: </a:t>
            </a:r>
            <a:r>
              <a:rPr lang="en-US" dirty="0" err="1"/>
              <a:t>displayInfo</a:t>
            </a:r>
            <a:r>
              <a:rPr lang="en-US" dirty="0"/>
              <a:t>() </a:t>
            </a:r>
          </a:p>
          <a:p>
            <a:r>
              <a:rPr lang="en-US" dirty="0"/>
              <a:t>Create </a:t>
            </a:r>
            <a:r>
              <a:rPr lang="en-US" b="1" dirty="0"/>
              <a:t>2 objects</a:t>
            </a:r>
            <a:r>
              <a:rPr lang="en-US" dirty="0"/>
              <a:t> and print details.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780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6490F-A801-B8B3-9E6B-2E7D16325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8813"/>
            <a:ext cx="9521743" cy="65414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Problem 8: Class vs Structure</a:t>
            </a:r>
          </a:p>
          <a:p>
            <a:pPr marL="0" indent="0">
              <a:buNone/>
            </a:pPr>
            <a:r>
              <a:rPr lang="en-US" dirty="0"/>
              <a:t> Write:</a:t>
            </a:r>
          </a:p>
          <a:p>
            <a:r>
              <a:rPr lang="en-US" dirty="0"/>
              <a:t>one struct Student </a:t>
            </a:r>
          </a:p>
          <a:p>
            <a:r>
              <a:rPr lang="en-US" dirty="0"/>
              <a:t>one class Student </a:t>
            </a:r>
          </a:p>
          <a:p>
            <a:r>
              <a:rPr lang="en-US" dirty="0"/>
              <a:t>Compare:</a:t>
            </a:r>
          </a:p>
          <a:p>
            <a:r>
              <a:rPr lang="en-US" dirty="0"/>
              <a:t>accessibility </a:t>
            </a:r>
          </a:p>
          <a:p>
            <a:r>
              <a:rPr lang="en-US" dirty="0"/>
              <a:t>usage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 Problem 9: Mini System Design</a:t>
            </a:r>
          </a:p>
          <a:p>
            <a:r>
              <a:rPr lang="en-US" dirty="0"/>
              <a:t> Design a class </a:t>
            </a:r>
            <a:r>
              <a:rPr lang="en-US" dirty="0" err="1"/>
              <a:t>BankAccount</a:t>
            </a:r>
            <a:r>
              <a:rPr lang="en-US" dirty="0"/>
              <a:t>:</a:t>
            </a:r>
          </a:p>
          <a:p>
            <a:r>
              <a:rPr lang="en-US" dirty="0"/>
              <a:t>attributes: </a:t>
            </a:r>
            <a:r>
              <a:rPr lang="en-US" dirty="0" err="1"/>
              <a:t>accountNumber</a:t>
            </a:r>
            <a:r>
              <a:rPr lang="en-US" dirty="0"/>
              <a:t>, balance </a:t>
            </a:r>
          </a:p>
          <a:p>
            <a:r>
              <a:rPr lang="en-US" dirty="0"/>
              <a:t>methods: </a:t>
            </a:r>
          </a:p>
          <a:p>
            <a:pPr lvl="1"/>
            <a:r>
              <a:rPr lang="en-US" dirty="0"/>
              <a:t>deposit(amount) </a:t>
            </a:r>
          </a:p>
          <a:p>
            <a:pPr lvl="1"/>
            <a:r>
              <a:rPr lang="en-US" dirty="0"/>
              <a:t>withdraw(amount) </a:t>
            </a:r>
          </a:p>
          <a:p>
            <a:pPr lvl="1"/>
            <a:r>
              <a:rPr lang="en-US" dirty="0" err="1"/>
              <a:t>displayBalance</a:t>
            </a:r>
            <a:r>
              <a:rPr lang="en-US" dirty="0"/>
              <a:t>() 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 Problem 10: Object Interaction</a:t>
            </a:r>
          </a:p>
          <a:p>
            <a:r>
              <a:rPr lang="en-US" dirty="0"/>
              <a:t>Create a class Teacher:</a:t>
            </a:r>
          </a:p>
          <a:p>
            <a:r>
              <a:rPr lang="en-US" dirty="0"/>
              <a:t>attributes: name, course </a:t>
            </a:r>
          </a:p>
          <a:p>
            <a:r>
              <a:rPr lang="en-US" dirty="0"/>
              <a:t>method: </a:t>
            </a:r>
            <a:r>
              <a:rPr lang="en-US" dirty="0" err="1"/>
              <a:t>assignCourse</a:t>
            </a:r>
            <a:r>
              <a:rPr lang="en-US" dirty="0"/>
              <a:t>() </a:t>
            </a:r>
          </a:p>
          <a:p>
            <a:r>
              <a:rPr lang="en-US" dirty="0"/>
              <a:t>Create multiple objects and assign different courses.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56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758" y="413493"/>
            <a:ext cx="8596668" cy="1320800"/>
          </a:xfrm>
        </p:spPr>
        <p:txBody>
          <a:bodyPr/>
          <a:lstStyle/>
          <a:p>
            <a:r>
              <a:rPr lang="en-US" dirty="0"/>
              <a:t>THANK YOU 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758" y="173429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 Test {</a:t>
            </a:r>
            <a:br>
              <a:rPr lang="en-US" dirty="0"/>
            </a:br>
            <a:r>
              <a:rPr lang="en-US" dirty="0"/>
              <a:t>    int x;</a:t>
            </a:r>
            <a:br>
              <a:rPr lang="en-US" dirty="0"/>
            </a:br>
            <a:r>
              <a:rPr lang="en-US" dirty="0"/>
              <a:t>};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 main() {</a:t>
            </a:r>
            <a:br>
              <a:rPr lang="en-US" dirty="0"/>
            </a:br>
            <a:r>
              <a:rPr lang="en-US" dirty="0"/>
              <a:t>    Test t;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t.x</a:t>
            </a:r>
            <a:r>
              <a:rPr lang="en-US" dirty="0"/>
              <a:t> = 10;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Why error occurs? How to fix it?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7366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700</TotalTime>
  <Words>2153</Words>
  <Application>Microsoft Office PowerPoint</Application>
  <PresentationFormat>Widescreen</PresentationFormat>
  <Paragraphs>161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Consolas</vt:lpstr>
      <vt:lpstr>inter-regular</vt:lpstr>
      <vt:lpstr>times new roman</vt:lpstr>
      <vt:lpstr>Trebuchet MS</vt:lpstr>
      <vt:lpstr>Verdana</vt:lpstr>
      <vt:lpstr>Wingdings</vt:lpstr>
      <vt:lpstr>Wingdings 3</vt:lpstr>
      <vt:lpstr>Facet</vt:lpstr>
      <vt:lpstr>Lecture 3- Classes &amp; Objects</vt:lpstr>
      <vt:lpstr>Class</vt:lpstr>
      <vt:lpstr>Access Specifiers in Class</vt:lpstr>
      <vt:lpstr>Access Specifiers in Class</vt:lpstr>
      <vt:lpstr>Access Specifiers in Class</vt:lpstr>
      <vt:lpstr>Classes</vt:lpstr>
      <vt:lpstr>Classes with Objects</vt:lpstr>
      <vt:lpstr>Classes with Objects</vt:lpstr>
      <vt:lpstr>Methods in Classes</vt:lpstr>
      <vt:lpstr>Methods in Classes</vt:lpstr>
      <vt:lpstr>Methods in Classes</vt:lpstr>
      <vt:lpstr>Structures in C++</vt:lpstr>
      <vt:lpstr>Example of structure </vt:lpstr>
      <vt:lpstr>Structure Vs. Class</vt:lpstr>
      <vt:lpstr>Structure Vs. Class</vt:lpstr>
      <vt:lpstr>PowerPoint Presentation</vt:lpstr>
      <vt:lpstr>PowerPoint Presentation</vt:lpstr>
      <vt:lpstr>PowerPoint Presentation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3- Classes &amp; Objects</dc:title>
  <dc:creator>Shovan</dc:creator>
  <cp:lastModifiedBy>Mousumi Hasan Mukti</cp:lastModifiedBy>
  <cp:revision>24</cp:revision>
  <dcterms:created xsi:type="dcterms:W3CDTF">2023-05-22T15:56:46Z</dcterms:created>
  <dcterms:modified xsi:type="dcterms:W3CDTF">2026-04-12T05:32:33Z</dcterms:modified>
</cp:coreProperties>
</file>