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72" r:id="rId11"/>
    <p:sldId id="273" r:id="rId12"/>
    <p:sldId id="274" r:id="rId13"/>
    <p:sldId id="265"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E4DF27-0466-4542-9E09-A6565EC53842}"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2478276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E4DF27-0466-4542-9E09-A6565EC53842}"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445261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2718973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E4DF27-0466-4542-9E09-A6565EC53842}"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1730256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E4DF27-0466-4542-9E09-A6565EC53842}" type="datetimeFigureOut">
              <a:rPr lang="en-US" smtClean="0"/>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498388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E4DF27-0466-4542-9E09-A6565EC53842}" type="datetimeFigureOut">
              <a:rPr lang="en-US" smtClean="0"/>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3219553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4DF27-0466-4542-9E09-A6565EC53842}" type="datetimeFigureOut">
              <a:rPr lang="en-US" smtClean="0"/>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692830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E4DF27-0466-4542-9E09-A6565EC53842}"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3710653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E4DF27-0466-4542-9E09-A6565EC53842}"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789225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2371918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55525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1618749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833289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12262638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E4DF27-0466-4542-9E09-A6565EC53842}"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12641009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E4DF27-0466-4542-9E09-A6565EC53842}"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t>‹#›</a:t>
            </a:fld>
            <a:endParaRPr lang="en-US"/>
          </a:p>
        </p:txBody>
      </p:sp>
    </p:spTree>
    <p:extLst>
      <p:ext uri="{BB962C8B-B14F-4D97-AF65-F5344CB8AC3E}">
        <p14:creationId xmlns:p14="http://schemas.microsoft.com/office/powerpoint/2010/main" val="229026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E4DF27-0466-4542-9E09-A6565EC53842}" type="datetimeFigureOut">
              <a:rPr lang="en-US" smtClean="0"/>
              <a:t>7/6/2026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B81735B-BA53-4CDC-828A-458DB75C1B2F}" type="slidenum">
              <a:rPr lang="en-US" smtClean="0"/>
              <a:t>‹#›</a:t>
            </a:fld>
            <a:endParaRPr lang="en-US"/>
          </a:p>
        </p:txBody>
      </p:sp>
    </p:spTree>
    <p:extLst>
      <p:ext uri="{BB962C8B-B14F-4D97-AF65-F5344CB8AC3E}">
        <p14:creationId xmlns:p14="http://schemas.microsoft.com/office/powerpoint/2010/main" val="14802088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templates-cpp/"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binary-search-algorithms-the-c-standard-template-library-stl/" TargetMode="External"/><Relationship Id="rId7" Type="http://schemas.openxmlformats.org/officeDocument/2006/relationships/hyperlink" Target="https://www.geeksforgeeks.org/std-valarray-class-c/" TargetMode="External"/><Relationship Id="rId2" Type="http://schemas.openxmlformats.org/officeDocument/2006/relationships/hyperlink" Target="https://www.geeksforgeeks.org/sort-algorithms-the-c-standard-template-library-stl/" TargetMode="External"/><Relationship Id="rId1" Type="http://schemas.openxmlformats.org/officeDocument/2006/relationships/slideLayout" Target="../slideLayouts/slideLayout2.xml"/><Relationship Id="rId6" Type="http://schemas.openxmlformats.org/officeDocument/2006/relationships/hyperlink" Target="https://www.geeksforgeeks.org/stdpartition-in-c-stl/" TargetMode="External"/><Relationship Id="rId5" Type="http://schemas.openxmlformats.org/officeDocument/2006/relationships/hyperlink" Target="https://www.geeksforgeeks.org/useful-array-algorithms-in-c-stl/" TargetMode="External"/><Relationship Id="rId4" Type="http://schemas.openxmlformats.org/officeDocument/2006/relationships/hyperlink" Target="https://www.geeksforgeeks.org/c-magicians-stl-algorithms/"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www.geeksforgeeks.org/queue-cpp-stl/" TargetMode="External"/><Relationship Id="rId3" Type="http://schemas.openxmlformats.org/officeDocument/2006/relationships/hyperlink" Target="https://www.geeksforgeeks.org/vector-in-cpp-stl/" TargetMode="External"/><Relationship Id="rId7" Type="http://schemas.openxmlformats.org/officeDocument/2006/relationships/hyperlink" Target="https://www.geeksforgeeks.org/forward-list-c-set-1-introduction-important-functions/" TargetMode="External"/><Relationship Id="rId2" Type="http://schemas.openxmlformats.org/officeDocument/2006/relationships/hyperlink" Target="https://www.geeksforgeeks.org/containers-cpp-stl/" TargetMode="External"/><Relationship Id="rId1" Type="http://schemas.openxmlformats.org/officeDocument/2006/relationships/slideLayout" Target="../slideLayouts/slideLayout2.xml"/><Relationship Id="rId6" Type="http://schemas.openxmlformats.org/officeDocument/2006/relationships/hyperlink" Target="https://www.geeksforgeeks.org/array-class-c/" TargetMode="External"/><Relationship Id="rId5" Type="http://schemas.openxmlformats.org/officeDocument/2006/relationships/hyperlink" Target="https://www.geeksforgeeks.org/deque-cpp-stl/" TargetMode="External"/><Relationship Id="rId10" Type="http://schemas.openxmlformats.org/officeDocument/2006/relationships/hyperlink" Target="https://www.geeksforgeeks.org/stack-in-cpp-stl/" TargetMode="External"/><Relationship Id="rId4" Type="http://schemas.openxmlformats.org/officeDocument/2006/relationships/hyperlink" Target="https://www.geeksforgeeks.org/list-cpp-stl/" TargetMode="External"/><Relationship Id="rId9" Type="http://schemas.openxmlformats.org/officeDocument/2006/relationships/hyperlink" Target="https://www.geeksforgeeks.org/priority-queue-in-cpp-stl/"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geeksforgeeks.org/multiset-in-cpp-stl/" TargetMode="External"/><Relationship Id="rId2" Type="http://schemas.openxmlformats.org/officeDocument/2006/relationships/hyperlink" Target="https://www.geeksforgeeks.org/set-in-cpp-stl/" TargetMode="External"/><Relationship Id="rId1" Type="http://schemas.openxmlformats.org/officeDocument/2006/relationships/slideLayout" Target="../slideLayouts/slideLayout2.xml"/><Relationship Id="rId5" Type="http://schemas.openxmlformats.org/officeDocument/2006/relationships/hyperlink" Target="https://www.geeksforgeeks.org/multimap-associative-containers-the-c-standard-template-library-stl/" TargetMode="External"/><Relationship Id="rId4" Type="http://schemas.openxmlformats.org/officeDocument/2006/relationships/hyperlink" Target="https://www.geeksforgeeks.org/map-associative-containers-the-c-standard-template-library-st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404534"/>
            <a:ext cx="9627098" cy="1646302"/>
          </a:xfrm>
        </p:spPr>
        <p:txBody>
          <a:bodyPr/>
          <a:lstStyle/>
          <a:p>
            <a:r>
              <a:rPr lang="en-US" dirty="0"/>
              <a:t>File Handling in C++ using classes and STL</a:t>
            </a:r>
          </a:p>
        </p:txBody>
      </p:sp>
      <p:sp>
        <p:nvSpPr>
          <p:cNvPr id="3" name="Subtitle 2"/>
          <p:cNvSpPr>
            <a:spLocks noGrp="1"/>
          </p:cNvSpPr>
          <p:nvPr>
            <p:ph type="subTitle" idx="1"/>
          </p:nvPr>
        </p:nvSpPr>
        <p:spPr/>
        <p:txBody>
          <a:bodyPr/>
          <a:lstStyle/>
          <a:p>
            <a:r>
              <a:rPr lang="en-US" dirty="0"/>
              <a:t>CSE-213</a:t>
            </a:r>
          </a:p>
          <a:p>
            <a:r>
              <a:rPr lang="en-US" dirty="0"/>
              <a:t>Object Oriented language</a:t>
            </a:r>
          </a:p>
        </p:txBody>
      </p:sp>
    </p:spTree>
    <p:extLst>
      <p:ext uri="{BB962C8B-B14F-4D97-AF65-F5344CB8AC3E}">
        <p14:creationId xmlns:p14="http://schemas.microsoft.com/office/powerpoint/2010/main" val="3662483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File handling is used to store data permanently in a computer. Using file handling we can store our data in secondary memory (Hard disk).</a:t>
            </a:r>
          </a:p>
          <a:p>
            <a:r>
              <a:rPr lang="en-US" dirty="0"/>
              <a:t>How to achieve the File Handling?</a:t>
            </a:r>
          </a:p>
          <a:p>
            <a:r>
              <a:rPr lang="en-US" dirty="0"/>
              <a:t>For achieving file handling we need to follow the following steps:-</a:t>
            </a:r>
          </a:p>
          <a:p>
            <a:pPr marL="0" indent="0">
              <a:buNone/>
            </a:pPr>
            <a:r>
              <a:rPr lang="en-US" dirty="0"/>
              <a:t> STEP 1-Naming a file</a:t>
            </a:r>
          </a:p>
          <a:p>
            <a:pPr marL="0" indent="0">
              <a:buNone/>
            </a:pPr>
            <a:r>
              <a:rPr lang="en-US" dirty="0"/>
              <a:t> STEP 2-Opening a file</a:t>
            </a:r>
          </a:p>
          <a:p>
            <a:pPr marL="0" indent="0">
              <a:buNone/>
            </a:pPr>
            <a:r>
              <a:rPr lang="en-US" dirty="0"/>
              <a:t> STEP 3-Writing data into the file</a:t>
            </a:r>
          </a:p>
          <a:p>
            <a:pPr marL="0" indent="0">
              <a:buNone/>
            </a:pPr>
            <a:r>
              <a:rPr lang="en-US" dirty="0"/>
              <a:t> STEP 4-Reading data from the file</a:t>
            </a:r>
          </a:p>
          <a:p>
            <a:pPr marL="0" indent="0">
              <a:buNone/>
            </a:pPr>
            <a:r>
              <a:rPr lang="en-US" dirty="0"/>
              <a:t> STEP 5-Closing a file.</a:t>
            </a:r>
          </a:p>
        </p:txBody>
      </p:sp>
    </p:spTree>
    <p:extLst>
      <p:ext uri="{BB962C8B-B14F-4D97-AF65-F5344CB8AC3E}">
        <p14:creationId xmlns:p14="http://schemas.microsoft.com/office/powerpoint/2010/main" val="2023522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Streams in C++ :</a:t>
            </a:r>
          </a:p>
          <a:p>
            <a:r>
              <a:rPr lang="en-US" dirty="0"/>
              <a:t>We give input to the executing program and the execution program gives back the output. The sequence of bytes given as input to the executing program and the sequence of bytes that comes as output from the executing program are called stream. In other words, streams are nothing but the flow of data in a sequence.</a:t>
            </a:r>
          </a:p>
          <a:p>
            <a:r>
              <a:rPr lang="en-US" dirty="0"/>
              <a:t>The input and output operation between the executing program and the devices like keyboard and monitor are known as “console I/O operation”.</a:t>
            </a:r>
          </a:p>
          <a:p>
            <a:r>
              <a:rPr lang="en-US" dirty="0"/>
              <a:t> The input and output operation between the executing program and files are known as “disk I/O operation”.</a:t>
            </a:r>
          </a:p>
        </p:txBody>
      </p:sp>
    </p:spTree>
    <p:extLst>
      <p:ext uri="{BB962C8B-B14F-4D97-AF65-F5344CB8AC3E}">
        <p14:creationId xmlns:p14="http://schemas.microsoft.com/office/powerpoint/2010/main" val="1118168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Classes for File stream operations :-</a:t>
            </a:r>
            <a:br>
              <a:rPr lang="en-US" b="1" dirty="0"/>
            </a:br>
            <a:endParaRPr lang="en-US" dirty="0"/>
          </a:p>
        </p:txBody>
      </p:sp>
      <p:sp>
        <p:nvSpPr>
          <p:cNvPr id="3" name="Content Placeholder 2"/>
          <p:cNvSpPr>
            <a:spLocks noGrp="1"/>
          </p:cNvSpPr>
          <p:nvPr>
            <p:ph idx="1"/>
          </p:nvPr>
        </p:nvSpPr>
        <p:spPr/>
        <p:txBody>
          <a:bodyPr/>
          <a:lstStyle/>
          <a:p>
            <a:r>
              <a:rPr lang="en-US" dirty="0"/>
              <a:t>The I/O system of C++ contains a set of classes which define the file handling methods. These include</a:t>
            </a:r>
          </a:p>
          <a:p>
            <a:pPr marL="0" indent="0">
              <a:buNone/>
            </a:pPr>
            <a:r>
              <a:rPr lang="en-US" dirty="0"/>
              <a:t> </a:t>
            </a:r>
            <a:r>
              <a:rPr lang="en-US" dirty="0" err="1"/>
              <a:t>ifstream</a:t>
            </a:r>
            <a:r>
              <a:rPr lang="en-US" dirty="0"/>
              <a:t>,</a:t>
            </a:r>
          </a:p>
          <a:p>
            <a:pPr marL="0" indent="0">
              <a:buNone/>
            </a:pPr>
            <a:r>
              <a:rPr lang="en-US" dirty="0"/>
              <a:t> </a:t>
            </a:r>
            <a:r>
              <a:rPr lang="en-US" dirty="0" err="1"/>
              <a:t>ofstream</a:t>
            </a:r>
            <a:r>
              <a:rPr lang="en-US" dirty="0"/>
              <a:t> and</a:t>
            </a:r>
          </a:p>
          <a:p>
            <a:pPr marL="0" indent="0">
              <a:buNone/>
            </a:pPr>
            <a:r>
              <a:rPr lang="en-US" dirty="0"/>
              <a:t> </a:t>
            </a:r>
            <a:r>
              <a:rPr lang="en-US" dirty="0" err="1"/>
              <a:t>fstream</a:t>
            </a:r>
            <a:r>
              <a:rPr lang="en-US" dirty="0"/>
              <a:t> classes. </a:t>
            </a:r>
          </a:p>
          <a:p>
            <a:r>
              <a:rPr lang="en-US" dirty="0"/>
              <a:t>These classes are derived from </a:t>
            </a:r>
          </a:p>
          <a:p>
            <a:pPr marL="0" indent="0">
              <a:buNone/>
            </a:pPr>
            <a:r>
              <a:rPr lang="en-US" dirty="0" err="1"/>
              <a:t>fstream</a:t>
            </a:r>
            <a:r>
              <a:rPr lang="en-US" dirty="0"/>
              <a:t> and from the corresponding  </a:t>
            </a:r>
            <a:r>
              <a:rPr lang="en-US" dirty="0" err="1"/>
              <a:t>iostream</a:t>
            </a:r>
            <a:r>
              <a:rPr lang="en-US" dirty="0"/>
              <a:t> class.</a:t>
            </a:r>
          </a:p>
        </p:txBody>
      </p:sp>
    </p:spTree>
    <p:extLst>
      <p:ext uri="{BB962C8B-B14F-4D97-AF65-F5344CB8AC3E}">
        <p14:creationId xmlns:p14="http://schemas.microsoft.com/office/powerpoint/2010/main" val="1574160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1. </a:t>
            </a:r>
            <a:r>
              <a:rPr lang="en-US" dirty="0" err="1"/>
              <a:t>ios</a:t>
            </a:r>
            <a:r>
              <a:rPr lang="en-US" dirty="0"/>
              <a:t>:-</a:t>
            </a:r>
            <a:r>
              <a:rPr lang="en-US" dirty="0" err="1"/>
              <a:t>ios</a:t>
            </a:r>
            <a:r>
              <a:rPr lang="en-US" dirty="0"/>
              <a:t> stands for input output stream.</a:t>
            </a:r>
          </a:p>
          <a:p>
            <a:pPr fontAlgn="base"/>
            <a:r>
              <a:rPr lang="en-US" dirty="0"/>
              <a:t>2. </a:t>
            </a:r>
            <a:r>
              <a:rPr lang="en-US" dirty="0" err="1"/>
              <a:t>istream</a:t>
            </a:r>
            <a:r>
              <a:rPr lang="en-US" dirty="0"/>
              <a:t>:-</a:t>
            </a:r>
            <a:r>
              <a:rPr lang="en-US" dirty="0" err="1"/>
              <a:t>istream</a:t>
            </a:r>
            <a:r>
              <a:rPr lang="en-US" dirty="0"/>
              <a:t> stands for input </a:t>
            </a:r>
            <a:r>
              <a:rPr lang="en-US" dirty="0" err="1"/>
              <a:t>stream.This</a:t>
            </a:r>
            <a:r>
              <a:rPr lang="en-US" dirty="0"/>
              <a:t> class is derived from the class ‘</a:t>
            </a:r>
            <a:r>
              <a:rPr lang="en-US" dirty="0" err="1"/>
              <a:t>ios</a:t>
            </a:r>
            <a:r>
              <a:rPr lang="en-US" dirty="0"/>
              <a:t>’.</a:t>
            </a:r>
          </a:p>
          <a:p>
            <a:pPr fontAlgn="base"/>
            <a:r>
              <a:rPr lang="en-US" dirty="0"/>
              <a:t>3. </a:t>
            </a:r>
            <a:r>
              <a:rPr lang="en-US" dirty="0" err="1"/>
              <a:t>ostream</a:t>
            </a:r>
            <a:r>
              <a:rPr lang="en-US" dirty="0"/>
              <a:t>:-</a:t>
            </a:r>
            <a:r>
              <a:rPr lang="en-US" dirty="0" err="1"/>
              <a:t>ostream</a:t>
            </a:r>
            <a:r>
              <a:rPr lang="en-US" dirty="0"/>
              <a:t> stands for output </a:t>
            </a:r>
            <a:r>
              <a:rPr lang="en-US" dirty="0" err="1"/>
              <a:t>stream.This</a:t>
            </a:r>
            <a:r>
              <a:rPr lang="en-US" dirty="0"/>
              <a:t> class is derived from the class ‘</a:t>
            </a:r>
            <a:r>
              <a:rPr lang="en-US" dirty="0" err="1"/>
              <a:t>ios</a:t>
            </a:r>
            <a:r>
              <a:rPr lang="en-US" dirty="0"/>
              <a:t>’.</a:t>
            </a:r>
          </a:p>
          <a:p>
            <a:r>
              <a:rPr lang="en-US" dirty="0"/>
              <a:t>4. </a:t>
            </a:r>
            <a:r>
              <a:rPr lang="en-US" dirty="0" err="1"/>
              <a:t>streambuf</a:t>
            </a:r>
            <a:r>
              <a:rPr lang="en-US" dirty="0"/>
              <a:t>:-This class contains a pointer which points to the buffer which is used to manage the input and output streams.</a:t>
            </a:r>
          </a:p>
          <a:p>
            <a:pPr fontAlgn="base"/>
            <a:r>
              <a:rPr lang="en-US" dirty="0"/>
              <a:t>5. </a:t>
            </a:r>
            <a:r>
              <a:rPr lang="en-US" dirty="0" err="1"/>
              <a:t>fstreambase</a:t>
            </a:r>
            <a:r>
              <a:rPr lang="en-US" dirty="0"/>
              <a:t>:-This class provides operations common to the file streams. Serves as a base for </a:t>
            </a:r>
            <a:r>
              <a:rPr lang="en-US" dirty="0" err="1"/>
              <a:t>fstream</a:t>
            </a:r>
            <a:r>
              <a:rPr lang="en-US" dirty="0"/>
              <a:t>, </a:t>
            </a:r>
            <a:r>
              <a:rPr lang="en-US" dirty="0" err="1"/>
              <a:t>ifstream</a:t>
            </a:r>
            <a:r>
              <a:rPr lang="en-US" dirty="0"/>
              <a:t> and </a:t>
            </a:r>
            <a:r>
              <a:rPr lang="en-US" dirty="0" err="1"/>
              <a:t>ofstream</a:t>
            </a:r>
            <a:r>
              <a:rPr lang="en-US" dirty="0"/>
              <a:t> class. </a:t>
            </a:r>
          </a:p>
          <a:p>
            <a:pPr fontAlgn="base"/>
            <a:r>
              <a:rPr lang="en-US" dirty="0"/>
              <a:t>6. </a:t>
            </a:r>
            <a:r>
              <a:rPr lang="en-US" dirty="0" err="1"/>
              <a:t>ifstream</a:t>
            </a:r>
            <a:r>
              <a:rPr lang="en-US" dirty="0"/>
              <a:t>:-This class provides input operations. Inherits the functions get(), </a:t>
            </a:r>
            <a:r>
              <a:rPr lang="en-US" dirty="0" err="1"/>
              <a:t>getline</a:t>
            </a:r>
            <a:r>
              <a:rPr lang="en-US" dirty="0"/>
              <a:t>(), read(), </a:t>
            </a:r>
            <a:r>
              <a:rPr lang="en-US" dirty="0" err="1"/>
              <a:t>seekg</a:t>
            </a:r>
            <a:r>
              <a:rPr lang="en-US" dirty="0"/>
              <a:t>() and </a:t>
            </a:r>
            <a:r>
              <a:rPr lang="en-US" dirty="0" err="1"/>
              <a:t>tellg</a:t>
            </a:r>
            <a:r>
              <a:rPr lang="en-US" dirty="0"/>
              <a:t>() functions from the </a:t>
            </a:r>
            <a:r>
              <a:rPr lang="en-US" dirty="0" err="1"/>
              <a:t>istream</a:t>
            </a:r>
            <a:r>
              <a:rPr lang="en-US" dirty="0"/>
              <a:t>.</a:t>
            </a:r>
          </a:p>
          <a:p>
            <a:pPr fontAlgn="base"/>
            <a:endParaRPr lang="en-US" dirty="0"/>
          </a:p>
          <a:p>
            <a:endParaRPr lang="en-US" dirty="0"/>
          </a:p>
        </p:txBody>
      </p:sp>
    </p:spTree>
    <p:extLst>
      <p:ext uri="{BB962C8B-B14F-4D97-AF65-F5344CB8AC3E}">
        <p14:creationId xmlns:p14="http://schemas.microsoft.com/office/powerpoint/2010/main" val="2059745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dirty="0"/>
              <a:t>7. </a:t>
            </a:r>
            <a:r>
              <a:rPr lang="en-US" dirty="0" err="1"/>
              <a:t>ofstream</a:t>
            </a:r>
            <a:r>
              <a:rPr lang="en-US" dirty="0"/>
              <a:t>:-This class provides output operations. Inherits the functions put(),  write(), </a:t>
            </a:r>
            <a:r>
              <a:rPr lang="en-US" dirty="0" err="1"/>
              <a:t>seekp</a:t>
            </a:r>
            <a:r>
              <a:rPr lang="en-US" dirty="0"/>
              <a:t>() and </a:t>
            </a:r>
            <a:r>
              <a:rPr lang="en-US" dirty="0" err="1"/>
              <a:t>tellp</a:t>
            </a:r>
            <a:r>
              <a:rPr lang="en-US" dirty="0"/>
              <a:t>() functions from the </a:t>
            </a:r>
            <a:r>
              <a:rPr lang="en-US" dirty="0" err="1"/>
              <a:t>ostream</a:t>
            </a:r>
            <a:r>
              <a:rPr lang="en-US" dirty="0"/>
              <a:t>.</a:t>
            </a:r>
          </a:p>
          <a:p>
            <a:pPr fontAlgn="base"/>
            <a:r>
              <a:rPr lang="en-US" dirty="0"/>
              <a:t>8. </a:t>
            </a:r>
            <a:r>
              <a:rPr lang="en-US" dirty="0" err="1"/>
              <a:t>fstream</a:t>
            </a:r>
            <a:r>
              <a:rPr lang="en-US" dirty="0"/>
              <a:t>:-This class provides support for simultaneous input and output operations.</a:t>
            </a:r>
          </a:p>
          <a:p>
            <a:pPr fontAlgn="base"/>
            <a:r>
              <a:rPr lang="en-US" dirty="0"/>
              <a:t>9. </a:t>
            </a:r>
            <a:r>
              <a:rPr lang="en-US" dirty="0" err="1"/>
              <a:t>filebuf</a:t>
            </a:r>
            <a:r>
              <a:rPr lang="en-US" dirty="0"/>
              <a:t>:-Its purpose is to set the file buffers to read and write. We can also use file buffer member function to determine the length of the file.</a:t>
            </a:r>
          </a:p>
          <a:p>
            <a:pPr fontAlgn="base"/>
            <a:endParaRPr lang="en-US" dirty="0"/>
          </a:p>
          <a:p>
            <a:endParaRPr lang="en-US" dirty="0"/>
          </a:p>
        </p:txBody>
      </p:sp>
    </p:spTree>
    <p:extLst>
      <p:ext uri="{BB962C8B-B14F-4D97-AF65-F5344CB8AC3E}">
        <p14:creationId xmlns:p14="http://schemas.microsoft.com/office/powerpoint/2010/main" val="2995318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ABB11C2-1B8F-D3F6-FD4A-4DEB60125FC7}"/>
              </a:ext>
            </a:extLst>
          </p:cNvPr>
          <p:cNvSpPr>
            <a:spLocks noGrp="1"/>
          </p:cNvSpPr>
          <p:nvPr>
            <p:ph idx="1"/>
          </p:nvPr>
        </p:nvSpPr>
        <p:spPr>
          <a:xfrm>
            <a:off x="0" y="1"/>
            <a:ext cx="12191999" cy="7005710"/>
          </a:xfrm>
        </p:spPr>
        <p:txBody>
          <a:bodyPr numCol="3">
            <a:noAutofit/>
          </a:bodyPr>
          <a:lstStyle/>
          <a:p>
            <a:pPr>
              <a:spcBef>
                <a:spcPts val="0"/>
              </a:spcBef>
            </a:pPr>
            <a:r>
              <a:rPr lang="en-US" sz="1600" dirty="0"/>
              <a:t>#include &lt;iostream&gt;</a:t>
            </a:r>
          </a:p>
          <a:p>
            <a:pPr>
              <a:spcBef>
                <a:spcPts val="0"/>
              </a:spcBef>
            </a:pPr>
            <a:r>
              <a:rPr lang="en-US" sz="1600" dirty="0"/>
              <a:t>#include &lt;</a:t>
            </a:r>
            <a:r>
              <a:rPr lang="en-US" sz="1600" dirty="0" err="1"/>
              <a:t>fstream</a:t>
            </a:r>
            <a:r>
              <a:rPr lang="en-US" sz="1600" dirty="0"/>
              <a:t>&gt;</a:t>
            </a:r>
          </a:p>
          <a:p>
            <a:pPr>
              <a:spcBef>
                <a:spcPts val="0"/>
              </a:spcBef>
            </a:pPr>
            <a:r>
              <a:rPr lang="en-US" sz="1600" dirty="0"/>
              <a:t>#include &lt;string&gt;</a:t>
            </a:r>
          </a:p>
          <a:p>
            <a:pPr>
              <a:spcBef>
                <a:spcPts val="0"/>
              </a:spcBef>
            </a:pPr>
            <a:r>
              <a:rPr lang="en-US" sz="1600" dirty="0"/>
              <a:t>using namespace std;</a:t>
            </a:r>
          </a:p>
          <a:p>
            <a:pPr>
              <a:spcBef>
                <a:spcPts val="0"/>
              </a:spcBef>
            </a:pPr>
            <a:endParaRPr lang="en-US" sz="1600" dirty="0"/>
          </a:p>
          <a:p>
            <a:pPr>
              <a:spcBef>
                <a:spcPts val="0"/>
              </a:spcBef>
            </a:pPr>
            <a:r>
              <a:rPr lang="en-US" sz="1600" dirty="0"/>
              <a:t>class Student</a:t>
            </a:r>
          </a:p>
          <a:p>
            <a:pPr>
              <a:spcBef>
                <a:spcPts val="0"/>
              </a:spcBef>
            </a:pPr>
            <a:r>
              <a:rPr lang="en-US" sz="1600" dirty="0"/>
              <a:t>{</a:t>
            </a:r>
          </a:p>
          <a:p>
            <a:pPr>
              <a:spcBef>
                <a:spcPts val="0"/>
              </a:spcBef>
            </a:pPr>
            <a:r>
              <a:rPr lang="en-US" sz="1600" dirty="0"/>
              <a:t>private:</a:t>
            </a:r>
          </a:p>
          <a:p>
            <a:pPr>
              <a:spcBef>
                <a:spcPts val="0"/>
              </a:spcBef>
            </a:pPr>
            <a:r>
              <a:rPr lang="en-US" sz="1600" dirty="0"/>
              <a:t>    string name;</a:t>
            </a:r>
          </a:p>
          <a:p>
            <a:pPr>
              <a:spcBef>
                <a:spcPts val="0"/>
              </a:spcBef>
            </a:pPr>
            <a:r>
              <a:rPr lang="en-US" sz="1600" dirty="0"/>
              <a:t>    string id;</a:t>
            </a:r>
          </a:p>
          <a:p>
            <a:pPr>
              <a:spcBef>
                <a:spcPts val="0"/>
              </a:spcBef>
            </a:pPr>
            <a:endParaRPr lang="en-US" sz="1600" dirty="0"/>
          </a:p>
          <a:p>
            <a:pPr>
              <a:spcBef>
                <a:spcPts val="0"/>
              </a:spcBef>
            </a:pPr>
            <a:r>
              <a:rPr lang="en-US" sz="1600" dirty="0"/>
              <a:t>public:</a:t>
            </a:r>
          </a:p>
          <a:p>
            <a:pPr>
              <a:spcBef>
                <a:spcPts val="0"/>
              </a:spcBef>
            </a:pPr>
            <a:r>
              <a:rPr lang="en-US" sz="1600" dirty="0"/>
              <a:t>    // Function to input student information</a:t>
            </a:r>
          </a:p>
          <a:p>
            <a:pPr>
              <a:spcBef>
                <a:spcPts val="0"/>
              </a:spcBef>
            </a:pPr>
            <a:r>
              <a:rPr lang="en-US" sz="1600" dirty="0"/>
              <a:t>    void </a:t>
            </a:r>
            <a:r>
              <a:rPr lang="en-US" sz="1600" dirty="0" err="1"/>
              <a:t>inputStudent</a:t>
            </a:r>
            <a:r>
              <a:rPr lang="en-US" sz="1600" dirty="0"/>
              <a:t>()</a:t>
            </a:r>
          </a:p>
          <a:p>
            <a:pPr>
              <a:spcBef>
                <a:spcPts val="0"/>
              </a:spcBef>
            </a:pPr>
            <a:r>
              <a:rPr lang="en-US" sz="1600" dirty="0"/>
              <a:t>    {</a:t>
            </a:r>
          </a:p>
          <a:p>
            <a:pPr>
              <a:spcBef>
                <a:spcPts val="0"/>
              </a:spcBef>
            </a:pPr>
            <a:r>
              <a:rPr lang="en-US" sz="1600" dirty="0"/>
              <a:t>        </a:t>
            </a:r>
            <a:r>
              <a:rPr lang="en-US" sz="1600" dirty="0" err="1"/>
              <a:t>cout</a:t>
            </a:r>
            <a:r>
              <a:rPr lang="en-US" sz="1600" dirty="0"/>
              <a:t> &lt;&lt; "Enter Student Name: ";</a:t>
            </a:r>
          </a:p>
          <a:p>
            <a:pPr>
              <a:spcBef>
                <a:spcPts val="0"/>
              </a:spcBef>
            </a:pPr>
            <a:r>
              <a:rPr lang="en-US" sz="1600" dirty="0"/>
              <a:t>        </a:t>
            </a:r>
            <a:r>
              <a:rPr lang="en-US" sz="1600" dirty="0" err="1"/>
              <a:t>getline</a:t>
            </a:r>
            <a:r>
              <a:rPr lang="en-US" sz="1600" dirty="0"/>
              <a:t>(</a:t>
            </a:r>
            <a:r>
              <a:rPr lang="en-US" sz="1600" dirty="0" err="1"/>
              <a:t>cin</a:t>
            </a:r>
            <a:r>
              <a:rPr lang="en-US" sz="1600" dirty="0"/>
              <a:t>, name);</a:t>
            </a:r>
          </a:p>
          <a:p>
            <a:pPr>
              <a:spcBef>
                <a:spcPts val="0"/>
              </a:spcBef>
            </a:pPr>
            <a:endParaRPr lang="en-US" sz="1600" dirty="0"/>
          </a:p>
          <a:p>
            <a:pPr>
              <a:spcBef>
                <a:spcPts val="0"/>
              </a:spcBef>
            </a:pPr>
            <a:r>
              <a:rPr lang="en-US" sz="1600" dirty="0"/>
              <a:t>        </a:t>
            </a:r>
            <a:r>
              <a:rPr lang="en-US" sz="1600" dirty="0" err="1"/>
              <a:t>cout</a:t>
            </a:r>
            <a:r>
              <a:rPr lang="en-US" sz="1600" dirty="0"/>
              <a:t> &lt;&lt; "Enter Student ID: ";</a:t>
            </a:r>
          </a:p>
          <a:p>
            <a:pPr>
              <a:spcBef>
                <a:spcPts val="0"/>
              </a:spcBef>
            </a:pPr>
            <a:r>
              <a:rPr lang="en-US" sz="1600" dirty="0"/>
              <a:t>        </a:t>
            </a:r>
            <a:r>
              <a:rPr lang="en-US" sz="1600" dirty="0" err="1"/>
              <a:t>getline</a:t>
            </a:r>
            <a:r>
              <a:rPr lang="en-US" sz="1600" dirty="0"/>
              <a:t>(</a:t>
            </a:r>
            <a:r>
              <a:rPr lang="en-US" sz="1600" dirty="0" err="1"/>
              <a:t>cin</a:t>
            </a:r>
            <a:r>
              <a:rPr lang="en-US" sz="1600" dirty="0"/>
              <a:t>, id);</a:t>
            </a:r>
          </a:p>
          <a:p>
            <a:pPr>
              <a:spcBef>
                <a:spcPts val="0"/>
              </a:spcBef>
            </a:pPr>
            <a:r>
              <a:rPr lang="en-US" sz="1600" dirty="0"/>
              <a:t>    }</a:t>
            </a:r>
          </a:p>
          <a:p>
            <a:pPr>
              <a:spcBef>
                <a:spcPts val="0"/>
              </a:spcBef>
            </a:pPr>
            <a:endParaRPr lang="en-US" sz="1600" dirty="0"/>
          </a:p>
          <a:p>
            <a:pPr>
              <a:spcBef>
                <a:spcPts val="0"/>
              </a:spcBef>
            </a:pPr>
            <a:r>
              <a:rPr lang="en-US" sz="1600" dirty="0"/>
              <a:t>    // Function to display student information</a:t>
            </a:r>
          </a:p>
          <a:p>
            <a:pPr>
              <a:spcBef>
                <a:spcPts val="0"/>
              </a:spcBef>
            </a:pPr>
            <a:r>
              <a:rPr lang="en-US" sz="1600" dirty="0"/>
              <a:t>    void </a:t>
            </a:r>
            <a:r>
              <a:rPr lang="en-US" sz="1600" dirty="0" err="1"/>
              <a:t>displayStudent</a:t>
            </a:r>
            <a:r>
              <a:rPr lang="en-US" sz="1600" dirty="0"/>
              <a:t>()</a:t>
            </a:r>
          </a:p>
          <a:p>
            <a:pPr>
              <a:spcBef>
                <a:spcPts val="0"/>
              </a:spcBef>
            </a:pPr>
            <a:r>
              <a:rPr lang="en-US" sz="1600" dirty="0"/>
              <a:t>    {</a:t>
            </a:r>
          </a:p>
          <a:p>
            <a:pPr>
              <a:spcBef>
                <a:spcPts val="0"/>
              </a:spcBef>
            </a:pPr>
            <a:r>
              <a:rPr lang="en-US" sz="1600" dirty="0"/>
              <a:t>        </a:t>
            </a:r>
            <a:r>
              <a:rPr lang="en-US" sz="1600" dirty="0" err="1"/>
              <a:t>cout</a:t>
            </a:r>
            <a:r>
              <a:rPr lang="en-US" sz="1600" dirty="0"/>
              <a:t> &lt;&lt; "\</a:t>
            </a:r>
            <a:r>
              <a:rPr lang="en-US" sz="1600" dirty="0" err="1"/>
              <a:t>nStudent</a:t>
            </a:r>
            <a:r>
              <a:rPr lang="en-US" sz="1600" dirty="0"/>
              <a:t> Information" &lt;&lt; </a:t>
            </a:r>
            <a:r>
              <a:rPr lang="en-US" sz="1600" dirty="0" err="1"/>
              <a:t>endl</a:t>
            </a:r>
            <a:r>
              <a:rPr lang="en-US" sz="1600" dirty="0"/>
              <a:t>;</a:t>
            </a:r>
          </a:p>
          <a:p>
            <a:pPr>
              <a:spcBef>
                <a:spcPts val="0"/>
              </a:spcBef>
            </a:pPr>
            <a:r>
              <a:rPr lang="en-US" sz="1600" dirty="0"/>
              <a:t>        </a:t>
            </a:r>
            <a:r>
              <a:rPr lang="en-US" sz="1600" dirty="0" err="1"/>
              <a:t>cout</a:t>
            </a:r>
            <a:r>
              <a:rPr lang="en-US" sz="1600" dirty="0"/>
              <a:t> &lt;&lt; "-------------------" &lt;&lt; </a:t>
            </a:r>
            <a:r>
              <a:rPr lang="en-US" sz="1600" dirty="0" err="1"/>
              <a:t>endl</a:t>
            </a:r>
            <a:r>
              <a:rPr lang="en-US" sz="1600" dirty="0"/>
              <a:t>;</a:t>
            </a:r>
          </a:p>
          <a:p>
            <a:pPr>
              <a:spcBef>
                <a:spcPts val="0"/>
              </a:spcBef>
            </a:pPr>
            <a:r>
              <a:rPr lang="en-US" sz="1600" dirty="0"/>
              <a:t>        </a:t>
            </a:r>
            <a:r>
              <a:rPr lang="en-US" sz="1600" dirty="0" err="1"/>
              <a:t>cout</a:t>
            </a:r>
            <a:r>
              <a:rPr lang="en-US" sz="1600" dirty="0"/>
              <a:t> &lt;&lt; "Name : " &lt;&lt; name &lt;&lt; </a:t>
            </a:r>
            <a:r>
              <a:rPr lang="en-US" sz="1600" dirty="0" err="1"/>
              <a:t>endl</a:t>
            </a:r>
            <a:r>
              <a:rPr lang="en-US" sz="1600" dirty="0"/>
              <a:t>;</a:t>
            </a:r>
          </a:p>
          <a:p>
            <a:pPr>
              <a:spcBef>
                <a:spcPts val="0"/>
              </a:spcBef>
            </a:pPr>
            <a:r>
              <a:rPr lang="en-US" sz="1600" dirty="0"/>
              <a:t>        </a:t>
            </a:r>
            <a:r>
              <a:rPr lang="en-US" sz="1600" dirty="0" err="1"/>
              <a:t>cout</a:t>
            </a:r>
            <a:r>
              <a:rPr lang="en-US" sz="1600" dirty="0"/>
              <a:t> &lt;&lt; "ID   : " &lt;&lt; id &lt;&lt; </a:t>
            </a:r>
            <a:r>
              <a:rPr lang="en-US" sz="1600" dirty="0" err="1"/>
              <a:t>endl</a:t>
            </a:r>
            <a:r>
              <a:rPr lang="en-US" sz="1600" dirty="0"/>
              <a:t>;</a:t>
            </a:r>
          </a:p>
          <a:p>
            <a:pPr>
              <a:spcBef>
                <a:spcPts val="0"/>
              </a:spcBef>
            </a:pPr>
            <a:r>
              <a:rPr lang="en-US" sz="1600" dirty="0"/>
              <a:t>    }</a:t>
            </a:r>
          </a:p>
          <a:p>
            <a:pPr>
              <a:spcBef>
                <a:spcPts val="0"/>
              </a:spcBef>
            </a:pPr>
            <a:endParaRPr lang="en-US" sz="1600" dirty="0"/>
          </a:p>
          <a:p>
            <a:pPr>
              <a:spcBef>
                <a:spcPts val="0"/>
              </a:spcBef>
            </a:pPr>
            <a:r>
              <a:rPr lang="en-US" sz="1600" dirty="0"/>
              <a:t>    // Function to save student information to a text file</a:t>
            </a:r>
          </a:p>
          <a:p>
            <a:pPr>
              <a:spcBef>
                <a:spcPts val="0"/>
              </a:spcBef>
            </a:pPr>
            <a:r>
              <a:rPr lang="en-US" sz="1600" dirty="0"/>
              <a:t>    void </a:t>
            </a:r>
            <a:r>
              <a:rPr lang="en-US" sz="1600" dirty="0" err="1"/>
              <a:t>saveToFile</a:t>
            </a:r>
            <a:r>
              <a:rPr lang="en-US" sz="1600" dirty="0"/>
              <a:t>()</a:t>
            </a:r>
          </a:p>
          <a:p>
            <a:pPr>
              <a:spcBef>
                <a:spcPts val="0"/>
              </a:spcBef>
            </a:pPr>
            <a:r>
              <a:rPr lang="en-US" sz="1600" dirty="0"/>
              <a:t>    {</a:t>
            </a:r>
          </a:p>
          <a:p>
            <a:pPr>
              <a:spcBef>
                <a:spcPts val="0"/>
              </a:spcBef>
            </a:pPr>
            <a:r>
              <a:rPr lang="en-US" sz="1600" dirty="0"/>
              <a:t>        </a:t>
            </a:r>
            <a:r>
              <a:rPr lang="en-US" sz="1600" dirty="0" err="1"/>
              <a:t>ofstream</a:t>
            </a:r>
            <a:r>
              <a:rPr lang="en-US" sz="1600" dirty="0"/>
              <a:t> file("students.txt", </a:t>
            </a:r>
            <a:r>
              <a:rPr lang="en-US" sz="1600" dirty="0" err="1"/>
              <a:t>ios</a:t>
            </a:r>
            <a:r>
              <a:rPr lang="en-US" sz="1600" dirty="0"/>
              <a:t>::app);</a:t>
            </a:r>
          </a:p>
          <a:p>
            <a:pPr>
              <a:spcBef>
                <a:spcPts val="0"/>
              </a:spcBef>
            </a:pPr>
            <a:endParaRPr lang="en-US" sz="1600" dirty="0"/>
          </a:p>
          <a:p>
            <a:pPr>
              <a:spcBef>
                <a:spcPts val="0"/>
              </a:spcBef>
            </a:pPr>
            <a:r>
              <a:rPr lang="en-US" sz="1600" dirty="0"/>
              <a:t>        if (!file)</a:t>
            </a:r>
          </a:p>
          <a:p>
            <a:pPr>
              <a:spcBef>
                <a:spcPts val="0"/>
              </a:spcBef>
            </a:pPr>
            <a:r>
              <a:rPr lang="en-US" sz="1600" dirty="0"/>
              <a:t>        {</a:t>
            </a:r>
          </a:p>
          <a:p>
            <a:pPr>
              <a:spcBef>
                <a:spcPts val="0"/>
              </a:spcBef>
            </a:pPr>
            <a:r>
              <a:rPr lang="en-US" sz="1600" dirty="0"/>
              <a:t>            </a:t>
            </a:r>
            <a:r>
              <a:rPr lang="en-US" sz="1600" dirty="0" err="1"/>
              <a:t>cout</a:t>
            </a:r>
            <a:r>
              <a:rPr lang="en-US" sz="1600" dirty="0"/>
              <a:t> &lt;&lt; "Error opening file!" &lt;&lt; </a:t>
            </a:r>
            <a:r>
              <a:rPr lang="en-US" sz="1600" dirty="0" err="1"/>
              <a:t>endl</a:t>
            </a:r>
            <a:r>
              <a:rPr lang="en-US" sz="1600" dirty="0"/>
              <a:t>;</a:t>
            </a:r>
          </a:p>
          <a:p>
            <a:pPr>
              <a:spcBef>
                <a:spcPts val="0"/>
              </a:spcBef>
            </a:pPr>
            <a:r>
              <a:rPr lang="en-US" sz="1600" dirty="0"/>
              <a:t>            return;</a:t>
            </a:r>
          </a:p>
          <a:p>
            <a:pPr>
              <a:spcBef>
                <a:spcPts val="0"/>
              </a:spcBef>
            </a:pPr>
            <a:r>
              <a:rPr lang="en-US" sz="1600" dirty="0"/>
              <a:t>        }</a:t>
            </a:r>
          </a:p>
          <a:p>
            <a:pPr>
              <a:spcBef>
                <a:spcPts val="0"/>
              </a:spcBef>
            </a:pPr>
            <a:endParaRPr lang="en-US" sz="1600" dirty="0"/>
          </a:p>
          <a:p>
            <a:pPr>
              <a:spcBef>
                <a:spcPts val="0"/>
              </a:spcBef>
            </a:pPr>
            <a:r>
              <a:rPr lang="en-US" sz="1600" dirty="0"/>
              <a:t>        file &lt;&lt; "Student Name: " &lt;&lt; name &lt;&lt; </a:t>
            </a:r>
            <a:r>
              <a:rPr lang="en-US" sz="1600" dirty="0" err="1"/>
              <a:t>endl</a:t>
            </a:r>
            <a:r>
              <a:rPr lang="en-US" sz="1600" dirty="0"/>
              <a:t>;</a:t>
            </a:r>
          </a:p>
          <a:p>
            <a:pPr>
              <a:spcBef>
                <a:spcPts val="0"/>
              </a:spcBef>
            </a:pPr>
            <a:r>
              <a:rPr lang="en-US" sz="1600" dirty="0"/>
              <a:t>        file &lt;&lt; "Student ID  : " &lt;&lt; id &lt;&lt; </a:t>
            </a:r>
            <a:r>
              <a:rPr lang="en-US" sz="1600" dirty="0" err="1"/>
              <a:t>endl</a:t>
            </a:r>
            <a:r>
              <a:rPr lang="en-US" sz="1600" dirty="0"/>
              <a:t>;</a:t>
            </a:r>
          </a:p>
          <a:p>
            <a:pPr>
              <a:spcBef>
                <a:spcPts val="0"/>
              </a:spcBef>
            </a:pPr>
            <a:r>
              <a:rPr lang="en-US" sz="1600" dirty="0"/>
              <a:t>        file &lt;&lt; "------------------------" &lt;&lt; </a:t>
            </a:r>
            <a:r>
              <a:rPr lang="en-US" sz="1600" dirty="0" err="1"/>
              <a:t>endl</a:t>
            </a:r>
            <a:r>
              <a:rPr lang="en-US" sz="1600" dirty="0"/>
              <a:t>;</a:t>
            </a:r>
          </a:p>
          <a:p>
            <a:pPr>
              <a:spcBef>
                <a:spcPts val="0"/>
              </a:spcBef>
            </a:pPr>
            <a:endParaRPr lang="en-US" sz="1600" dirty="0"/>
          </a:p>
          <a:p>
            <a:pPr>
              <a:spcBef>
                <a:spcPts val="0"/>
              </a:spcBef>
            </a:pPr>
            <a:r>
              <a:rPr lang="en-US" sz="1600" dirty="0"/>
              <a:t>        </a:t>
            </a:r>
            <a:r>
              <a:rPr lang="en-US" sz="1600" dirty="0" err="1"/>
              <a:t>file.close</a:t>
            </a:r>
            <a:r>
              <a:rPr lang="en-US" sz="1600" dirty="0"/>
              <a:t>();</a:t>
            </a:r>
          </a:p>
          <a:p>
            <a:pPr>
              <a:spcBef>
                <a:spcPts val="0"/>
              </a:spcBef>
            </a:pPr>
            <a:endParaRPr lang="en-US" sz="1600" dirty="0"/>
          </a:p>
          <a:p>
            <a:pPr>
              <a:spcBef>
                <a:spcPts val="0"/>
              </a:spcBef>
            </a:pPr>
            <a:r>
              <a:rPr lang="en-US" sz="1600" dirty="0"/>
              <a:t>        </a:t>
            </a:r>
            <a:r>
              <a:rPr lang="en-US" sz="1600" dirty="0" err="1"/>
              <a:t>cout</a:t>
            </a:r>
            <a:r>
              <a:rPr lang="en-US" sz="1600" dirty="0"/>
              <a:t> &lt;&lt; "\</a:t>
            </a:r>
            <a:r>
              <a:rPr lang="en-US" sz="1600" dirty="0" err="1"/>
              <a:t>nStudent</a:t>
            </a:r>
            <a:r>
              <a:rPr lang="en-US" sz="1600" dirty="0"/>
              <a:t> information has been saved successfully." &lt;&lt; </a:t>
            </a:r>
            <a:r>
              <a:rPr lang="en-US" sz="1600" dirty="0" err="1"/>
              <a:t>endl</a:t>
            </a:r>
            <a:r>
              <a:rPr lang="en-US" sz="1600" dirty="0"/>
              <a:t>;</a:t>
            </a:r>
          </a:p>
          <a:p>
            <a:pPr>
              <a:spcBef>
                <a:spcPts val="0"/>
              </a:spcBef>
            </a:pPr>
            <a:r>
              <a:rPr lang="en-US" sz="1600" dirty="0"/>
              <a:t>    }</a:t>
            </a:r>
          </a:p>
          <a:p>
            <a:pPr>
              <a:spcBef>
                <a:spcPts val="0"/>
              </a:spcBef>
            </a:pPr>
            <a:r>
              <a:rPr lang="en-US" sz="1600" dirty="0"/>
              <a:t>};</a:t>
            </a:r>
          </a:p>
          <a:p>
            <a:pPr>
              <a:spcBef>
                <a:spcPts val="0"/>
              </a:spcBef>
            </a:pPr>
            <a:endParaRPr lang="en-US" sz="1600" dirty="0"/>
          </a:p>
          <a:p>
            <a:pPr>
              <a:spcBef>
                <a:spcPts val="0"/>
              </a:spcBef>
            </a:pPr>
            <a:r>
              <a:rPr lang="en-US" sz="1600" dirty="0"/>
              <a:t>int main()</a:t>
            </a:r>
          </a:p>
          <a:p>
            <a:pPr>
              <a:spcBef>
                <a:spcPts val="0"/>
              </a:spcBef>
            </a:pPr>
            <a:r>
              <a:rPr lang="en-US" sz="1600" dirty="0"/>
              <a:t>{</a:t>
            </a:r>
          </a:p>
          <a:p>
            <a:pPr>
              <a:spcBef>
                <a:spcPts val="0"/>
              </a:spcBef>
            </a:pPr>
            <a:r>
              <a:rPr lang="en-US" sz="1600" dirty="0"/>
              <a:t>    Student s;</a:t>
            </a:r>
          </a:p>
          <a:p>
            <a:pPr>
              <a:spcBef>
                <a:spcPts val="0"/>
              </a:spcBef>
            </a:pPr>
            <a:endParaRPr lang="en-US" sz="1600" dirty="0"/>
          </a:p>
          <a:p>
            <a:pPr>
              <a:spcBef>
                <a:spcPts val="0"/>
              </a:spcBef>
            </a:pPr>
            <a:r>
              <a:rPr lang="en-US" sz="1600" dirty="0"/>
              <a:t>    </a:t>
            </a:r>
            <a:r>
              <a:rPr lang="en-US" sz="1600" dirty="0" err="1"/>
              <a:t>s.inputStudent</a:t>
            </a:r>
            <a:r>
              <a:rPr lang="en-US" sz="1600" dirty="0"/>
              <a:t>();</a:t>
            </a:r>
          </a:p>
          <a:p>
            <a:pPr>
              <a:spcBef>
                <a:spcPts val="0"/>
              </a:spcBef>
            </a:pPr>
            <a:r>
              <a:rPr lang="en-US" sz="1600" dirty="0"/>
              <a:t>    </a:t>
            </a:r>
            <a:r>
              <a:rPr lang="en-US" sz="1600" dirty="0" err="1"/>
              <a:t>s.displayStudent</a:t>
            </a:r>
            <a:r>
              <a:rPr lang="en-US" sz="1600" dirty="0"/>
              <a:t>();</a:t>
            </a:r>
          </a:p>
          <a:p>
            <a:pPr>
              <a:spcBef>
                <a:spcPts val="0"/>
              </a:spcBef>
            </a:pPr>
            <a:r>
              <a:rPr lang="en-US" sz="1600" dirty="0"/>
              <a:t>    </a:t>
            </a:r>
            <a:r>
              <a:rPr lang="en-US" sz="1600" dirty="0" err="1"/>
              <a:t>s.saveToFile</a:t>
            </a:r>
            <a:r>
              <a:rPr lang="en-US" sz="1600" dirty="0"/>
              <a:t>();</a:t>
            </a:r>
          </a:p>
          <a:p>
            <a:pPr>
              <a:spcBef>
                <a:spcPts val="0"/>
              </a:spcBef>
            </a:pPr>
            <a:r>
              <a:rPr lang="en-US" sz="1600" dirty="0"/>
              <a:t>    </a:t>
            </a:r>
            <a:r>
              <a:rPr lang="en-US" sz="1600" dirty="0" err="1"/>
              <a:t>cout</a:t>
            </a:r>
            <a:r>
              <a:rPr lang="en-US" sz="1600" dirty="0"/>
              <a:t> &lt;&lt; "\</a:t>
            </a:r>
            <a:r>
              <a:rPr lang="en-US" sz="1600" dirty="0" err="1"/>
              <a:t>nContents</a:t>
            </a:r>
            <a:r>
              <a:rPr lang="en-US" sz="1600" dirty="0"/>
              <a:t> of the file:\n" &lt;&lt; </a:t>
            </a:r>
            <a:r>
              <a:rPr lang="en-US" sz="1600" dirty="0" err="1"/>
              <a:t>endl</a:t>
            </a:r>
            <a:r>
              <a:rPr lang="en-US" sz="1600" dirty="0"/>
              <a:t>;</a:t>
            </a:r>
          </a:p>
          <a:p>
            <a:pPr>
              <a:spcBef>
                <a:spcPts val="0"/>
              </a:spcBef>
            </a:pPr>
            <a:endParaRPr lang="en-US" sz="1600" dirty="0"/>
          </a:p>
          <a:p>
            <a:pPr>
              <a:spcBef>
                <a:spcPts val="0"/>
              </a:spcBef>
            </a:pPr>
            <a:r>
              <a:rPr lang="en-US" sz="1600" dirty="0"/>
              <a:t>    </a:t>
            </a:r>
            <a:r>
              <a:rPr lang="en-US" sz="1600" dirty="0" err="1"/>
              <a:t>ifstream</a:t>
            </a:r>
            <a:r>
              <a:rPr lang="en-US" sz="1600" dirty="0"/>
              <a:t> </a:t>
            </a:r>
            <a:r>
              <a:rPr lang="en-US" sz="1600" dirty="0" err="1"/>
              <a:t>infile</a:t>
            </a:r>
            <a:r>
              <a:rPr lang="en-US" sz="1600" dirty="0"/>
              <a:t>("students.txt");</a:t>
            </a:r>
          </a:p>
          <a:p>
            <a:pPr>
              <a:spcBef>
                <a:spcPts val="0"/>
              </a:spcBef>
            </a:pPr>
            <a:endParaRPr lang="en-US" sz="1600" dirty="0"/>
          </a:p>
          <a:p>
            <a:pPr>
              <a:spcBef>
                <a:spcPts val="0"/>
              </a:spcBef>
            </a:pPr>
            <a:r>
              <a:rPr lang="en-US" sz="1600" dirty="0"/>
              <a:t>    if (!</a:t>
            </a:r>
            <a:r>
              <a:rPr lang="en-US" sz="1600" dirty="0" err="1"/>
              <a:t>infile</a:t>
            </a:r>
            <a:r>
              <a:rPr lang="en-US" sz="1600" dirty="0"/>
              <a:t>)</a:t>
            </a:r>
          </a:p>
          <a:p>
            <a:pPr>
              <a:spcBef>
                <a:spcPts val="0"/>
              </a:spcBef>
            </a:pPr>
            <a:r>
              <a:rPr lang="en-US" sz="1600" dirty="0"/>
              <a:t>    {</a:t>
            </a:r>
          </a:p>
          <a:p>
            <a:pPr>
              <a:spcBef>
                <a:spcPts val="0"/>
              </a:spcBef>
            </a:pPr>
            <a:r>
              <a:rPr lang="en-US" sz="1600" dirty="0"/>
              <a:t>        </a:t>
            </a:r>
            <a:r>
              <a:rPr lang="en-US" sz="1600" dirty="0" err="1"/>
              <a:t>cout</a:t>
            </a:r>
            <a:r>
              <a:rPr lang="en-US" sz="1600" dirty="0"/>
              <a:t> &lt;&lt; "Cannot open file." &lt;&lt; </a:t>
            </a:r>
            <a:r>
              <a:rPr lang="en-US" sz="1600" dirty="0" err="1"/>
              <a:t>endl</a:t>
            </a:r>
            <a:r>
              <a:rPr lang="en-US" sz="1600" dirty="0"/>
              <a:t>;</a:t>
            </a:r>
          </a:p>
          <a:p>
            <a:pPr>
              <a:spcBef>
                <a:spcPts val="0"/>
              </a:spcBef>
            </a:pPr>
            <a:r>
              <a:rPr lang="en-US" sz="1600" dirty="0"/>
              <a:t>        return 0;</a:t>
            </a:r>
          </a:p>
          <a:p>
            <a:pPr>
              <a:spcBef>
                <a:spcPts val="0"/>
              </a:spcBef>
            </a:pPr>
            <a:r>
              <a:rPr lang="en-US" sz="1600" dirty="0"/>
              <a:t>    }</a:t>
            </a:r>
          </a:p>
          <a:p>
            <a:pPr>
              <a:spcBef>
                <a:spcPts val="0"/>
              </a:spcBef>
            </a:pPr>
            <a:endParaRPr lang="en-US" sz="1600" dirty="0"/>
          </a:p>
          <a:p>
            <a:pPr>
              <a:spcBef>
                <a:spcPts val="0"/>
              </a:spcBef>
            </a:pPr>
            <a:r>
              <a:rPr lang="en-US" sz="1600" dirty="0"/>
              <a:t>    string line;</a:t>
            </a:r>
          </a:p>
          <a:p>
            <a:pPr>
              <a:spcBef>
                <a:spcPts val="0"/>
              </a:spcBef>
            </a:pPr>
            <a:r>
              <a:rPr lang="en-US" sz="1600" dirty="0"/>
              <a:t>    while (</a:t>
            </a:r>
            <a:r>
              <a:rPr lang="en-US" sz="1600" dirty="0" err="1"/>
              <a:t>getline</a:t>
            </a:r>
            <a:r>
              <a:rPr lang="en-US" sz="1600" dirty="0"/>
              <a:t>(</a:t>
            </a:r>
            <a:r>
              <a:rPr lang="en-US" sz="1600" dirty="0" err="1"/>
              <a:t>infile</a:t>
            </a:r>
            <a:r>
              <a:rPr lang="en-US" sz="1600" dirty="0"/>
              <a:t>, line))</a:t>
            </a:r>
          </a:p>
          <a:p>
            <a:pPr>
              <a:spcBef>
                <a:spcPts val="0"/>
              </a:spcBef>
            </a:pPr>
            <a:r>
              <a:rPr lang="en-US" sz="1600" dirty="0"/>
              <a:t>    {</a:t>
            </a:r>
          </a:p>
          <a:p>
            <a:pPr>
              <a:spcBef>
                <a:spcPts val="0"/>
              </a:spcBef>
            </a:pPr>
            <a:r>
              <a:rPr lang="en-US" sz="1600" dirty="0"/>
              <a:t>        </a:t>
            </a:r>
            <a:r>
              <a:rPr lang="en-US" sz="1600" dirty="0" err="1"/>
              <a:t>cout</a:t>
            </a:r>
            <a:r>
              <a:rPr lang="en-US" sz="1600" dirty="0"/>
              <a:t> &lt;&lt; line &lt;&lt; </a:t>
            </a:r>
            <a:r>
              <a:rPr lang="en-US" sz="1600" dirty="0" err="1"/>
              <a:t>endl</a:t>
            </a:r>
            <a:r>
              <a:rPr lang="en-US" sz="1600" dirty="0"/>
              <a:t>;</a:t>
            </a:r>
          </a:p>
          <a:p>
            <a:r>
              <a:rPr lang="en-US" sz="1600" dirty="0"/>
              <a:t>    }</a:t>
            </a:r>
          </a:p>
          <a:p>
            <a:r>
              <a:rPr lang="en-US" sz="1600" dirty="0"/>
              <a:t>    </a:t>
            </a:r>
            <a:r>
              <a:rPr lang="en-US" sz="1600" dirty="0" err="1"/>
              <a:t>infile.close</a:t>
            </a:r>
            <a:r>
              <a:rPr lang="en-US" sz="1600" dirty="0"/>
              <a:t>();</a:t>
            </a:r>
          </a:p>
          <a:p>
            <a:r>
              <a:rPr lang="en-US" sz="1600" dirty="0"/>
              <a:t>    return 0;</a:t>
            </a:r>
          </a:p>
          <a:p>
            <a:r>
              <a:rPr lang="en-US" sz="1600" dirty="0"/>
              <a:t>}</a:t>
            </a:r>
          </a:p>
        </p:txBody>
      </p:sp>
    </p:spTree>
    <p:extLst>
      <p:ext uri="{BB962C8B-B14F-4D97-AF65-F5344CB8AC3E}">
        <p14:creationId xmlns:p14="http://schemas.microsoft.com/office/powerpoint/2010/main" val="1295093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768600"/>
            <a:ext cx="8596668" cy="1320800"/>
          </a:xfrm>
        </p:spPr>
        <p:txBody>
          <a:bodyPr/>
          <a:lstStyle/>
          <a:p>
            <a:r>
              <a:rPr lang="en-US" dirty="0"/>
              <a:t>More Coding from the lab</a:t>
            </a:r>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4143645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C++ Standard Template Library (STL)</a:t>
            </a:r>
            <a:br>
              <a:rPr lang="en-US" b="1" dirty="0"/>
            </a:br>
            <a:endParaRPr lang="en-US" dirty="0"/>
          </a:p>
        </p:txBody>
      </p:sp>
      <p:sp>
        <p:nvSpPr>
          <p:cNvPr id="3" name="Content Placeholder 2"/>
          <p:cNvSpPr>
            <a:spLocks noGrp="1"/>
          </p:cNvSpPr>
          <p:nvPr>
            <p:ph idx="1"/>
          </p:nvPr>
        </p:nvSpPr>
        <p:spPr/>
        <p:txBody>
          <a:bodyPr/>
          <a:lstStyle/>
          <a:p>
            <a:r>
              <a:rPr lang="en-US" dirty="0"/>
              <a:t>The Standard Template Library (STL) is a set of C++ template classes to provide common programming data structures and functions such as lists, stacks, arrays, etc. It is a library of container classes, algorithms, and iterators. It is a generalized library and so, its components are parameterized. Working knowledge of </a:t>
            </a:r>
            <a:r>
              <a:rPr lang="en-US" u="sng" dirty="0">
                <a:hlinkClick r:id="rId2"/>
              </a:rPr>
              <a:t>template classes</a:t>
            </a:r>
            <a:r>
              <a:rPr lang="en-US" dirty="0"/>
              <a:t> is a prerequisite for working with STL.</a:t>
            </a:r>
          </a:p>
          <a:p>
            <a:endParaRPr lang="en-US" dirty="0"/>
          </a:p>
        </p:txBody>
      </p:sp>
    </p:spTree>
    <p:extLst>
      <p:ext uri="{BB962C8B-B14F-4D97-AF65-F5344CB8AC3E}">
        <p14:creationId xmlns:p14="http://schemas.microsoft.com/office/powerpoint/2010/main" val="2669432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Template Classes</a:t>
            </a:r>
          </a:p>
        </p:txBody>
      </p:sp>
      <p:sp>
        <p:nvSpPr>
          <p:cNvPr id="3" name="Content Placeholder 2"/>
          <p:cNvSpPr>
            <a:spLocks noGrp="1"/>
          </p:cNvSpPr>
          <p:nvPr>
            <p:ph idx="1"/>
          </p:nvPr>
        </p:nvSpPr>
        <p:spPr/>
        <p:txBody>
          <a:bodyPr/>
          <a:lstStyle/>
          <a:p>
            <a:r>
              <a:rPr lang="en-US" dirty="0"/>
              <a:t>A </a:t>
            </a:r>
            <a:r>
              <a:rPr lang="en-US" b="1" dirty="0"/>
              <a:t>template</a:t>
            </a:r>
            <a:r>
              <a:rPr lang="en-US" dirty="0"/>
              <a:t> is a simple yet very powerful tool in C++. The simple idea is to pass the data type as a parameter so that we don’t need to write the same code for different data types</a:t>
            </a:r>
          </a:p>
          <a:p>
            <a:r>
              <a:rPr lang="en-US" dirty="0"/>
              <a:t>Two types of templates</a:t>
            </a:r>
          </a:p>
          <a:p>
            <a:r>
              <a:rPr lang="en-US" dirty="0"/>
              <a:t>Function template</a:t>
            </a:r>
          </a:p>
          <a:p>
            <a:r>
              <a:rPr lang="en-US" dirty="0"/>
              <a:t>Class template</a:t>
            </a:r>
          </a:p>
        </p:txBody>
      </p:sp>
    </p:spTree>
    <p:extLst>
      <p:ext uri="{BB962C8B-B14F-4D97-AF65-F5344CB8AC3E}">
        <p14:creationId xmlns:p14="http://schemas.microsoft.com/office/powerpoint/2010/main" val="2949946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757" y="0"/>
            <a:ext cx="8596668" cy="654424"/>
          </a:xfrm>
        </p:spPr>
        <p:txBody>
          <a:bodyPr/>
          <a:lstStyle/>
          <a:p>
            <a:r>
              <a:rPr lang="en-US" dirty="0"/>
              <a:t>Function template </a:t>
            </a:r>
          </a:p>
        </p:txBody>
      </p:sp>
      <p:sp>
        <p:nvSpPr>
          <p:cNvPr id="3" name="Content Placeholder 2"/>
          <p:cNvSpPr>
            <a:spLocks noGrp="1"/>
          </p:cNvSpPr>
          <p:nvPr>
            <p:ph idx="1"/>
          </p:nvPr>
        </p:nvSpPr>
        <p:spPr>
          <a:xfrm>
            <a:off x="677334" y="1775012"/>
            <a:ext cx="4795620" cy="5082987"/>
          </a:xfrm>
        </p:spPr>
        <p:txBody>
          <a:bodyPr>
            <a:normAutofit fontScale="70000" lnSpcReduction="20000"/>
          </a:bodyPr>
          <a:lstStyle/>
          <a:p>
            <a:pPr marL="0" indent="0">
              <a:buNone/>
            </a:pPr>
            <a:r>
              <a:rPr lang="en-US" sz="2900" b="1" dirty="0"/>
              <a:t>// C++ Program to demonstrate</a:t>
            </a:r>
          </a:p>
          <a:p>
            <a:pPr marL="0" indent="0">
              <a:buNone/>
            </a:pPr>
            <a:r>
              <a:rPr lang="en-US" sz="2900" b="1" dirty="0"/>
              <a:t>// Use of template</a:t>
            </a:r>
          </a:p>
          <a:p>
            <a:pPr marL="0" indent="0">
              <a:buNone/>
            </a:pPr>
            <a:r>
              <a:rPr lang="en-US" sz="2900" b="1" dirty="0"/>
              <a:t>#include &lt;</a:t>
            </a:r>
            <a:r>
              <a:rPr lang="en-US" sz="2900" b="1" dirty="0" err="1"/>
              <a:t>iostream</a:t>
            </a:r>
            <a:r>
              <a:rPr lang="en-US" sz="2900" b="1" dirty="0"/>
              <a:t>&gt;</a:t>
            </a:r>
          </a:p>
          <a:p>
            <a:pPr marL="0" indent="0">
              <a:buNone/>
            </a:pPr>
            <a:r>
              <a:rPr lang="en-US" sz="2900" b="1" dirty="0"/>
              <a:t>using namespace </a:t>
            </a:r>
            <a:r>
              <a:rPr lang="en-US" sz="2900" b="1" dirty="0" err="1"/>
              <a:t>std</a:t>
            </a:r>
            <a:r>
              <a:rPr lang="en-US" sz="2900" b="1" dirty="0"/>
              <a:t>;</a:t>
            </a:r>
          </a:p>
          <a:p>
            <a:endParaRPr lang="en-US" sz="2900" b="1" dirty="0"/>
          </a:p>
          <a:p>
            <a:pPr marL="0" indent="0">
              <a:buNone/>
            </a:pPr>
            <a:r>
              <a:rPr lang="en-US" sz="2900" b="1" dirty="0"/>
              <a:t>// One function works for all data types. This would work</a:t>
            </a:r>
          </a:p>
          <a:p>
            <a:pPr marL="0" indent="0">
              <a:buNone/>
            </a:pPr>
            <a:r>
              <a:rPr lang="en-US" sz="2900" b="1" dirty="0"/>
              <a:t>// even for user defined types if operator '&gt;' is overloaded</a:t>
            </a:r>
          </a:p>
          <a:p>
            <a:pPr marL="0" indent="0">
              <a:buNone/>
            </a:pPr>
            <a:r>
              <a:rPr lang="en-US" sz="2900" b="1" dirty="0"/>
              <a:t>template &lt;</a:t>
            </a:r>
            <a:r>
              <a:rPr lang="en-US" sz="2900" b="1" dirty="0" err="1"/>
              <a:t>typename</a:t>
            </a:r>
            <a:r>
              <a:rPr lang="en-US" sz="2900" b="1" dirty="0"/>
              <a:t> T&gt; </a:t>
            </a:r>
          </a:p>
          <a:p>
            <a:pPr marL="0" indent="0">
              <a:buNone/>
            </a:pPr>
            <a:r>
              <a:rPr lang="en-US" sz="2900" b="1" dirty="0"/>
              <a:t>T </a:t>
            </a:r>
            <a:r>
              <a:rPr lang="en-US" sz="2900" b="1" dirty="0" err="1"/>
              <a:t>myMax</a:t>
            </a:r>
            <a:r>
              <a:rPr lang="en-US" sz="2900" b="1" dirty="0"/>
              <a:t>(T x, T y)</a:t>
            </a:r>
          </a:p>
          <a:p>
            <a:pPr marL="0" indent="0">
              <a:buNone/>
            </a:pPr>
            <a:r>
              <a:rPr lang="en-US" sz="2900" b="1" dirty="0"/>
              <a:t>{</a:t>
            </a:r>
          </a:p>
          <a:p>
            <a:pPr marL="0" indent="0">
              <a:buNone/>
            </a:pPr>
            <a:r>
              <a:rPr lang="en-US" sz="2900" b="1" dirty="0"/>
              <a:t>	return (x &gt; y) ? x : y;</a:t>
            </a:r>
          </a:p>
          <a:p>
            <a:pPr marL="0" indent="0">
              <a:buNone/>
            </a:pPr>
            <a:r>
              <a:rPr lang="en-US" sz="2900" b="1" dirty="0"/>
              <a:t>}</a:t>
            </a:r>
          </a:p>
          <a:p>
            <a:endParaRPr lang="en-US" sz="4000" b="1" dirty="0"/>
          </a:p>
          <a:p>
            <a:endParaRPr lang="en-US" dirty="0"/>
          </a:p>
        </p:txBody>
      </p:sp>
      <p:sp>
        <p:nvSpPr>
          <p:cNvPr id="4" name="TextBox 3"/>
          <p:cNvSpPr txBox="1"/>
          <p:nvPr/>
        </p:nvSpPr>
        <p:spPr>
          <a:xfrm>
            <a:off x="6777318" y="1667435"/>
            <a:ext cx="5082988" cy="3970318"/>
          </a:xfrm>
          <a:prstGeom prst="rect">
            <a:avLst/>
          </a:prstGeom>
          <a:noFill/>
        </p:spPr>
        <p:txBody>
          <a:bodyPr wrap="square" rtlCol="0">
            <a:spAutoFit/>
          </a:bodyPr>
          <a:lstStyle/>
          <a:p>
            <a:r>
              <a:rPr lang="en-US" b="1" dirty="0" err="1"/>
              <a:t>int</a:t>
            </a:r>
            <a:r>
              <a:rPr lang="en-US" b="1" dirty="0"/>
              <a:t> main()</a:t>
            </a:r>
          </a:p>
          <a:p>
            <a:r>
              <a:rPr lang="en-US" b="1" dirty="0"/>
              <a:t>{</a:t>
            </a:r>
          </a:p>
          <a:p>
            <a:r>
              <a:rPr lang="en-US" b="1" dirty="0"/>
              <a:t>	// Call </a:t>
            </a:r>
            <a:r>
              <a:rPr lang="en-US" b="1" dirty="0" err="1"/>
              <a:t>myMax</a:t>
            </a:r>
            <a:r>
              <a:rPr lang="en-US" b="1" dirty="0"/>
              <a:t> for </a:t>
            </a:r>
            <a:r>
              <a:rPr lang="en-US" b="1" dirty="0" err="1"/>
              <a:t>int</a:t>
            </a:r>
            <a:endParaRPr lang="en-US" b="1" dirty="0"/>
          </a:p>
          <a:p>
            <a:r>
              <a:rPr lang="en-US" b="1" dirty="0"/>
              <a:t>	</a:t>
            </a:r>
            <a:r>
              <a:rPr lang="en-US" b="1" dirty="0" err="1"/>
              <a:t>cout</a:t>
            </a:r>
            <a:r>
              <a:rPr lang="en-US" b="1" dirty="0"/>
              <a:t> &lt;&lt; </a:t>
            </a:r>
            <a:r>
              <a:rPr lang="en-US" b="1" dirty="0" err="1"/>
              <a:t>myMax</a:t>
            </a:r>
            <a:r>
              <a:rPr lang="en-US" b="1" dirty="0"/>
              <a:t>&lt;</a:t>
            </a:r>
            <a:r>
              <a:rPr lang="en-US" b="1" dirty="0" err="1"/>
              <a:t>int</a:t>
            </a:r>
            <a:r>
              <a:rPr lang="en-US" b="1" dirty="0"/>
              <a:t>&gt;(3, 7) &lt;&lt; </a:t>
            </a:r>
            <a:r>
              <a:rPr lang="en-US" b="1" dirty="0" err="1"/>
              <a:t>endl</a:t>
            </a:r>
            <a:r>
              <a:rPr lang="en-US" b="1" dirty="0"/>
              <a:t>;</a:t>
            </a:r>
          </a:p>
          <a:p>
            <a:r>
              <a:rPr lang="en-US" b="1" dirty="0"/>
              <a:t>	// call </a:t>
            </a:r>
            <a:r>
              <a:rPr lang="en-US" b="1" dirty="0" err="1"/>
              <a:t>myMax</a:t>
            </a:r>
            <a:r>
              <a:rPr lang="en-US" b="1" dirty="0"/>
              <a:t> for double</a:t>
            </a:r>
          </a:p>
          <a:p>
            <a:r>
              <a:rPr lang="en-US" b="1" dirty="0"/>
              <a:t>	</a:t>
            </a:r>
            <a:r>
              <a:rPr lang="en-US" b="1" dirty="0" err="1"/>
              <a:t>cout</a:t>
            </a:r>
            <a:r>
              <a:rPr lang="en-US" b="1" dirty="0"/>
              <a:t> &lt;&lt; </a:t>
            </a:r>
            <a:r>
              <a:rPr lang="en-US" b="1" dirty="0" err="1"/>
              <a:t>myMax</a:t>
            </a:r>
            <a:r>
              <a:rPr lang="en-US" b="1" dirty="0"/>
              <a:t>&lt;double&gt;(3.0, 7.0) &lt;&lt; </a:t>
            </a:r>
            <a:r>
              <a:rPr lang="en-US" b="1" dirty="0" err="1"/>
              <a:t>endl</a:t>
            </a:r>
            <a:r>
              <a:rPr lang="en-US" b="1" dirty="0"/>
              <a:t>;</a:t>
            </a:r>
          </a:p>
          <a:p>
            <a:r>
              <a:rPr lang="en-US" b="1" dirty="0"/>
              <a:t>	// call </a:t>
            </a:r>
            <a:r>
              <a:rPr lang="en-US" b="1" dirty="0" err="1"/>
              <a:t>myMax</a:t>
            </a:r>
            <a:r>
              <a:rPr lang="en-US" b="1" dirty="0"/>
              <a:t> for char</a:t>
            </a:r>
          </a:p>
          <a:p>
            <a:r>
              <a:rPr lang="en-US" b="1" dirty="0"/>
              <a:t>	</a:t>
            </a:r>
            <a:r>
              <a:rPr lang="en-US" b="1" dirty="0" err="1"/>
              <a:t>cout</a:t>
            </a:r>
            <a:r>
              <a:rPr lang="en-US" b="1" dirty="0"/>
              <a:t> &lt;&lt; </a:t>
            </a:r>
            <a:r>
              <a:rPr lang="en-US" b="1" dirty="0" err="1"/>
              <a:t>myMax</a:t>
            </a:r>
            <a:r>
              <a:rPr lang="en-US" b="1" dirty="0"/>
              <a:t>&lt;char&gt;('g', 'e') &lt;&lt; </a:t>
            </a:r>
            <a:r>
              <a:rPr lang="en-US" b="1" dirty="0" err="1"/>
              <a:t>endl</a:t>
            </a:r>
            <a:r>
              <a:rPr lang="en-US" b="1" dirty="0"/>
              <a:t>;</a:t>
            </a:r>
          </a:p>
          <a:p>
            <a:endParaRPr lang="en-US" b="1" dirty="0"/>
          </a:p>
          <a:p>
            <a:r>
              <a:rPr lang="en-US" b="1" dirty="0"/>
              <a:t>	return 0;</a:t>
            </a:r>
          </a:p>
          <a:p>
            <a:r>
              <a:rPr lang="en-US" b="1" dirty="0"/>
              <a:t>}</a:t>
            </a:r>
          </a:p>
          <a:p>
            <a:endParaRPr lang="en-US" dirty="0"/>
          </a:p>
        </p:txBody>
      </p:sp>
    </p:spTree>
    <p:extLst>
      <p:ext uri="{BB962C8B-B14F-4D97-AF65-F5344CB8AC3E}">
        <p14:creationId xmlns:p14="http://schemas.microsoft.com/office/powerpoint/2010/main" val="2494278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863" y="0"/>
            <a:ext cx="8596668" cy="627529"/>
          </a:xfrm>
        </p:spPr>
        <p:txBody>
          <a:bodyPr>
            <a:normAutofit fontScale="90000"/>
          </a:bodyPr>
          <a:lstStyle/>
          <a:p>
            <a:r>
              <a:rPr lang="en-US" dirty="0"/>
              <a:t>Class template </a:t>
            </a:r>
          </a:p>
        </p:txBody>
      </p:sp>
      <p:sp>
        <p:nvSpPr>
          <p:cNvPr id="4" name="Rectangle 2"/>
          <p:cNvSpPr>
            <a:spLocks noGrp="1" noChangeArrowheads="1"/>
          </p:cNvSpPr>
          <p:nvPr>
            <p:ph idx="1"/>
          </p:nvPr>
        </p:nvSpPr>
        <p:spPr bwMode="auto">
          <a:xfrm>
            <a:off x="677863" y="509399"/>
            <a:ext cx="6711774"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8080"/>
                </a:solidFill>
                <a:effectLst/>
                <a:latin typeface="Consolas" panose="020B0609020204030204" pitchFamily="49" charset="0"/>
              </a:rPr>
              <a:t>#include &lt;</a:t>
            </a:r>
            <a:r>
              <a:rPr kumimoji="0" lang="en-US" altLang="en-US" b="0" i="0" u="none" strike="noStrike" cap="none" normalizeH="0" baseline="0" dirty="0" err="1">
                <a:ln>
                  <a:noFill/>
                </a:ln>
                <a:solidFill>
                  <a:srgbClr val="808080"/>
                </a:solidFill>
                <a:effectLst/>
                <a:latin typeface="Consolas" panose="020B0609020204030204" pitchFamily="49" charset="0"/>
              </a:rPr>
              <a:t>iostream</a:t>
            </a:r>
            <a:r>
              <a:rPr kumimoji="0" lang="en-US" altLang="en-US" b="0" i="0" u="none" strike="noStrike" cap="none" normalizeH="0" baseline="0" dirty="0">
                <a:ln>
                  <a:noFill/>
                </a:ln>
                <a:solidFill>
                  <a:srgbClr val="808080"/>
                </a:solidFill>
                <a:effectLst/>
                <a:latin typeface="Consolas" panose="020B0609020204030204" pitchFamily="49" charset="0"/>
              </a:rPr>
              <a:t>&gt;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onsolas" panose="020B0609020204030204" pitchFamily="49" charset="0"/>
              </a:rPr>
              <a:t>using</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1" i="0" u="none" strike="noStrike" cap="none" normalizeH="0" baseline="0" dirty="0">
                <a:ln>
                  <a:noFill/>
                </a:ln>
                <a:solidFill>
                  <a:srgbClr val="006699"/>
                </a:solidFill>
                <a:effectLst/>
                <a:latin typeface="Consolas" panose="020B0609020204030204" pitchFamily="49" charset="0"/>
              </a:rPr>
              <a:t>namespace</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std</a:t>
            </a: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onsolas" panose="020B0609020204030204" pitchFamily="49" charset="0"/>
              </a:rPr>
              <a:t>template</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&lt;</a:t>
            </a:r>
            <a:r>
              <a:rPr kumimoji="0" lang="en-US" altLang="en-US" b="1" i="0" u="none" strike="noStrike" cap="none" normalizeH="0" baseline="0" dirty="0" err="1">
                <a:ln>
                  <a:noFill/>
                </a:ln>
                <a:solidFill>
                  <a:srgbClr val="006699"/>
                </a:solidFill>
                <a:effectLst/>
                <a:latin typeface="Consolas" panose="020B0609020204030204" pitchFamily="49" charset="0"/>
              </a:rPr>
              <a:t>typename</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T&gt; </a:t>
            </a:r>
            <a:r>
              <a:rPr kumimoji="0" lang="en-US" altLang="en-US" b="1" i="0" u="none" strike="noStrike" cap="none" normalizeH="0" baseline="0" dirty="0">
                <a:ln>
                  <a:noFill/>
                </a:ln>
                <a:solidFill>
                  <a:srgbClr val="006699"/>
                </a:solidFill>
                <a:effectLst/>
                <a:latin typeface="Consolas" panose="020B0609020204030204" pitchFamily="49" charset="0"/>
              </a:rPr>
              <a:t>class</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Array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onsolas" panose="020B0609020204030204" pitchFamily="49" charset="0"/>
              </a:rPr>
              <a:t>private</a:t>
            </a: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T* </a:t>
            </a:r>
            <a:r>
              <a:rPr kumimoji="0" lang="en-US" altLang="en-US" b="0" i="0" u="none" strike="noStrike" cap="none" normalizeH="0" baseline="0" dirty="0" err="1">
                <a:ln>
                  <a:noFill/>
                </a:ln>
                <a:solidFill>
                  <a:srgbClr val="000000"/>
                </a:solidFill>
                <a:effectLst/>
                <a:latin typeface="Consolas" panose="020B0609020204030204" pitchFamily="49" charset="0"/>
              </a:rPr>
              <a:t>ptr</a:t>
            </a: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1" i="0" u="none" strike="noStrike" cap="none" normalizeH="0" baseline="0" dirty="0" err="1">
                <a:ln>
                  <a:noFill/>
                </a:ln>
                <a:solidFill>
                  <a:srgbClr val="808080"/>
                </a:solidFill>
                <a:effectLst/>
                <a:latin typeface="Consolas" panose="020B0609020204030204" pitchFamily="49" charset="0"/>
              </a:rPr>
              <a:t>int</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size;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onsolas" panose="020B0609020204030204" pitchFamily="49" charset="0"/>
              </a:rPr>
              <a:t>public</a:t>
            </a: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Array(T </a:t>
            </a:r>
            <a:r>
              <a:rPr kumimoji="0" lang="en-US" altLang="en-US" b="0" i="0" u="none" strike="noStrike" cap="none" normalizeH="0" baseline="0" dirty="0" err="1">
                <a:ln>
                  <a:noFill/>
                </a:ln>
                <a:solidFill>
                  <a:srgbClr val="000000"/>
                </a:solidFill>
                <a:effectLst/>
                <a:latin typeface="Consolas" panose="020B0609020204030204" pitchFamily="49" charset="0"/>
              </a:rPr>
              <a:t>arr</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1" i="0" u="none" strike="noStrike" cap="none" normalizeH="0" baseline="0" dirty="0" err="1">
                <a:ln>
                  <a:noFill/>
                </a:ln>
                <a:solidFill>
                  <a:srgbClr val="808080"/>
                </a:solidFill>
                <a:effectLst/>
                <a:latin typeface="Consolas" panose="020B0609020204030204" pitchFamily="49" charset="0"/>
              </a:rPr>
              <a:t>int</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1" i="0" u="none" strike="noStrike" cap="none" normalizeH="0" baseline="0" dirty="0">
                <a:ln>
                  <a:noFill/>
                </a:ln>
                <a:solidFill>
                  <a:srgbClr val="006699"/>
                </a:solidFill>
                <a:effectLst/>
                <a:latin typeface="Consolas" panose="020B0609020204030204" pitchFamily="49" charset="0"/>
              </a:rPr>
              <a:t>void</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print();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onsolas" panose="020B0609020204030204" pitchFamily="49" charset="0"/>
              </a:rPr>
              <a:t>template</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&lt;</a:t>
            </a:r>
            <a:r>
              <a:rPr kumimoji="0" lang="en-US" altLang="en-US" b="1" i="0" u="none" strike="noStrike" cap="none" normalizeH="0" baseline="0" dirty="0" err="1">
                <a:ln>
                  <a:noFill/>
                </a:ln>
                <a:solidFill>
                  <a:srgbClr val="006699"/>
                </a:solidFill>
                <a:effectLst/>
                <a:latin typeface="Consolas" panose="020B0609020204030204" pitchFamily="49" charset="0"/>
              </a:rPr>
              <a:t>typename</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T&gt; Array&lt;T&gt;::Array(T </a:t>
            </a:r>
            <a:r>
              <a:rPr kumimoji="0" lang="en-US" altLang="en-US" b="0" i="0" u="none" strike="noStrike" cap="none" normalizeH="0" baseline="0" dirty="0" err="1">
                <a:ln>
                  <a:noFill/>
                </a:ln>
                <a:solidFill>
                  <a:srgbClr val="000000"/>
                </a:solidFill>
                <a:effectLst/>
                <a:latin typeface="Consolas" panose="020B0609020204030204" pitchFamily="49" charset="0"/>
              </a:rPr>
              <a:t>arr</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1" i="0" u="none" strike="noStrike" cap="none" normalizeH="0" baseline="0" dirty="0" err="1">
                <a:ln>
                  <a:noFill/>
                </a:ln>
                <a:solidFill>
                  <a:srgbClr val="808080"/>
                </a:solidFill>
                <a:effectLst/>
                <a:latin typeface="Consolas" panose="020B0609020204030204" pitchFamily="49" charset="0"/>
              </a:rPr>
              <a:t>int</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ptr</a:t>
            </a:r>
            <a:r>
              <a:rPr kumimoji="0" lang="en-US" altLang="en-US" b="0" i="0" u="none" strike="noStrike" cap="none" normalizeH="0" baseline="0" dirty="0">
                <a:ln>
                  <a:noFill/>
                </a:ln>
                <a:solidFill>
                  <a:srgbClr val="000000"/>
                </a:solidFill>
                <a:effectLst/>
                <a:latin typeface="Consolas" panose="020B0609020204030204" pitchFamily="49" charset="0"/>
              </a:rPr>
              <a:t> = </a:t>
            </a:r>
            <a:r>
              <a:rPr kumimoji="0" lang="en-US" altLang="en-US" b="1" i="0" u="none" strike="noStrike" cap="none" normalizeH="0" baseline="0" dirty="0">
                <a:ln>
                  <a:noFill/>
                </a:ln>
                <a:solidFill>
                  <a:srgbClr val="006699"/>
                </a:solidFill>
                <a:effectLst/>
                <a:latin typeface="Consolas" panose="020B0609020204030204" pitchFamily="49" charset="0"/>
              </a:rPr>
              <a:t>new</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T[s];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size = 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1" i="0" u="none" strike="noStrike" cap="none" normalizeH="0" baseline="0" dirty="0">
                <a:ln>
                  <a:noFill/>
                </a:ln>
                <a:solidFill>
                  <a:srgbClr val="006699"/>
                </a:solidFill>
                <a:effectLst/>
                <a:latin typeface="Consolas" panose="020B0609020204030204" pitchFamily="49" charset="0"/>
              </a:rPr>
              <a:t>for</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a:t>
            </a:r>
            <a:r>
              <a:rPr kumimoji="0" lang="en-US" altLang="en-US" b="1" i="0" u="none" strike="noStrike" cap="none" normalizeH="0" baseline="0" dirty="0" err="1">
                <a:ln>
                  <a:noFill/>
                </a:ln>
                <a:solidFill>
                  <a:srgbClr val="808080"/>
                </a:solidFill>
                <a:effectLst/>
                <a:latin typeface="Consolas" panose="020B0609020204030204" pitchFamily="49" charset="0"/>
              </a:rPr>
              <a:t>int</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i</a:t>
            </a:r>
            <a:r>
              <a:rPr kumimoji="0" lang="en-US" altLang="en-US" b="0" i="0" u="none" strike="noStrike" cap="none" normalizeH="0" baseline="0" dirty="0">
                <a:ln>
                  <a:noFill/>
                </a:ln>
                <a:solidFill>
                  <a:srgbClr val="000000"/>
                </a:solidFill>
                <a:effectLst/>
                <a:latin typeface="Consolas" panose="020B0609020204030204" pitchFamily="49" charset="0"/>
              </a:rPr>
              <a:t> = 0; </a:t>
            </a:r>
            <a:r>
              <a:rPr kumimoji="0" lang="en-US" altLang="en-US" b="0" i="0" u="none" strike="noStrike" cap="none" normalizeH="0" baseline="0" dirty="0" err="1">
                <a:ln>
                  <a:noFill/>
                </a:ln>
                <a:solidFill>
                  <a:srgbClr val="000000"/>
                </a:solidFill>
                <a:effectLst/>
                <a:latin typeface="Consolas" panose="020B0609020204030204" pitchFamily="49" charset="0"/>
              </a:rPr>
              <a:t>i</a:t>
            </a:r>
            <a:r>
              <a:rPr kumimoji="0" lang="en-US" altLang="en-US" b="0" i="0" u="none" strike="noStrike" cap="none" normalizeH="0" baseline="0" dirty="0">
                <a:ln>
                  <a:noFill/>
                </a:ln>
                <a:solidFill>
                  <a:srgbClr val="000000"/>
                </a:solidFill>
                <a:effectLst/>
                <a:latin typeface="Consolas" panose="020B0609020204030204" pitchFamily="49" charset="0"/>
              </a:rPr>
              <a:t> &lt; size; </a:t>
            </a:r>
            <a:r>
              <a:rPr kumimoji="0" lang="en-US" altLang="en-US" b="0" i="0" u="none" strike="noStrike" cap="none" normalizeH="0" baseline="0" dirty="0" err="1">
                <a:ln>
                  <a:noFill/>
                </a:ln>
                <a:solidFill>
                  <a:srgbClr val="000000"/>
                </a:solidFill>
                <a:effectLst/>
                <a:latin typeface="Consolas" panose="020B0609020204030204" pitchFamily="49" charset="0"/>
              </a:rPr>
              <a:t>i</a:t>
            </a: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ptr</a:t>
            </a:r>
            <a:r>
              <a:rPr kumimoji="0" lang="en-US" altLang="en-US" b="0" i="0" u="none" strike="noStrike" cap="none" normalizeH="0" baseline="0" dirty="0">
                <a:ln>
                  <a:noFill/>
                </a:ln>
                <a:solidFill>
                  <a:srgbClr val="000000"/>
                </a:solidFill>
                <a:effectLst/>
                <a:latin typeface="Consolas" panose="020B0609020204030204" pitchFamily="49" charset="0"/>
              </a:rPr>
              <a:t>[</a:t>
            </a:r>
            <a:r>
              <a:rPr kumimoji="0" lang="en-US" altLang="en-US" b="0" i="0" u="none" strike="noStrike" cap="none" normalizeH="0" baseline="0" dirty="0" err="1">
                <a:ln>
                  <a:noFill/>
                </a:ln>
                <a:solidFill>
                  <a:srgbClr val="000000"/>
                </a:solidFill>
                <a:effectLst/>
                <a:latin typeface="Consolas" panose="020B0609020204030204" pitchFamily="49" charset="0"/>
              </a:rPr>
              <a:t>i</a:t>
            </a:r>
            <a:r>
              <a:rPr kumimoji="0" lang="en-US" altLang="en-US" b="0" i="0" u="none" strike="noStrike" cap="none" normalizeH="0" baseline="0" dirty="0">
                <a:ln>
                  <a:noFill/>
                </a:ln>
                <a:solidFill>
                  <a:srgbClr val="000000"/>
                </a:solidFill>
                <a:effectLst/>
                <a:latin typeface="Consolas" panose="020B0609020204030204" pitchFamily="49" charset="0"/>
              </a:rPr>
              <a:t>] = </a:t>
            </a:r>
            <a:r>
              <a:rPr kumimoji="0" lang="en-US" altLang="en-US" b="0" i="0" u="none" strike="noStrike" cap="none" normalizeH="0" baseline="0" dirty="0" err="1">
                <a:ln>
                  <a:noFill/>
                </a:ln>
                <a:solidFill>
                  <a:srgbClr val="000000"/>
                </a:solidFill>
                <a:effectLst/>
                <a:latin typeface="Consolas" panose="020B0609020204030204" pitchFamily="49" charset="0"/>
              </a:rPr>
              <a:t>arr</a:t>
            </a:r>
            <a:r>
              <a:rPr kumimoji="0" lang="en-US" altLang="en-US" b="0" i="0" u="none" strike="noStrike" cap="none" normalizeH="0" baseline="0" dirty="0">
                <a:ln>
                  <a:noFill/>
                </a:ln>
                <a:solidFill>
                  <a:srgbClr val="000000"/>
                </a:solidFill>
                <a:effectLst/>
                <a:latin typeface="Consolas" panose="020B0609020204030204" pitchFamily="49" charset="0"/>
              </a:rPr>
              <a:t>[</a:t>
            </a:r>
            <a:r>
              <a:rPr kumimoji="0" lang="en-US" altLang="en-US" b="0" i="0" u="none" strike="noStrike" cap="none" normalizeH="0" baseline="0" dirty="0" err="1">
                <a:ln>
                  <a:noFill/>
                </a:ln>
                <a:solidFill>
                  <a:srgbClr val="000000"/>
                </a:solidFill>
                <a:effectLst/>
                <a:latin typeface="Consolas" panose="020B0609020204030204" pitchFamily="49" charset="0"/>
              </a:rPr>
              <a:t>i</a:t>
            </a: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p:txBody>
      </p:sp>
      <p:sp>
        <p:nvSpPr>
          <p:cNvPr id="5" name="TextBox 4"/>
          <p:cNvSpPr txBox="1"/>
          <p:nvPr/>
        </p:nvSpPr>
        <p:spPr>
          <a:xfrm>
            <a:off x="7610621" y="313764"/>
            <a:ext cx="4107767" cy="4247317"/>
          </a:xfrm>
          <a:prstGeom prst="rect">
            <a:avLst/>
          </a:prstGeom>
          <a:noFill/>
        </p:spPr>
        <p:txBody>
          <a:bodyPr wrap="square" rtlCol="0">
            <a:spAutoFit/>
          </a:bodyPr>
          <a:lstStyle/>
          <a:p>
            <a:r>
              <a:rPr lang="en-US" dirty="0"/>
              <a:t>template &lt;</a:t>
            </a:r>
            <a:r>
              <a:rPr lang="en-US" dirty="0" err="1"/>
              <a:t>typename</a:t>
            </a:r>
            <a:r>
              <a:rPr lang="en-US" dirty="0"/>
              <a:t> T&gt;</a:t>
            </a:r>
          </a:p>
          <a:p>
            <a:r>
              <a:rPr lang="en-US" dirty="0"/>
              <a:t> void Array&lt;T&gt;::print()</a:t>
            </a:r>
          </a:p>
          <a:p>
            <a:r>
              <a:rPr lang="en-US" dirty="0"/>
              <a:t>{</a:t>
            </a:r>
          </a:p>
          <a:p>
            <a:r>
              <a:rPr lang="en-US" dirty="0"/>
              <a:t>    for (</a:t>
            </a:r>
            <a:r>
              <a:rPr lang="en-US" dirty="0" err="1"/>
              <a:t>int</a:t>
            </a:r>
            <a:r>
              <a:rPr lang="en-US" dirty="0"/>
              <a:t> </a:t>
            </a:r>
            <a:r>
              <a:rPr lang="en-US" dirty="0" err="1"/>
              <a:t>i</a:t>
            </a:r>
            <a:r>
              <a:rPr lang="en-US" dirty="0"/>
              <a:t> = 0; </a:t>
            </a:r>
            <a:r>
              <a:rPr lang="en-US" dirty="0" err="1"/>
              <a:t>i</a:t>
            </a:r>
            <a:r>
              <a:rPr lang="en-US" dirty="0"/>
              <a:t> &lt; size; </a:t>
            </a:r>
            <a:r>
              <a:rPr lang="en-US" dirty="0" err="1"/>
              <a:t>i</a:t>
            </a:r>
            <a:r>
              <a:rPr lang="en-US" dirty="0"/>
              <a:t>++)</a:t>
            </a:r>
          </a:p>
          <a:p>
            <a:r>
              <a:rPr lang="en-US" dirty="0"/>
              <a:t>        </a:t>
            </a:r>
            <a:r>
              <a:rPr lang="en-US" dirty="0" err="1"/>
              <a:t>cout</a:t>
            </a:r>
            <a:r>
              <a:rPr lang="en-US" dirty="0"/>
              <a:t> &lt;&lt; " " &lt;&lt; *(</a:t>
            </a:r>
            <a:r>
              <a:rPr lang="en-US" dirty="0" err="1"/>
              <a:t>ptr</a:t>
            </a:r>
            <a:r>
              <a:rPr lang="en-US" dirty="0"/>
              <a:t> + </a:t>
            </a:r>
            <a:r>
              <a:rPr lang="en-US" dirty="0" err="1"/>
              <a:t>i</a:t>
            </a:r>
            <a:r>
              <a:rPr lang="en-US" dirty="0"/>
              <a:t>);</a:t>
            </a:r>
          </a:p>
          <a:p>
            <a:r>
              <a:rPr lang="en-US" dirty="0"/>
              <a:t>    </a:t>
            </a:r>
            <a:r>
              <a:rPr lang="en-US" dirty="0" err="1"/>
              <a:t>cout</a:t>
            </a:r>
            <a:r>
              <a:rPr lang="en-US" dirty="0"/>
              <a:t> &lt;&lt; </a:t>
            </a:r>
            <a:r>
              <a:rPr lang="en-US" dirty="0" err="1"/>
              <a:t>endl</a:t>
            </a:r>
            <a:r>
              <a:rPr lang="en-US" dirty="0"/>
              <a:t>;</a:t>
            </a:r>
          </a:p>
          <a:p>
            <a:r>
              <a:rPr lang="en-US" dirty="0"/>
              <a:t>}</a:t>
            </a:r>
          </a:p>
          <a:p>
            <a:r>
              <a:rPr lang="en-US" dirty="0"/>
              <a:t> </a:t>
            </a:r>
          </a:p>
          <a:p>
            <a:r>
              <a:rPr lang="en-US" dirty="0" err="1"/>
              <a:t>int</a:t>
            </a:r>
            <a:r>
              <a:rPr lang="en-US" dirty="0"/>
              <a:t> main()</a:t>
            </a:r>
          </a:p>
          <a:p>
            <a:r>
              <a:rPr lang="en-US" dirty="0"/>
              <a:t>{</a:t>
            </a:r>
          </a:p>
          <a:p>
            <a:r>
              <a:rPr lang="en-US" dirty="0"/>
              <a:t>    </a:t>
            </a:r>
            <a:r>
              <a:rPr lang="en-US" dirty="0" err="1"/>
              <a:t>int</a:t>
            </a:r>
            <a:r>
              <a:rPr lang="en-US" dirty="0"/>
              <a:t> </a:t>
            </a:r>
            <a:r>
              <a:rPr lang="en-US" dirty="0" err="1"/>
              <a:t>arr</a:t>
            </a:r>
            <a:r>
              <a:rPr lang="en-US" dirty="0"/>
              <a:t>[5] = { 1, 2, 3, 4, 5 };</a:t>
            </a:r>
          </a:p>
          <a:p>
            <a:r>
              <a:rPr lang="en-US" dirty="0"/>
              <a:t>    Array&lt;</a:t>
            </a:r>
            <a:r>
              <a:rPr lang="en-US" dirty="0" err="1"/>
              <a:t>int</a:t>
            </a:r>
            <a:r>
              <a:rPr lang="en-US" dirty="0"/>
              <a:t>&gt; a(</a:t>
            </a:r>
            <a:r>
              <a:rPr lang="en-US" dirty="0" err="1"/>
              <a:t>arr</a:t>
            </a:r>
            <a:r>
              <a:rPr lang="en-US" dirty="0"/>
              <a:t>, 5);</a:t>
            </a:r>
          </a:p>
          <a:p>
            <a:r>
              <a:rPr lang="en-US" dirty="0"/>
              <a:t>    </a:t>
            </a:r>
            <a:r>
              <a:rPr lang="en-US" dirty="0" err="1"/>
              <a:t>a.print</a:t>
            </a:r>
            <a:r>
              <a:rPr lang="en-US" dirty="0"/>
              <a:t>();</a:t>
            </a:r>
          </a:p>
          <a:p>
            <a:r>
              <a:rPr lang="en-US" dirty="0"/>
              <a:t>    return 0;</a:t>
            </a:r>
          </a:p>
          <a:p>
            <a:r>
              <a:rPr lang="en-US" dirty="0"/>
              <a:t>}</a:t>
            </a:r>
          </a:p>
        </p:txBody>
      </p:sp>
    </p:spTree>
    <p:extLst>
      <p:ext uri="{BB962C8B-B14F-4D97-AF65-F5344CB8AC3E}">
        <p14:creationId xmlns:p14="http://schemas.microsoft.com/office/powerpoint/2010/main" val="2342215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components of the STL include:</a:t>
            </a:r>
          </a:p>
        </p:txBody>
      </p:sp>
      <p:sp>
        <p:nvSpPr>
          <p:cNvPr id="3" name="Content Placeholder 2"/>
          <p:cNvSpPr>
            <a:spLocks noGrp="1"/>
          </p:cNvSpPr>
          <p:nvPr>
            <p:ph idx="1"/>
          </p:nvPr>
        </p:nvSpPr>
        <p:spPr/>
        <p:txBody>
          <a:bodyPr/>
          <a:lstStyle/>
          <a:p>
            <a:pPr lvl="0" fontAlgn="base"/>
            <a:r>
              <a:rPr lang="en-US" dirty="0"/>
              <a:t>Containers: The STL provides a range of containers, such as vector, list, map, set, and stack, which can be used to store and manipulate data.</a:t>
            </a:r>
          </a:p>
          <a:p>
            <a:pPr lvl="0" fontAlgn="base"/>
            <a:r>
              <a:rPr lang="en-US" dirty="0"/>
              <a:t>Algorithms: The STL provides a range of algorithms, such as sort, find, and </a:t>
            </a:r>
            <a:r>
              <a:rPr lang="en-US" dirty="0" err="1"/>
              <a:t>binary_search</a:t>
            </a:r>
            <a:r>
              <a:rPr lang="en-US" dirty="0"/>
              <a:t>, which can be used to manipulate data stored in containers.</a:t>
            </a:r>
          </a:p>
          <a:p>
            <a:pPr lvl="0" fontAlgn="base"/>
            <a:r>
              <a:rPr lang="en-US" dirty="0"/>
              <a:t>Iterators: Iterators are objects that provide a way to traverse the elements of a container. The STL provides a range of iterators, such as </a:t>
            </a:r>
            <a:r>
              <a:rPr lang="en-US" dirty="0" err="1"/>
              <a:t>forward_iterator</a:t>
            </a:r>
            <a:r>
              <a:rPr lang="en-US" dirty="0"/>
              <a:t>, </a:t>
            </a:r>
            <a:r>
              <a:rPr lang="en-US" dirty="0" err="1"/>
              <a:t>bidirectional_iterator</a:t>
            </a:r>
            <a:r>
              <a:rPr lang="en-US" dirty="0"/>
              <a:t>, and </a:t>
            </a:r>
            <a:r>
              <a:rPr lang="en-US" dirty="0" err="1"/>
              <a:t>random_access_iterator</a:t>
            </a:r>
            <a:r>
              <a:rPr lang="en-US" dirty="0"/>
              <a:t>, that can be used with different types of containers.</a:t>
            </a:r>
          </a:p>
          <a:p>
            <a:endParaRPr lang="en-US" dirty="0"/>
          </a:p>
        </p:txBody>
      </p:sp>
    </p:spTree>
    <p:extLst>
      <p:ext uri="{BB962C8B-B14F-4D97-AF65-F5344CB8AC3E}">
        <p14:creationId xmlns:p14="http://schemas.microsoft.com/office/powerpoint/2010/main" val="2528465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fontAlgn="base"/>
            <a:r>
              <a:rPr lang="en-US" dirty="0"/>
              <a:t>Function Objects: Function objects, also known as </a:t>
            </a:r>
            <a:r>
              <a:rPr lang="en-US" dirty="0" err="1"/>
              <a:t>functors</a:t>
            </a:r>
            <a:r>
              <a:rPr lang="en-US" dirty="0"/>
              <a:t>, are objects that can be used as function arguments to algorithms. They provide a way to pass a function to an algorithm, allowing you to customize its behavior.</a:t>
            </a:r>
          </a:p>
          <a:p>
            <a:pPr lvl="0" fontAlgn="base"/>
            <a:r>
              <a:rPr lang="en-US" dirty="0"/>
              <a:t>Adapters: Adapters are components that modify the behavior of other components in the STL. For example, the </a:t>
            </a:r>
            <a:r>
              <a:rPr lang="en-US" dirty="0" err="1"/>
              <a:t>reverse_iterator</a:t>
            </a:r>
            <a:r>
              <a:rPr lang="en-US" dirty="0"/>
              <a:t> adapter can be used to reverse the order of elements in a container.</a:t>
            </a:r>
          </a:p>
          <a:p>
            <a:endParaRPr lang="en-US" dirty="0"/>
          </a:p>
        </p:txBody>
      </p:sp>
    </p:spTree>
    <p:extLst>
      <p:ext uri="{BB962C8B-B14F-4D97-AF65-F5344CB8AC3E}">
        <p14:creationId xmlns:p14="http://schemas.microsoft.com/office/powerpoint/2010/main" val="3123249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Algorithms</a:t>
            </a:r>
            <a:br>
              <a:rPr lang="en-US" b="1" dirty="0"/>
            </a:br>
            <a:endParaRPr lang="en-US" dirty="0"/>
          </a:p>
        </p:txBody>
      </p:sp>
      <p:sp>
        <p:nvSpPr>
          <p:cNvPr id="3" name="Content Placeholder 2"/>
          <p:cNvSpPr>
            <a:spLocks noGrp="1"/>
          </p:cNvSpPr>
          <p:nvPr>
            <p:ph idx="1"/>
          </p:nvPr>
        </p:nvSpPr>
        <p:spPr/>
        <p:txBody>
          <a:bodyPr>
            <a:normAutofit lnSpcReduction="10000"/>
          </a:bodyPr>
          <a:lstStyle/>
          <a:p>
            <a:pPr fontAlgn="base"/>
            <a:r>
              <a:rPr lang="en-US" dirty="0"/>
              <a:t>The header algorithm defines a collection of functions specially designed to be used on a range of elements. They act on containers and provide means for various operations for the contents of the containers.</a:t>
            </a:r>
          </a:p>
          <a:p>
            <a:pPr lvl="0" fontAlgn="base"/>
            <a:r>
              <a:rPr lang="en-US" dirty="0"/>
              <a:t>Algorithm</a:t>
            </a:r>
            <a:endParaRPr lang="en-US" sz="1600" dirty="0"/>
          </a:p>
          <a:p>
            <a:pPr lvl="1" fontAlgn="base"/>
            <a:r>
              <a:rPr lang="en-US" u="sng" dirty="0">
                <a:hlinkClick r:id="rId2"/>
              </a:rPr>
              <a:t>Sorting</a:t>
            </a:r>
            <a:endParaRPr lang="en-US" sz="1400" dirty="0"/>
          </a:p>
          <a:p>
            <a:pPr lvl="1" fontAlgn="base"/>
            <a:r>
              <a:rPr lang="en-US" u="sng" dirty="0">
                <a:hlinkClick r:id="rId3"/>
              </a:rPr>
              <a:t>Searching</a:t>
            </a:r>
            <a:endParaRPr lang="en-US" sz="1400" dirty="0"/>
          </a:p>
          <a:p>
            <a:pPr lvl="1" fontAlgn="base"/>
            <a:r>
              <a:rPr lang="en-US" u="sng" dirty="0">
                <a:hlinkClick r:id="rId4"/>
              </a:rPr>
              <a:t>Important STL Algorithms</a:t>
            </a:r>
            <a:endParaRPr lang="en-US" sz="1400" dirty="0"/>
          </a:p>
          <a:p>
            <a:pPr lvl="1" fontAlgn="base"/>
            <a:r>
              <a:rPr lang="en-US" u="sng" dirty="0">
                <a:hlinkClick r:id="rId5"/>
              </a:rPr>
              <a:t>Useful Array algorithms</a:t>
            </a:r>
            <a:endParaRPr lang="en-US" sz="1400" dirty="0"/>
          </a:p>
          <a:p>
            <a:pPr lvl="1" fontAlgn="base"/>
            <a:r>
              <a:rPr lang="en-US" u="sng" dirty="0">
                <a:hlinkClick r:id="rId6"/>
              </a:rPr>
              <a:t>Partition Operations</a:t>
            </a:r>
            <a:endParaRPr lang="en-US" sz="1400" dirty="0"/>
          </a:p>
          <a:p>
            <a:pPr lvl="0" fontAlgn="base"/>
            <a:r>
              <a:rPr lang="en-US" dirty="0"/>
              <a:t>Numeric</a:t>
            </a:r>
            <a:endParaRPr lang="en-US" sz="1600" dirty="0"/>
          </a:p>
          <a:p>
            <a:r>
              <a:rPr lang="en-US" u="sng" dirty="0" err="1">
                <a:hlinkClick r:id="rId7"/>
              </a:rPr>
              <a:t>valarray</a:t>
            </a:r>
            <a:r>
              <a:rPr lang="en-US" u="sng" dirty="0">
                <a:hlinkClick r:id="rId7"/>
              </a:rPr>
              <a:t> class</a:t>
            </a:r>
            <a:endParaRPr lang="en-US" dirty="0"/>
          </a:p>
        </p:txBody>
      </p:sp>
    </p:spTree>
    <p:extLst>
      <p:ext uri="{BB962C8B-B14F-4D97-AF65-F5344CB8AC3E}">
        <p14:creationId xmlns:p14="http://schemas.microsoft.com/office/powerpoint/2010/main" val="3914269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Containers</a:t>
            </a:r>
            <a:br>
              <a:rPr lang="en-US" b="1" dirty="0"/>
            </a:br>
            <a:endParaRPr lang="en-US" dirty="0"/>
          </a:p>
        </p:txBody>
      </p:sp>
      <p:sp>
        <p:nvSpPr>
          <p:cNvPr id="3" name="Content Placeholder 2"/>
          <p:cNvSpPr>
            <a:spLocks noGrp="1"/>
          </p:cNvSpPr>
          <p:nvPr>
            <p:ph idx="1"/>
          </p:nvPr>
        </p:nvSpPr>
        <p:spPr>
          <a:xfrm>
            <a:off x="677334" y="1304365"/>
            <a:ext cx="8596668" cy="5378823"/>
          </a:xfrm>
        </p:spPr>
        <p:txBody>
          <a:bodyPr>
            <a:normAutofit/>
          </a:bodyPr>
          <a:lstStyle/>
          <a:p>
            <a:pPr fontAlgn="base"/>
            <a:r>
              <a:rPr lang="en-US" u="sng" dirty="0">
                <a:hlinkClick r:id="rId2"/>
              </a:rPr>
              <a:t>Containers or container classes</a:t>
            </a:r>
            <a:r>
              <a:rPr lang="en-US" dirty="0"/>
              <a:t> store objects and data. There are in total seven standards “first-class” container classes and three container adaptor classes and only seven header files that provide access to these containers or container adaptors.</a:t>
            </a:r>
          </a:p>
          <a:p>
            <a:pPr lvl="0" fontAlgn="base"/>
            <a:r>
              <a:rPr lang="en-US" dirty="0"/>
              <a:t>Sequence Containers: implement data structures that can be accessed in a sequential manner.</a:t>
            </a:r>
            <a:endParaRPr lang="en-US" sz="1600" dirty="0"/>
          </a:p>
          <a:p>
            <a:pPr lvl="1" fontAlgn="base"/>
            <a:r>
              <a:rPr lang="en-US" u="sng" dirty="0">
                <a:hlinkClick r:id="rId3"/>
              </a:rPr>
              <a:t>vector</a:t>
            </a:r>
            <a:endParaRPr lang="en-US" sz="1400" dirty="0"/>
          </a:p>
          <a:p>
            <a:pPr lvl="1" fontAlgn="base"/>
            <a:r>
              <a:rPr lang="en-US" u="sng" dirty="0">
                <a:hlinkClick r:id="rId4"/>
              </a:rPr>
              <a:t>list</a:t>
            </a:r>
            <a:endParaRPr lang="en-US" sz="1400" dirty="0"/>
          </a:p>
          <a:p>
            <a:pPr lvl="1" fontAlgn="base"/>
            <a:r>
              <a:rPr lang="en-US" u="sng" dirty="0" err="1">
                <a:hlinkClick r:id="rId5"/>
              </a:rPr>
              <a:t>deque</a:t>
            </a:r>
            <a:endParaRPr lang="en-US" sz="1400" dirty="0"/>
          </a:p>
          <a:p>
            <a:pPr lvl="1" fontAlgn="base"/>
            <a:r>
              <a:rPr lang="en-US" u="sng" dirty="0">
                <a:hlinkClick r:id="rId6"/>
              </a:rPr>
              <a:t>arrays</a:t>
            </a:r>
            <a:endParaRPr lang="en-US" sz="1400" dirty="0"/>
          </a:p>
          <a:p>
            <a:pPr lvl="1" fontAlgn="base"/>
            <a:r>
              <a:rPr lang="en-US" u="sng" dirty="0" err="1">
                <a:hlinkClick r:id="rId7"/>
              </a:rPr>
              <a:t>forward_list</a:t>
            </a:r>
            <a:r>
              <a:rPr lang="en-US" dirty="0"/>
              <a:t>( Introduced in C++11)</a:t>
            </a:r>
            <a:endParaRPr lang="en-US" sz="1400" dirty="0"/>
          </a:p>
          <a:p>
            <a:pPr lvl="0" fontAlgn="base"/>
            <a:r>
              <a:rPr lang="en-US" dirty="0"/>
              <a:t>Container Adaptors: provide a different interface for sequential containers.</a:t>
            </a:r>
            <a:endParaRPr lang="en-US" sz="1600" dirty="0"/>
          </a:p>
          <a:p>
            <a:pPr lvl="1" fontAlgn="base"/>
            <a:r>
              <a:rPr lang="en-US" u="sng" dirty="0">
                <a:hlinkClick r:id="rId8"/>
              </a:rPr>
              <a:t>queue</a:t>
            </a:r>
            <a:endParaRPr lang="en-US" sz="1400" dirty="0"/>
          </a:p>
          <a:p>
            <a:pPr lvl="1" fontAlgn="base"/>
            <a:r>
              <a:rPr lang="en-US" u="sng" dirty="0" err="1">
                <a:hlinkClick r:id="rId9"/>
              </a:rPr>
              <a:t>priority_queue</a:t>
            </a:r>
            <a:endParaRPr lang="en-US" sz="1400" dirty="0"/>
          </a:p>
          <a:p>
            <a:pPr lvl="1" fontAlgn="base"/>
            <a:r>
              <a:rPr lang="en-US" u="sng" dirty="0">
                <a:hlinkClick r:id="rId10"/>
              </a:rPr>
              <a:t>stack</a:t>
            </a:r>
            <a:endParaRPr lang="en-US" sz="1400" dirty="0"/>
          </a:p>
          <a:p>
            <a:endParaRPr lang="en-US" dirty="0"/>
          </a:p>
        </p:txBody>
      </p:sp>
    </p:spTree>
    <p:extLst>
      <p:ext uri="{BB962C8B-B14F-4D97-AF65-F5344CB8AC3E}">
        <p14:creationId xmlns:p14="http://schemas.microsoft.com/office/powerpoint/2010/main" val="3930690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fontAlgn="base"/>
            <a:r>
              <a:rPr lang="en-US" dirty="0"/>
              <a:t>Associative Containers: implement sorted data structures that can be quickly searched (O(log n) complexity).</a:t>
            </a:r>
            <a:endParaRPr lang="en-US" sz="1600" dirty="0"/>
          </a:p>
          <a:p>
            <a:pPr lvl="1" fontAlgn="base"/>
            <a:r>
              <a:rPr lang="en-US" u="sng" dirty="0">
                <a:hlinkClick r:id="rId2"/>
              </a:rPr>
              <a:t>set</a:t>
            </a:r>
            <a:endParaRPr lang="en-US" sz="1400" dirty="0"/>
          </a:p>
          <a:p>
            <a:pPr lvl="1" fontAlgn="base"/>
            <a:r>
              <a:rPr lang="en-US" u="sng" dirty="0">
                <a:hlinkClick r:id="rId3"/>
              </a:rPr>
              <a:t>multiset</a:t>
            </a:r>
            <a:endParaRPr lang="en-US" sz="1400" dirty="0"/>
          </a:p>
          <a:p>
            <a:pPr lvl="1" fontAlgn="base"/>
            <a:r>
              <a:rPr lang="en-US" u="sng" dirty="0">
                <a:hlinkClick r:id="rId4"/>
              </a:rPr>
              <a:t>map</a:t>
            </a:r>
            <a:endParaRPr lang="en-US" sz="1400" dirty="0"/>
          </a:p>
          <a:p>
            <a:pPr lvl="1" fontAlgn="base"/>
            <a:r>
              <a:rPr lang="en-US" u="sng" dirty="0" err="1">
                <a:hlinkClick r:id="rId5"/>
              </a:rPr>
              <a:t>multimap</a:t>
            </a:r>
            <a:endParaRPr lang="en-US" sz="1400" dirty="0"/>
          </a:p>
          <a:p>
            <a:pPr lvl="0" fontAlgn="base"/>
            <a:r>
              <a:rPr lang="en-US" dirty="0"/>
              <a:t>Unordered Associative Containers: implement unordered data structures that can be quickly searched</a:t>
            </a:r>
            <a:endParaRPr lang="en-US" sz="1600" dirty="0"/>
          </a:p>
          <a:p>
            <a:endParaRPr lang="en-US" dirty="0"/>
          </a:p>
        </p:txBody>
      </p:sp>
    </p:spTree>
    <p:extLst>
      <p:ext uri="{BB962C8B-B14F-4D97-AF65-F5344CB8AC3E}">
        <p14:creationId xmlns:p14="http://schemas.microsoft.com/office/powerpoint/2010/main" val="2859908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3.Functor</a:t>
            </a:r>
            <a:r>
              <a:rPr lang="en-US" b="1" dirty="0"/>
              <a:t>s</a:t>
            </a:r>
            <a:endParaRPr lang="en-US" dirty="0"/>
          </a:p>
        </p:txBody>
      </p:sp>
      <p:sp>
        <p:nvSpPr>
          <p:cNvPr id="3" name="Content Placeholder 2"/>
          <p:cNvSpPr>
            <a:spLocks noGrp="1"/>
          </p:cNvSpPr>
          <p:nvPr>
            <p:ph idx="1"/>
          </p:nvPr>
        </p:nvSpPr>
        <p:spPr/>
        <p:txBody>
          <a:bodyPr/>
          <a:lstStyle/>
          <a:p>
            <a:pPr fontAlgn="base"/>
            <a:r>
              <a:rPr lang="en-US" dirty="0"/>
              <a:t>The STL includes classes that overload the function call operator. Instances of such classes are called function objects or </a:t>
            </a:r>
            <a:r>
              <a:rPr lang="en-US" dirty="0" err="1"/>
              <a:t>functors</a:t>
            </a:r>
            <a:r>
              <a:rPr lang="en-US" dirty="0"/>
              <a:t>. </a:t>
            </a:r>
            <a:r>
              <a:rPr lang="en-US" dirty="0" err="1"/>
              <a:t>Functors</a:t>
            </a:r>
            <a:r>
              <a:rPr lang="en-US" dirty="0"/>
              <a:t> allow the working of the associated function to be customized with the help of parameters to be passed. </a:t>
            </a:r>
            <a:endParaRPr lang="en-US" b="1" dirty="0"/>
          </a:p>
          <a:p>
            <a:endParaRPr lang="en-US" dirty="0"/>
          </a:p>
        </p:txBody>
      </p:sp>
    </p:spTree>
    <p:extLst>
      <p:ext uri="{BB962C8B-B14F-4D97-AF65-F5344CB8AC3E}">
        <p14:creationId xmlns:p14="http://schemas.microsoft.com/office/powerpoint/2010/main" val="1033931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Iterators</a:t>
            </a:r>
            <a:br>
              <a:rPr lang="en-US" b="1" dirty="0"/>
            </a:br>
            <a:endParaRPr lang="en-US" dirty="0"/>
          </a:p>
        </p:txBody>
      </p:sp>
      <p:sp>
        <p:nvSpPr>
          <p:cNvPr id="3" name="Content Placeholder 2"/>
          <p:cNvSpPr>
            <a:spLocks noGrp="1"/>
          </p:cNvSpPr>
          <p:nvPr>
            <p:ph idx="1"/>
          </p:nvPr>
        </p:nvSpPr>
        <p:spPr>
          <a:xfrm>
            <a:off x="677334" y="1730327"/>
            <a:ext cx="8596668" cy="4311036"/>
          </a:xfrm>
        </p:spPr>
        <p:txBody>
          <a:bodyPr/>
          <a:lstStyle/>
          <a:p>
            <a:pPr fontAlgn="base"/>
            <a:r>
              <a:rPr lang="en-US" dirty="0"/>
              <a:t>As the name suggests, iterators are used for working on a sequence of values. They are the major feature that allows generality in STL.  </a:t>
            </a:r>
          </a:p>
          <a:p>
            <a:endParaRPr lang="en-US" dirty="0"/>
          </a:p>
        </p:txBody>
      </p:sp>
    </p:spTree>
    <p:extLst>
      <p:ext uri="{BB962C8B-B14F-4D97-AF65-F5344CB8AC3E}">
        <p14:creationId xmlns:p14="http://schemas.microsoft.com/office/powerpoint/2010/main" val="148071606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226</TotalTime>
  <Words>1737</Words>
  <Application>Microsoft Office PowerPoint</Application>
  <PresentationFormat>Widescreen</PresentationFormat>
  <Paragraphs>215</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Consolas</vt:lpstr>
      <vt:lpstr>Trebuchet MS</vt:lpstr>
      <vt:lpstr>Wingdings 3</vt:lpstr>
      <vt:lpstr>Facet</vt:lpstr>
      <vt:lpstr>File Handling in C++ using classes and STL</vt:lpstr>
      <vt:lpstr>PowerPoint Presentation</vt:lpstr>
      <vt:lpstr>PowerPoint Presentation</vt:lpstr>
      <vt:lpstr>Classes for File stream operations :- </vt:lpstr>
      <vt:lpstr>PowerPoint Presentation</vt:lpstr>
      <vt:lpstr>PowerPoint Presentation</vt:lpstr>
      <vt:lpstr>PowerPoint Presentation</vt:lpstr>
      <vt:lpstr>More Coding from the lab</vt:lpstr>
      <vt:lpstr>The C++ Standard Template Library (STL) </vt:lpstr>
      <vt:lpstr>Template Classes</vt:lpstr>
      <vt:lpstr>Function template </vt:lpstr>
      <vt:lpstr>Class template </vt:lpstr>
      <vt:lpstr>Key components of the STL include:</vt:lpstr>
      <vt:lpstr>PowerPoint Presentation</vt:lpstr>
      <vt:lpstr>1. Algorithms </vt:lpstr>
      <vt:lpstr>2. Containers </vt:lpstr>
      <vt:lpstr>PowerPoint Presentation</vt:lpstr>
      <vt:lpstr>3.Functors</vt:lpstr>
      <vt:lpstr>4. Iterators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 Handling in C++ using classes</dc:title>
  <dc:creator>Windows User</dc:creator>
  <cp:lastModifiedBy>Mousumi Hasan Mukti</cp:lastModifiedBy>
  <cp:revision>17</cp:revision>
  <dcterms:created xsi:type="dcterms:W3CDTF">2024-01-25T04:12:46Z</dcterms:created>
  <dcterms:modified xsi:type="dcterms:W3CDTF">2026-07-06T04:25:30Z</dcterms:modified>
</cp:coreProperties>
</file>