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16CC0-01B0-4DF9-AAEF-6DF3789E74B9}" v="321" dt="2023-08-12T15:32:58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11A19-DD13-4000-97FB-B56EC4D00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9CEAB2-BDA7-4E8E-B7A5-A484319C242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word “polymorphism” means having many forms. </a:t>
          </a:r>
          <a:endParaRPr lang="en-US"/>
        </a:p>
      </dgm:t>
    </dgm:pt>
    <dgm:pt modelId="{CCBC19A3-DC99-4BB5-9AC2-05F79390BD71}" type="parTrans" cxnId="{EFECA1E0-DA1E-4DCB-8DD9-50C52D07A0A5}">
      <dgm:prSet/>
      <dgm:spPr/>
      <dgm:t>
        <a:bodyPr/>
        <a:lstStyle/>
        <a:p>
          <a:endParaRPr lang="en-US"/>
        </a:p>
      </dgm:t>
    </dgm:pt>
    <dgm:pt modelId="{932A661F-4A45-4AE9-B8A7-2E67EBA9B2EC}" type="sibTrans" cxnId="{EFECA1E0-DA1E-4DCB-8DD9-50C52D07A0A5}">
      <dgm:prSet/>
      <dgm:spPr/>
      <dgm:t>
        <a:bodyPr/>
        <a:lstStyle/>
        <a:p>
          <a:endParaRPr lang="en-US"/>
        </a:p>
      </dgm:t>
    </dgm:pt>
    <dgm:pt modelId="{B83284C4-F280-4457-9089-3BC33696E8E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 simple words, we can define polymorphism as the ability of a message to be displayed in more than one form. </a:t>
          </a:r>
          <a:endParaRPr lang="en-US"/>
        </a:p>
      </dgm:t>
    </dgm:pt>
    <dgm:pt modelId="{4FA520A1-FB64-4C55-A870-A4450B66B260}" type="parTrans" cxnId="{F0066189-C365-4568-836E-C4ABEE442D1B}">
      <dgm:prSet/>
      <dgm:spPr/>
      <dgm:t>
        <a:bodyPr/>
        <a:lstStyle/>
        <a:p>
          <a:endParaRPr lang="en-US"/>
        </a:p>
      </dgm:t>
    </dgm:pt>
    <dgm:pt modelId="{2EAD80DB-ECE4-492F-BB9B-F5B0176D66C6}" type="sibTrans" cxnId="{F0066189-C365-4568-836E-C4ABEE442D1B}">
      <dgm:prSet/>
      <dgm:spPr/>
      <dgm:t>
        <a:bodyPr/>
        <a:lstStyle/>
        <a:p>
          <a:endParaRPr lang="en-US"/>
        </a:p>
      </dgm:t>
    </dgm:pt>
    <dgm:pt modelId="{F79F1B39-5CF8-4EC7-ACB0-D5232C89410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Polymorphism is considered one of the important features of Object-Oriented Programming.</a:t>
          </a:r>
          <a:endParaRPr lang="en-US"/>
        </a:p>
      </dgm:t>
    </dgm:pt>
    <dgm:pt modelId="{E6FBEA26-A5C6-44B6-A249-90A0DECC04C8}" type="parTrans" cxnId="{E5F92D11-7AFB-4159-B05D-6F1AD6B7D26C}">
      <dgm:prSet/>
      <dgm:spPr/>
      <dgm:t>
        <a:bodyPr/>
        <a:lstStyle/>
        <a:p>
          <a:endParaRPr lang="en-US"/>
        </a:p>
      </dgm:t>
    </dgm:pt>
    <dgm:pt modelId="{BFF4F25A-A059-4851-9A58-F0824F6003D6}" type="sibTrans" cxnId="{E5F92D11-7AFB-4159-B05D-6F1AD6B7D26C}">
      <dgm:prSet/>
      <dgm:spPr/>
      <dgm:t>
        <a:bodyPr/>
        <a:lstStyle/>
        <a:p>
          <a:endParaRPr lang="en-US"/>
        </a:p>
      </dgm:t>
    </dgm:pt>
    <dgm:pt modelId="{0330EE7F-8F0A-478C-B05C-3812FA2778E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Polymorphism is the method in an object-oriented programming language that performs different things as per the object's class, which calls it. </a:t>
          </a:r>
          <a:endParaRPr lang="en-US"/>
        </a:p>
      </dgm:t>
    </dgm:pt>
    <dgm:pt modelId="{274D8E08-77CE-4F01-BA8C-7D8652262CCA}" type="parTrans" cxnId="{7A03B8E4-B990-454B-BC3A-9F19E02AC340}">
      <dgm:prSet/>
      <dgm:spPr/>
      <dgm:t>
        <a:bodyPr/>
        <a:lstStyle/>
        <a:p>
          <a:endParaRPr lang="en-US"/>
        </a:p>
      </dgm:t>
    </dgm:pt>
    <dgm:pt modelId="{6B34CA0C-BCD6-4284-BBF2-716AA4D18889}" type="sibTrans" cxnId="{7A03B8E4-B990-454B-BC3A-9F19E02AC340}">
      <dgm:prSet/>
      <dgm:spPr/>
      <dgm:t>
        <a:bodyPr/>
        <a:lstStyle/>
        <a:p>
          <a:endParaRPr lang="en-US"/>
        </a:p>
      </dgm:t>
    </dgm:pt>
    <dgm:pt modelId="{6F704A3D-A84D-4477-A389-664C68BD19F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With Polymorphism, a message is sent to multiple class objects, and every object responds appropriately according to the properties of the class.</a:t>
          </a:r>
          <a:endParaRPr lang="en-US"/>
        </a:p>
      </dgm:t>
    </dgm:pt>
    <dgm:pt modelId="{B95AE19B-50B1-4A3D-933C-08E19C9B0CC4}" type="parTrans" cxnId="{AD0E42B6-CD5A-4BB3-A1E3-CBD0A559DCF7}">
      <dgm:prSet/>
      <dgm:spPr/>
      <dgm:t>
        <a:bodyPr/>
        <a:lstStyle/>
        <a:p>
          <a:endParaRPr lang="en-US"/>
        </a:p>
      </dgm:t>
    </dgm:pt>
    <dgm:pt modelId="{51684CC3-8462-4732-BDA0-8ED965DA8C01}" type="sibTrans" cxnId="{AD0E42B6-CD5A-4BB3-A1E3-CBD0A559DCF7}">
      <dgm:prSet/>
      <dgm:spPr/>
      <dgm:t>
        <a:bodyPr/>
        <a:lstStyle/>
        <a:p>
          <a:endParaRPr lang="en-US"/>
        </a:p>
      </dgm:t>
    </dgm:pt>
    <dgm:pt modelId="{91AF8951-6ED3-46AA-9160-117C4C81082D}" type="pres">
      <dgm:prSet presAssocID="{30911A19-DD13-4000-97FB-B56EC4D00E60}" presName="root" presStyleCnt="0">
        <dgm:presLayoutVars>
          <dgm:dir/>
          <dgm:resizeHandles val="exact"/>
        </dgm:presLayoutVars>
      </dgm:prSet>
      <dgm:spPr/>
    </dgm:pt>
    <dgm:pt modelId="{77A0DFD1-9802-4632-87FF-9FA9668DCE1D}" type="pres">
      <dgm:prSet presAssocID="{689CEAB2-BDA7-4E8E-B7A5-A484319C2425}" presName="compNode" presStyleCnt="0"/>
      <dgm:spPr/>
    </dgm:pt>
    <dgm:pt modelId="{1C8519E9-B95D-44D0-8E95-978775D30910}" type="pres">
      <dgm:prSet presAssocID="{689CEAB2-BDA7-4E8E-B7A5-A484319C2425}" presName="bgRect" presStyleLbl="bgShp" presStyleIdx="0" presStyleCnt="5"/>
      <dgm:spPr/>
    </dgm:pt>
    <dgm:pt modelId="{BDD9C282-E36C-4376-BF98-883E7FE09C05}" type="pres">
      <dgm:prSet presAssocID="{689CEAB2-BDA7-4E8E-B7A5-A484319C2425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DC03BEF-6B7C-4FA4-8FD0-965E29E2BEF1}" type="pres">
      <dgm:prSet presAssocID="{689CEAB2-BDA7-4E8E-B7A5-A484319C2425}" presName="spaceRect" presStyleCnt="0"/>
      <dgm:spPr/>
    </dgm:pt>
    <dgm:pt modelId="{BDF08EE3-283F-4E85-AD83-A34679F6AEDE}" type="pres">
      <dgm:prSet presAssocID="{689CEAB2-BDA7-4E8E-B7A5-A484319C2425}" presName="parTx" presStyleLbl="revTx" presStyleIdx="0" presStyleCnt="5">
        <dgm:presLayoutVars>
          <dgm:chMax val="0"/>
          <dgm:chPref val="0"/>
        </dgm:presLayoutVars>
      </dgm:prSet>
      <dgm:spPr/>
    </dgm:pt>
    <dgm:pt modelId="{4525D220-E46B-4685-BC13-5C5E99659411}" type="pres">
      <dgm:prSet presAssocID="{932A661F-4A45-4AE9-B8A7-2E67EBA9B2EC}" presName="sibTrans" presStyleCnt="0"/>
      <dgm:spPr/>
    </dgm:pt>
    <dgm:pt modelId="{A640DD1E-215F-46B8-8676-736C4532D533}" type="pres">
      <dgm:prSet presAssocID="{B83284C4-F280-4457-9089-3BC33696E8EA}" presName="compNode" presStyleCnt="0"/>
      <dgm:spPr/>
    </dgm:pt>
    <dgm:pt modelId="{E490F316-995C-4A9B-B82A-267399E9CD8B}" type="pres">
      <dgm:prSet presAssocID="{B83284C4-F280-4457-9089-3BC33696E8EA}" presName="bgRect" presStyleLbl="bgShp" presStyleIdx="1" presStyleCnt="5"/>
      <dgm:spPr/>
    </dgm:pt>
    <dgm:pt modelId="{C5431A24-00B6-43EC-87C8-5ABC8168828E}" type="pres">
      <dgm:prSet presAssocID="{B83284C4-F280-4457-9089-3BC33696E8EA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9E68B01-80D7-4B52-AA99-7F12BA598152}" type="pres">
      <dgm:prSet presAssocID="{B83284C4-F280-4457-9089-3BC33696E8EA}" presName="spaceRect" presStyleCnt="0"/>
      <dgm:spPr/>
    </dgm:pt>
    <dgm:pt modelId="{0730F39A-C39B-4530-BE48-EB4EEC9E0B48}" type="pres">
      <dgm:prSet presAssocID="{B83284C4-F280-4457-9089-3BC33696E8EA}" presName="parTx" presStyleLbl="revTx" presStyleIdx="1" presStyleCnt="5">
        <dgm:presLayoutVars>
          <dgm:chMax val="0"/>
          <dgm:chPref val="0"/>
        </dgm:presLayoutVars>
      </dgm:prSet>
      <dgm:spPr/>
    </dgm:pt>
    <dgm:pt modelId="{F74AB822-DC4D-401C-9633-71136D7CBCB5}" type="pres">
      <dgm:prSet presAssocID="{2EAD80DB-ECE4-492F-BB9B-F5B0176D66C6}" presName="sibTrans" presStyleCnt="0"/>
      <dgm:spPr/>
    </dgm:pt>
    <dgm:pt modelId="{EEB76DCF-3851-4B1B-AED1-17B40B293FF3}" type="pres">
      <dgm:prSet presAssocID="{F79F1B39-5CF8-4EC7-ACB0-D5232C894102}" presName="compNode" presStyleCnt="0"/>
      <dgm:spPr/>
    </dgm:pt>
    <dgm:pt modelId="{75C10BBA-2665-48DB-9F02-44EDF792898A}" type="pres">
      <dgm:prSet presAssocID="{F79F1B39-5CF8-4EC7-ACB0-D5232C894102}" presName="bgRect" presStyleLbl="bgShp" presStyleIdx="2" presStyleCnt="5"/>
      <dgm:spPr/>
    </dgm:pt>
    <dgm:pt modelId="{CDBDF11C-CF76-48A2-A327-9D936E8B06A1}" type="pres">
      <dgm:prSet presAssocID="{F79F1B39-5CF8-4EC7-ACB0-D5232C894102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A5150C9-1FD0-4BBA-87EA-889C5E3437DA}" type="pres">
      <dgm:prSet presAssocID="{F79F1B39-5CF8-4EC7-ACB0-D5232C894102}" presName="spaceRect" presStyleCnt="0"/>
      <dgm:spPr/>
    </dgm:pt>
    <dgm:pt modelId="{289BE595-85BE-4D4E-8745-10D2819ED2C7}" type="pres">
      <dgm:prSet presAssocID="{F79F1B39-5CF8-4EC7-ACB0-D5232C894102}" presName="parTx" presStyleLbl="revTx" presStyleIdx="2" presStyleCnt="5">
        <dgm:presLayoutVars>
          <dgm:chMax val="0"/>
          <dgm:chPref val="0"/>
        </dgm:presLayoutVars>
      </dgm:prSet>
      <dgm:spPr/>
    </dgm:pt>
    <dgm:pt modelId="{2222BEF9-3C6D-4BB7-8612-69DC616A4C4B}" type="pres">
      <dgm:prSet presAssocID="{BFF4F25A-A059-4851-9A58-F0824F6003D6}" presName="sibTrans" presStyleCnt="0"/>
      <dgm:spPr/>
    </dgm:pt>
    <dgm:pt modelId="{D60BBA9E-2D5D-4019-AE0E-35C2AEADD725}" type="pres">
      <dgm:prSet presAssocID="{0330EE7F-8F0A-478C-B05C-3812FA2778E5}" presName="compNode" presStyleCnt="0"/>
      <dgm:spPr/>
    </dgm:pt>
    <dgm:pt modelId="{F412CCA1-6A90-45F2-94CA-C63F1954D8A3}" type="pres">
      <dgm:prSet presAssocID="{0330EE7F-8F0A-478C-B05C-3812FA2778E5}" presName="bgRect" presStyleLbl="bgShp" presStyleIdx="3" presStyleCnt="5"/>
      <dgm:spPr/>
    </dgm:pt>
    <dgm:pt modelId="{CB6FC18B-1888-49DE-BAF3-315A4A40780D}" type="pres">
      <dgm:prSet presAssocID="{0330EE7F-8F0A-478C-B05C-3812FA2778E5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1041DFB-AD48-4A51-BC61-57C921ACEF63}" type="pres">
      <dgm:prSet presAssocID="{0330EE7F-8F0A-478C-B05C-3812FA2778E5}" presName="spaceRect" presStyleCnt="0"/>
      <dgm:spPr/>
    </dgm:pt>
    <dgm:pt modelId="{FC55241A-F2A8-4AD7-BAE7-A59E5082F5DA}" type="pres">
      <dgm:prSet presAssocID="{0330EE7F-8F0A-478C-B05C-3812FA2778E5}" presName="parTx" presStyleLbl="revTx" presStyleIdx="3" presStyleCnt="5">
        <dgm:presLayoutVars>
          <dgm:chMax val="0"/>
          <dgm:chPref val="0"/>
        </dgm:presLayoutVars>
      </dgm:prSet>
      <dgm:spPr/>
    </dgm:pt>
    <dgm:pt modelId="{0246D84B-168B-4C51-8D11-CBC958D10462}" type="pres">
      <dgm:prSet presAssocID="{6B34CA0C-BCD6-4284-BBF2-716AA4D18889}" presName="sibTrans" presStyleCnt="0"/>
      <dgm:spPr/>
    </dgm:pt>
    <dgm:pt modelId="{49F8BAF0-64CD-484E-95FE-E0C9D28BEC49}" type="pres">
      <dgm:prSet presAssocID="{6F704A3D-A84D-4477-A389-664C68BD19FB}" presName="compNode" presStyleCnt="0"/>
      <dgm:spPr/>
    </dgm:pt>
    <dgm:pt modelId="{12DD14A0-FB8C-46A8-9EC7-2ED0243B9444}" type="pres">
      <dgm:prSet presAssocID="{6F704A3D-A84D-4477-A389-664C68BD19FB}" presName="bgRect" presStyleLbl="bgShp" presStyleIdx="4" presStyleCnt="5"/>
      <dgm:spPr/>
    </dgm:pt>
    <dgm:pt modelId="{2BC11AE2-98A7-4F45-B2D5-9EA088AE7FD6}" type="pres">
      <dgm:prSet presAssocID="{6F704A3D-A84D-4477-A389-664C68BD19FB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9699E4CD-3AB6-47E5-8481-CB157AF5964A}" type="pres">
      <dgm:prSet presAssocID="{6F704A3D-A84D-4477-A389-664C68BD19FB}" presName="spaceRect" presStyleCnt="0"/>
      <dgm:spPr/>
    </dgm:pt>
    <dgm:pt modelId="{FD71AFDE-3937-4CE4-A7D4-4A01FC087D51}" type="pres">
      <dgm:prSet presAssocID="{6F704A3D-A84D-4477-A389-664C68BD19F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5F92D11-7AFB-4159-B05D-6F1AD6B7D26C}" srcId="{30911A19-DD13-4000-97FB-B56EC4D00E60}" destId="{F79F1B39-5CF8-4EC7-ACB0-D5232C894102}" srcOrd="2" destOrd="0" parTransId="{E6FBEA26-A5C6-44B6-A249-90A0DECC04C8}" sibTransId="{BFF4F25A-A059-4851-9A58-F0824F6003D6}"/>
    <dgm:cxn modelId="{5B48E314-0FEF-4893-A22D-9E3DFEBC7AF5}" type="presOf" srcId="{30911A19-DD13-4000-97FB-B56EC4D00E60}" destId="{91AF8951-6ED3-46AA-9160-117C4C81082D}" srcOrd="0" destOrd="0" presId="urn:microsoft.com/office/officeart/2018/2/layout/IconVerticalSolidList"/>
    <dgm:cxn modelId="{B6583642-B320-4547-AA91-921A01992CB0}" type="presOf" srcId="{B83284C4-F280-4457-9089-3BC33696E8EA}" destId="{0730F39A-C39B-4530-BE48-EB4EEC9E0B48}" srcOrd="0" destOrd="0" presId="urn:microsoft.com/office/officeart/2018/2/layout/IconVerticalSolidList"/>
    <dgm:cxn modelId="{A6E92E75-2883-4AA9-8585-44FF21AFAF7A}" type="presOf" srcId="{F79F1B39-5CF8-4EC7-ACB0-D5232C894102}" destId="{289BE595-85BE-4D4E-8745-10D2819ED2C7}" srcOrd="0" destOrd="0" presId="urn:microsoft.com/office/officeart/2018/2/layout/IconVerticalSolidList"/>
    <dgm:cxn modelId="{FC44F580-7F1F-4AD5-A864-228645E4A8A6}" type="presOf" srcId="{6F704A3D-A84D-4477-A389-664C68BD19FB}" destId="{FD71AFDE-3937-4CE4-A7D4-4A01FC087D51}" srcOrd="0" destOrd="0" presId="urn:microsoft.com/office/officeart/2018/2/layout/IconVerticalSolidList"/>
    <dgm:cxn modelId="{F0066189-C365-4568-836E-C4ABEE442D1B}" srcId="{30911A19-DD13-4000-97FB-B56EC4D00E60}" destId="{B83284C4-F280-4457-9089-3BC33696E8EA}" srcOrd="1" destOrd="0" parTransId="{4FA520A1-FB64-4C55-A870-A4450B66B260}" sibTransId="{2EAD80DB-ECE4-492F-BB9B-F5B0176D66C6}"/>
    <dgm:cxn modelId="{608FE8A8-2625-4664-AE26-A64A4D5382AA}" type="presOf" srcId="{689CEAB2-BDA7-4E8E-B7A5-A484319C2425}" destId="{BDF08EE3-283F-4E85-AD83-A34679F6AEDE}" srcOrd="0" destOrd="0" presId="urn:microsoft.com/office/officeart/2018/2/layout/IconVerticalSolidList"/>
    <dgm:cxn modelId="{AD0E42B6-CD5A-4BB3-A1E3-CBD0A559DCF7}" srcId="{30911A19-DD13-4000-97FB-B56EC4D00E60}" destId="{6F704A3D-A84D-4477-A389-664C68BD19FB}" srcOrd="4" destOrd="0" parTransId="{B95AE19B-50B1-4A3D-933C-08E19C9B0CC4}" sibTransId="{51684CC3-8462-4732-BDA0-8ED965DA8C01}"/>
    <dgm:cxn modelId="{618C9ACF-5AD5-4B1F-B6A4-F7F45488AA89}" type="presOf" srcId="{0330EE7F-8F0A-478C-B05C-3812FA2778E5}" destId="{FC55241A-F2A8-4AD7-BAE7-A59E5082F5DA}" srcOrd="0" destOrd="0" presId="urn:microsoft.com/office/officeart/2018/2/layout/IconVerticalSolidList"/>
    <dgm:cxn modelId="{EFECA1E0-DA1E-4DCB-8DD9-50C52D07A0A5}" srcId="{30911A19-DD13-4000-97FB-B56EC4D00E60}" destId="{689CEAB2-BDA7-4E8E-B7A5-A484319C2425}" srcOrd="0" destOrd="0" parTransId="{CCBC19A3-DC99-4BB5-9AC2-05F79390BD71}" sibTransId="{932A661F-4A45-4AE9-B8A7-2E67EBA9B2EC}"/>
    <dgm:cxn modelId="{7A03B8E4-B990-454B-BC3A-9F19E02AC340}" srcId="{30911A19-DD13-4000-97FB-B56EC4D00E60}" destId="{0330EE7F-8F0A-478C-B05C-3812FA2778E5}" srcOrd="3" destOrd="0" parTransId="{274D8E08-77CE-4F01-BA8C-7D8652262CCA}" sibTransId="{6B34CA0C-BCD6-4284-BBF2-716AA4D18889}"/>
    <dgm:cxn modelId="{F534A2A7-1FE9-4C83-A85A-5D35E723C4BD}" type="presParOf" srcId="{91AF8951-6ED3-46AA-9160-117C4C81082D}" destId="{77A0DFD1-9802-4632-87FF-9FA9668DCE1D}" srcOrd="0" destOrd="0" presId="urn:microsoft.com/office/officeart/2018/2/layout/IconVerticalSolidList"/>
    <dgm:cxn modelId="{C449EF8B-8837-4C3D-BC60-45C06A2D2A14}" type="presParOf" srcId="{77A0DFD1-9802-4632-87FF-9FA9668DCE1D}" destId="{1C8519E9-B95D-44D0-8E95-978775D30910}" srcOrd="0" destOrd="0" presId="urn:microsoft.com/office/officeart/2018/2/layout/IconVerticalSolidList"/>
    <dgm:cxn modelId="{3F2CF429-A83E-408C-B143-94F18E831403}" type="presParOf" srcId="{77A0DFD1-9802-4632-87FF-9FA9668DCE1D}" destId="{BDD9C282-E36C-4376-BF98-883E7FE09C05}" srcOrd="1" destOrd="0" presId="urn:microsoft.com/office/officeart/2018/2/layout/IconVerticalSolidList"/>
    <dgm:cxn modelId="{ABEEFFF0-9AE6-455D-8862-44A0E24C454E}" type="presParOf" srcId="{77A0DFD1-9802-4632-87FF-9FA9668DCE1D}" destId="{0DC03BEF-6B7C-4FA4-8FD0-965E29E2BEF1}" srcOrd="2" destOrd="0" presId="urn:microsoft.com/office/officeart/2018/2/layout/IconVerticalSolidList"/>
    <dgm:cxn modelId="{1E01F468-B321-4745-BD4D-749A56FC1B84}" type="presParOf" srcId="{77A0DFD1-9802-4632-87FF-9FA9668DCE1D}" destId="{BDF08EE3-283F-4E85-AD83-A34679F6AEDE}" srcOrd="3" destOrd="0" presId="urn:microsoft.com/office/officeart/2018/2/layout/IconVerticalSolidList"/>
    <dgm:cxn modelId="{F9AB5779-F0D4-49B5-97A6-659566A7F446}" type="presParOf" srcId="{91AF8951-6ED3-46AA-9160-117C4C81082D}" destId="{4525D220-E46B-4685-BC13-5C5E99659411}" srcOrd="1" destOrd="0" presId="urn:microsoft.com/office/officeart/2018/2/layout/IconVerticalSolidList"/>
    <dgm:cxn modelId="{4F6B3BE6-041F-447D-A2D1-63684CC2D846}" type="presParOf" srcId="{91AF8951-6ED3-46AA-9160-117C4C81082D}" destId="{A640DD1E-215F-46B8-8676-736C4532D533}" srcOrd="2" destOrd="0" presId="urn:microsoft.com/office/officeart/2018/2/layout/IconVerticalSolidList"/>
    <dgm:cxn modelId="{3F637EB4-9438-4416-BBB0-E82A6F7A9EC0}" type="presParOf" srcId="{A640DD1E-215F-46B8-8676-736C4532D533}" destId="{E490F316-995C-4A9B-B82A-267399E9CD8B}" srcOrd="0" destOrd="0" presId="urn:microsoft.com/office/officeart/2018/2/layout/IconVerticalSolidList"/>
    <dgm:cxn modelId="{CDD2E88A-BEB2-48E9-9C0A-AE3162B1C99F}" type="presParOf" srcId="{A640DD1E-215F-46B8-8676-736C4532D533}" destId="{C5431A24-00B6-43EC-87C8-5ABC8168828E}" srcOrd="1" destOrd="0" presId="urn:microsoft.com/office/officeart/2018/2/layout/IconVerticalSolidList"/>
    <dgm:cxn modelId="{8F6DF360-E581-44EC-B25A-B414294970FA}" type="presParOf" srcId="{A640DD1E-215F-46B8-8676-736C4532D533}" destId="{59E68B01-80D7-4B52-AA99-7F12BA598152}" srcOrd="2" destOrd="0" presId="urn:microsoft.com/office/officeart/2018/2/layout/IconVerticalSolidList"/>
    <dgm:cxn modelId="{A3590B18-AA26-4D03-85D4-7E21585A7C65}" type="presParOf" srcId="{A640DD1E-215F-46B8-8676-736C4532D533}" destId="{0730F39A-C39B-4530-BE48-EB4EEC9E0B48}" srcOrd="3" destOrd="0" presId="urn:microsoft.com/office/officeart/2018/2/layout/IconVerticalSolidList"/>
    <dgm:cxn modelId="{4502BAB6-B41E-4A28-BF59-5CAF2A3FED01}" type="presParOf" srcId="{91AF8951-6ED3-46AA-9160-117C4C81082D}" destId="{F74AB822-DC4D-401C-9633-71136D7CBCB5}" srcOrd="3" destOrd="0" presId="urn:microsoft.com/office/officeart/2018/2/layout/IconVerticalSolidList"/>
    <dgm:cxn modelId="{644EDAAE-9D06-4574-85DC-ACCAF2E4C33C}" type="presParOf" srcId="{91AF8951-6ED3-46AA-9160-117C4C81082D}" destId="{EEB76DCF-3851-4B1B-AED1-17B40B293FF3}" srcOrd="4" destOrd="0" presId="urn:microsoft.com/office/officeart/2018/2/layout/IconVerticalSolidList"/>
    <dgm:cxn modelId="{2E13428D-2720-4FDA-9094-9771CBD65EBD}" type="presParOf" srcId="{EEB76DCF-3851-4B1B-AED1-17B40B293FF3}" destId="{75C10BBA-2665-48DB-9F02-44EDF792898A}" srcOrd="0" destOrd="0" presId="urn:microsoft.com/office/officeart/2018/2/layout/IconVerticalSolidList"/>
    <dgm:cxn modelId="{90F87C51-5443-4028-8CF4-35315EA78EA0}" type="presParOf" srcId="{EEB76DCF-3851-4B1B-AED1-17B40B293FF3}" destId="{CDBDF11C-CF76-48A2-A327-9D936E8B06A1}" srcOrd="1" destOrd="0" presId="urn:microsoft.com/office/officeart/2018/2/layout/IconVerticalSolidList"/>
    <dgm:cxn modelId="{0E62A0EA-B516-4CE4-BCA4-F975EDE50931}" type="presParOf" srcId="{EEB76DCF-3851-4B1B-AED1-17B40B293FF3}" destId="{BA5150C9-1FD0-4BBA-87EA-889C5E3437DA}" srcOrd="2" destOrd="0" presId="urn:microsoft.com/office/officeart/2018/2/layout/IconVerticalSolidList"/>
    <dgm:cxn modelId="{2A39E7A5-BF2C-4074-BB0B-7720A87F0C27}" type="presParOf" srcId="{EEB76DCF-3851-4B1B-AED1-17B40B293FF3}" destId="{289BE595-85BE-4D4E-8745-10D2819ED2C7}" srcOrd="3" destOrd="0" presId="urn:microsoft.com/office/officeart/2018/2/layout/IconVerticalSolidList"/>
    <dgm:cxn modelId="{4D3384D3-15E2-40F5-9FB5-1882823570DD}" type="presParOf" srcId="{91AF8951-6ED3-46AA-9160-117C4C81082D}" destId="{2222BEF9-3C6D-4BB7-8612-69DC616A4C4B}" srcOrd="5" destOrd="0" presId="urn:microsoft.com/office/officeart/2018/2/layout/IconVerticalSolidList"/>
    <dgm:cxn modelId="{E7DD9715-5198-4D0A-8ED7-B826EB54DD06}" type="presParOf" srcId="{91AF8951-6ED3-46AA-9160-117C4C81082D}" destId="{D60BBA9E-2D5D-4019-AE0E-35C2AEADD725}" srcOrd="6" destOrd="0" presId="urn:microsoft.com/office/officeart/2018/2/layout/IconVerticalSolidList"/>
    <dgm:cxn modelId="{4059FF24-6799-425D-B294-BCEE5EC4ACB8}" type="presParOf" srcId="{D60BBA9E-2D5D-4019-AE0E-35C2AEADD725}" destId="{F412CCA1-6A90-45F2-94CA-C63F1954D8A3}" srcOrd="0" destOrd="0" presId="urn:microsoft.com/office/officeart/2018/2/layout/IconVerticalSolidList"/>
    <dgm:cxn modelId="{20A5F92D-E520-4C9B-B53D-BE099CF73E71}" type="presParOf" srcId="{D60BBA9E-2D5D-4019-AE0E-35C2AEADD725}" destId="{CB6FC18B-1888-49DE-BAF3-315A4A40780D}" srcOrd="1" destOrd="0" presId="urn:microsoft.com/office/officeart/2018/2/layout/IconVerticalSolidList"/>
    <dgm:cxn modelId="{2088CB38-EFEC-4748-A0BB-52894E7D4B2B}" type="presParOf" srcId="{D60BBA9E-2D5D-4019-AE0E-35C2AEADD725}" destId="{21041DFB-AD48-4A51-BC61-57C921ACEF63}" srcOrd="2" destOrd="0" presId="urn:microsoft.com/office/officeart/2018/2/layout/IconVerticalSolidList"/>
    <dgm:cxn modelId="{35870978-E31D-4C78-83B2-0D472B44FBB3}" type="presParOf" srcId="{D60BBA9E-2D5D-4019-AE0E-35C2AEADD725}" destId="{FC55241A-F2A8-4AD7-BAE7-A59E5082F5DA}" srcOrd="3" destOrd="0" presId="urn:microsoft.com/office/officeart/2018/2/layout/IconVerticalSolidList"/>
    <dgm:cxn modelId="{975F3095-F114-4143-90CF-B8045EBCF1D4}" type="presParOf" srcId="{91AF8951-6ED3-46AA-9160-117C4C81082D}" destId="{0246D84B-168B-4C51-8D11-CBC958D10462}" srcOrd="7" destOrd="0" presId="urn:microsoft.com/office/officeart/2018/2/layout/IconVerticalSolidList"/>
    <dgm:cxn modelId="{876AB8A0-A21B-4506-8B9C-1E8ACE127C48}" type="presParOf" srcId="{91AF8951-6ED3-46AA-9160-117C4C81082D}" destId="{49F8BAF0-64CD-484E-95FE-E0C9D28BEC49}" srcOrd="8" destOrd="0" presId="urn:microsoft.com/office/officeart/2018/2/layout/IconVerticalSolidList"/>
    <dgm:cxn modelId="{66DFE463-C27C-4E6B-AA95-742E54E079C2}" type="presParOf" srcId="{49F8BAF0-64CD-484E-95FE-E0C9D28BEC49}" destId="{12DD14A0-FB8C-46A8-9EC7-2ED0243B9444}" srcOrd="0" destOrd="0" presId="urn:microsoft.com/office/officeart/2018/2/layout/IconVerticalSolidList"/>
    <dgm:cxn modelId="{0AFFC546-25F2-48D5-8782-111FA363FAB2}" type="presParOf" srcId="{49F8BAF0-64CD-484E-95FE-E0C9D28BEC49}" destId="{2BC11AE2-98A7-4F45-B2D5-9EA088AE7FD6}" srcOrd="1" destOrd="0" presId="urn:microsoft.com/office/officeart/2018/2/layout/IconVerticalSolidList"/>
    <dgm:cxn modelId="{D2865461-6CD6-42DA-907C-7E301F7B9B91}" type="presParOf" srcId="{49F8BAF0-64CD-484E-95FE-E0C9D28BEC49}" destId="{9699E4CD-3AB6-47E5-8481-CB157AF5964A}" srcOrd="2" destOrd="0" presId="urn:microsoft.com/office/officeart/2018/2/layout/IconVerticalSolidList"/>
    <dgm:cxn modelId="{F3B5713B-1CB9-44DD-AC92-BD0789F4BADC}" type="presParOf" srcId="{49F8BAF0-64CD-484E-95FE-E0C9D28BEC49}" destId="{FD71AFDE-3937-4CE4-A7D4-4A01FC087D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519E9-B95D-44D0-8E95-978775D30910}">
      <dsp:nvSpPr>
        <dsp:cNvPr id="0" name=""/>
        <dsp:cNvSpPr/>
      </dsp:nvSpPr>
      <dsp:spPr>
        <a:xfrm>
          <a:off x="0" y="4508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9C282-E36C-4376-BF98-883E7FE09C05}">
      <dsp:nvSpPr>
        <dsp:cNvPr id="0" name=""/>
        <dsp:cNvSpPr/>
      </dsp:nvSpPr>
      <dsp:spPr>
        <a:xfrm>
          <a:off x="290487" y="220573"/>
          <a:ext cx="528159" cy="52815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08EE3-283F-4E85-AD83-A34679F6AEDE}">
      <dsp:nvSpPr>
        <dsp:cNvPr id="0" name=""/>
        <dsp:cNvSpPr/>
      </dsp:nvSpPr>
      <dsp:spPr>
        <a:xfrm>
          <a:off x="1109134" y="4508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The word “polymorphism” means having many forms. </a:t>
          </a:r>
          <a:endParaRPr lang="en-US" sz="1400" kern="1200"/>
        </a:p>
      </dsp:txBody>
      <dsp:txXfrm>
        <a:off x="1109134" y="4508"/>
        <a:ext cx="6152402" cy="960290"/>
      </dsp:txXfrm>
    </dsp:sp>
    <dsp:sp modelId="{E490F316-995C-4A9B-B82A-267399E9CD8B}">
      <dsp:nvSpPr>
        <dsp:cNvPr id="0" name=""/>
        <dsp:cNvSpPr/>
      </dsp:nvSpPr>
      <dsp:spPr>
        <a:xfrm>
          <a:off x="0" y="1204870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31A24-00B6-43EC-87C8-5ABC8168828E}">
      <dsp:nvSpPr>
        <dsp:cNvPr id="0" name=""/>
        <dsp:cNvSpPr/>
      </dsp:nvSpPr>
      <dsp:spPr>
        <a:xfrm>
          <a:off x="290487" y="1420936"/>
          <a:ext cx="528159" cy="52815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0F39A-C39B-4530-BE48-EB4EEC9E0B48}">
      <dsp:nvSpPr>
        <dsp:cNvPr id="0" name=""/>
        <dsp:cNvSpPr/>
      </dsp:nvSpPr>
      <dsp:spPr>
        <a:xfrm>
          <a:off x="1109134" y="1204870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 simple words, we can define polymorphism as the ability of a message to be displayed in more than one form. </a:t>
          </a:r>
          <a:endParaRPr lang="en-US" sz="1400" kern="1200"/>
        </a:p>
      </dsp:txBody>
      <dsp:txXfrm>
        <a:off x="1109134" y="1204870"/>
        <a:ext cx="6152402" cy="960290"/>
      </dsp:txXfrm>
    </dsp:sp>
    <dsp:sp modelId="{75C10BBA-2665-48DB-9F02-44EDF792898A}">
      <dsp:nvSpPr>
        <dsp:cNvPr id="0" name=""/>
        <dsp:cNvSpPr/>
      </dsp:nvSpPr>
      <dsp:spPr>
        <a:xfrm>
          <a:off x="0" y="2405233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DF11C-CF76-48A2-A327-9D936E8B06A1}">
      <dsp:nvSpPr>
        <dsp:cNvPr id="0" name=""/>
        <dsp:cNvSpPr/>
      </dsp:nvSpPr>
      <dsp:spPr>
        <a:xfrm>
          <a:off x="290487" y="2621298"/>
          <a:ext cx="528159" cy="52815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BE595-85BE-4D4E-8745-10D2819ED2C7}">
      <dsp:nvSpPr>
        <dsp:cNvPr id="0" name=""/>
        <dsp:cNvSpPr/>
      </dsp:nvSpPr>
      <dsp:spPr>
        <a:xfrm>
          <a:off x="1109134" y="2405233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Polymorphism is considered one of the important features of Object-Oriented Programming.</a:t>
          </a:r>
          <a:endParaRPr lang="en-US" sz="1400" kern="1200"/>
        </a:p>
      </dsp:txBody>
      <dsp:txXfrm>
        <a:off x="1109134" y="2405233"/>
        <a:ext cx="6152402" cy="960290"/>
      </dsp:txXfrm>
    </dsp:sp>
    <dsp:sp modelId="{F412CCA1-6A90-45F2-94CA-C63F1954D8A3}">
      <dsp:nvSpPr>
        <dsp:cNvPr id="0" name=""/>
        <dsp:cNvSpPr/>
      </dsp:nvSpPr>
      <dsp:spPr>
        <a:xfrm>
          <a:off x="0" y="3605596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FC18B-1888-49DE-BAF3-315A4A40780D}">
      <dsp:nvSpPr>
        <dsp:cNvPr id="0" name=""/>
        <dsp:cNvSpPr/>
      </dsp:nvSpPr>
      <dsp:spPr>
        <a:xfrm>
          <a:off x="290487" y="3821661"/>
          <a:ext cx="528159" cy="528159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5241A-F2A8-4AD7-BAE7-A59E5082F5DA}">
      <dsp:nvSpPr>
        <dsp:cNvPr id="0" name=""/>
        <dsp:cNvSpPr/>
      </dsp:nvSpPr>
      <dsp:spPr>
        <a:xfrm>
          <a:off x="1109134" y="3605596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Polymorphism is the method in an object-oriented programming language that performs different things as per the object's class, which calls it. </a:t>
          </a:r>
          <a:endParaRPr lang="en-US" sz="1400" kern="1200"/>
        </a:p>
      </dsp:txBody>
      <dsp:txXfrm>
        <a:off x="1109134" y="3605596"/>
        <a:ext cx="6152402" cy="960290"/>
      </dsp:txXfrm>
    </dsp:sp>
    <dsp:sp modelId="{12DD14A0-FB8C-46A8-9EC7-2ED0243B9444}">
      <dsp:nvSpPr>
        <dsp:cNvPr id="0" name=""/>
        <dsp:cNvSpPr/>
      </dsp:nvSpPr>
      <dsp:spPr>
        <a:xfrm>
          <a:off x="0" y="4805958"/>
          <a:ext cx="7261537" cy="9602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11AE2-98A7-4F45-B2D5-9EA088AE7FD6}">
      <dsp:nvSpPr>
        <dsp:cNvPr id="0" name=""/>
        <dsp:cNvSpPr/>
      </dsp:nvSpPr>
      <dsp:spPr>
        <a:xfrm>
          <a:off x="290487" y="5022023"/>
          <a:ext cx="528159" cy="52815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1AFDE-3937-4CE4-A7D4-4A01FC087D51}">
      <dsp:nvSpPr>
        <dsp:cNvPr id="0" name=""/>
        <dsp:cNvSpPr/>
      </dsp:nvSpPr>
      <dsp:spPr>
        <a:xfrm>
          <a:off x="1109134" y="4805958"/>
          <a:ext cx="6152402" cy="960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1" tIns="101631" rIns="101631" bIns="10163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With Polymorphism, a message is sent to multiple class objects, and every object responds appropriately according to the properties of the class.</a:t>
          </a:r>
          <a:endParaRPr lang="en-US" sz="1400" kern="1200"/>
        </a:p>
      </dsp:txBody>
      <dsp:txXfrm>
        <a:off x="1109134" y="4805958"/>
        <a:ext cx="6152402" cy="960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3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4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9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9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4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3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7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5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28-Oct-24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0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7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28-Oct-24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7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900" spc="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56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 spc="12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AF30CFE-E4FF-43C7-90BF-54AABC3A3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FC137C-7F97-41FA-86A1-2E01C3837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8447" y="0"/>
            <a:ext cx="52660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918EA08-F7D2-4D19-9224-994CE251A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221" y="-1"/>
            <a:ext cx="8755258" cy="6858000"/>
          </a:xfrm>
          <a:custGeom>
            <a:avLst/>
            <a:gdLst>
              <a:gd name="connsiteX0" fmla="*/ 0 w 8755258"/>
              <a:gd name="connsiteY0" fmla="*/ 0 h 6858000"/>
              <a:gd name="connsiteX1" fmla="*/ 5326258 w 8755258"/>
              <a:gd name="connsiteY1" fmla="*/ 0 h 6858000"/>
              <a:gd name="connsiteX2" fmla="*/ 5411299 w 8755258"/>
              <a:gd name="connsiteY2" fmla="*/ 0 h 6858000"/>
              <a:gd name="connsiteX3" fmla="*/ 5411299 w 8755258"/>
              <a:gd name="connsiteY3" fmla="*/ 2150 h 6858000"/>
              <a:gd name="connsiteX4" fmla="*/ 5502714 w 8755258"/>
              <a:gd name="connsiteY4" fmla="*/ 4462 h 6858000"/>
              <a:gd name="connsiteX5" fmla="*/ 8755258 w 8755258"/>
              <a:gd name="connsiteY5" fmla="*/ 3429000 h 6858000"/>
              <a:gd name="connsiteX6" fmla="*/ 5502714 w 8755258"/>
              <a:gd name="connsiteY6" fmla="*/ 6853538 h 6858000"/>
              <a:gd name="connsiteX7" fmla="*/ 5411299 w 8755258"/>
              <a:gd name="connsiteY7" fmla="*/ 6855850 h 6858000"/>
              <a:gd name="connsiteX8" fmla="*/ 5411299 w 8755258"/>
              <a:gd name="connsiteY8" fmla="*/ 6857987 h 6858000"/>
              <a:gd name="connsiteX9" fmla="*/ 5326772 w 8755258"/>
              <a:gd name="connsiteY9" fmla="*/ 6857987 h 6858000"/>
              <a:gd name="connsiteX10" fmla="*/ 5326258 w 8755258"/>
              <a:gd name="connsiteY10" fmla="*/ 6858000 h 6858000"/>
              <a:gd name="connsiteX11" fmla="*/ 5325745 w 8755258"/>
              <a:gd name="connsiteY11" fmla="*/ 6857987 h 6858000"/>
              <a:gd name="connsiteX12" fmla="*/ 0 w 8755258"/>
              <a:gd name="connsiteY12" fmla="*/ 68579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755258" h="6858000">
                <a:moveTo>
                  <a:pt x="0" y="0"/>
                </a:moveTo>
                <a:lnTo>
                  <a:pt x="5326258" y="0"/>
                </a:lnTo>
                <a:lnTo>
                  <a:pt x="5411299" y="0"/>
                </a:lnTo>
                <a:lnTo>
                  <a:pt x="5411299" y="2150"/>
                </a:lnTo>
                <a:lnTo>
                  <a:pt x="5502714" y="4462"/>
                </a:lnTo>
                <a:cubicBezTo>
                  <a:pt x="7314494" y="96301"/>
                  <a:pt x="8755258" y="1594397"/>
                  <a:pt x="8755258" y="3429000"/>
                </a:cubicBezTo>
                <a:cubicBezTo>
                  <a:pt x="8755258" y="5263603"/>
                  <a:pt x="7314494" y="6761699"/>
                  <a:pt x="5502714" y="6853538"/>
                </a:cubicBezTo>
                <a:lnTo>
                  <a:pt x="5411299" y="6855850"/>
                </a:lnTo>
                <a:lnTo>
                  <a:pt x="5411299" y="6857987"/>
                </a:lnTo>
                <a:lnTo>
                  <a:pt x="5326772" y="6857987"/>
                </a:lnTo>
                <a:lnTo>
                  <a:pt x="5326258" y="6858000"/>
                </a:lnTo>
                <a:lnTo>
                  <a:pt x="5325745" y="6857987"/>
                </a:lnTo>
                <a:lnTo>
                  <a:pt x="0" y="685798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4728" y="1597961"/>
            <a:ext cx="5266080" cy="3162300"/>
          </a:xfrm>
        </p:spPr>
        <p:txBody>
          <a:bodyPr>
            <a:normAutofit/>
          </a:bodyPr>
          <a:lstStyle/>
          <a:p>
            <a:r>
              <a:rPr lang="en-GB" dirty="0">
                <a:cs typeface="Calibri Light"/>
              </a:rPr>
              <a:t>Polymorphism in C++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7B0098-64CB-4CA2-913F-B6361A640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5493" y="-1"/>
            <a:ext cx="3458738" cy="3428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58BB3D-7B21-46A3-B0D6-AB9D1578D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58139" y="-22647"/>
            <a:ext cx="3428989" cy="3474281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1D6B41-589D-4DD8-9A1B-34C4CF076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5493" y="3434976"/>
            <a:ext cx="3456507" cy="34289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E55F008-418D-4A3D-9F43-E50DF4BA7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35493" y="3429002"/>
            <a:ext cx="3456020" cy="1718477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3A964CF-9B08-4310-A326-19181F907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35493" y="5139536"/>
            <a:ext cx="3456020" cy="1718477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41B9-A0B4-0F32-F022-ECF871A9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513" y="59076"/>
            <a:ext cx="4731122" cy="572848"/>
          </a:xfrm>
        </p:spPr>
        <p:txBody>
          <a:bodyPr/>
          <a:lstStyle/>
          <a:p>
            <a:r>
              <a:rPr lang="en-GB" u="sng" dirty="0">
                <a:ea typeface="Malgun Gothic Semilight"/>
                <a:cs typeface="Malgun Gothic Semilight"/>
              </a:rPr>
              <a:t>Polymorphism</a:t>
            </a:r>
            <a:r>
              <a:rPr lang="en-GB" dirty="0">
                <a:ea typeface="Malgun Gothic Semilight"/>
                <a:cs typeface="Malgun Gothic Semilight"/>
              </a:rPr>
              <a:t> </a:t>
            </a:r>
            <a:endParaRPr lang="en-GB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4E73DB6-3890-F1C7-38C2-F67E32C94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189994"/>
              </p:ext>
            </p:extLst>
          </p:nvPr>
        </p:nvGraphicFramePr>
        <p:xfrm>
          <a:off x="70947" y="788299"/>
          <a:ext cx="7261537" cy="577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group of cartoon characters&#10;&#10;Description automatically generated">
            <a:extLst>
              <a:ext uri="{FF2B5EF4-FFF2-40B4-BE49-F238E27FC236}">
                <a16:creationId xmlns:a16="http://schemas.microsoft.com/office/drawing/2014/main" id="{3C1EEAA4-5817-925E-B682-99F361B8B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890" y="1376040"/>
            <a:ext cx="4800942" cy="34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41B9-A0B4-0F32-F022-ECF871A9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947" y="73453"/>
            <a:ext cx="5866933" cy="572848"/>
          </a:xfrm>
        </p:spPr>
        <p:txBody>
          <a:bodyPr/>
          <a:lstStyle/>
          <a:p>
            <a:r>
              <a:rPr lang="en-GB" u="sng" dirty="0">
                <a:ea typeface="Malgun Gothic Semilight"/>
                <a:cs typeface="Malgun Gothic Semilight"/>
              </a:rPr>
              <a:t>Types of Polymorphism</a:t>
            </a:r>
            <a:r>
              <a:rPr lang="en-GB" dirty="0">
                <a:ea typeface="Malgun Gothic Semilight"/>
                <a:cs typeface="Malgun Gothic Semilight"/>
              </a:rPr>
              <a:t> </a:t>
            </a:r>
            <a:endParaRPr lang="en-GB" dirty="0"/>
          </a:p>
        </p:txBody>
      </p:sp>
      <p:pic>
        <p:nvPicPr>
          <p:cNvPr id="18" name="Content Placeholder 17" descr="A diagram of polymorphosis&#10;&#10;Description automatically generated">
            <a:extLst>
              <a:ext uri="{FF2B5EF4-FFF2-40B4-BE49-F238E27FC236}">
                <a16:creationId xmlns:a16="http://schemas.microsoft.com/office/drawing/2014/main" id="{9B2A421C-6D9B-92F2-3A72-D17440E36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908" y="891389"/>
            <a:ext cx="8483540" cy="4838520"/>
          </a:xfrm>
        </p:spPr>
      </p:pic>
    </p:spTree>
    <p:extLst>
      <p:ext uri="{BB962C8B-B14F-4D97-AF65-F5344CB8AC3E}">
        <p14:creationId xmlns:p14="http://schemas.microsoft.com/office/powerpoint/2010/main" val="389748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362EDFF-7BE1-4149-A745-FFD7211E6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CE4732BA-3F45-3D71-04C4-942EDD9BE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9115" b="-2"/>
          <a:stretch/>
        </p:blipFill>
        <p:spPr>
          <a:xfrm>
            <a:off x="-228340" y="-203190"/>
            <a:ext cx="1230604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1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FF3597-294D-4BCC-9A3B-F73618BFB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8B944-2707-9264-804E-98E2759D8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74" y="648548"/>
            <a:ext cx="6397165" cy="989791"/>
          </a:xfrm>
        </p:spPr>
        <p:txBody>
          <a:bodyPr>
            <a:normAutofit/>
          </a:bodyPr>
          <a:lstStyle/>
          <a:p>
            <a:r>
              <a:rPr lang="en-GB" u="sng" dirty="0">
                <a:ea typeface="+mj-lt"/>
                <a:cs typeface="+mj-lt"/>
              </a:rPr>
              <a:t>Static vs. Dynamic Binding</a:t>
            </a:r>
            <a:endParaRPr lang="en-US" u="sng" dirty="0"/>
          </a:p>
          <a:p>
            <a:endParaRPr lang="en-GB" dirty="0">
              <a:ea typeface="Malgun Gothic Semilight"/>
              <a:cs typeface="Malgun Gothic Semi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71641-ADBB-6360-7058-DF55F27CC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75" y="1643750"/>
            <a:ext cx="8251843" cy="3513514"/>
          </a:xfrm>
        </p:spPr>
        <p:txBody>
          <a:bodyPr lIns="109728" tIns="109728" rIns="109728" bIns="91440" anchor="t">
            <a:noAutofit/>
          </a:bodyPr>
          <a:lstStyle/>
          <a:p>
            <a:r>
              <a:rPr lang="en-GB" sz="2400" b="1" dirty="0">
                <a:solidFill>
                  <a:srgbClr val="FF0000"/>
                </a:solidFill>
                <a:ea typeface="Malgun Gothic Semilight"/>
                <a:cs typeface="Malgun Gothic Semilight"/>
              </a:rPr>
              <a:t>Binding : </a:t>
            </a:r>
            <a:r>
              <a:rPr lang="en-GB" sz="2400" b="1" dirty="0">
                <a:ea typeface="Malgun Gothic Semilight"/>
                <a:cs typeface="Malgun Gothic Semilight"/>
              </a:rPr>
              <a:t>The determination of which method in the class hierarchy is to be invoked for a particular object.</a:t>
            </a:r>
          </a:p>
          <a:p>
            <a:pPr marL="342900" indent="-342900">
              <a:buAutoNum type="arabicPeriod"/>
            </a:pPr>
            <a:r>
              <a:rPr lang="en-GB" sz="2400" b="1" dirty="0">
                <a:solidFill>
                  <a:srgbClr val="FF0000"/>
                </a:solidFill>
                <a:ea typeface="Malgun Gothic Semilight"/>
                <a:cs typeface="Malgun Gothic Semilight"/>
              </a:rPr>
              <a:t>Static (Early) Binding : </a:t>
            </a:r>
            <a:r>
              <a:rPr lang="en-GB" sz="2400" b="1" dirty="0">
                <a:ea typeface="Malgun Gothic Semilight"/>
                <a:cs typeface="Malgun Gothic Semilight"/>
              </a:rPr>
              <a:t>occurs at compile time, when the compiler can determine which method in the class hierarchy to use for a particular object.</a:t>
            </a:r>
          </a:p>
          <a:p>
            <a:pPr marL="342900" indent="-342900">
              <a:buAutoNum type="arabicPeriod"/>
            </a:pPr>
            <a:r>
              <a:rPr lang="en-GB" sz="2400" b="1" dirty="0">
                <a:solidFill>
                  <a:srgbClr val="FF0000"/>
                </a:solidFill>
                <a:ea typeface="Malgun Gothic Semilight"/>
                <a:cs typeface="Malgun Gothic Semilight"/>
              </a:rPr>
              <a:t>Dynamic (Late) Binding: </a:t>
            </a:r>
            <a:r>
              <a:rPr lang="en-GB" sz="2400" b="1" dirty="0">
                <a:ea typeface="Malgun Gothic Semilight"/>
                <a:cs typeface="Malgun Gothic Semilight"/>
              </a:rPr>
              <a:t>occurs at run time, when the determination of which method in the class hierarchy to use for a particular object occurs during program execution.</a:t>
            </a:r>
          </a:p>
          <a:p>
            <a:endParaRPr lang="en-GB" dirty="0">
              <a:ea typeface="Malgun Gothic Semilight"/>
              <a:cs typeface="Malgun Gothic Semi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5A814-33CD-4A6C-8F2B-378289DB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696640" y="-148"/>
            <a:ext cx="3495360" cy="34014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79214A-A9B1-4E84-BF32-CA24669E0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695889" y="-5385"/>
            <a:ext cx="3496111" cy="340144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Yellow paper aeroplane flying the opposite way as many grey paper aeroplanes">
            <a:extLst>
              <a:ext uri="{FF2B5EF4-FFF2-40B4-BE49-F238E27FC236}">
                <a16:creationId xmlns:a16="http://schemas.microsoft.com/office/drawing/2014/main" id="{BDDE1383-02C1-90F4-3555-72B0974A23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1" r="27535" b="-9"/>
          <a:stretch/>
        </p:blipFill>
        <p:spPr>
          <a:xfrm>
            <a:off x="8696640" y="3396062"/>
            <a:ext cx="3496111" cy="3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8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A267D3-CCC7-4260-8127-53F80B997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04A-B972-39C5-E3F4-C1863124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37" y="941298"/>
            <a:ext cx="3566357" cy="3128682"/>
          </a:xfrm>
        </p:spPr>
        <p:txBody>
          <a:bodyPr anchor="t">
            <a:normAutofit/>
          </a:bodyPr>
          <a:lstStyle/>
          <a:p>
            <a:r>
              <a:rPr lang="en-GB" dirty="0">
                <a:ea typeface="Malgun Gothic Semilight"/>
                <a:cs typeface="Malgun Gothic Semilight"/>
              </a:rPr>
              <a:t>Compile Time Polymorphism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347AE-4FC7-E857-D64F-A0683CF7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506" y="254177"/>
            <a:ext cx="7417012" cy="3224473"/>
          </a:xfrm>
        </p:spPr>
        <p:txBody>
          <a:bodyPr lIns="109728" tIns="109728" rIns="109728" bIns="91440" anchor="t">
            <a:noAutofit/>
          </a:bodyPr>
          <a:lstStyle/>
          <a:p>
            <a:r>
              <a:rPr lang="en-GB" sz="2400" dirty="0">
                <a:ea typeface="+mn-lt"/>
                <a:cs typeface="+mn-lt"/>
              </a:rPr>
              <a:t>Compile-time polymorphism is also known as static polymorphism or early binding. </a:t>
            </a:r>
          </a:p>
          <a:p>
            <a:r>
              <a:rPr lang="en-GB" sz="2400" dirty="0">
                <a:ea typeface="+mn-lt"/>
                <a:cs typeface="+mn-lt"/>
              </a:rPr>
              <a:t>Compile-time polymorphism is a polymorphism that is resolved during the compilation process. </a:t>
            </a:r>
          </a:p>
          <a:p>
            <a:r>
              <a:rPr lang="en-GB" sz="2400" dirty="0">
                <a:ea typeface="+mn-lt"/>
                <a:cs typeface="+mn-lt"/>
              </a:rPr>
              <a:t>Overloading of methods is called through the reference variable of a class. </a:t>
            </a:r>
          </a:p>
          <a:p>
            <a:r>
              <a:rPr lang="en-GB" sz="2400" dirty="0">
                <a:ea typeface="+mn-lt"/>
                <a:cs typeface="+mn-lt"/>
              </a:rPr>
              <a:t>Compile-time polymorphism is achieved by </a:t>
            </a:r>
            <a:r>
              <a:rPr lang="en-GB" sz="2400" b="1" dirty="0">
                <a:ea typeface="+mn-lt"/>
                <a:cs typeface="+mn-lt"/>
              </a:rPr>
              <a:t>method overloading </a:t>
            </a:r>
            <a:r>
              <a:rPr lang="en-GB" sz="2400" dirty="0">
                <a:ea typeface="+mn-lt"/>
                <a:cs typeface="+mn-lt"/>
              </a:rPr>
              <a:t>and </a:t>
            </a:r>
            <a:r>
              <a:rPr lang="en-GB" sz="2400" b="1" dirty="0">
                <a:ea typeface="+mn-lt"/>
                <a:cs typeface="+mn-lt"/>
              </a:rPr>
              <a:t>operator overloading.</a:t>
            </a:r>
            <a:endParaRPr lang="en-GB" sz="2400" dirty="0">
              <a:ea typeface="Malgun Gothic Semilight"/>
              <a:cs typeface="Malgun Gothic Semiligh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21CB08-76F0-4C77-AA9B-6D5720938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146188"/>
            <a:ext cx="3623149" cy="17150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9D3072-33D8-4A93-A3EC-7C79C02D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899" y="5146191"/>
            <a:ext cx="1721799" cy="170163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668EE-1091-4A2B-A85D-58D1B0D0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623152" y="5146185"/>
            <a:ext cx="1715077" cy="17150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DB90578B-9C73-4314-9DA2-6718A36FB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621087" y="5146183"/>
            <a:ext cx="1715079" cy="1715077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190391-F313-439F-B2BF-9F00E5AC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336166" y="5146186"/>
            <a:ext cx="6861695" cy="1715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EB90DD-57D5-4A21-9E3B-61276875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7004" y="5107136"/>
            <a:ext cx="1750856" cy="1750864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901EA4-6CA0-4A64-939C-F76E88D1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C8E25-AEEA-9D1A-2C76-8F183CF1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03" y="231605"/>
            <a:ext cx="4855352" cy="1306092"/>
          </a:xfrm>
        </p:spPr>
        <p:txBody>
          <a:bodyPr>
            <a:normAutofit/>
          </a:bodyPr>
          <a:lstStyle/>
          <a:p>
            <a:r>
              <a:rPr lang="en-GB" dirty="0">
                <a:ea typeface="Malgun Gothic Semilight"/>
                <a:cs typeface="Malgun Gothic Semilight"/>
              </a:rPr>
              <a:t>Method/Function Overloading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723E-94BE-7968-E9E2-C85863C16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04" y="1665317"/>
            <a:ext cx="6278709" cy="4879362"/>
          </a:xfrm>
        </p:spPr>
        <p:txBody>
          <a:bodyPr lIns="109728" tIns="109728" rIns="109728" bIns="91440" anchor="t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GB" sz="2800" dirty="0">
                <a:ea typeface="+mn-lt"/>
                <a:cs typeface="+mn-lt"/>
              </a:rPr>
              <a:t>Function overloading means one function can perform many tasks. In C++, a single function is used to perform many tasks with the same name and different types of arguments. </a:t>
            </a:r>
          </a:p>
          <a:p>
            <a:pPr>
              <a:lnSpc>
                <a:spcPct val="110000"/>
              </a:lnSpc>
            </a:pPr>
            <a:r>
              <a:rPr lang="en-GB" sz="2800" dirty="0">
                <a:ea typeface="+mn-lt"/>
                <a:cs typeface="+mn-lt"/>
              </a:rPr>
              <a:t>In the function overloading function will call at the time of program compilation. It is an example of compile-time polymorphism.</a:t>
            </a:r>
            <a:endParaRPr lang="en-GB" sz="2800" dirty="0">
              <a:ea typeface="Malgun Gothic Semilight"/>
              <a:cs typeface="Malgun Gothic Semiligh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3B2BA1-50FC-4574-838F-AB0B5B93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3268" y="3431554"/>
            <a:ext cx="3488732" cy="3432751"/>
          </a:xfrm>
          <a:custGeom>
            <a:avLst/>
            <a:gdLst>
              <a:gd name="connsiteX0" fmla="*/ 3488731 w 3488732"/>
              <a:gd name="connsiteY0" fmla="*/ 0 h 3432751"/>
              <a:gd name="connsiteX1" fmla="*/ 3488732 w 3488732"/>
              <a:gd name="connsiteY1" fmla="*/ 0 h 3432751"/>
              <a:gd name="connsiteX2" fmla="*/ 3488732 w 3488732"/>
              <a:gd name="connsiteY2" fmla="*/ 3432751 h 3432751"/>
              <a:gd name="connsiteX3" fmla="*/ 0 w 3488732"/>
              <a:gd name="connsiteY3" fmla="*/ 3432751 h 3432751"/>
              <a:gd name="connsiteX4" fmla="*/ 0 w 3488732"/>
              <a:gd name="connsiteY4" fmla="*/ 3431630 h 3432751"/>
              <a:gd name="connsiteX5" fmla="*/ 80 w 3488732"/>
              <a:gd name="connsiteY5" fmla="*/ 3431628 h 3432751"/>
              <a:gd name="connsiteX6" fmla="*/ 7516 w 3488732"/>
              <a:gd name="connsiteY6" fmla="*/ 3431628 h 3432751"/>
              <a:gd name="connsiteX7" fmla="*/ 7516 w 3488732"/>
              <a:gd name="connsiteY7" fmla="*/ 3431443 h 3432751"/>
              <a:gd name="connsiteX8" fmla="*/ 179530 w 3488732"/>
              <a:gd name="connsiteY8" fmla="*/ 3427154 h 3432751"/>
              <a:gd name="connsiteX9" fmla="*/ 3484471 w 3488732"/>
              <a:gd name="connsiteY9" fmla="*/ 162232 h 3432751"/>
              <a:gd name="connsiteX10" fmla="*/ 3488328 w 3488732"/>
              <a:gd name="connsiteY10" fmla="*/ 6924 h 3432751"/>
              <a:gd name="connsiteX11" fmla="*/ 3488731 w 3488732"/>
              <a:gd name="connsiteY11" fmla="*/ 6924 h 343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88732" h="3432751">
                <a:moveTo>
                  <a:pt x="3488731" y="0"/>
                </a:moveTo>
                <a:lnTo>
                  <a:pt x="3488732" y="0"/>
                </a:lnTo>
                <a:lnTo>
                  <a:pt x="3488732" y="3432751"/>
                </a:lnTo>
                <a:lnTo>
                  <a:pt x="0" y="3432751"/>
                </a:lnTo>
                <a:lnTo>
                  <a:pt x="0" y="3431630"/>
                </a:lnTo>
                <a:lnTo>
                  <a:pt x="80" y="3431628"/>
                </a:lnTo>
                <a:lnTo>
                  <a:pt x="7516" y="3431628"/>
                </a:lnTo>
                <a:lnTo>
                  <a:pt x="7516" y="3431443"/>
                </a:lnTo>
                <a:lnTo>
                  <a:pt x="179530" y="3427154"/>
                </a:lnTo>
                <a:cubicBezTo>
                  <a:pt x="1965266" y="3337873"/>
                  <a:pt x="3396747" y="1924247"/>
                  <a:pt x="3484471" y="162232"/>
                </a:cubicBezTo>
                <a:lnTo>
                  <a:pt x="3488328" y="6924"/>
                </a:lnTo>
                <a:lnTo>
                  <a:pt x="3488731" y="69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C861E-6E96-8712-FD32-36542B39C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58" r="43796" b="6253"/>
          <a:stretch/>
        </p:blipFill>
        <p:spPr>
          <a:xfrm>
            <a:off x="6967018" y="10"/>
            <a:ext cx="5224982" cy="6863174"/>
          </a:xfrm>
          <a:custGeom>
            <a:avLst/>
            <a:gdLst/>
            <a:ahLst/>
            <a:cxnLst/>
            <a:rect l="l" t="t" r="r" b="b"/>
            <a:pathLst>
              <a:path w="5224982" h="6846790">
                <a:moveTo>
                  <a:pt x="0" y="0"/>
                </a:moveTo>
                <a:lnTo>
                  <a:pt x="5224981" y="0"/>
                </a:lnTo>
                <a:lnTo>
                  <a:pt x="5224981" y="3414038"/>
                </a:lnTo>
                <a:lnTo>
                  <a:pt x="5224982" y="3414038"/>
                </a:lnTo>
                <a:lnTo>
                  <a:pt x="5224981" y="3414080"/>
                </a:lnTo>
                <a:lnTo>
                  <a:pt x="5224981" y="3430264"/>
                </a:lnTo>
                <a:lnTo>
                  <a:pt x="5224578" y="3430264"/>
                </a:lnTo>
                <a:lnTo>
                  <a:pt x="5220721" y="3585201"/>
                </a:lnTo>
                <a:cubicBezTo>
                  <a:pt x="5132997" y="5343007"/>
                  <a:pt x="3701516" y="6753257"/>
                  <a:pt x="1915780" y="6842324"/>
                </a:cubicBezTo>
                <a:lnTo>
                  <a:pt x="1743766" y="6846603"/>
                </a:lnTo>
                <a:lnTo>
                  <a:pt x="1743766" y="6846788"/>
                </a:lnTo>
                <a:lnTo>
                  <a:pt x="1736330" y="6846788"/>
                </a:lnTo>
                <a:lnTo>
                  <a:pt x="1736250" y="6846790"/>
                </a:lnTo>
                <a:lnTo>
                  <a:pt x="1736250" y="6846788"/>
                </a:lnTo>
                <a:lnTo>
                  <a:pt x="0" y="68467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9535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8D6E90-577B-4973-B60A-2700290E6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D7B51-20FB-04E8-F710-21D8A728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7898" y="289621"/>
            <a:ext cx="2628969" cy="3162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Method Overloading Example </a:t>
            </a:r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BC344F6-9FA8-C138-B6D4-35CA09E0E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73" y="1236"/>
            <a:ext cx="6668772" cy="6859244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5501963-772D-239C-2635-DAD96169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721" y="2401863"/>
            <a:ext cx="5129840" cy="17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8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FF3597-294D-4BCC-9A3B-F73618BFB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B24C4-27B3-516B-1784-C5C782A4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1" y="-185338"/>
            <a:ext cx="6397165" cy="1507375"/>
          </a:xfrm>
        </p:spPr>
        <p:txBody>
          <a:bodyPr>
            <a:normAutofit/>
          </a:bodyPr>
          <a:lstStyle/>
          <a:p>
            <a:r>
              <a:rPr lang="en-GB" sz="3600" dirty="0">
                <a:ea typeface="Malgun Gothic Semilight"/>
                <a:cs typeface="Malgun Gothic Semilight"/>
              </a:rPr>
              <a:t>Operator Overloading</a:t>
            </a:r>
            <a:r>
              <a:rPr lang="en-GB" dirty="0">
                <a:ea typeface="Malgun Gothic Semilight"/>
                <a:cs typeface="Malgun Gothic Semilight"/>
              </a:rPr>
              <a:t>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503F-1DCC-3C13-2C99-D4A7158F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6" y="1514354"/>
            <a:ext cx="8625655" cy="5267551"/>
          </a:xfrm>
        </p:spPr>
        <p:txBody>
          <a:bodyPr lIns="109728" tIns="109728" rIns="109728" bIns="91440" anchor="t">
            <a:normAutofit/>
          </a:bodyPr>
          <a:lstStyle/>
          <a:p>
            <a:r>
              <a:rPr lang="en-GB" sz="2000" b="1" dirty="0">
                <a:ea typeface="+mn-lt"/>
                <a:cs typeface="+mn-lt"/>
              </a:rPr>
              <a:t>C++ has the ability to provide the operators with a special meaning for a data type, this ability is known as operator overloading. </a:t>
            </a:r>
          </a:p>
          <a:p>
            <a:r>
              <a:rPr lang="en-GB" sz="2000" b="1" dirty="0">
                <a:solidFill>
                  <a:srgbClr val="FF0000"/>
                </a:solidFill>
                <a:ea typeface="+mn-lt"/>
                <a:cs typeface="+mn-lt"/>
              </a:rPr>
              <a:t>An operator is said to be overloaded if it can be used to perform more than one function. Operator overloading is an overloading method in which an existing operator is given a new meaning. </a:t>
            </a:r>
          </a:p>
          <a:p>
            <a:r>
              <a:rPr lang="en-GB" sz="2000" b="1" dirty="0">
                <a:ea typeface="+mn-lt"/>
                <a:cs typeface="+mn-lt"/>
              </a:rPr>
              <a:t>For example, we can make use of the addition operator (+) for string class to concatenate two strings. We know that the task of this operator is to add two operands. So a single operator ‘+’, when placed between integer operands, adds them and when placed between string operands, concatenates them. </a:t>
            </a:r>
            <a:endParaRPr lang="en-GB" sz="2000" b="1" dirty="0">
              <a:ea typeface="Malgun Gothic Semilight"/>
              <a:cs typeface="Malgun Gothic Semilight"/>
            </a:endParaRPr>
          </a:p>
          <a:p>
            <a:br>
              <a:rPr lang="en-US" sz="1700" dirty="0"/>
            </a:br>
            <a:endParaRPr lang="en-US" sz="1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5A814-33CD-4A6C-8F2B-378289DB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696640" y="-148"/>
            <a:ext cx="3495360" cy="34014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579214A-A9B1-4E84-BF32-CA24669E0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695889" y="-5385"/>
            <a:ext cx="3496111" cy="340144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9D740412-3228-11C8-5D57-CF22E5CAA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45" r="27864" b="3"/>
          <a:stretch/>
        </p:blipFill>
        <p:spPr>
          <a:xfrm>
            <a:off x="8696640" y="3396062"/>
            <a:ext cx="3496111" cy="3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53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362EDFF-7BE1-4149-A745-FFD7211E6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C46178BB-C627-6FD5-2352-D606C03BE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1239"/>
          <a:stretch/>
        </p:blipFill>
        <p:spPr>
          <a:xfrm>
            <a:off x="20" y="10"/>
            <a:ext cx="8707311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A0BC16E-C8B9-4092-9BF6-E07982629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07332" y="-794"/>
            <a:ext cx="3484667" cy="34631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5EA5CC-E298-4D87-8F90-828525D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27156" y="211088"/>
            <a:ext cx="3070455" cy="307045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2C553-87D5-4616-AA1F-453EFC39F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07333" y="3462314"/>
            <a:ext cx="3484663" cy="3400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789B4E-5389-44D6-9AA6-EF135C55B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7332" y="3457143"/>
            <a:ext cx="3484667" cy="3400857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9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8D6E90-577B-4973-B60A-2700290E6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D7B51-20FB-04E8-F710-21D8A728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7898" y="289621"/>
            <a:ext cx="2628969" cy="3162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Operator Overloading Example </a:t>
            </a:r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C344F6-9FA8-C138-B6D4-35CA09E0E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4" y="206644"/>
            <a:ext cx="7129463" cy="6444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1" y="3117560"/>
            <a:ext cx="4643439" cy="124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45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22516" y="169817"/>
            <a:ext cx="517289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Multiplication of two fractions</a:t>
            </a:r>
          </a:p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r>
              <a:rPr lang="en-US" dirty="0"/>
              <a:t>class </a:t>
            </a:r>
            <a:r>
              <a:rPr lang="en-US" dirty="0" err="1"/>
              <a:t>Frac</a:t>
            </a:r>
            <a:r>
              <a:rPr lang="en-US" dirty="0"/>
              <a:t> {</a:t>
            </a:r>
          </a:p>
          <a:p>
            <a:r>
              <a:rPr lang="en-US" dirty="0"/>
              <a:t>   private: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a;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b;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public:</a:t>
            </a:r>
          </a:p>
          <a:p>
            <a:r>
              <a:rPr lang="en-US" dirty="0"/>
              <a:t>    </a:t>
            </a:r>
            <a:r>
              <a:rPr lang="en-US" dirty="0" err="1"/>
              <a:t>Frac</a:t>
            </a:r>
            <a:r>
              <a:rPr lang="en-US" dirty="0"/>
              <a:t>() : a(0), b(0) {}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void in()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"Enter the numerator : ";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a;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&lt;&lt; "Enter the denominator : ";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// Overload the * operator</a:t>
            </a:r>
          </a:p>
          <a:p>
            <a:r>
              <a:rPr lang="en-US" dirty="0"/>
              <a:t>    </a:t>
            </a:r>
            <a:r>
              <a:rPr lang="en-US" dirty="0" err="1"/>
              <a:t>Frac</a:t>
            </a:r>
            <a:r>
              <a:rPr lang="en-US" dirty="0"/>
              <a:t> operator * (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Frac</a:t>
            </a:r>
            <a:r>
              <a:rPr lang="en-US" dirty="0"/>
              <a:t> &amp;</a:t>
            </a:r>
            <a:r>
              <a:rPr lang="en-US" dirty="0" err="1"/>
              <a:t>obj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Frac</a:t>
            </a:r>
            <a:r>
              <a:rPr lang="en-US" dirty="0"/>
              <a:t> temp;</a:t>
            </a:r>
          </a:p>
          <a:p>
            <a:r>
              <a:rPr lang="en-US" dirty="0"/>
              <a:t>        </a:t>
            </a:r>
            <a:r>
              <a:rPr lang="en-US" dirty="0" err="1"/>
              <a:t>temp.a</a:t>
            </a:r>
            <a:r>
              <a:rPr lang="en-US" dirty="0"/>
              <a:t> = a * </a:t>
            </a:r>
            <a:r>
              <a:rPr lang="en-US" dirty="0" err="1"/>
              <a:t>obj.a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  <a:r>
              <a:rPr lang="en-US" dirty="0" err="1"/>
              <a:t>temp.b</a:t>
            </a:r>
            <a:r>
              <a:rPr lang="en-US" dirty="0"/>
              <a:t> = b * </a:t>
            </a:r>
            <a:r>
              <a:rPr lang="en-US" dirty="0" err="1"/>
              <a:t>obj.b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return temp;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148" y="169817"/>
            <a:ext cx="475641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out() {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&lt;&lt;"The fraction is  "&lt;&lt; a&lt;&lt;"/ "&lt;&lt;b;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 {</a:t>
            </a:r>
          </a:p>
          <a:p>
            <a:r>
              <a:rPr lang="en-US" dirty="0"/>
              <a:t>    </a:t>
            </a:r>
            <a:r>
              <a:rPr lang="en-US" dirty="0" err="1"/>
              <a:t>Frac</a:t>
            </a:r>
            <a:r>
              <a:rPr lang="en-US" dirty="0"/>
              <a:t> F1, F2, result;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first </a:t>
            </a:r>
            <a:r>
              <a:rPr lang="en-US" dirty="0" err="1"/>
              <a:t>fraction:n</a:t>
            </a:r>
            <a:r>
              <a:rPr lang="en-US" dirty="0"/>
              <a:t>";</a:t>
            </a:r>
          </a:p>
          <a:p>
            <a:r>
              <a:rPr lang="en-US" dirty="0"/>
              <a:t>    F1.in();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second </a:t>
            </a:r>
            <a:r>
              <a:rPr lang="en-US" dirty="0" err="1"/>
              <a:t>fraction:n</a:t>
            </a:r>
            <a:r>
              <a:rPr lang="en-US" dirty="0"/>
              <a:t>";</a:t>
            </a:r>
          </a:p>
          <a:p>
            <a:r>
              <a:rPr lang="en-US" dirty="0"/>
              <a:t>    F2.in();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// complex1 calls the operator function</a:t>
            </a:r>
          </a:p>
          <a:p>
            <a:r>
              <a:rPr lang="en-US" dirty="0"/>
              <a:t>   // complex2 is passed as an argument to the function</a:t>
            </a:r>
          </a:p>
          <a:p>
            <a:r>
              <a:rPr lang="en-US" dirty="0"/>
              <a:t>    result = F1 * F2;</a:t>
            </a:r>
          </a:p>
          <a:p>
            <a:r>
              <a:rPr lang="en-US" dirty="0"/>
              <a:t>    </a:t>
            </a:r>
            <a:r>
              <a:rPr lang="en-US" dirty="0" err="1"/>
              <a:t>result.out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469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4610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Malgun Gothic Semilight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664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Malgun Gothic Semilight</vt:lpstr>
      <vt:lpstr>Arial</vt:lpstr>
      <vt:lpstr>Calibri Light</vt:lpstr>
      <vt:lpstr>BlocksVTI</vt:lpstr>
      <vt:lpstr>Polymorphism in C++</vt:lpstr>
      <vt:lpstr>Polymorphism </vt:lpstr>
      <vt:lpstr>Types of Polymorphism </vt:lpstr>
      <vt:lpstr>PowerPoint Presentation</vt:lpstr>
      <vt:lpstr>Static vs. Dynamic Binding </vt:lpstr>
      <vt:lpstr>Compile Time Polymorphism </vt:lpstr>
      <vt:lpstr>Method/Function Overloading </vt:lpstr>
      <vt:lpstr>Method Overloading Example </vt:lpstr>
      <vt:lpstr>Operator Overloading </vt:lpstr>
      <vt:lpstr>PowerPoint Presentation</vt:lpstr>
      <vt:lpstr>Operator Overloading Example </vt:lpstr>
      <vt:lpstr>PowerPoint Presentation</vt:lpstr>
      <vt:lpstr>Thank You!!!!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Hasan Abdullah</cp:lastModifiedBy>
  <cp:revision>153</cp:revision>
  <dcterms:created xsi:type="dcterms:W3CDTF">2023-08-12T14:51:48Z</dcterms:created>
  <dcterms:modified xsi:type="dcterms:W3CDTF">2024-10-28T04:13:07Z</dcterms:modified>
</cp:coreProperties>
</file>