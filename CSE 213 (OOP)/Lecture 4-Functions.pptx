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61" r:id="rId3"/>
    <p:sldId id="262" r:id="rId4"/>
    <p:sldId id="257" r:id="rId5"/>
    <p:sldId id="259" r:id="rId6"/>
    <p:sldId id="260" r:id="rId7"/>
    <p:sldId id="263" r:id="rId8"/>
    <p:sldId id="264" r:id="rId9"/>
    <p:sldId id="265" r:id="rId10"/>
    <p:sldId id="266" r:id="rId11"/>
    <p:sldId id="267" r:id="rId12"/>
    <p:sldId id="268" r:id="rId13"/>
    <p:sldId id="270" r:id="rId14"/>
    <p:sldId id="269" r:id="rId15"/>
    <p:sldId id="271" r:id="rId16"/>
    <p:sldId id="272" r:id="rId17"/>
    <p:sldId id="273" r:id="rId18"/>
    <p:sldId id="274" r:id="rId19"/>
    <p:sldId id="275" r:id="rId20"/>
    <p:sldId id="276" r:id="rId21"/>
    <p:sldId id="258" r:id="rId22"/>
    <p:sldId id="289" r:id="rId23"/>
    <p:sldId id="280" r:id="rId24"/>
    <p:sldId id="279" r:id="rId25"/>
    <p:sldId id="281" r:id="rId26"/>
    <p:sldId id="282" r:id="rId27"/>
    <p:sldId id="277" r:id="rId28"/>
    <p:sldId id="283" r:id="rId29"/>
    <p:sldId id="288" r:id="rId30"/>
    <p:sldId id="284" r:id="rId31"/>
    <p:sldId id="285" r:id="rId32"/>
    <p:sldId id="286" r:id="rId33"/>
    <p:sldId id="287"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E219F48-17B7-4BF1-B1F5-3F4FE9C887B8}"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EB6023-7B7E-4D5B-BABA-918AA2A4BCFF}" type="slidenum">
              <a:rPr lang="en-US" smtClean="0"/>
              <a:t>‹#›</a:t>
            </a:fld>
            <a:endParaRPr lang="en-US"/>
          </a:p>
        </p:txBody>
      </p:sp>
    </p:spTree>
    <p:extLst>
      <p:ext uri="{BB962C8B-B14F-4D97-AF65-F5344CB8AC3E}">
        <p14:creationId xmlns:p14="http://schemas.microsoft.com/office/powerpoint/2010/main" val="42301453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219F48-17B7-4BF1-B1F5-3F4FE9C887B8}"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EB6023-7B7E-4D5B-BABA-918AA2A4BCFF}" type="slidenum">
              <a:rPr lang="en-US" smtClean="0"/>
              <a:t>‹#›</a:t>
            </a:fld>
            <a:endParaRPr lang="en-US"/>
          </a:p>
        </p:txBody>
      </p:sp>
    </p:spTree>
    <p:extLst>
      <p:ext uri="{BB962C8B-B14F-4D97-AF65-F5344CB8AC3E}">
        <p14:creationId xmlns:p14="http://schemas.microsoft.com/office/powerpoint/2010/main" val="1051774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E219F48-17B7-4BF1-B1F5-3F4FE9C887B8}"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EB6023-7B7E-4D5B-BABA-918AA2A4BCFF}" type="slidenum">
              <a:rPr lang="en-US" smtClean="0"/>
              <a:t>‹#›</a:t>
            </a:fld>
            <a:endParaRPr lang="en-US"/>
          </a:p>
        </p:txBody>
      </p:sp>
    </p:spTree>
    <p:extLst>
      <p:ext uri="{BB962C8B-B14F-4D97-AF65-F5344CB8AC3E}">
        <p14:creationId xmlns:p14="http://schemas.microsoft.com/office/powerpoint/2010/main" val="2572389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219F48-17B7-4BF1-B1F5-3F4FE9C887B8}" type="datetimeFigureOut">
              <a:rPr lang="en-US" smtClean="0"/>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EB6023-7B7E-4D5B-BABA-918AA2A4BCFF}" type="slidenum">
              <a:rPr lang="en-US" smtClean="0"/>
              <a:t>‹#›</a:t>
            </a:fld>
            <a:endParaRPr lang="en-US"/>
          </a:p>
        </p:txBody>
      </p:sp>
    </p:spTree>
    <p:extLst>
      <p:ext uri="{BB962C8B-B14F-4D97-AF65-F5344CB8AC3E}">
        <p14:creationId xmlns:p14="http://schemas.microsoft.com/office/powerpoint/2010/main" val="3688252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E219F48-17B7-4BF1-B1F5-3F4FE9C887B8}" type="datetimeFigureOut">
              <a:rPr lang="en-US" smtClean="0"/>
              <a:t>4/19/2026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BEB6023-7B7E-4D5B-BABA-918AA2A4BCFF}" type="slidenum">
              <a:rPr lang="en-US" smtClean="0"/>
              <a:t>‹#›</a:t>
            </a:fld>
            <a:endParaRPr lang="en-US"/>
          </a:p>
        </p:txBody>
      </p:sp>
    </p:spTree>
    <p:extLst>
      <p:ext uri="{BB962C8B-B14F-4D97-AF65-F5344CB8AC3E}">
        <p14:creationId xmlns:p14="http://schemas.microsoft.com/office/powerpoint/2010/main" val="42448991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E219F48-17B7-4BF1-B1F5-3F4FE9C887B8}" type="datetimeFigureOut">
              <a:rPr lang="en-US" smtClean="0"/>
              <a:t>4/19/2026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BEB6023-7B7E-4D5B-BABA-918AA2A4BCFF}" type="slidenum">
              <a:rPr lang="en-US" smtClean="0"/>
              <a:t>‹#›</a:t>
            </a:fld>
            <a:endParaRPr lang="en-US"/>
          </a:p>
        </p:txBody>
      </p:sp>
    </p:spTree>
    <p:extLst>
      <p:ext uri="{BB962C8B-B14F-4D97-AF65-F5344CB8AC3E}">
        <p14:creationId xmlns:p14="http://schemas.microsoft.com/office/powerpoint/2010/main" val="1526575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219F48-17B7-4BF1-B1F5-3F4FE9C887B8}" type="datetimeFigureOut">
              <a:rPr lang="en-US" smtClean="0"/>
              <a:t>4/19/2026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BEB6023-7B7E-4D5B-BABA-918AA2A4BCFF}" type="slidenum">
              <a:rPr lang="en-US" smtClean="0"/>
              <a:t>‹#›</a:t>
            </a:fld>
            <a:endParaRPr lang="en-US"/>
          </a:p>
        </p:txBody>
      </p:sp>
    </p:spTree>
    <p:extLst>
      <p:ext uri="{BB962C8B-B14F-4D97-AF65-F5344CB8AC3E}">
        <p14:creationId xmlns:p14="http://schemas.microsoft.com/office/powerpoint/2010/main" val="278826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E219F48-17B7-4BF1-B1F5-3F4FE9C887B8}" type="datetimeFigureOut">
              <a:rPr lang="en-US" smtClean="0"/>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EB6023-7B7E-4D5B-BABA-918AA2A4BCFF}" type="slidenum">
              <a:rPr lang="en-US" smtClean="0"/>
              <a:t>‹#›</a:t>
            </a:fld>
            <a:endParaRPr lang="en-US"/>
          </a:p>
        </p:txBody>
      </p:sp>
    </p:spTree>
    <p:extLst>
      <p:ext uri="{BB962C8B-B14F-4D97-AF65-F5344CB8AC3E}">
        <p14:creationId xmlns:p14="http://schemas.microsoft.com/office/powerpoint/2010/main" val="2538900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8E219F48-17B7-4BF1-B1F5-3F4FE9C887B8}" type="datetimeFigureOut">
              <a:rPr lang="en-US" smtClean="0"/>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EB6023-7B7E-4D5B-BABA-918AA2A4BCFF}" type="slidenum">
              <a:rPr lang="en-US" smtClean="0"/>
              <a:t>‹#›</a:t>
            </a:fld>
            <a:endParaRPr lang="en-US"/>
          </a:p>
        </p:txBody>
      </p:sp>
    </p:spTree>
    <p:extLst>
      <p:ext uri="{BB962C8B-B14F-4D97-AF65-F5344CB8AC3E}">
        <p14:creationId xmlns:p14="http://schemas.microsoft.com/office/powerpoint/2010/main" val="1180457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E219F48-17B7-4BF1-B1F5-3F4FE9C887B8}"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EB6023-7B7E-4D5B-BABA-918AA2A4BCFF}" type="slidenum">
              <a:rPr lang="en-US" smtClean="0"/>
              <a:t>‹#›</a:t>
            </a:fld>
            <a:endParaRPr lang="en-US"/>
          </a:p>
        </p:txBody>
      </p:sp>
    </p:spTree>
    <p:extLst>
      <p:ext uri="{BB962C8B-B14F-4D97-AF65-F5344CB8AC3E}">
        <p14:creationId xmlns:p14="http://schemas.microsoft.com/office/powerpoint/2010/main" val="24697982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E219F48-17B7-4BF1-B1F5-3F4FE9C887B8}"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EB6023-7B7E-4D5B-BABA-918AA2A4BCFF}"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73341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E219F48-17B7-4BF1-B1F5-3F4FE9C887B8}"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EB6023-7B7E-4D5B-BABA-918AA2A4BCFF}" type="slidenum">
              <a:rPr lang="en-US" smtClean="0"/>
              <a:t>‹#›</a:t>
            </a:fld>
            <a:endParaRPr lang="en-US"/>
          </a:p>
        </p:txBody>
      </p:sp>
    </p:spTree>
    <p:extLst>
      <p:ext uri="{BB962C8B-B14F-4D97-AF65-F5344CB8AC3E}">
        <p14:creationId xmlns:p14="http://schemas.microsoft.com/office/powerpoint/2010/main" val="2444974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E219F48-17B7-4BF1-B1F5-3F4FE9C887B8}"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EB6023-7B7E-4D5B-BABA-918AA2A4BCFF}"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3026853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E219F48-17B7-4BF1-B1F5-3F4FE9C887B8}"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EB6023-7B7E-4D5B-BABA-918AA2A4BCFF}" type="slidenum">
              <a:rPr lang="en-US" smtClean="0"/>
              <a:t>‹#›</a:t>
            </a:fld>
            <a:endParaRPr lang="en-US"/>
          </a:p>
        </p:txBody>
      </p:sp>
    </p:spTree>
    <p:extLst>
      <p:ext uri="{BB962C8B-B14F-4D97-AF65-F5344CB8AC3E}">
        <p14:creationId xmlns:p14="http://schemas.microsoft.com/office/powerpoint/2010/main" val="21466538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219F48-17B7-4BF1-B1F5-3F4FE9C887B8}"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EB6023-7B7E-4D5B-BABA-918AA2A4BCFF}" type="slidenum">
              <a:rPr lang="en-US" smtClean="0"/>
              <a:t>‹#›</a:t>
            </a:fld>
            <a:endParaRPr lang="en-US"/>
          </a:p>
        </p:txBody>
      </p:sp>
    </p:spTree>
    <p:extLst>
      <p:ext uri="{BB962C8B-B14F-4D97-AF65-F5344CB8AC3E}">
        <p14:creationId xmlns:p14="http://schemas.microsoft.com/office/powerpoint/2010/main" val="25643195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219F48-17B7-4BF1-B1F5-3F4FE9C887B8}"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EB6023-7B7E-4D5B-BABA-918AA2A4BCFF}" type="slidenum">
              <a:rPr lang="en-US" smtClean="0"/>
              <a:t>‹#›</a:t>
            </a:fld>
            <a:endParaRPr lang="en-US"/>
          </a:p>
        </p:txBody>
      </p:sp>
    </p:spTree>
    <p:extLst>
      <p:ext uri="{BB962C8B-B14F-4D97-AF65-F5344CB8AC3E}">
        <p14:creationId xmlns:p14="http://schemas.microsoft.com/office/powerpoint/2010/main" val="3160837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E219F48-17B7-4BF1-B1F5-3F4FE9C887B8}" type="datetimeFigureOut">
              <a:rPr lang="en-US" smtClean="0"/>
              <a:t>4/19/2026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BEB6023-7B7E-4D5B-BABA-918AA2A4BCFF}" type="slidenum">
              <a:rPr lang="en-US" smtClean="0"/>
              <a:t>‹#›</a:t>
            </a:fld>
            <a:endParaRPr lang="en-US"/>
          </a:p>
        </p:txBody>
      </p:sp>
    </p:spTree>
    <p:extLst>
      <p:ext uri="{BB962C8B-B14F-4D97-AF65-F5344CB8AC3E}">
        <p14:creationId xmlns:p14="http://schemas.microsoft.com/office/powerpoint/2010/main" val="231410591"/>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Functions in OOPL</a:t>
            </a:r>
          </a:p>
        </p:txBody>
      </p:sp>
      <p:sp>
        <p:nvSpPr>
          <p:cNvPr id="3" name="Subtitle 2"/>
          <p:cNvSpPr>
            <a:spLocks noGrp="1"/>
          </p:cNvSpPr>
          <p:nvPr>
            <p:ph type="subTitle" idx="1"/>
          </p:nvPr>
        </p:nvSpPr>
        <p:spPr/>
        <p:txBody>
          <a:bodyPr>
            <a:normAutofit lnSpcReduction="10000"/>
          </a:bodyPr>
          <a:lstStyle/>
          <a:p>
            <a:r>
              <a:rPr lang="en-US" dirty="0"/>
              <a:t>CSE 213</a:t>
            </a:r>
          </a:p>
          <a:p>
            <a:r>
              <a:rPr lang="en-US" dirty="0" err="1"/>
              <a:t>Mousumi</a:t>
            </a:r>
            <a:r>
              <a:rPr lang="en-US" dirty="0"/>
              <a:t> Hasan</a:t>
            </a:r>
          </a:p>
          <a:p>
            <a:r>
              <a:rPr lang="en-US" dirty="0"/>
              <a:t>Assistant Professor, CSE DEPT, BAIUST </a:t>
            </a:r>
          </a:p>
        </p:txBody>
      </p:sp>
    </p:spTree>
    <p:extLst>
      <p:ext uri="{BB962C8B-B14F-4D97-AF65-F5344CB8AC3E}">
        <p14:creationId xmlns:p14="http://schemas.microsoft.com/office/powerpoint/2010/main" val="15101674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7554" y="197256"/>
            <a:ext cx="11006246" cy="6677651"/>
          </a:xfrm>
        </p:spPr>
      </p:pic>
    </p:spTree>
    <p:extLst>
      <p:ext uri="{BB962C8B-B14F-4D97-AF65-F5344CB8AC3E}">
        <p14:creationId xmlns:p14="http://schemas.microsoft.com/office/powerpoint/2010/main" val="13535923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3754" y="165726"/>
            <a:ext cx="11070912" cy="6692274"/>
          </a:xfrm>
        </p:spPr>
      </p:pic>
    </p:spTree>
    <p:extLst>
      <p:ext uri="{BB962C8B-B14F-4D97-AF65-F5344CB8AC3E}">
        <p14:creationId xmlns:p14="http://schemas.microsoft.com/office/powerpoint/2010/main" val="14716264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7252" y="165726"/>
            <a:ext cx="11458776" cy="6017298"/>
          </a:xfrm>
        </p:spPr>
      </p:pic>
    </p:spTree>
    <p:extLst>
      <p:ext uri="{BB962C8B-B14F-4D97-AF65-F5344CB8AC3E}">
        <p14:creationId xmlns:p14="http://schemas.microsoft.com/office/powerpoint/2010/main" val="34611171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8365" y="165726"/>
            <a:ext cx="10936549" cy="6017298"/>
          </a:xfrm>
        </p:spPr>
      </p:pic>
    </p:spTree>
    <p:extLst>
      <p:ext uri="{BB962C8B-B14F-4D97-AF65-F5344CB8AC3E}">
        <p14:creationId xmlns:p14="http://schemas.microsoft.com/office/powerpoint/2010/main" val="2860151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01353" y="0"/>
            <a:ext cx="8090647" cy="6017298"/>
          </a:xfr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5268704" cy="6017298"/>
          </a:xfrm>
          <a:prstGeom prst="rect">
            <a:avLst/>
          </a:prstGeom>
        </p:spPr>
      </p:pic>
    </p:spTree>
    <p:extLst>
      <p:ext uri="{BB962C8B-B14F-4D97-AF65-F5344CB8AC3E}">
        <p14:creationId xmlns:p14="http://schemas.microsoft.com/office/powerpoint/2010/main" val="34384848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5494" y="376518"/>
            <a:ext cx="11631706" cy="6481482"/>
          </a:xfrm>
        </p:spPr>
      </p:pic>
    </p:spTree>
    <p:extLst>
      <p:ext uri="{BB962C8B-B14F-4D97-AF65-F5344CB8AC3E}">
        <p14:creationId xmlns:p14="http://schemas.microsoft.com/office/powerpoint/2010/main" val="2087130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8302" y="609600"/>
            <a:ext cx="11124081" cy="5638799"/>
          </a:xfrm>
        </p:spPr>
      </p:pic>
    </p:spTree>
    <p:extLst>
      <p:ext uri="{BB962C8B-B14F-4D97-AF65-F5344CB8AC3E}">
        <p14:creationId xmlns:p14="http://schemas.microsoft.com/office/powerpoint/2010/main" val="3634640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1575" y="365125"/>
            <a:ext cx="11430340" cy="5924839"/>
          </a:xfrm>
        </p:spPr>
      </p:pic>
    </p:spTree>
    <p:extLst>
      <p:ext uri="{BB962C8B-B14F-4D97-AF65-F5344CB8AC3E}">
        <p14:creationId xmlns:p14="http://schemas.microsoft.com/office/powerpoint/2010/main" val="34794076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2649" y="365125"/>
            <a:ext cx="11228192" cy="5924839"/>
          </a:xfrm>
        </p:spPr>
      </p:pic>
    </p:spTree>
    <p:extLst>
      <p:ext uri="{BB962C8B-B14F-4D97-AF65-F5344CB8AC3E}">
        <p14:creationId xmlns:p14="http://schemas.microsoft.com/office/powerpoint/2010/main" val="3359341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2649" y="578440"/>
            <a:ext cx="11228192" cy="5498209"/>
          </a:xfrm>
        </p:spPr>
      </p:pic>
    </p:spTree>
    <p:extLst>
      <p:ext uri="{BB962C8B-B14F-4D97-AF65-F5344CB8AC3E}">
        <p14:creationId xmlns:p14="http://schemas.microsoft.com/office/powerpoint/2010/main" val="35335826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334" y="194295"/>
            <a:ext cx="10765377" cy="6569576"/>
          </a:xfrm>
        </p:spPr>
      </p:pic>
    </p:spTree>
    <p:extLst>
      <p:ext uri="{BB962C8B-B14F-4D97-AF65-F5344CB8AC3E}">
        <p14:creationId xmlns:p14="http://schemas.microsoft.com/office/powerpoint/2010/main" val="18002353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8006" y="221673"/>
            <a:ext cx="10894705" cy="6289032"/>
          </a:xfrm>
        </p:spPr>
      </p:pic>
    </p:spTree>
    <p:extLst>
      <p:ext uri="{BB962C8B-B14F-4D97-AF65-F5344CB8AC3E}">
        <p14:creationId xmlns:p14="http://schemas.microsoft.com/office/powerpoint/2010/main" val="2028271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1892" y="207999"/>
            <a:ext cx="10860820" cy="6334409"/>
          </a:xfrm>
        </p:spPr>
      </p:pic>
    </p:spTree>
    <p:extLst>
      <p:ext uri="{BB962C8B-B14F-4D97-AF65-F5344CB8AC3E}">
        <p14:creationId xmlns:p14="http://schemas.microsoft.com/office/powerpoint/2010/main" val="25793365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0537" y="221673"/>
            <a:ext cx="11818351" cy="6428509"/>
          </a:xfrm>
        </p:spPr>
      </p:pic>
    </p:spTree>
    <p:extLst>
      <p:ext uri="{BB962C8B-B14F-4D97-AF65-F5344CB8AC3E}">
        <p14:creationId xmlns:p14="http://schemas.microsoft.com/office/powerpoint/2010/main" val="14384798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5526" y="122612"/>
            <a:ext cx="11596255" cy="6529228"/>
          </a:xfrm>
        </p:spPr>
      </p:pic>
    </p:spTree>
    <p:extLst>
      <p:ext uri="{BB962C8B-B14F-4D97-AF65-F5344CB8AC3E}">
        <p14:creationId xmlns:p14="http://schemas.microsoft.com/office/powerpoint/2010/main" val="1751501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3345" y="122612"/>
            <a:ext cx="10820616" cy="6529228"/>
          </a:xfrm>
        </p:spPr>
      </p:pic>
    </p:spTree>
    <p:extLst>
      <p:ext uri="{BB962C8B-B14F-4D97-AF65-F5344CB8AC3E}">
        <p14:creationId xmlns:p14="http://schemas.microsoft.com/office/powerpoint/2010/main" val="2674937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3345" y="150347"/>
            <a:ext cx="10820616" cy="6473758"/>
          </a:xfrm>
        </p:spPr>
      </p:pic>
    </p:spTree>
    <p:extLst>
      <p:ext uri="{BB962C8B-B14F-4D97-AF65-F5344CB8AC3E}">
        <p14:creationId xmlns:p14="http://schemas.microsoft.com/office/powerpoint/2010/main" val="21669564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0555" y="185016"/>
            <a:ext cx="11836149" cy="6063384"/>
          </a:xfrm>
        </p:spPr>
      </p:pic>
    </p:spTree>
    <p:extLst>
      <p:ext uri="{BB962C8B-B14F-4D97-AF65-F5344CB8AC3E}">
        <p14:creationId xmlns:p14="http://schemas.microsoft.com/office/powerpoint/2010/main" val="26466566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5358" y="201637"/>
            <a:ext cx="8596668" cy="811237"/>
          </a:xfrm>
        </p:spPr>
        <p:txBody>
          <a:bodyPr/>
          <a:lstStyle/>
          <a:p>
            <a:r>
              <a:rPr lang="en-US" dirty="0"/>
              <a:t>Call by Reference </a:t>
            </a:r>
          </a:p>
        </p:txBody>
      </p:sp>
      <p:sp>
        <p:nvSpPr>
          <p:cNvPr id="5" name="Content Placeholder 4">
            <a:extLst>
              <a:ext uri="{FF2B5EF4-FFF2-40B4-BE49-F238E27FC236}">
                <a16:creationId xmlns:a16="http://schemas.microsoft.com/office/drawing/2014/main" id="{E87B1B85-D7BA-4C21-3FCD-AD199005041A}"/>
              </a:ext>
            </a:extLst>
          </p:cNvPr>
          <p:cNvSpPr>
            <a:spLocks noGrp="1"/>
          </p:cNvSpPr>
          <p:nvPr>
            <p:ph idx="1"/>
          </p:nvPr>
        </p:nvSpPr>
        <p:spPr>
          <a:xfrm>
            <a:off x="677334" y="858129"/>
            <a:ext cx="6300241" cy="5999871"/>
          </a:xfrm>
        </p:spPr>
        <p:txBody>
          <a:bodyPr>
            <a:normAutofit fontScale="92500" lnSpcReduction="20000"/>
          </a:bodyPr>
          <a:lstStyle/>
          <a:p>
            <a:pPr marL="0" indent="0">
              <a:buNone/>
            </a:pPr>
            <a:r>
              <a:rPr lang="en-US" dirty="0"/>
              <a:t>#include&lt;iostream&gt;</a:t>
            </a:r>
          </a:p>
          <a:p>
            <a:pPr marL="0" indent="0">
              <a:buNone/>
            </a:pPr>
            <a:r>
              <a:rPr lang="en-US" dirty="0"/>
              <a:t>using namespace std;</a:t>
            </a:r>
          </a:p>
          <a:p>
            <a:pPr marL="0" indent="0">
              <a:buNone/>
            </a:pPr>
            <a:r>
              <a:rPr lang="en-US" dirty="0"/>
              <a:t>void swap(int &amp;, int &amp;);</a:t>
            </a:r>
          </a:p>
          <a:p>
            <a:pPr marL="0" indent="0">
              <a:buNone/>
            </a:pPr>
            <a:r>
              <a:rPr lang="en-US" dirty="0"/>
              <a:t>int main()</a:t>
            </a:r>
          </a:p>
          <a:p>
            <a:pPr marL="0" indent="0">
              <a:buNone/>
            </a:pPr>
            <a:r>
              <a:rPr lang="en-US" dirty="0"/>
              <a:t>{</a:t>
            </a:r>
          </a:p>
          <a:p>
            <a:pPr marL="0" indent="0">
              <a:buNone/>
            </a:pPr>
            <a:r>
              <a:rPr lang="en-US" dirty="0"/>
              <a:t>    int </a:t>
            </a:r>
            <a:r>
              <a:rPr lang="en-US" dirty="0" err="1"/>
              <a:t>a,b</a:t>
            </a:r>
            <a:r>
              <a:rPr lang="en-US" dirty="0"/>
              <a:t>;</a:t>
            </a:r>
          </a:p>
          <a:p>
            <a:pPr marL="0" indent="0">
              <a:buNone/>
            </a:pPr>
            <a:r>
              <a:rPr lang="en-US" dirty="0"/>
              <a:t>   </a:t>
            </a:r>
            <a:r>
              <a:rPr lang="en-US" dirty="0" err="1"/>
              <a:t>cout</a:t>
            </a:r>
            <a:r>
              <a:rPr lang="en-US" dirty="0"/>
              <a:t>&lt;&lt;" enter the values of a and b";</a:t>
            </a:r>
          </a:p>
          <a:p>
            <a:pPr marL="0" indent="0">
              <a:buNone/>
            </a:pPr>
            <a:r>
              <a:rPr lang="en-US" dirty="0"/>
              <a:t>   </a:t>
            </a:r>
            <a:r>
              <a:rPr lang="en-US" dirty="0" err="1"/>
              <a:t>cin</a:t>
            </a:r>
            <a:r>
              <a:rPr lang="en-US" dirty="0"/>
              <a:t>&gt;&gt;a&gt;&gt;b;</a:t>
            </a:r>
          </a:p>
          <a:p>
            <a:pPr marL="0" indent="0">
              <a:buNone/>
            </a:pPr>
            <a:r>
              <a:rPr lang="en-US" dirty="0"/>
              <a:t>   </a:t>
            </a:r>
            <a:r>
              <a:rPr lang="en-US" dirty="0" err="1"/>
              <a:t>cout</a:t>
            </a:r>
            <a:r>
              <a:rPr lang="en-US" dirty="0"/>
              <a:t>&lt;&lt;" before </a:t>
            </a:r>
            <a:r>
              <a:rPr lang="en-US" dirty="0" err="1"/>
              <a:t>swaping</a:t>
            </a:r>
            <a:r>
              <a:rPr lang="en-US" dirty="0"/>
              <a:t> ";</a:t>
            </a:r>
          </a:p>
          <a:p>
            <a:pPr marL="0" indent="0">
              <a:buNone/>
            </a:pPr>
            <a:r>
              <a:rPr lang="en-US" dirty="0"/>
              <a:t>   </a:t>
            </a:r>
            <a:r>
              <a:rPr lang="en-US" dirty="0" err="1"/>
              <a:t>cout</a:t>
            </a:r>
            <a:r>
              <a:rPr lang="en-US" dirty="0"/>
              <a:t>&lt;&lt;"A "&lt;&lt;a;</a:t>
            </a:r>
          </a:p>
          <a:p>
            <a:pPr marL="0" indent="0">
              <a:buNone/>
            </a:pPr>
            <a:r>
              <a:rPr lang="en-US" dirty="0"/>
              <a:t>   </a:t>
            </a:r>
            <a:r>
              <a:rPr lang="en-US" dirty="0" err="1"/>
              <a:t>cout</a:t>
            </a:r>
            <a:r>
              <a:rPr lang="en-US" dirty="0"/>
              <a:t>&lt;&lt;"B "&lt;&lt;b;</a:t>
            </a:r>
          </a:p>
          <a:p>
            <a:pPr marL="0" indent="0">
              <a:buNone/>
            </a:pPr>
            <a:r>
              <a:rPr lang="en-US" dirty="0"/>
              <a:t>   swap(</a:t>
            </a:r>
            <a:r>
              <a:rPr lang="en-US" dirty="0" err="1"/>
              <a:t>a,b</a:t>
            </a:r>
            <a:r>
              <a:rPr lang="en-US" dirty="0"/>
              <a:t>);</a:t>
            </a:r>
          </a:p>
          <a:p>
            <a:pPr marL="0" indent="0">
              <a:buNone/>
            </a:pPr>
            <a:r>
              <a:rPr lang="en-US" dirty="0"/>
              <a:t>   </a:t>
            </a:r>
            <a:r>
              <a:rPr lang="en-US" dirty="0" err="1"/>
              <a:t>cout</a:t>
            </a:r>
            <a:r>
              <a:rPr lang="en-US" dirty="0"/>
              <a:t>&lt;&lt; "after </a:t>
            </a:r>
            <a:r>
              <a:rPr lang="en-US" dirty="0" err="1"/>
              <a:t>swaping</a:t>
            </a:r>
            <a:r>
              <a:rPr lang="en-US" dirty="0"/>
              <a:t>  ";</a:t>
            </a:r>
          </a:p>
          <a:p>
            <a:pPr marL="0" indent="0">
              <a:buNone/>
            </a:pPr>
            <a:r>
              <a:rPr lang="en-US" dirty="0"/>
              <a:t>   </a:t>
            </a:r>
            <a:r>
              <a:rPr lang="en-US" dirty="0" err="1"/>
              <a:t>cout</a:t>
            </a:r>
            <a:r>
              <a:rPr lang="en-US" dirty="0"/>
              <a:t>&lt;&lt;"A "&lt;&lt;a;</a:t>
            </a:r>
          </a:p>
          <a:p>
            <a:pPr marL="0" indent="0">
              <a:buNone/>
            </a:pPr>
            <a:r>
              <a:rPr lang="en-US" dirty="0"/>
              <a:t>   </a:t>
            </a:r>
            <a:r>
              <a:rPr lang="en-US" dirty="0" err="1"/>
              <a:t>cout</a:t>
            </a:r>
            <a:r>
              <a:rPr lang="en-US" dirty="0"/>
              <a:t>&lt;&lt;"B "&lt;&lt;b;</a:t>
            </a:r>
          </a:p>
          <a:p>
            <a:endParaRPr lang="en-US" dirty="0"/>
          </a:p>
          <a:p>
            <a:pPr marL="0" indent="0">
              <a:buNone/>
            </a:pPr>
            <a:r>
              <a:rPr lang="en-US" dirty="0"/>
              <a:t>}</a:t>
            </a:r>
          </a:p>
        </p:txBody>
      </p:sp>
      <p:sp>
        <p:nvSpPr>
          <p:cNvPr id="7" name="TextBox 6">
            <a:extLst>
              <a:ext uri="{FF2B5EF4-FFF2-40B4-BE49-F238E27FC236}">
                <a16:creationId xmlns:a16="http://schemas.microsoft.com/office/drawing/2014/main" id="{79164810-990F-1BC3-6B51-116E89A3013D}"/>
              </a:ext>
            </a:extLst>
          </p:cNvPr>
          <p:cNvSpPr txBox="1"/>
          <p:nvPr/>
        </p:nvSpPr>
        <p:spPr>
          <a:xfrm>
            <a:off x="6822832" y="1012874"/>
            <a:ext cx="3263703" cy="2031325"/>
          </a:xfrm>
          <a:prstGeom prst="rect">
            <a:avLst/>
          </a:prstGeom>
          <a:noFill/>
        </p:spPr>
        <p:txBody>
          <a:bodyPr wrap="square" rtlCol="0">
            <a:spAutoFit/>
          </a:bodyPr>
          <a:lstStyle/>
          <a:p>
            <a:r>
              <a:rPr lang="fr-FR" dirty="0" err="1"/>
              <a:t>void</a:t>
            </a:r>
            <a:r>
              <a:rPr lang="fr-FR" dirty="0"/>
              <a:t> swap(</a:t>
            </a:r>
            <a:r>
              <a:rPr lang="fr-FR" dirty="0" err="1"/>
              <a:t>int</a:t>
            </a:r>
            <a:r>
              <a:rPr lang="fr-FR" dirty="0"/>
              <a:t> &amp;X, </a:t>
            </a:r>
            <a:r>
              <a:rPr lang="fr-FR" dirty="0" err="1"/>
              <a:t>int</a:t>
            </a:r>
            <a:r>
              <a:rPr lang="fr-FR" dirty="0"/>
              <a:t> &amp;Y)</a:t>
            </a:r>
          </a:p>
          <a:p>
            <a:r>
              <a:rPr lang="fr-FR" dirty="0"/>
              <a:t>{</a:t>
            </a:r>
          </a:p>
          <a:p>
            <a:r>
              <a:rPr lang="fr-FR" dirty="0"/>
              <a:t>    </a:t>
            </a:r>
            <a:r>
              <a:rPr lang="fr-FR" dirty="0" err="1"/>
              <a:t>int</a:t>
            </a:r>
            <a:r>
              <a:rPr lang="fr-FR" dirty="0"/>
              <a:t> temp;</a:t>
            </a:r>
          </a:p>
          <a:p>
            <a:r>
              <a:rPr lang="fr-FR" dirty="0"/>
              <a:t>    temp=X;</a:t>
            </a:r>
          </a:p>
          <a:p>
            <a:r>
              <a:rPr lang="fr-FR" dirty="0"/>
              <a:t>    X=Y;</a:t>
            </a:r>
          </a:p>
          <a:p>
            <a:r>
              <a:rPr lang="fr-FR" dirty="0"/>
              <a:t>    Y=temp;</a:t>
            </a:r>
          </a:p>
          <a:p>
            <a:r>
              <a:rPr lang="fr-FR" dirty="0"/>
              <a:t>}</a:t>
            </a:r>
            <a:endParaRPr lang="en-US" dirty="0"/>
          </a:p>
        </p:txBody>
      </p:sp>
    </p:spTree>
    <p:extLst>
      <p:ext uri="{BB962C8B-B14F-4D97-AF65-F5344CB8AC3E}">
        <p14:creationId xmlns:p14="http://schemas.microsoft.com/office/powerpoint/2010/main" val="34499157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2855" y="165726"/>
            <a:ext cx="11227569" cy="6017298"/>
          </a:xfrm>
        </p:spPr>
      </p:pic>
    </p:spTree>
    <p:extLst>
      <p:ext uri="{BB962C8B-B14F-4D97-AF65-F5344CB8AC3E}">
        <p14:creationId xmlns:p14="http://schemas.microsoft.com/office/powerpoint/2010/main" val="28435276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D687CB-A5D9-4CA7-E805-90D3EEFD5A09}"/>
              </a:ext>
            </a:extLst>
          </p:cNvPr>
          <p:cNvSpPr>
            <a:spLocks noGrp="1"/>
          </p:cNvSpPr>
          <p:nvPr>
            <p:ph idx="1"/>
          </p:nvPr>
        </p:nvSpPr>
        <p:spPr>
          <a:xfrm>
            <a:off x="677333" y="126609"/>
            <a:ext cx="8959035" cy="6499274"/>
          </a:xfrm>
        </p:spPr>
        <p:txBody>
          <a:bodyPr>
            <a:normAutofit/>
          </a:bodyPr>
          <a:lstStyle/>
          <a:p>
            <a:pPr>
              <a:buNone/>
            </a:pPr>
            <a:r>
              <a:rPr lang="en-US" b="1" dirty="0"/>
              <a:t>1. Swap Two Numbers</a:t>
            </a:r>
          </a:p>
          <a:p>
            <a:pPr>
              <a:buFont typeface="Arial" panose="020B0604020202020204" pitchFamily="34" charset="0"/>
              <a:buChar char="•"/>
            </a:pPr>
            <a:r>
              <a:rPr lang="en-US" dirty="0"/>
              <a:t>Write a program to swap two numbers: </a:t>
            </a:r>
          </a:p>
          <a:p>
            <a:pPr marL="742950" lvl="1" indent="-285750">
              <a:buFont typeface="Arial" panose="020B0604020202020204" pitchFamily="34" charset="0"/>
              <a:buChar char="•"/>
            </a:pPr>
            <a:r>
              <a:rPr lang="en-US" dirty="0"/>
              <a:t>(a) using </a:t>
            </a:r>
            <a:r>
              <a:rPr lang="en-US" b="1" dirty="0"/>
              <a:t>call by value</a:t>
            </a:r>
            <a:r>
              <a:rPr lang="en-US" dirty="0"/>
              <a:t> </a:t>
            </a:r>
          </a:p>
          <a:p>
            <a:pPr marL="742950" lvl="1" indent="-285750">
              <a:buFont typeface="Arial" panose="020B0604020202020204" pitchFamily="34" charset="0"/>
              <a:buChar char="•"/>
            </a:pPr>
            <a:r>
              <a:rPr lang="en-US" dirty="0"/>
              <a:t>(b) using </a:t>
            </a:r>
            <a:r>
              <a:rPr lang="en-US" b="1" dirty="0"/>
              <a:t>call by reference</a:t>
            </a:r>
            <a:r>
              <a:rPr lang="en-US" dirty="0"/>
              <a:t> </a:t>
            </a:r>
          </a:p>
          <a:p>
            <a:pPr>
              <a:buFont typeface="Arial" panose="020B0604020202020204" pitchFamily="34" charset="0"/>
              <a:buChar char="•"/>
            </a:pPr>
            <a:r>
              <a:rPr lang="en-US" b="1" dirty="0"/>
              <a:t>Question:</a:t>
            </a:r>
            <a:r>
              <a:rPr lang="en-US" dirty="0"/>
              <a:t> Why does one version fail to swap the original values? </a:t>
            </a:r>
          </a:p>
          <a:p>
            <a:pPr>
              <a:buNone/>
            </a:pPr>
            <a:br>
              <a:rPr lang="en-US" dirty="0"/>
            </a:br>
            <a:endParaRPr lang="en-US" dirty="0"/>
          </a:p>
          <a:p>
            <a:pPr>
              <a:buNone/>
            </a:pPr>
            <a:r>
              <a:rPr lang="en-US" b="1" dirty="0"/>
              <a:t>2. Increment Function</a:t>
            </a:r>
          </a:p>
          <a:p>
            <a:pPr>
              <a:buFont typeface="Arial" panose="020B0604020202020204" pitchFamily="34" charset="0"/>
              <a:buChar char="•"/>
            </a:pPr>
            <a:r>
              <a:rPr lang="en-US" dirty="0"/>
              <a:t>Create a function </a:t>
            </a:r>
            <a:r>
              <a:rPr lang="en-US" dirty="0">
                <a:latin typeface="Courier New" panose="02070309020205020404" pitchFamily="49" charset="0"/>
              </a:rPr>
              <a:t>increment(int x)</a:t>
            </a:r>
            <a:r>
              <a:rPr lang="en-US" dirty="0"/>
              <a:t>: </a:t>
            </a:r>
          </a:p>
          <a:p>
            <a:pPr marL="742950" lvl="1" indent="-285750">
              <a:buFont typeface="Arial" panose="020B0604020202020204" pitchFamily="34" charset="0"/>
              <a:buChar char="•"/>
            </a:pPr>
            <a:r>
              <a:rPr lang="en-US" dirty="0"/>
              <a:t>First using call by value </a:t>
            </a:r>
          </a:p>
          <a:p>
            <a:pPr marL="742950" lvl="1" indent="-285750">
              <a:buFont typeface="Arial" panose="020B0604020202020204" pitchFamily="34" charset="0"/>
              <a:buChar char="•"/>
            </a:pPr>
            <a:r>
              <a:rPr lang="en-US" dirty="0"/>
              <a:t>Then using call by reference </a:t>
            </a:r>
          </a:p>
          <a:p>
            <a:pPr>
              <a:buFont typeface="Arial" panose="020B0604020202020204" pitchFamily="34" charset="0"/>
              <a:buChar char="•"/>
            </a:pPr>
            <a:r>
              <a:rPr lang="en-US" b="1" dirty="0"/>
              <a:t>Task:</a:t>
            </a:r>
            <a:r>
              <a:rPr lang="en-US" dirty="0"/>
              <a:t> Observe and explain the output difference. </a:t>
            </a:r>
          </a:p>
          <a:p>
            <a:pPr>
              <a:buNone/>
            </a:pPr>
            <a:br>
              <a:rPr lang="en-US" dirty="0"/>
            </a:br>
            <a:endParaRPr lang="en-US" dirty="0"/>
          </a:p>
          <a:p>
            <a:pPr>
              <a:buNone/>
            </a:pPr>
            <a:r>
              <a:rPr lang="en-US" b="1" dirty="0"/>
              <a:t>3. Modify Variable</a:t>
            </a:r>
          </a:p>
          <a:p>
            <a:pPr>
              <a:buFont typeface="Arial" panose="020B0604020202020204" pitchFamily="34" charset="0"/>
              <a:buChar char="•"/>
            </a:pPr>
            <a:r>
              <a:rPr lang="en-US" dirty="0"/>
              <a:t>Pass a variable to a function and multiply it by 5. </a:t>
            </a:r>
          </a:p>
          <a:p>
            <a:pPr>
              <a:buFont typeface="Arial" panose="020B0604020202020204" pitchFamily="34" charset="0"/>
              <a:buChar char="•"/>
            </a:pPr>
            <a:r>
              <a:rPr lang="en-US" dirty="0"/>
              <a:t>Check whether the original value changes (value vs reference).</a:t>
            </a:r>
          </a:p>
          <a:p>
            <a:endParaRPr lang="en-US" dirty="0"/>
          </a:p>
        </p:txBody>
      </p:sp>
    </p:spTree>
    <p:extLst>
      <p:ext uri="{BB962C8B-B14F-4D97-AF65-F5344CB8AC3E}">
        <p14:creationId xmlns:p14="http://schemas.microsoft.com/office/powerpoint/2010/main" val="35714683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1059" y="229361"/>
            <a:ext cx="5051596" cy="6450664"/>
          </a:xfrm>
          <a:prstGeom prst="rect">
            <a:avLst/>
          </a:prstGeom>
        </p:spPr>
      </p:pic>
      <p:sp>
        <p:nvSpPr>
          <p:cNvPr id="6" name="Title 1"/>
          <p:cNvSpPr>
            <a:spLocks noGrp="1"/>
          </p:cNvSpPr>
          <p:nvPr>
            <p:ph type="title"/>
          </p:nvPr>
        </p:nvSpPr>
        <p:spPr>
          <a:xfrm>
            <a:off x="6003898" y="229361"/>
            <a:ext cx="4873283" cy="787791"/>
          </a:xfrm>
        </p:spPr>
        <p:txBody>
          <a:bodyPr>
            <a:normAutofit fontScale="90000"/>
          </a:bodyPr>
          <a:lstStyle/>
          <a:p>
            <a:r>
              <a:rPr lang="en-US" sz="4000" b="1" u="sng" dirty="0"/>
              <a:t>Function Overloading</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36192" y="2400613"/>
            <a:ext cx="3553321" cy="1724266"/>
          </a:xfrm>
          <a:prstGeom prst="rect">
            <a:avLst/>
          </a:prstGeom>
        </p:spPr>
      </p:pic>
    </p:spTree>
    <p:extLst>
      <p:ext uri="{BB962C8B-B14F-4D97-AF65-F5344CB8AC3E}">
        <p14:creationId xmlns:p14="http://schemas.microsoft.com/office/powerpoint/2010/main" val="10787568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a:spLocks noGrp="1"/>
          </p:cNvSpPr>
          <p:nvPr>
            <p:ph type="title"/>
          </p:nvPr>
        </p:nvSpPr>
        <p:spPr>
          <a:xfrm>
            <a:off x="6668915" y="1716046"/>
            <a:ext cx="4873283" cy="787791"/>
          </a:xfrm>
        </p:spPr>
        <p:txBody>
          <a:bodyPr>
            <a:normAutofit fontScale="90000"/>
          </a:bodyPr>
          <a:lstStyle/>
          <a:p>
            <a:r>
              <a:rPr lang="en-US" sz="4000" b="1" u="sng" dirty="0"/>
              <a:t>Function Overriding</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342" y="273255"/>
            <a:ext cx="5962622" cy="5208727"/>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342" y="6010157"/>
            <a:ext cx="7268589" cy="847843"/>
          </a:xfrm>
          <a:prstGeom prst="rect">
            <a:avLst/>
          </a:prstGeom>
        </p:spPr>
      </p:pic>
      <p:sp>
        <p:nvSpPr>
          <p:cNvPr id="8" name="Title 1"/>
          <p:cNvSpPr txBox="1">
            <a:spLocks/>
          </p:cNvSpPr>
          <p:nvPr/>
        </p:nvSpPr>
        <p:spPr>
          <a:xfrm>
            <a:off x="327342" y="5312077"/>
            <a:ext cx="4873283" cy="7877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u="sng" dirty="0"/>
              <a:t>Output</a:t>
            </a:r>
          </a:p>
        </p:txBody>
      </p:sp>
    </p:spTree>
    <p:extLst>
      <p:ext uri="{BB962C8B-B14F-4D97-AF65-F5344CB8AC3E}">
        <p14:creationId xmlns:p14="http://schemas.microsoft.com/office/powerpoint/2010/main" val="30251349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a:spLocks noGrp="1"/>
          </p:cNvSpPr>
          <p:nvPr>
            <p:ph type="title"/>
          </p:nvPr>
        </p:nvSpPr>
        <p:spPr>
          <a:xfrm>
            <a:off x="2036619" y="277091"/>
            <a:ext cx="7704246" cy="787791"/>
          </a:xfrm>
        </p:spPr>
        <p:txBody>
          <a:bodyPr>
            <a:normAutofit fontScale="90000"/>
          </a:bodyPr>
          <a:lstStyle/>
          <a:p>
            <a:r>
              <a:rPr lang="en-US" sz="4000" b="1" u="sng" dirty="0"/>
              <a:t>Function Overloading  &amp; Overriding</a:t>
            </a:r>
          </a:p>
        </p:txBody>
      </p:sp>
      <p:sp>
        <p:nvSpPr>
          <p:cNvPr id="10" name="Rectangle 9"/>
          <p:cNvSpPr/>
          <p:nvPr/>
        </p:nvSpPr>
        <p:spPr>
          <a:xfrm>
            <a:off x="542263" y="1600040"/>
            <a:ext cx="8776550" cy="3785652"/>
          </a:xfrm>
          <a:prstGeom prst="rect">
            <a:avLst/>
          </a:prstGeom>
        </p:spPr>
        <p:txBody>
          <a:bodyPr wrap="square">
            <a:spAutoFit/>
          </a:bodyPr>
          <a:lstStyle/>
          <a:p>
            <a:pPr>
              <a:buFont typeface="Arial" panose="020B0604020202020204" pitchFamily="34" charset="0"/>
              <a:buChar char="•"/>
            </a:pPr>
            <a:r>
              <a:rPr lang="en-US" sz="2400" b="1" dirty="0">
                <a:latin typeface="roboto"/>
              </a:rPr>
              <a:t>Function overloading</a:t>
            </a:r>
            <a:r>
              <a:rPr lang="en-US" sz="2400" dirty="0">
                <a:latin typeface="roboto"/>
              </a:rPr>
              <a:t> is a concept using which we define two or more functions in the same class with the same name with a condition that the parameters of the function should differ by its number or type.</a:t>
            </a:r>
          </a:p>
          <a:p>
            <a:pPr>
              <a:buFont typeface="Arial" panose="020B0604020202020204" pitchFamily="34" charset="0"/>
              <a:buChar char="•"/>
            </a:pPr>
            <a:endParaRPr lang="en-US" sz="2400" dirty="0">
              <a:latin typeface="roboto"/>
            </a:endParaRPr>
          </a:p>
          <a:p>
            <a:endParaRPr lang="en-US" sz="2400" dirty="0">
              <a:latin typeface="roboto"/>
            </a:endParaRPr>
          </a:p>
          <a:p>
            <a:pPr>
              <a:buFont typeface="Arial" panose="020B0604020202020204" pitchFamily="34" charset="0"/>
              <a:buChar char="•"/>
            </a:pPr>
            <a:r>
              <a:rPr lang="en-US" sz="2400" b="1" dirty="0">
                <a:latin typeface="roboto"/>
              </a:rPr>
              <a:t>Function overriding</a:t>
            </a:r>
            <a:r>
              <a:rPr lang="en-US" sz="2400" dirty="0">
                <a:latin typeface="roboto"/>
              </a:rPr>
              <a:t> is a concept using which we define two functions with the same name and same parameters with a condition that one function must present in a base class and other function in a derived class.</a:t>
            </a:r>
            <a:endParaRPr lang="en-US" sz="2400" b="0" i="0" dirty="0">
              <a:effectLst/>
              <a:latin typeface="roboto"/>
            </a:endParaRPr>
          </a:p>
        </p:txBody>
      </p:sp>
    </p:spTree>
    <p:extLst>
      <p:ext uri="{BB962C8B-B14F-4D97-AF65-F5344CB8AC3E}">
        <p14:creationId xmlns:p14="http://schemas.microsoft.com/office/powerpoint/2010/main" val="18946670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a:spLocks noGrp="1"/>
          </p:cNvSpPr>
          <p:nvPr>
            <p:ph type="title"/>
          </p:nvPr>
        </p:nvSpPr>
        <p:spPr>
          <a:xfrm>
            <a:off x="6973472" y="166289"/>
            <a:ext cx="4873283" cy="787791"/>
          </a:xfrm>
        </p:spPr>
        <p:txBody>
          <a:bodyPr>
            <a:normAutofit fontScale="90000"/>
          </a:bodyPr>
          <a:lstStyle/>
          <a:p>
            <a:r>
              <a:rPr lang="en-US" sz="4000" b="1" u="sng" dirty="0"/>
              <a:t>Function Overriding</a:t>
            </a:r>
          </a:p>
        </p:txBody>
      </p:sp>
      <p:sp>
        <p:nvSpPr>
          <p:cNvPr id="8" name="Title 1"/>
          <p:cNvSpPr txBox="1">
            <a:spLocks/>
          </p:cNvSpPr>
          <p:nvPr/>
        </p:nvSpPr>
        <p:spPr>
          <a:xfrm>
            <a:off x="6383408" y="1728138"/>
            <a:ext cx="4873283" cy="7877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u="sng" dirty="0"/>
              <a:t>Output</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4920" y="166289"/>
            <a:ext cx="5934430" cy="6645672"/>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3408" y="2866065"/>
            <a:ext cx="5255273" cy="1062998"/>
          </a:xfrm>
          <a:prstGeom prst="rect">
            <a:avLst/>
          </a:prstGeom>
        </p:spPr>
      </p:pic>
    </p:spTree>
    <p:extLst>
      <p:ext uri="{BB962C8B-B14F-4D97-AF65-F5344CB8AC3E}">
        <p14:creationId xmlns:p14="http://schemas.microsoft.com/office/powerpoint/2010/main" val="2877283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a:spLocks noGrp="1"/>
          </p:cNvSpPr>
          <p:nvPr>
            <p:ph type="title"/>
          </p:nvPr>
        </p:nvSpPr>
        <p:spPr>
          <a:xfrm>
            <a:off x="2275981" y="112754"/>
            <a:ext cx="7681599" cy="787791"/>
          </a:xfrm>
        </p:spPr>
        <p:txBody>
          <a:bodyPr>
            <a:normAutofit fontScale="90000"/>
          </a:bodyPr>
          <a:lstStyle/>
          <a:p>
            <a:r>
              <a:rPr lang="en-US" sz="4000" b="1" u="sng" dirty="0"/>
              <a:t>Function Overloading vs. Overriding</a:t>
            </a:r>
          </a:p>
        </p:txBody>
      </p:sp>
      <p:graphicFrame>
        <p:nvGraphicFramePr>
          <p:cNvPr id="3" name="Table 2"/>
          <p:cNvGraphicFramePr>
            <a:graphicFrameLocks noGrp="1"/>
          </p:cNvGraphicFramePr>
          <p:nvPr>
            <p:extLst>
              <p:ext uri="{D42A27DB-BD31-4B8C-83A1-F6EECF244321}">
                <p14:modId xmlns:p14="http://schemas.microsoft.com/office/powerpoint/2010/main" val="1976903379"/>
              </p:ext>
            </p:extLst>
          </p:nvPr>
        </p:nvGraphicFramePr>
        <p:xfrm>
          <a:off x="510987" y="1239122"/>
          <a:ext cx="11510684" cy="5618879"/>
        </p:xfrm>
        <a:graphic>
          <a:graphicData uri="http://schemas.openxmlformats.org/drawingml/2006/table">
            <a:tbl>
              <a:tblPr>
                <a:tableStyleId>{E8B1032C-EA38-4F05-BA0D-38AFFFC7BED3}</a:tableStyleId>
              </a:tblPr>
              <a:tblGrid>
                <a:gridCol w="709849">
                  <a:extLst>
                    <a:ext uri="{9D8B030D-6E8A-4147-A177-3AD203B41FA5}">
                      <a16:colId xmlns:a16="http://schemas.microsoft.com/office/drawing/2014/main" val="7597730"/>
                    </a:ext>
                  </a:extLst>
                </a:gridCol>
                <a:gridCol w="5018599">
                  <a:extLst>
                    <a:ext uri="{9D8B030D-6E8A-4147-A177-3AD203B41FA5}">
                      <a16:colId xmlns:a16="http://schemas.microsoft.com/office/drawing/2014/main" val="3923243862"/>
                    </a:ext>
                  </a:extLst>
                </a:gridCol>
                <a:gridCol w="5782236">
                  <a:extLst>
                    <a:ext uri="{9D8B030D-6E8A-4147-A177-3AD203B41FA5}">
                      <a16:colId xmlns:a16="http://schemas.microsoft.com/office/drawing/2014/main" val="109359101"/>
                    </a:ext>
                  </a:extLst>
                </a:gridCol>
              </a:tblGrid>
              <a:tr h="728610">
                <a:tc>
                  <a:txBody>
                    <a:bodyPr/>
                    <a:lstStyle/>
                    <a:p>
                      <a:pPr algn="ctr" fontAlgn="ctr"/>
                      <a:r>
                        <a:rPr lang="en-US" sz="2000" b="1" dirty="0" err="1">
                          <a:effectLst/>
                        </a:rPr>
                        <a:t>S.No</a:t>
                      </a:r>
                      <a:r>
                        <a:rPr lang="en-US" sz="2000" b="1" dirty="0">
                          <a:effectLst/>
                        </a:rPr>
                        <a:t>.</a:t>
                      </a:r>
                      <a:endParaRPr lang="en-US" sz="2000" b="1" dirty="0">
                        <a:solidFill>
                          <a:srgbClr val="000000"/>
                        </a:solidFill>
                        <a:effectLst/>
                      </a:endParaRPr>
                    </a:p>
                  </a:txBody>
                  <a:tcPr marL="44221" marR="44221" marT="44221" marB="44221" anchor="ctr"/>
                </a:tc>
                <a:tc>
                  <a:txBody>
                    <a:bodyPr/>
                    <a:lstStyle/>
                    <a:p>
                      <a:pPr algn="ctr" fontAlgn="ctr"/>
                      <a:r>
                        <a:rPr lang="en-US" sz="2000" b="1" dirty="0">
                          <a:effectLst/>
                        </a:rPr>
                        <a:t>Function Overloading</a:t>
                      </a:r>
                      <a:endParaRPr lang="en-US" sz="2000" b="1" dirty="0">
                        <a:solidFill>
                          <a:srgbClr val="000000"/>
                        </a:solidFill>
                        <a:effectLst/>
                      </a:endParaRPr>
                    </a:p>
                  </a:txBody>
                  <a:tcPr marL="44221" marR="44221" marT="44221" marB="44221" anchor="ctr"/>
                </a:tc>
                <a:tc>
                  <a:txBody>
                    <a:bodyPr/>
                    <a:lstStyle/>
                    <a:p>
                      <a:pPr algn="ctr" fontAlgn="ctr"/>
                      <a:r>
                        <a:rPr lang="en-US" sz="2000" b="1" dirty="0">
                          <a:effectLst/>
                        </a:rPr>
                        <a:t>Function Overriding</a:t>
                      </a:r>
                      <a:endParaRPr lang="en-US" sz="2000" b="1" dirty="0">
                        <a:solidFill>
                          <a:srgbClr val="000000"/>
                        </a:solidFill>
                        <a:effectLst/>
                      </a:endParaRPr>
                    </a:p>
                  </a:txBody>
                  <a:tcPr marL="44221" marR="44221" marT="44221" marB="44221" anchor="ctr"/>
                </a:tc>
                <a:extLst>
                  <a:ext uri="{0D108BD9-81ED-4DB2-BD59-A6C34878D82A}">
                    <a16:rowId xmlns:a16="http://schemas.microsoft.com/office/drawing/2014/main" val="4228681625"/>
                  </a:ext>
                </a:extLst>
              </a:tr>
              <a:tr h="1873836">
                <a:tc>
                  <a:txBody>
                    <a:bodyPr/>
                    <a:lstStyle/>
                    <a:p>
                      <a:pPr algn="just" fontAlgn="ctr"/>
                      <a:r>
                        <a:rPr lang="en-US" sz="2000">
                          <a:effectLst/>
                        </a:rPr>
                        <a:t>1.</a:t>
                      </a:r>
                      <a:endParaRPr lang="en-US" sz="2000">
                        <a:solidFill>
                          <a:srgbClr val="000000"/>
                        </a:solidFill>
                        <a:effectLst/>
                      </a:endParaRPr>
                    </a:p>
                  </a:txBody>
                  <a:tcPr marL="44221" marR="44221" marT="44221" marB="44221" anchor="ctr"/>
                </a:tc>
                <a:tc>
                  <a:txBody>
                    <a:bodyPr/>
                    <a:lstStyle/>
                    <a:p>
                      <a:pPr algn="l" fontAlgn="t"/>
                      <a:r>
                        <a:rPr lang="en-US" sz="2000" dirty="0">
                          <a:effectLst/>
                        </a:rPr>
                        <a:t>The concept through which we can define two or more functions with the same name and different numbers and parameters is known as function overloading.</a:t>
                      </a:r>
                      <a:endParaRPr lang="en-US" sz="2000" dirty="0">
                        <a:solidFill>
                          <a:srgbClr val="000000"/>
                        </a:solidFill>
                        <a:effectLst/>
                      </a:endParaRPr>
                    </a:p>
                  </a:txBody>
                  <a:tcPr marL="44221" marR="44221" marT="44221" marB="44221"/>
                </a:tc>
                <a:tc>
                  <a:txBody>
                    <a:bodyPr/>
                    <a:lstStyle/>
                    <a:p>
                      <a:pPr algn="l" fontAlgn="t"/>
                      <a:r>
                        <a:rPr lang="en-US" sz="2000">
                          <a:effectLst/>
                        </a:rPr>
                        <a:t>The concept through which we define a function in parent class and the child class with the same return type and parameters is known as function overriding.</a:t>
                      </a:r>
                      <a:endParaRPr lang="en-US" sz="2000">
                        <a:solidFill>
                          <a:srgbClr val="000000"/>
                        </a:solidFill>
                        <a:effectLst/>
                      </a:endParaRPr>
                    </a:p>
                  </a:txBody>
                  <a:tcPr marL="44221" marR="44221" marT="44221" marB="44221"/>
                </a:tc>
                <a:extLst>
                  <a:ext uri="{0D108BD9-81ED-4DB2-BD59-A6C34878D82A}">
                    <a16:rowId xmlns:a16="http://schemas.microsoft.com/office/drawing/2014/main" val="49305280"/>
                  </a:ext>
                </a:extLst>
              </a:tr>
              <a:tr h="893341">
                <a:tc>
                  <a:txBody>
                    <a:bodyPr/>
                    <a:lstStyle/>
                    <a:p>
                      <a:pPr algn="l" fontAlgn="ctr"/>
                      <a:r>
                        <a:rPr lang="en-US" sz="2000">
                          <a:effectLst/>
                        </a:rPr>
                        <a:t>2.</a:t>
                      </a:r>
                      <a:endParaRPr lang="en-US" sz="2000">
                        <a:solidFill>
                          <a:srgbClr val="000000"/>
                        </a:solidFill>
                        <a:effectLst/>
                      </a:endParaRPr>
                    </a:p>
                  </a:txBody>
                  <a:tcPr marL="44221" marR="44221" marT="44221" marB="44221" anchor="ctr"/>
                </a:tc>
                <a:tc>
                  <a:txBody>
                    <a:bodyPr/>
                    <a:lstStyle/>
                    <a:p>
                      <a:pPr algn="l" fontAlgn="t"/>
                      <a:r>
                        <a:rPr lang="en-US" sz="2000">
                          <a:effectLst/>
                        </a:rPr>
                        <a:t>It can take place without inheritance.</a:t>
                      </a:r>
                      <a:endParaRPr lang="en-US" sz="2000">
                        <a:solidFill>
                          <a:srgbClr val="000000"/>
                        </a:solidFill>
                        <a:effectLst/>
                      </a:endParaRPr>
                    </a:p>
                  </a:txBody>
                  <a:tcPr marL="44221" marR="44221" marT="44221" marB="44221"/>
                </a:tc>
                <a:tc>
                  <a:txBody>
                    <a:bodyPr/>
                    <a:lstStyle/>
                    <a:p>
                      <a:pPr algn="l" fontAlgn="t"/>
                      <a:r>
                        <a:rPr lang="en-US" sz="2000" dirty="0">
                          <a:effectLst/>
                        </a:rPr>
                        <a:t>It can take place only when a class inherited from another class.</a:t>
                      </a:r>
                      <a:endParaRPr lang="en-US" sz="2000" dirty="0">
                        <a:solidFill>
                          <a:srgbClr val="000000"/>
                        </a:solidFill>
                        <a:effectLst/>
                      </a:endParaRPr>
                    </a:p>
                  </a:txBody>
                  <a:tcPr marL="44221" marR="44221" marT="44221" marB="44221"/>
                </a:tc>
                <a:extLst>
                  <a:ext uri="{0D108BD9-81ED-4DB2-BD59-A6C34878D82A}">
                    <a16:rowId xmlns:a16="http://schemas.microsoft.com/office/drawing/2014/main" val="2108703761"/>
                  </a:ext>
                </a:extLst>
              </a:tr>
              <a:tr h="501141">
                <a:tc>
                  <a:txBody>
                    <a:bodyPr/>
                    <a:lstStyle/>
                    <a:p>
                      <a:pPr algn="l" fontAlgn="ctr"/>
                      <a:r>
                        <a:rPr lang="en-US" sz="2000">
                          <a:effectLst/>
                        </a:rPr>
                        <a:t>3.</a:t>
                      </a:r>
                      <a:endParaRPr lang="en-US" sz="2000">
                        <a:solidFill>
                          <a:srgbClr val="000000"/>
                        </a:solidFill>
                        <a:effectLst/>
                      </a:endParaRPr>
                    </a:p>
                  </a:txBody>
                  <a:tcPr marL="44221" marR="44221" marT="44221" marB="44221" anchor="ctr"/>
                </a:tc>
                <a:tc>
                  <a:txBody>
                    <a:bodyPr/>
                    <a:lstStyle/>
                    <a:p>
                      <a:pPr algn="l" fontAlgn="t"/>
                      <a:r>
                        <a:rPr lang="en-US" sz="2000">
                          <a:effectLst/>
                        </a:rPr>
                        <a:t>It happens during compile time.</a:t>
                      </a:r>
                      <a:endParaRPr lang="en-US" sz="2000">
                        <a:solidFill>
                          <a:srgbClr val="000000"/>
                        </a:solidFill>
                        <a:effectLst/>
                      </a:endParaRPr>
                    </a:p>
                  </a:txBody>
                  <a:tcPr marL="44221" marR="44221" marT="44221" marB="44221"/>
                </a:tc>
                <a:tc>
                  <a:txBody>
                    <a:bodyPr/>
                    <a:lstStyle/>
                    <a:p>
                      <a:pPr algn="l" fontAlgn="t"/>
                      <a:r>
                        <a:rPr lang="en-US" sz="2000">
                          <a:effectLst/>
                        </a:rPr>
                        <a:t>It happens during run time.</a:t>
                      </a:r>
                      <a:endParaRPr lang="en-US" sz="2000">
                        <a:solidFill>
                          <a:srgbClr val="000000"/>
                        </a:solidFill>
                        <a:effectLst/>
                      </a:endParaRPr>
                    </a:p>
                  </a:txBody>
                  <a:tcPr marL="44221" marR="44221" marT="44221" marB="44221"/>
                </a:tc>
                <a:extLst>
                  <a:ext uri="{0D108BD9-81ED-4DB2-BD59-A6C34878D82A}">
                    <a16:rowId xmlns:a16="http://schemas.microsoft.com/office/drawing/2014/main" val="2114679835"/>
                  </a:ext>
                </a:extLst>
              </a:tr>
              <a:tr h="728610">
                <a:tc>
                  <a:txBody>
                    <a:bodyPr/>
                    <a:lstStyle/>
                    <a:p>
                      <a:pPr algn="l" fontAlgn="ctr"/>
                      <a:r>
                        <a:rPr lang="en-US" sz="2000">
                          <a:effectLst/>
                        </a:rPr>
                        <a:t>4.</a:t>
                      </a:r>
                      <a:endParaRPr lang="en-US" sz="2000">
                        <a:solidFill>
                          <a:srgbClr val="000000"/>
                        </a:solidFill>
                        <a:effectLst/>
                      </a:endParaRPr>
                    </a:p>
                  </a:txBody>
                  <a:tcPr marL="44221" marR="44221" marT="44221" marB="44221" anchor="ctr"/>
                </a:tc>
                <a:tc>
                  <a:txBody>
                    <a:bodyPr/>
                    <a:lstStyle/>
                    <a:p>
                      <a:pPr algn="l" fontAlgn="t"/>
                      <a:r>
                        <a:rPr lang="en-US" sz="2000">
                          <a:effectLst/>
                        </a:rPr>
                        <a:t>It is also known as compile time polymorphism.</a:t>
                      </a:r>
                      <a:endParaRPr lang="en-US" sz="2000">
                        <a:solidFill>
                          <a:srgbClr val="000000"/>
                        </a:solidFill>
                        <a:effectLst/>
                      </a:endParaRPr>
                    </a:p>
                  </a:txBody>
                  <a:tcPr marL="44221" marR="44221" marT="44221" marB="44221"/>
                </a:tc>
                <a:tc>
                  <a:txBody>
                    <a:bodyPr/>
                    <a:lstStyle/>
                    <a:p>
                      <a:pPr algn="l" fontAlgn="t"/>
                      <a:r>
                        <a:rPr lang="en-US" sz="2000">
                          <a:effectLst/>
                        </a:rPr>
                        <a:t>It is also known as run time polymorphism.</a:t>
                      </a:r>
                      <a:endParaRPr lang="en-US" sz="2000">
                        <a:solidFill>
                          <a:srgbClr val="000000"/>
                        </a:solidFill>
                        <a:effectLst/>
                      </a:endParaRPr>
                    </a:p>
                  </a:txBody>
                  <a:tcPr marL="44221" marR="44221" marT="44221" marB="44221"/>
                </a:tc>
                <a:extLst>
                  <a:ext uri="{0D108BD9-81ED-4DB2-BD59-A6C34878D82A}">
                    <a16:rowId xmlns:a16="http://schemas.microsoft.com/office/drawing/2014/main" val="1635772597"/>
                  </a:ext>
                </a:extLst>
              </a:tr>
              <a:tr h="893341">
                <a:tc>
                  <a:txBody>
                    <a:bodyPr/>
                    <a:lstStyle/>
                    <a:p>
                      <a:pPr algn="l" fontAlgn="ctr"/>
                      <a:r>
                        <a:rPr lang="en-US" sz="2000">
                          <a:effectLst/>
                        </a:rPr>
                        <a:t>5.</a:t>
                      </a:r>
                      <a:endParaRPr lang="en-US" sz="2000">
                        <a:solidFill>
                          <a:srgbClr val="000000"/>
                        </a:solidFill>
                        <a:effectLst/>
                      </a:endParaRPr>
                    </a:p>
                  </a:txBody>
                  <a:tcPr marL="44221" marR="44221" marT="44221" marB="44221" anchor="ctr"/>
                </a:tc>
                <a:tc>
                  <a:txBody>
                    <a:bodyPr/>
                    <a:lstStyle/>
                    <a:p>
                      <a:pPr algn="l" fontAlgn="t"/>
                      <a:r>
                        <a:rPr lang="en-US" sz="2000">
                          <a:effectLst/>
                        </a:rPr>
                        <a:t>The function overloading can take place multiple times.</a:t>
                      </a:r>
                      <a:endParaRPr lang="en-US" sz="2000">
                        <a:solidFill>
                          <a:srgbClr val="000000"/>
                        </a:solidFill>
                        <a:effectLst/>
                      </a:endParaRPr>
                    </a:p>
                  </a:txBody>
                  <a:tcPr marL="44221" marR="44221" marT="44221" marB="44221"/>
                </a:tc>
                <a:tc>
                  <a:txBody>
                    <a:bodyPr/>
                    <a:lstStyle/>
                    <a:p>
                      <a:pPr algn="l" fontAlgn="t"/>
                      <a:r>
                        <a:rPr lang="en-US" sz="2000" dirty="0">
                          <a:effectLst/>
                        </a:rPr>
                        <a:t>Function overriding can take place in the derived class only at once.</a:t>
                      </a:r>
                      <a:endParaRPr lang="en-US" sz="2000" dirty="0">
                        <a:solidFill>
                          <a:srgbClr val="000000"/>
                        </a:solidFill>
                        <a:effectLst/>
                      </a:endParaRPr>
                    </a:p>
                  </a:txBody>
                  <a:tcPr marL="44221" marR="44221" marT="44221" marB="44221"/>
                </a:tc>
                <a:extLst>
                  <a:ext uri="{0D108BD9-81ED-4DB2-BD59-A6C34878D82A}">
                    <a16:rowId xmlns:a16="http://schemas.microsoft.com/office/drawing/2014/main" val="974175746"/>
                  </a:ext>
                </a:extLst>
              </a:tr>
            </a:tbl>
          </a:graphicData>
        </a:graphic>
      </p:graphicFrame>
    </p:spTree>
    <p:extLst>
      <p:ext uri="{BB962C8B-B14F-4D97-AF65-F5344CB8AC3E}">
        <p14:creationId xmlns:p14="http://schemas.microsoft.com/office/powerpoint/2010/main" val="4080347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Friend function in C++</a:t>
            </a:r>
          </a:p>
        </p:txBody>
      </p:sp>
      <p:sp>
        <p:nvSpPr>
          <p:cNvPr id="3" name="Content Placeholder 2"/>
          <p:cNvSpPr>
            <a:spLocks noGrp="1"/>
          </p:cNvSpPr>
          <p:nvPr>
            <p:ph idx="1"/>
          </p:nvPr>
        </p:nvSpPr>
        <p:spPr>
          <a:xfrm>
            <a:off x="290946" y="1825625"/>
            <a:ext cx="6747164" cy="4351338"/>
          </a:xfrm>
        </p:spPr>
        <p:txBody>
          <a:bodyPr>
            <a:normAutofit/>
          </a:bodyPr>
          <a:lstStyle/>
          <a:p>
            <a:r>
              <a:rPr lang="en-US" dirty="0"/>
              <a:t>Data hiding is a fundamental concept of object-oriented programming. It restricts the access of private members from outside of the class.</a:t>
            </a:r>
          </a:p>
          <a:p>
            <a:r>
              <a:rPr lang="en-US" dirty="0"/>
              <a:t>Similarly, protected members can only be accessed by derived classes and are inaccessible from outside. For example,</a:t>
            </a:r>
          </a:p>
          <a:p>
            <a:r>
              <a:rPr lang="en-US" dirty="0"/>
              <a:t>However, there is a feature in C++ called </a:t>
            </a:r>
            <a:r>
              <a:rPr lang="en-US" b="1" dirty="0"/>
              <a:t>friend functions</a:t>
            </a:r>
            <a:r>
              <a:rPr lang="en-US" dirty="0"/>
              <a:t> that break this rule and allow us to access member functions from outside the class.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38109" y="2081480"/>
            <a:ext cx="5039428" cy="2684484"/>
          </a:xfrm>
          <a:prstGeom prst="rect">
            <a:avLst/>
          </a:prstGeom>
        </p:spPr>
      </p:pic>
    </p:spTree>
    <p:extLst>
      <p:ext uri="{BB962C8B-B14F-4D97-AF65-F5344CB8AC3E}">
        <p14:creationId xmlns:p14="http://schemas.microsoft.com/office/powerpoint/2010/main" val="25762019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The friend function in C++ is defined outside the scope of the class. It has the authority to access all protected members and private members of the class. Friends are not member functions, but the prototypes for friend functions appear in the class function only. It covers class template, class, function template, function, and member functions, in which the entire members of the class are friends.</a:t>
            </a:r>
          </a:p>
        </p:txBody>
      </p:sp>
    </p:spTree>
    <p:extLst>
      <p:ext uri="{BB962C8B-B14F-4D97-AF65-F5344CB8AC3E}">
        <p14:creationId xmlns:p14="http://schemas.microsoft.com/office/powerpoint/2010/main" val="32386639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Friend function in C++</a:t>
            </a:r>
          </a:p>
        </p:txBody>
      </p:sp>
      <p:sp>
        <p:nvSpPr>
          <p:cNvPr id="5" name="Content Placeholder 4"/>
          <p:cNvSpPr>
            <a:spLocks noGrp="1"/>
          </p:cNvSpPr>
          <p:nvPr>
            <p:ph idx="1"/>
          </p:nvPr>
        </p:nvSpPr>
        <p:spPr>
          <a:xfrm>
            <a:off x="838200" y="1432942"/>
            <a:ext cx="10515600" cy="5142669"/>
          </a:xfrm>
        </p:spPr>
        <p:txBody>
          <a:bodyPr/>
          <a:lstStyle/>
          <a:p>
            <a:pPr fontAlgn="base"/>
            <a:r>
              <a:rPr lang="en-US" dirty="0"/>
              <a:t>A friend function in C++ is defined as a function that can access private, protected and public members of a class.</a:t>
            </a:r>
          </a:p>
          <a:p>
            <a:pPr fontAlgn="base"/>
            <a:r>
              <a:rPr lang="en-US" dirty="0"/>
              <a:t>The friend function is declared using the friend keyword inside the body of the class.</a:t>
            </a:r>
          </a:p>
          <a:p>
            <a:pPr fontAlgn="base"/>
            <a:r>
              <a:rPr lang="en-US" dirty="0"/>
              <a:t>By using the keyword, the </a:t>
            </a:r>
            <a:r>
              <a:rPr lang="en-US" b="1" dirty="0"/>
              <a:t>‘friend’ </a:t>
            </a:r>
            <a:r>
              <a:rPr lang="en-US" dirty="0"/>
              <a:t>compiler understands that the given function is a friend function.</a:t>
            </a:r>
          </a:p>
          <a:p>
            <a:pPr fontAlgn="base"/>
            <a:r>
              <a:rPr lang="en-US" b="1" dirty="0"/>
              <a:t>Friend Function Syntax:</a:t>
            </a:r>
            <a:endParaRPr lang="en-US" dirty="0"/>
          </a:p>
          <a:p>
            <a:endParaRPr lang="en-US" dirty="0"/>
          </a:p>
        </p:txBody>
      </p:sp>
      <p:sp>
        <p:nvSpPr>
          <p:cNvPr id="7" name="Rectangle 3"/>
          <p:cNvSpPr>
            <a:spLocks noChangeArrowheads="1"/>
          </p:cNvSpPr>
          <p:nvPr/>
        </p:nvSpPr>
        <p:spPr bwMode="auto">
          <a:xfrm>
            <a:off x="1136072" y="4683911"/>
            <a:ext cx="5421612"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6699"/>
                </a:solidFill>
                <a:effectLst/>
                <a:latin typeface="Monaco"/>
              </a:rPr>
              <a:t>class</a:t>
            </a:r>
            <a:r>
              <a:rPr kumimoji="0" lang="en-US" altLang="en-US" sz="2800" b="0" i="0" u="none" strike="noStrike" cap="none" normalizeH="0" baseline="0" dirty="0">
                <a:ln>
                  <a:noFill/>
                </a:ln>
                <a:solidFill>
                  <a:srgbClr val="444444"/>
                </a:solidFill>
                <a:effectLst/>
                <a:latin typeface="Monaco"/>
              </a:rPr>
              <a:t> </a:t>
            </a:r>
            <a:r>
              <a:rPr kumimoji="0" lang="en-US" altLang="en-US" sz="2000" b="0" i="0" u="none" strike="noStrike" cap="none" normalizeH="0" baseline="0" dirty="0" err="1">
                <a:ln>
                  <a:noFill/>
                </a:ln>
                <a:effectLst/>
                <a:latin typeface="Monaco"/>
              </a:rPr>
              <a:t>className</a:t>
            </a:r>
            <a:r>
              <a:rPr kumimoji="0" lang="en-US" altLang="en-US" sz="2000" b="0" i="0" u="none" strike="noStrike" cap="none" normalizeH="0" baseline="0" dirty="0">
                <a:ln>
                  <a:noFill/>
                </a:ln>
                <a:effectLst/>
                <a:latin typeface="Monaco"/>
              </a:rPr>
              <a:t> {</a:t>
            </a:r>
            <a:endParaRPr kumimoji="0" lang="en-US" altLang="en-US" sz="28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Monaco"/>
              </a:rPr>
              <a:t>    ... .. ...</a:t>
            </a:r>
            <a:endParaRPr kumimoji="0" lang="en-US" altLang="en-US" sz="28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Monaco"/>
              </a:rPr>
              <a:t>    </a:t>
            </a:r>
            <a:r>
              <a:rPr kumimoji="0" lang="en-US" altLang="en-US" sz="2000" b="1" i="0" u="none" strike="noStrike" cap="none" normalizeH="0" baseline="0" dirty="0">
                <a:ln>
                  <a:noFill/>
                </a:ln>
                <a:effectLst/>
                <a:latin typeface="Monaco"/>
              </a:rPr>
              <a:t>friend</a:t>
            </a:r>
            <a:r>
              <a:rPr kumimoji="0" lang="en-US" altLang="en-US" sz="2800" b="0" i="0" u="none" strike="noStrike" cap="none" normalizeH="0" baseline="0" dirty="0">
                <a:ln>
                  <a:noFill/>
                </a:ln>
                <a:effectLst/>
                <a:latin typeface="Monaco"/>
              </a:rPr>
              <a:t> </a:t>
            </a:r>
            <a:r>
              <a:rPr kumimoji="0" lang="en-US" altLang="en-US" sz="2000" b="0" i="0" u="none" strike="noStrike" cap="none" normalizeH="0" baseline="0" dirty="0" err="1">
                <a:ln>
                  <a:noFill/>
                </a:ln>
                <a:effectLst/>
                <a:latin typeface="Monaco"/>
              </a:rPr>
              <a:t>returnType</a:t>
            </a:r>
            <a:r>
              <a:rPr kumimoji="0" lang="en-US" altLang="en-US" sz="2000" b="0" i="0" u="none" strike="noStrike" cap="none" normalizeH="0" baseline="0" dirty="0">
                <a:ln>
                  <a:noFill/>
                </a:ln>
                <a:effectLst/>
                <a:latin typeface="Monaco"/>
              </a:rPr>
              <a:t> </a:t>
            </a:r>
            <a:r>
              <a:rPr kumimoji="0" lang="en-US" altLang="en-US" sz="2000" b="0" i="0" u="none" strike="noStrike" cap="none" normalizeH="0" baseline="0" dirty="0" err="1">
                <a:ln>
                  <a:noFill/>
                </a:ln>
                <a:effectLst/>
                <a:latin typeface="Monaco"/>
              </a:rPr>
              <a:t>functionName</a:t>
            </a:r>
            <a:r>
              <a:rPr kumimoji="0" lang="en-US" altLang="en-US" sz="2000" b="0" i="0" u="none" strike="noStrike" cap="none" normalizeH="0" baseline="0" dirty="0">
                <a:ln>
                  <a:noFill/>
                </a:ln>
                <a:effectLst/>
                <a:latin typeface="Monaco"/>
              </a:rPr>
              <a:t>(arguments);</a:t>
            </a:r>
            <a:endParaRPr kumimoji="0" lang="en-US" altLang="en-US" sz="28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Monaco"/>
              </a:rPr>
              <a:t>    ... .. ...</a:t>
            </a:r>
            <a:endParaRPr kumimoji="0" lang="en-US" altLang="en-US" sz="28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Monaco"/>
              </a:rPr>
              <a:t>}</a:t>
            </a:r>
            <a:endParaRPr kumimoji="0" lang="en-US" altLang="en-US" sz="4400" b="0" i="0" u="none" strike="noStrike" cap="none" normalizeH="0" baseline="0" dirty="0">
              <a:ln>
                <a:noFill/>
              </a:ln>
              <a:effectLst/>
            </a:endParaRPr>
          </a:p>
        </p:txBody>
      </p:sp>
    </p:spTree>
    <p:extLst>
      <p:ext uri="{BB962C8B-B14F-4D97-AF65-F5344CB8AC3E}">
        <p14:creationId xmlns:p14="http://schemas.microsoft.com/office/powerpoint/2010/main" val="39711890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500812" y="365124"/>
            <a:ext cx="5410200" cy="1325563"/>
          </a:xfrm>
        </p:spPr>
        <p:txBody>
          <a:bodyPr/>
          <a:lstStyle/>
          <a:p>
            <a:r>
              <a:rPr lang="en-US" b="1" u="sng" dirty="0"/>
              <a:t>Friend function in C++</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169" y="157164"/>
            <a:ext cx="6150906" cy="6683208"/>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8110" y="1690687"/>
            <a:ext cx="3095965" cy="1505489"/>
          </a:xfrm>
          <a:prstGeom prst="rect">
            <a:avLst/>
          </a:prstGeom>
        </p:spPr>
      </p:pic>
      <p:sp>
        <p:nvSpPr>
          <p:cNvPr id="8" name="Rectangle 2"/>
          <p:cNvSpPr>
            <a:spLocks noChangeArrowheads="1"/>
          </p:cNvSpPr>
          <p:nvPr/>
        </p:nvSpPr>
        <p:spPr bwMode="auto">
          <a:xfrm>
            <a:off x="6667499" y="3498768"/>
            <a:ext cx="5243513" cy="923330"/>
          </a:xfrm>
          <a:prstGeom prst="rect">
            <a:avLst/>
          </a:prstGeom>
          <a:solidFill>
            <a:srgbClr val="F9FA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euclid_circular_a"/>
              </a:rPr>
              <a:t>Here, </a:t>
            </a:r>
            <a:r>
              <a:rPr kumimoji="0" lang="en-US" altLang="en-US" sz="1400" b="0" i="0" u="none" strike="noStrike" cap="none" normalizeH="0" baseline="0" dirty="0" err="1">
                <a:ln>
                  <a:noFill/>
                </a:ln>
                <a:solidFill>
                  <a:schemeClr val="tx1"/>
                </a:solidFill>
                <a:effectLst/>
                <a:latin typeface="Droid Sans Mono"/>
              </a:rPr>
              <a:t>addFive</a:t>
            </a:r>
            <a:r>
              <a:rPr kumimoji="0" lang="en-US" altLang="en-US" sz="1400" b="0" i="0" u="none" strike="noStrike" cap="none" normalizeH="0" baseline="0" dirty="0">
                <a:ln>
                  <a:noFill/>
                </a:ln>
                <a:solidFill>
                  <a:schemeClr val="tx1"/>
                </a:solidFill>
                <a:effectLst/>
                <a:latin typeface="Droid Sans Mono"/>
              </a:rPr>
              <a:t>()</a:t>
            </a:r>
            <a:r>
              <a:rPr kumimoji="0" lang="en-US" altLang="en-US" sz="2000" b="0" i="0" u="none" strike="noStrike" cap="none" normalizeH="0" baseline="0" dirty="0">
                <a:ln>
                  <a:noFill/>
                </a:ln>
                <a:solidFill>
                  <a:schemeClr val="tx1"/>
                </a:solidFill>
                <a:effectLst/>
                <a:latin typeface="euclid_circular_a"/>
              </a:rPr>
              <a:t> is a friend function that can access both </a:t>
            </a:r>
            <a:r>
              <a:rPr kumimoji="0" lang="en-US" altLang="en-US" sz="2000" b="1" i="0" u="none" strike="noStrike" cap="none" normalizeH="0" baseline="0" dirty="0">
                <a:ln>
                  <a:noFill/>
                </a:ln>
                <a:solidFill>
                  <a:schemeClr val="tx1"/>
                </a:solidFill>
                <a:effectLst/>
                <a:latin typeface="euclid_circular_a"/>
              </a:rPr>
              <a:t>private</a:t>
            </a:r>
            <a:r>
              <a:rPr kumimoji="0" lang="en-US" altLang="en-US" sz="2000" b="0" i="0" u="none" strike="noStrike" cap="none" normalizeH="0" baseline="0" dirty="0">
                <a:ln>
                  <a:noFill/>
                </a:ln>
                <a:solidFill>
                  <a:schemeClr val="tx1"/>
                </a:solidFill>
                <a:effectLst/>
                <a:latin typeface="euclid_circular_a"/>
              </a:rPr>
              <a:t> and </a:t>
            </a:r>
            <a:r>
              <a:rPr kumimoji="0" lang="en-US" altLang="en-US" sz="2000" b="1" i="0" u="none" strike="noStrike" cap="none" normalizeH="0" baseline="0" dirty="0">
                <a:ln>
                  <a:noFill/>
                </a:ln>
                <a:solidFill>
                  <a:schemeClr val="tx1"/>
                </a:solidFill>
                <a:effectLst/>
                <a:latin typeface="euclid_circular_a"/>
              </a:rPr>
              <a:t>public</a:t>
            </a:r>
            <a:r>
              <a:rPr kumimoji="0" lang="en-US" altLang="en-US" sz="2000" b="0" i="0" u="none" strike="noStrike" cap="none" normalizeH="0" baseline="0" dirty="0">
                <a:ln>
                  <a:noFill/>
                </a:ln>
                <a:solidFill>
                  <a:schemeClr val="tx1"/>
                </a:solidFill>
                <a:effectLst/>
                <a:latin typeface="euclid_circular_a"/>
              </a:rPr>
              <a:t> data members.</a:t>
            </a:r>
            <a:r>
              <a:rPr kumimoji="0" lang="en-US" altLang="en-US"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489192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500812" y="365124"/>
            <a:ext cx="5410200" cy="1325563"/>
          </a:xfrm>
        </p:spPr>
        <p:txBody>
          <a:bodyPr/>
          <a:lstStyle/>
          <a:p>
            <a:r>
              <a:rPr lang="en-US" b="1" u="sng" dirty="0"/>
              <a:t>Friend function in C++</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701" y="157164"/>
            <a:ext cx="5991841" cy="6683208"/>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8532" y="2438832"/>
            <a:ext cx="4261140" cy="1572213"/>
          </a:xfrm>
          <a:prstGeom prst="rect">
            <a:avLst/>
          </a:prstGeom>
        </p:spPr>
      </p:pic>
    </p:spTree>
    <p:extLst>
      <p:ext uri="{BB962C8B-B14F-4D97-AF65-F5344CB8AC3E}">
        <p14:creationId xmlns:p14="http://schemas.microsoft.com/office/powerpoint/2010/main" val="9441963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88033768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docProps/app.xml><?xml version="1.0" encoding="utf-8"?>
<Properties xmlns="http://schemas.openxmlformats.org/officeDocument/2006/extended-properties" xmlns:vt="http://schemas.openxmlformats.org/officeDocument/2006/docPropsVTypes">
  <Template>Facet</Template>
  <TotalTime>361</TotalTime>
  <Words>751</Words>
  <Application>Microsoft Office PowerPoint</Application>
  <PresentationFormat>Widescreen</PresentationFormat>
  <Paragraphs>92</Paragraphs>
  <Slides>33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33</vt:i4>
      </vt:variant>
    </vt:vector>
  </HeadingPairs>
  <TitlesOfParts>
    <vt:vector size="42" baseType="lpstr">
      <vt:lpstr>Arial</vt:lpstr>
      <vt:lpstr>Courier New</vt:lpstr>
      <vt:lpstr>Droid Sans Mono</vt:lpstr>
      <vt:lpstr>euclid_circular_a</vt:lpstr>
      <vt:lpstr>Monaco</vt:lpstr>
      <vt:lpstr>roboto</vt:lpstr>
      <vt:lpstr>Trebuchet MS</vt:lpstr>
      <vt:lpstr>Wingdings 3</vt:lpstr>
      <vt:lpstr>Facet</vt:lpstr>
      <vt:lpstr>Functions in OOPL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Call by Reference </vt:lpstr>
      <vt:lpstr>PowerPoint Presentation</vt:lpstr>
      <vt:lpstr>PowerPoint Presentation</vt:lpstr>
      <vt:lpstr>Function Overloading</vt:lpstr>
      <vt:lpstr>Function Overriding</vt:lpstr>
      <vt:lpstr>Function Overloading  &amp; Overriding</vt:lpstr>
      <vt:lpstr>Function Overriding</vt:lpstr>
      <vt:lpstr>Function Overloading vs. Overriding</vt:lpstr>
      <vt:lpstr>Friend function in C++</vt:lpstr>
      <vt:lpstr>PowerPoint Presentation</vt:lpstr>
      <vt:lpstr>Friend function in C++</vt:lpstr>
      <vt:lpstr>Friend function in C++</vt:lpstr>
      <vt:lpstr>Friend function in C++</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Functions in OOPL</dc:title>
  <dc:creator>Shovan</dc:creator>
  <cp:lastModifiedBy>Mousumi Hasan Mukti</cp:lastModifiedBy>
  <cp:revision>22</cp:revision>
  <dcterms:created xsi:type="dcterms:W3CDTF">2023-05-28T18:16:35Z</dcterms:created>
  <dcterms:modified xsi:type="dcterms:W3CDTF">2026-04-19T05:24:25Z</dcterms:modified>
</cp:coreProperties>
</file>