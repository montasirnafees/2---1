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4" r:id="rId4"/>
    <p:sldId id="259" r:id="rId5"/>
    <p:sldId id="263" r:id="rId6"/>
    <p:sldId id="266" r:id="rId7"/>
    <p:sldId id="267" r:id="rId8"/>
    <p:sldId id="268" r:id="rId9"/>
    <p:sldId id="265" r:id="rId10"/>
    <p:sldId id="271" r:id="rId11"/>
    <p:sldId id="270" r:id="rId12"/>
    <p:sldId id="269" r:id="rId13"/>
    <p:sldId id="273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A3"/>
    <a:srgbClr val="4FCEFF"/>
    <a:srgbClr val="8A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084D-75E0-35F5-1F2A-FF9DB8548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65E55-C5F3-81C8-6FA7-46C3FDAA2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1CE12-E846-CF87-C4C3-2C8BA2D8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0A639-A734-8E49-B21B-60665231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405E4-391D-BAFF-2BC4-70B6F51F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9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4AC4-2BA0-7C83-395B-E96C93A5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FE9C9-8C3E-23A6-492B-822BA040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225BD-A525-5EFC-803A-EC5F8870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64CA1-703E-5F45-6691-B7004765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F1007-69EF-D09D-4347-AFA80F46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11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5729-4450-2C79-375E-94C487D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9D3E2-E260-F9DA-E952-5A1082DAD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960FB-D002-A6B3-A152-D4289C9A7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3CE7F-3FE2-227E-1945-4D72AB36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93F37-325D-42A7-9E0B-E8580698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59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F3BA-D694-D1B3-E3DF-76C827BF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9C1CA-D486-4103-5D92-A3A83CC6C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9B896-653E-D658-CA33-CE54428F0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00079-0192-C821-FC91-AB609B99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FBAE5-99CE-16E6-2F73-7C019B1A8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201DA-C368-DB7C-6431-D8A38F71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62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420C-1F12-3E08-E12E-4BE75E5E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29445-6A96-1480-A49A-FDC52FA54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BB4C8-48E2-77DA-BF5E-140DC5DA3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7BC2A-74A2-DB3C-0A01-0DF2316EE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55B0F-0429-F9C2-6CDC-D171DD17B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2C670-2A8F-F996-F080-A8DA67E3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7B08A1-D418-33E8-32CE-14DF77F9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5EE78-976C-AEB3-480F-6509465C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52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CFB86-8F6F-8683-5A11-A3F24776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FD631-55E5-84C0-3CED-54F3ADE4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A40F1-E7C2-4BB5-A837-DE44B76E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65E39-9980-208F-36F9-95D15122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0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9889E-FAC6-D368-BC9A-7A49D95C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60F1F-E099-E70E-3CE0-CC984FBD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94F9B-E098-0335-F5B1-6242D69A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0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4C03-0094-C15E-77BB-9BCA92E8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B2EC-BB66-9B6E-E4AB-55D3ABB81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86BC2-7631-7707-6DA1-DB0DDA03F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534F1-494E-20BB-A030-62E38C1A4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5313C-96E8-DE94-A962-36A75331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634CC-3397-FEE9-645A-B0CE090F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2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035E-5890-353C-FE56-2F87C28D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33B26-0097-5E63-ED4F-45654BCEC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18BDE-FC8E-5A94-AD40-A661D6D17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0B9D6-7D10-CC33-9DBB-E8462EA7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61A0F-BE0C-1CF8-EE4C-5EE2C974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38ED3-D6B4-7211-3A53-3C98F7E1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94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2FBDD-8FF7-9111-67C8-DF43D07D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6E112-FBFB-1844-FB19-0AC9EFD59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A9F7-AB4E-EAC8-D5CF-02DDAB5B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5AFC8-E331-8BA2-AE89-B17ADCC0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57C13-0460-E386-F6FB-32AE488F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74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446-4268-5612-B8D4-2EC19EA8B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E555C-4318-8441-2934-8FE716EBF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1578C-61CC-6F4F-D352-197C2FB9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DC924-B09A-6767-50AE-E2AA216C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14AE-E926-32B5-FCB4-A19A8BCC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59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07F98-E0D2-BFE6-B852-D87BF6D2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1245E-10E4-D7CA-1944-19AB1143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2DD0A-9F11-AC83-5D3B-B3AF6404A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44750-6C94-4053-8A43-3ACDBA0AA8A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D4BA-7DFD-1B2B-FB84-1CD96E5D7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A6A96-1369-F49E-4432-780EB681F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923DC-AD5B-4122-BC6E-62735F7B2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2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64B3-560E-D87A-437F-79F65F1E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781030"/>
            <a:ext cx="10541000" cy="1391920"/>
          </a:xfrm>
        </p:spPr>
        <p:txBody>
          <a:bodyPr>
            <a:normAutofit fontScale="90000"/>
          </a:bodyPr>
          <a:lstStyle/>
          <a:p>
            <a:pPr marL="0" marR="0" algn="ctr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</a:pPr>
            <a:br>
              <a:rPr lang="en-US" sz="6000" b="1" i="1" kern="100" dirty="0">
                <a:solidFill>
                  <a:schemeClr val="bg1"/>
                </a:solidFill>
                <a:effectLst/>
                <a:latin typeface="Calisto MT" panose="020406030505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6700" b="1" i="1" kern="100" dirty="0">
                <a:solidFill>
                  <a:schemeClr val="bg1"/>
                </a:solidFill>
                <a:effectLst/>
                <a:latin typeface="Calisto MT" panose="020406030505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  <a:t>Inventory Management System</a:t>
            </a:r>
            <a:br>
              <a:rPr lang="en-US" sz="1800" b="1" i="1" kern="100" dirty="0">
                <a:solidFill>
                  <a:schemeClr val="bg1"/>
                </a:solidFill>
                <a:effectLst/>
                <a:latin typeface="Calisto MT" panose="020406030505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b="1" i="1" kern="100" dirty="0">
                <a:solidFill>
                  <a:schemeClr val="bg1"/>
                </a:solidFill>
                <a:effectLst/>
                <a:latin typeface="Calisto MT" panose="020406030505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          </a:t>
            </a:r>
            <a:endParaRPr lang="en-US" sz="5400" b="1" i="1" kern="100" dirty="0">
              <a:solidFill>
                <a:schemeClr val="bg1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68BE-D277-0B20-2E8D-B253F3401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4920" y="4030345"/>
            <a:ext cx="4394200" cy="2350135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Presented by</a:t>
            </a:r>
          </a:p>
          <a:p>
            <a:r>
              <a:rPr lang="en-US" dirty="0">
                <a:solidFill>
                  <a:schemeClr val="bg1"/>
                </a:solidFill>
              </a:rPr>
              <a:t>Nafees Montasir</a:t>
            </a:r>
          </a:p>
          <a:p>
            <a:r>
              <a:rPr lang="en-US" dirty="0">
                <a:solidFill>
                  <a:schemeClr val="bg1"/>
                </a:solidFill>
              </a:rPr>
              <a:t>Kazi Saiful Jamil</a:t>
            </a:r>
          </a:p>
          <a:p>
            <a:r>
              <a:rPr lang="en-US" dirty="0" err="1">
                <a:solidFill>
                  <a:schemeClr val="bg1"/>
                </a:solidFill>
              </a:rPr>
              <a:t>Farhanul</a:t>
            </a:r>
            <a:r>
              <a:rPr lang="en-US" dirty="0">
                <a:solidFill>
                  <a:schemeClr val="bg1"/>
                </a:solidFill>
              </a:rPr>
              <a:t> Haque </a:t>
            </a:r>
            <a:r>
              <a:rPr lang="en-US" dirty="0" err="1">
                <a:solidFill>
                  <a:schemeClr val="bg1"/>
                </a:solidFill>
              </a:rPr>
              <a:t>Promit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6C0A4-4E08-A25F-1E8B-068A4FEE28BB}"/>
              </a:ext>
            </a:extLst>
          </p:cNvPr>
          <p:cNvSpPr txBox="1"/>
          <p:nvPr/>
        </p:nvSpPr>
        <p:spPr>
          <a:xfrm>
            <a:off x="3698240" y="2674947"/>
            <a:ext cx="7406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A Smart Software Solution for Efficient Shop Management</a:t>
            </a:r>
            <a:endParaRPr lang="en-US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58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3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5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0917D20-F94E-C85B-C5B5-7855601EF009}"/>
              </a:ext>
            </a:extLst>
          </p:cNvPr>
          <p:cNvSpPr/>
          <p:nvPr/>
        </p:nvSpPr>
        <p:spPr>
          <a:xfrm>
            <a:off x="0" y="23466"/>
            <a:ext cx="4470400" cy="6858000"/>
          </a:xfrm>
          <a:custGeom>
            <a:avLst/>
            <a:gdLst>
              <a:gd name="connsiteX0" fmla="*/ 0 w 4470400"/>
              <a:gd name="connsiteY0" fmla="*/ 0 h 6858000"/>
              <a:gd name="connsiteX1" fmla="*/ 4064000 w 4470400"/>
              <a:gd name="connsiteY1" fmla="*/ 0 h 6858000"/>
              <a:gd name="connsiteX2" fmla="*/ 4064000 w 4470400"/>
              <a:gd name="connsiteY2" fmla="*/ 590550 h 6858000"/>
              <a:gd name="connsiteX3" fmla="*/ 4470400 w 4470400"/>
              <a:gd name="connsiteY3" fmla="*/ 1092200 h 6858000"/>
              <a:gd name="connsiteX4" fmla="*/ 4064000 w 4470400"/>
              <a:gd name="connsiteY4" fmla="*/ 1593850 h 6858000"/>
              <a:gd name="connsiteX5" fmla="*/ 4064000 w 4470400"/>
              <a:gd name="connsiteY5" fmla="*/ 6858000 h 6858000"/>
              <a:gd name="connsiteX6" fmla="*/ 0 w 44704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0400" h="6858000">
                <a:moveTo>
                  <a:pt x="0" y="0"/>
                </a:moveTo>
                <a:lnTo>
                  <a:pt x="4064000" y="0"/>
                </a:lnTo>
                <a:lnTo>
                  <a:pt x="4064000" y="590550"/>
                </a:lnTo>
                <a:lnTo>
                  <a:pt x="4470400" y="1092200"/>
                </a:lnTo>
                <a:lnTo>
                  <a:pt x="4064000" y="1593850"/>
                </a:lnTo>
                <a:lnTo>
                  <a:pt x="4064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FD694-F4DC-CB3F-7E04-DDD0A49BA31E}"/>
              </a:ext>
            </a:extLst>
          </p:cNvPr>
          <p:cNvSpPr txBox="1"/>
          <p:nvPr/>
        </p:nvSpPr>
        <p:spPr>
          <a:xfrm>
            <a:off x="256674" y="705852"/>
            <a:ext cx="3529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What is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562CB-1D2B-6B46-4677-5737491008A7}"/>
              </a:ext>
            </a:extLst>
          </p:cNvPr>
          <p:cNvSpPr txBox="1"/>
          <p:nvPr/>
        </p:nvSpPr>
        <p:spPr>
          <a:xfrm>
            <a:off x="128337" y="2096124"/>
            <a:ext cx="378593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ell MT" panose="02020503060305020303" pitchFamily="18" charset="0"/>
              </a:rPr>
              <a:t>A software application or process used to track, manage, and organize a business's goods and materials throughout the supply chain.</a:t>
            </a:r>
          </a:p>
        </p:txBody>
      </p:sp>
    </p:spTree>
    <p:extLst>
      <p:ext uri="{BB962C8B-B14F-4D97-AF65-F5344CB8AC3E}">
        <p14:creationId xmlns:p14="http://schemas.microsoft.com/office/powerpoint/2010/main" val="1938528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0917D20-F94E-C85B-C5B5-7855601EF009}"/>
              </a:ext>
            </a:extLst>
          </p:cNvPr>
          <p:cNvSpPr/>
          <p:nvPr/>
        </p:nvSpPr>
        <p:spPr>
          <a:xfrm>
            <a:off x="3860800" y="0"/>
            <a:ext cx="4470400" cy="6858000"/>
          </a:xfrm>
          <a:custGeom>
            <a:avLst/>
            <a:gdLst>
              <a:gd name="connsiteX0" fmla="*/ 0 w 4470400"/>
              <a:gd name="connsiteY0" fmla="*/ 0 h 6858000"/>
              <a:gd name="connsiteX1" fmla="*/ 4064000 w 4470400"/>
              <a:gd name="connsiteY1" fmla="*/ 0 h 6858000"/>
              <a:gd name="connsiteX2" fmla="*/ 4064000 w 4470400"/>
              <a:gd name="connsiteY2" fmla="*/ 590550 h 6858000"/>
              <a:gd name="connsiteX3" fmla="*/ 4470400 w 4470400"/>
              <a:gd name="connsiteY3" fmla="*/ 1092200 h 6858000"/>
              <a:gd name="connsiteX4" fmla="*/ 4064000 w 4470400"/>
              <a:gd name="connsiteY4" fmla="*/ 1593850 h 6858000"/>
              <a:gd name="connsiteX5" fmla="*/ 4064000 w 4470400"/>
              <a:gd name="connsiteY5" fmla="*/ 6858000 h 6858000"/>
              <a:gd name="connsiteX6" fmla="*/ 0 w 44704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0400" h="6858000">
                <a:moveTo>
                  <a:pt x="0" y="0"/>
                </a:moveTo>
                <a:lnTo>
                  <a:pt x="4064000" y="0"/>
                </a:lnTo>
                <a:lnTo>
                  <a:pt x="4064000" y="590550"/>
                </a:lnTo>
                <a:lnTo>
                  <a:pt x="4470400" y="1092200"/>
                </a:lnTo>
                <a:lnTo>
                  <a:pt x="4064000" y="1593850"/>
                </a:lnTo>
                <a:lnTo>
                  <a:pt x="4064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FD694-F4DC-CB3F-7E04-DDD0A49BA31E}"/>
              </a:ext>
            </a:extLst>
          </p:cNvPr>
          <p:cNvSpPr txBox="1"/>
          <p:nvPr/>
        </p:nvSpPr>
        <p:spPr>
          <a:xfrm>
            <a:off x="4058653" y="705852"/>
            <a:ext cx="3529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dirty="0">
                <a:latin typeface="Arial Rounded MT Bold" panose="020F0704030504030204" pitchFamily="34" charset="0"/>
              </a:rPr>
              <a:t>Why need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562CB-1D2B-6B46-4677-5737491008A7}"/>
              </a:ext>
            </a:extLst>
          </p:cNvPr>
          <p:cNvSpPr txBox="1"/>
          <p:nvPr/>
        </p:nvSpPr>
        <p:spPr>
          <a:xfrm>
            <a:off x="4219074" y="2021305"/>
            <a:ext cx="33688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Bell MT" panose="02020503060305020303" pitchFamily="18" charset="0"/>
              </a:rPr>
              <a:t>A business needs an Inventory Management System to save money and avoid mistakes.</a:t>
            </a:r>
          </a:p>
        </p:txBody>
      </p:sp>
    </p:spTree>
    <p:extLst>
      <p:ext uri="{BB962C8B-B14F-4D97-AF65-F5344CB8AC3E}">
        <p14:creationId xmlns:p14="http://schemas.microsoft.com/office/powerpoint/2010/main" val="3676159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0917D20-F94E-C85B-C5B5-7855601EF009}"/>
              </a:ext>
            </a:extLst>
          </p:cNvPr>
          <p:cNvSpPr/>
          <p:nvPr/>
        </p:nvSpPr>
        <p:spPr>
          <a:xfrm>
            <a:off x="8161091" y="0"/>
            <a:ext cx="4470400" cy="6858000"/>
          </a:xfrm>
          <a:custGeom>
            <a:avLst/>
            <a:gdLst>
              <a:gd name="connsiteX0" fmla="*/ 0 w 4470400"/>
              <a:gd name="connsiteY0" fmla="*/ 0 h 6858000"/>
              <a:gd name="connsiteX1" fmla="*/ 4064000 w 4470400"/>
              <a:gd name="connsiteY1" fmla="*/ 0 h 6858000"/>
              <a:gd name="connsiteX2" fmla="*/ 4064000 w 4470400"/>
              <a:gd name="connsiteY2" fmla="*/ 590550 h 6858000"/>
              <a:gd name="connsiteX3" fmla="*/ 4470400 w 4470400"/>
              <a:gd name="connsiteY3" fmla="*/ 1092200 h 6858000"/>
              <a:gd name="connsiteX4" fmla="*/ 4064000 w 4470400"/>
              <a:gd name="connsiteY4" fmla="*/ 1593850 h 6858000"/>
              <a:gd name="connsiteX5" fmla="*/ 4064000 w 4470400"/>
              <a:gd name="connsiteY5" fmla="*/ 6858000 h 6858000"/>
              <a:gd name="connsiteX6" fmla="*/ 0 w 44704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0400" h="6858000">
                <a:moveTo>
                  <a:pt x="0" y="0"/>
                </a:moveTo>
                <a:lnTo>
                  <a:pt x="4064000" y="0"/>
                </a:lnTo>
                <a:lnTo>
                  <a:pt x="4064000" y="590550"/>
                </a:lnTo>
                <a:lnTo>
                  <a:pt x="4470400" y="1092200"/>
                </a:lnTo>
                <a:lnTo>
                  <a:pt x="4064000" y="1593850"/>
                </a:lnTo>
                <a:lnTo>
                  <a:pt x="4064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FD694-F4DC-CB3F-7E04-DDD0A49BA31E}"/>
              </a:ext>
            </a:extLst>
          </p:cNvPr>
          <p:cNvSpPr txBox="1"/>
          <p:nvPr/>
        </p:nvSpPr>
        <p:spPr>
          <a:xfrm>
            <a:off x="8277726" y="609599"/>
            <a:ext cx="3529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How it helps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B1A04-A5FD-F98C-E9E4-A701ABCDA7DC}"/>
              </a:ext>
            </a:extLst>
          </p:cNvPr>
          <p:cNvSpPr txBox="1"/>
          <p:nvPr/>
        </p:nvSpPr>
        <p:spPr>
          <a:xfrm>
            <a:off x="8277726" y="1876926"/>
            <a:ext cx="37698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ell MT" panose="02020503060305020303" pitchFamily="18" charset="0"/>
              </a:rPr>
              <a:t>It acts like a digital brain for a business, making sure you never run out of stock, never waste money on extra items, and always keep your financial records perfectly organized.</a:t>
            </a:r>
          </a:p>
        </p:txBody>
      </p:sp>
    </p:spTree>
    <p:extLst>
      <p:ext uri="{BB962C8B-B14F-4D97-AF65-F5344CB8AC3E}">
        <p14:creationId xmlns:p14="http://schemas.microsoft.com/office/powerpoint/2010/main" val="968775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7AB046E-9B6E-4368-9FB3-7BA63283DC5F}"/>
              </a:ext>
            </a:extLst>
          </p:cNvPr>
          <p:cNvSpPr/>
          <p:nvPr/>
        </p:nvSpPr>
        <p:spPr>
          <a:xfrm>
            <a:off x="4379495" y="2117558"/>
            <a:ext cx="3096126" cy="226193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Features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7F3DDB-4DAD-B547-44A6-162F2B6B4323}"/>
              </a:ext>
            </a:extLst>
          </p:cNvPr>
          <p:cNvCxnSpPr>
            <a:stCxn id="4" idx="7"/>
          </p:cNvCxnSpPr>
          <p:nvPr/>
        </p:nvCxnSpPr>
        <p:spPr>
          <a:xfrm flipV="1">
            <a:off x="7022204" y="1668379"/>
            <a:ext cx="1480112" cy="78043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2DD877-0BE0-CDA9-FC7F-BFFA290D0C93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3384884" y="1668379"/>
            <a:ext cx="1448028" cy="78043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62551B-C088-A5F9-F60E-D81A154E79C0}"/>
              </a:ext>
            </a:extLst>
          </p:cNvPr>
          <p:cNvCxnSpPr>
            <a:stCxn id="4" idx="6"/>
          </p:cNvCxnSpPr>
          <p:nvPr/>
        </p:nvCxnSpPr>
        <p:spPr>
          <a:xfrm flipV="1">
            <a:off x="7475621" y="3248526"/>
            <a:ext cx="1556084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94F6E9A-3488-5DD3-875B-5E89B389C94D}"/>
              </a:ext>
            </a:extLst>
          </p:cNvPr>
          <p:cNvCxnSpPr>
            <a:stCxn id="4" idx="2"/>
          </p:cNvCxnSpPr>
          <p:nvPr/>
        </p:nvCxnSpPr>
        <p:spPr>
          <a:xfrm flipH="1" flipV="1">
            <a:off x="2935705" y="3248526"/>
            <a:ext cx="1443790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CA58B8-B38F-08A7-5E6F-B430926D49BF}"/>
              </a:ext>
            </a:extLst>
          </p:cNvPr>
          <p:cNvCxnSpPr>
            <a:cxnSpLocks/>
            <a:stCxn id="4" idx="5"/>
            <a:endCxn id="28" idx="0"/>
          </p:cNvCxnSpPr>
          <p:nvPr/>
        </p:nvCxnSpPr>
        <p:spPr>
          <a:xfrm>
            <a:off x="7022204" y="4048242"/>
            <a:ext cx="1730428" cy="59586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248175-1FA8-F32E-888F-1E71C73C8FC7}"/>
              </a:ext>
            </a:extLst>
          </p:cNvPr>
          <p:cNvCxnSpPr>
            <a:stCxn id="4" idx="3"/>
          </p:cNvCxnSpPr>
          <p:nvPr/>
        </p:nvCxnSpPr>
        <p:spPr>
          <a:xfrm flipH="1">
            <a:off x="3384884" y="4048242"/>
            <a:ext cx="1448028" cy="602774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6D95085-AC40-1F93-8634-1B6E3DB5809E}"/>
              </a:ext>
            </a:extLst>
          </p:cNvPr>
          <p:cNvSpPr txBox="1"/>
          <p:nvPr/>
        </p:nvSpPr>
        <p:spPr>
          <a:xfrm>
            <a:off x="1560323" y="1017650"/>
            <a:ext cx="32725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Dashboard &amp; Profile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89558-9A10-7AA3-9355-12B6136C0480}"/>
              </a:ext>
            </a:extLst>
          </p:cNvPr>
          <p:cNvSpPr txBox="1"/>
          <p:nvPr/>
        </p:nvSpPr>
        <p:spPr>
          <a:xfrm>
            <a:off x="0" y="2736502"/>
            <a:ext cx="3460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Dual-Category Classification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E7436F-EED0-9394-44B8-A4B272C834A2}"/>
              </a:ext>
            </a:extLst>
          </p:cNvPr>
          <p:cNvSpPr txBox="1"/>
          <p:nvPr/>
        </p:nvSpPr>
        <p:spPr>
          <a:xfrm>
            <a:off x="6866021" y="1062078"/>
            <a:ext cx="3460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Smart Alert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41431-59B0-D959-E687-661CF97394A3}"/>
              </a:ext>
            </a:extLst>
          </p:cNvPr>
          <p:cNvSpPr txBox="1"/>
          <p:nvPr/>
        </p:nvSpPr>
        <p:spPr>
          <a:xfrm>
            <a:off x="9288608" y="2951946"/>
            <a:ext cx="3460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Financial Control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5611AE-614C-C450-6525-F3B5FFBC24C8}"/>
              </a:ext>
            </a:extLst>
          </p:cNvPr>
          <p:cNvSpPr txBox="1"/>
          <p:nvPr/>
        </p:nvSpPr>
        <p:spPr>
          <a:xfrm>
            <a:off x="7022204" y="4644104"/>
            <a:ext cx="3460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Dynamic Discount Management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DB233-CE11-D201-DB58-0690DA3AA3FA}"/>
              </a:ext>
            </a:extLst>
          </p:cNvPr>
          <p:cNvSpPr txBox="1"/>
          <p:nvPr/>
        </p:nvSpPr>
        <p:spPr>
          <a:xfrm>
            <a:off x="1372056" y="4702156"/>
            <a:ext cx="3460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Core Inventory Actions</a:t>
            </a:r>
          </a:p>
        </p:txBody>
      </p:sp>
    </p:spTree>
    <p:extLst>
      <p:ext uri="{BB962C8B-B14F-4D97-AF65-F5344CB8AC3E}">
        <p14:creationId xmlns:p14="http://schemas.microsoft.com/office/powerpoint/2010/main" val="4079145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10BF43-B921-98F0-8370-A90814EA5D89}"/>
              </a:ext>
            </a:extLst>
          </p:cNvPr>
          <p:cNvSpPr txBox="1"/>
          <p:nvPr/>
        </p:nvSpPr>
        <p:spPr>
          <a:xfrm>
            <a:off x="207211" y="156411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Concept of OOP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B8C590-A396-D252-33A0-762673EF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922684"/>
              </p:ext>
            </p:extLst>
          </p:nvPr>
        </p:nvGraphicFramePr>
        <p:xfrm>
          <a:off x="635000" y="864297"/>
          <a:ext cx="11150600" cy="59992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4100">
                  <a:extLst>
                    <a:ext uri="{9D8B030D-6E8A-4147-A177-3AD203B41FA5}">
                      <a16:colId xmlns:a16="http://schemas.microsoft.com/office/drawing/2014/main" val="466577407"/>
                    </a:ext>
                  </a:extLst>
                </a:gridCol>
                <a:gridCol w="7556500">
                  <a:extLst>
                    <a:ext uri="{9D8B030D-6E8A-4147-A177-3AD203B41FA5}">
                      <a16:colId xmlns:a16="http://schemas.microsoft.com/office/drawing/2014/main" val="1363761367"/>
                    </a:ext>
                  </a:extLst>
                </a:gridCol>
              </a:tblGrid>
              <a:tr h="54599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Class &amp; Object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Product,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PerishableProduct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NonPerishableProduct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 &amp; Inventory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009380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Encapsulation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Private data members with public getters / setters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</a:rPr>
                        <a:t>getId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(), </a:t>
                      </a: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</a:rPr>
                        <a:t>setPrice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())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694564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Inheritance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PerishableProduct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 and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NonPerishableProduct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 derive from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Product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599251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Abstraction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Pure virtual functions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display(), </a:t>
                      </a: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</a:rPr>
                        <a:t>getType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(), and serialize()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8680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Polymorphism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display() 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and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serialize() 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overridden in derived classes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420134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Friend Function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</a:rPr>
                        <a:t>applyDiscount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() 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accesses private data member price directly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671007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Dynamic Memory Allocation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new / delete 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for dynamic allocation and deallocation of product objects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470164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Exception Handling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try / catch 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with custom exception class </a:t>
                      </a:r>
                      <a:r>
                        <a:rPr lang="en-US" sz="18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InvalidInputException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 for safe inputs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152635"/>
                  </a:ext>
                </a:extLst>
              </a:tr>
              <a:tr h="545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File Handling</a:t>
                      </a:r>
                    </a:p>
                    <a:p>
                      <a:endParaRPr 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</a:rPr>
                        <a:t>ofstream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 / </a:t>
                      </a: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</a:rPr>
                        <a:t>ifstream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to save &amp; load inventory data to/from text file</a:t>
                      </a:r>
                    </a:p>
                    <a:p>
                      <a:endParaRPr lang="en-US" sz="1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477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553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CE4A99-6AFF-8E50-27BD-2B0D39467497}"/>
              </a:ext>
            </a:extLst>
          </p:cNvPr>
          <p:cNvSpPr txBox="1"/>
          <p:nvPr/>
        </p:nvSpPr>
        <p:spPr>
          <a:xfrm>
            <a:off x="279400" y="304800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Unified Modeling Language (UML)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7C63B-E62D-37F5-42A4-A88E26C60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1181100"/>
            <a:ext cx="10966170" cy="496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22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5906E-1C53-3C73-BC53-03E33B0BFE71}"/>
              </a:ext>
            </a:extLst>
          </p:cNvPr>
          <p:cNvSpPr txBox="1"/>
          <p:nvPr/>
        </p:nvSpPr>
        <p:spPr>
          <a:xfrm>
            <a:off x="266700" y="2667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Proggrame</a:t>
            </a:r>
            <a:r>
              <a:rPr lang="en-US" sz="2800" dirty="0">
                <a:solidFill>
                  <a:schemeClr val="bg1"/>
                </a:solidFill>
              </a:rPr>
              <a:t> 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7689A-5A87-EF20-F877-D1C80D0C1270}"/>
              </a:ext>
            </a:extLst>
          </p:cNvPr>
          <p:cNvSpPr txBox="1"/>
          <p:nvPr/>
        </p:nvSpPr>
        <p:spPr>
          <a:xfrm>
            <a:off x="368300" y="1003300"/>
            <a:ext cx="262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Add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6B39F-E0C7-6A0E-5C0E-18F0FD74D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64" y="1526520"/>
            <a:ext cx="5569236" cy="3134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429FB0-9B60-7C66-0700-01E39E2E1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05" y="1648274"/>
            <a:ext cx="4654789" cy="400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0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70A040-A06D-9927-56F1-4BD79B4AD040}"/>
              </a:ext>
            </a:extLst>
          </p:cNvPr>
          <p:cNvSpPr txBox="1"/>
          <p:nvPr/>
        </p:nvSpPr>
        <p:spPr>
          <a:xfrm>
            <a:off x="571500" y="571500"/>
            <a:ext cx="269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Display</a:t>
            </a:r>
            <a:r>
              <a:rPr lang="en-US" sz="2400" b="1" dirty="0">
                <a:solidFill>
                  <a:schemeClr val="bg1"/>
                </a:solidFill>
              </a:rPr>
              <a:t>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CC6BD-7BB3-C426-6C42-5C8CE60F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1231807"/>
            <a:ext cx="6282964" cy="2070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D4C837-6259-6DCD-8AB1-FF419A7A2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78" y="3429001"/>
            <a:ext cx="6667843" cy="262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61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57FAB-B881-E15A-7AB6-1ACFFA724005}"/>
              </a:ext>
            </a:extLst>
          </p:cNvPr>
          <p:cNvSpPr txBox="1"/>
          <p:nvPr/>
        </p:nvSpPr>
        <p:spPr>
          <a:xfrm>
            <a:off x="546100" y="533400"/>
            <a:ext cx="292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Delete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A7921-786D-6068-BEB8-E0688E0D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239" y="1479450"/>
            <a:ext cx="5277121" cy="2457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E54FE-90F7-8FAF-B06B-169762719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79450"/>
            <a:ext cx="4279900" cy="29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43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418B5-17EF-318F-8A86-C851BE118674}"/>
              </a:ext>
            </a:extLst>
          </p:cNvPr>
          <p:cNvSpPr txBox="1"/>
          <p:nvPr/>
        </p:nvSpPr>
        <p:spPr>
          <a:xfrm>
            <a:off x="495300" y="520700"/>
            <a:ext cx="336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Apply discount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CC567-F3EA-088C-E836-C98F7F2D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490" y="1743021"/>
            <a:ext cx="5239019" cy="2498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24739D-B757-ECC8-E69E-25C00B11F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34" y="1743021"/>
            <a:ext cx="5197565" cy="311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19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63FA1-BD55-6857-6F21-11CB09FA2691}"/>
              </a:ext>
            </a:extLst>
          </p:cNvPr>
          <p:cNvSpPr txBox="1"/>
          <p:nvPr/>
        </p:nvSpPr>
        <p:spPr>
          <a:xfrm>
            <a:off x="635000" y="584200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Save and Exit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9B1DF-35DD-610B-FE5E-61FF2499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66" y="1495380"/>
            <a:ext cx="3810000" cy="2923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9883BA-6BDA-B091-5809-320B7F8DC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06" y="1544191"/>
            <a:ext cx="5600988" cy="20765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54C1E6-1966-8FA9-4B1A-06EB04FB6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806" y="3933778"/>
            <a:ext cx="1530429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34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43215C1-F71D-BF18-CD75-79B3E8C75CE0}"/>
              </a:ext>
            </a:extLst>
          </p:cNvPr>
          <p:cNvSpPr/>
          <p:nvPr/>
        </p:nvSpPr>
        <p:spPr>
          <a:xfrm>
            <a:off x="2901950" y="1765300"/>
            <a:ext cx="6388100" cy="3327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8657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91C2-3537-86C4-E81D-BEBD36DE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A862-6D72-49D3-93BD-D5A8CE603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8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251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Agency FB</vt:lpstr>
      <vt:lpstr>Arial</vt:lpstr>
      <vt:lpstr>Arial Rounded MT Bold</vt:lpstr>
      <vt:lpstr>Bell MT</vt:lpstr>
      <vt:lpstr>Calibri</vt:lpstr>
      <vt:lpstr>Calibri Light</vt:lpstr>
      <vt:lpstr>Calisto MT</vt:lpstr>
      <vt:lpstr>Cascadia Code</vt:lpstr>
      <vt:lpstr>Office Theme</vt:lpstr>
      <vt:lpstr> Inventory Management System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Nafees Montasir</dc:creator>
  <cp:lastModifiedBy>Nafees Montasir</cp:lastModifiedBy>
  <cp:revision>2</cp:revision>
  <dcterms:created xsi:type="dcterms:W3CDTF">2026-07-18T21:15:01Z</dcterms:created>
  <dcterms:modified xsi:type="dcterms:W3CDTF">2026-07-19T06:33:29Z</dcterms:modified>
</cp:coreProperties>
</file>