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27"/>
  </p:notesMasterIdLst>
  <p:sldIdLst>
    <p:sldId id="256" r:id="rId2"/>
    <p:sldId id="279" r:id="rId3"/>
    <p:sldId id="280" r:id="rId4"/>
    <p:sldId id="259" r:id="rId5"/>
    <p:sldId id="260" r:id="rId6"/>
    <p:sldId id="261" r:id="rId7"/>
    <p:sldId id="263" r:id="rId8"/>
    <p:sldId id="264" r:id="rId9"/>
    <p:sldId id="265" r:id="rId10"/>
    <p:sldId id="274" r:id="rId11"/>
    <p:sldId id="266" r:id="rId12"/>
    <p:sldId id="277" r:id="rId13"/>
    <p:sldId id="278" r:id="rId14"/>
    <p:sldId id="283" r:id="rId15"/>
    <p:sldId id="281" r:id="rId16"/>
    <p:sldId id="270" r:id="rId17"/>
    <p:sldId id="271" r:id="rId18"/>
    <p:sldId id="282" r:id="rId19"/>
    <p:sldId id="287" r:id="rId20"/>
    <p:sldId id="288" r:id="rId21"/>
    <p:sldId id="273" r:id="rId22"/>
    <p:sldId id="284" r:id="rId23"/>
    <p:sldId id="285" r:id="rId24"/>
    <p:sldId id="286" r:id="rId25"/>
    <p:sldId id="258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42" autoAdjust="0"/>
  </p:normalViewPr>
  <p:slideViewPr>
    <p:cSldViewPr snapToGrid="0">
      <p:cViewPr varScale="1">
        <p:scale>
          <a:sx n="64" d="100"/>
          <a:sy n="64" d="100"/>
        </p:scale>
        <p:origin x="9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38ED3-9273-4956-B09A-A5271792F25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40A6B-54D9-47E0-801A-E093C50F63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99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C7A8AD-B35F-4049-AA68-A2057C2A511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25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82282-949E-4CDE-A6B9-D3BD945117D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71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7CD18-C188-4116-BFEA-B16A3D457794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163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A74F1-BE2D-42D2-ADBC-98BC0FC6CAE1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65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2AB82-C33F-4A84-B302-8E1414860071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47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00D63-F386-4F99-991B-CB375504827F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2557E-A7FE-42B7-9854-51DE477A7DD4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95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43ABD-FC9A-43C4-BA8B-FAF35135CB23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0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0713D-41C0-4B51-86B2-23E782758A1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9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493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5702735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91551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430992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54885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2AB7F-C97E-44DB-94C4-3680F742F696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85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2AB3-E400-42EC-9391-39856C674BC5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1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339D8-20A5-4F97-94E3-6A11A66542CD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EEBAA45-098B-4F25-AB86-06DA2D1A56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12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635E7-883F-F3C9-C10E-577516639C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Constructor &amp; destructor in </a:t>
            </a:r>
            <a:r>
              <a:rPr lang="en-US" dirty="0" err="1"/>
              <a:t>c++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196A2-199D-DE1B-6E52-E70AF8FBF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3"/>
            <a:ext cx="6801612" cy="2505457"/>
          </a:xfrm>
        </p:spPr>
        <p:txBody>
          <a:bodyPr>
            <a:normAutofit/>
          </a:bodyPr>
          <a:lstStyle/>
          <a:p>
            <a:r>
              <a:rPr lang="en-US" dirty="0"/>
              <a:t>CSE 213 – OOPL</a:t>
            </a:r>
          </a:p>
          <a:p>
            <a:r>
              <a:rPr lang="en-US" dirty="0"/>
              <a:t>Instructor-</a:t>
            </a:r>
          </a:p>
          <a:p>
            <a:r>
              <a:rPr lang="en-US" dirty="0" err="1"/>
              <a:t>Mousumi</a:t>
            </a:r>
            <a:r>
              <a:rPr lang="en-US" dirty="0"/>
              <a:t> Hasan,</a:t>
            </a:r>
          </a:p>
          <a:p>
            <a:r>
              <a:rPr lang="en-US"/>
              <a:t>Assistant Professor, </a:t>
            </a:r>
            <a:r>
              <a:rPr lang="en-US" dirty="0"/>
              <a:t>CSE Dept, BAIUST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3C1165-626E-795D-8592-78EF3EE38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424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MS Mincho" charset="-128"/>
              </a:rPr>
              <a:t>What is a constructor?</a:t>
            </a:r>
            <a:r>
              <a:rPr lang="en-US" altLang="en-US"/>
              <a:t>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idx="1"/>
          </p:nvPr>
        </p:nvSpPr>
        <p:spPr>
          <a:xfrm>
            <a:off x="840657" y="2667541"/>
            <a:ext cx="10300077" cy="3101983"/>
          </a:xfrm>
        </p:spPr>
        <p:txBody>
          <a:bodyPr>
            <a:normAutofit/>
          </a:bodyPr>
          <a:lstStyle/>
          <a:p>
            <a:r>
              <a:rPr lang="en-US" altLang="en-US" sz="3200" dirty="0">
                <a:ea typeface="MS Mincho" charset="-128"/>
              </a:rPr>
              <a:t>It is a member function which initializes a class.</a:t>
            </a:r>
            <a:endParaRPr lang="en-US" altLang="en-US" sz="32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r>
              <a:rPr lang="en-US" altLang="en-US" sz="3200" dirty="0">
                <a:ea typeface="MS Mincho" charset="-128"/>
              </a:rPr>
              <a:t>A constructor has:</a:t>
            </a:r>
            <a:endParaRPr lang="en-US" altLang="en-US" sz="32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3200" dirty="0">
                <a:ea typeface="MS Mincho" charset="-128"/>
              </a:rPr>
              <a:t>		(</a:t>
            </a:r>
            <a:r>
              <a:rPr lang="en-US" altLang="en-US" sz="3200" dirty="0" err="1">
                <a:ea typeface="MS Mincho" charset="-128"/>
              </a:rPr>
              <a:t>i</a:t>
            </a:r>
            <a:r>
              <a:rPr lang="en-US" altLang="en-US" sz="3200" dirty="0">
                <a:ea typeface="MS Mincho" charset="-128"/>
              </a:rPr>
              <a:t>) the same name as the class itself</a:t>
            </a:r>
            <a:endParaRPr lang="en-US" altLang="en-US" sz="3200" dirty="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en-US" altLang="en-US" sz="3200" dirty="0">
                <a:ea typeface="MS Mincho" charset="-128"/>
              </a:rPr>
              <a:t>		(ii) no return type</a:t>
            </a:r>
            <a:r>
              <a:rPr lang="en-US" altLang="en-US" sz="3200" dirty="0"/>
              <a:t> (not even void)</a:t>
            </a:r>
          </a:p>
          <a:p>
            <a:pPr>
              <a:buFontTx/>
              <a:buNone/>
            </a:pPr>
            <a:r>
              <a:rPr lang="en-US" altLang="en-US" sz="3200" dirty="0"/>
              <a:t>(iii)</a:t>
            </a:r>
            <a:r>
              <a:rPr lang="en-US" sz="3200" dirty="0"/>
              <a:t> Called automatically when object is created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04901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>
          <a:xfrm>
            <a:off x="5619134" y="226706"/>
            <a:ext cx="6023045" cy="59863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Example of Constructor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858256" y="825343"/>
            <a:ext cx="7772400" cy="5209082"/>
          </a:xfrm>
        </p:spPr>
        <p:txBody>
          <a:bodyPr>
            <a:noAutofit/>
          </a:bodyPr>
          <a:lstStyle/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#include &lt;iostream&gt;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class Student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public: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  Student()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      </a:t>
            </a:r>
            <a:r>
              <a:rPr lang="en-US" altLang="en-US" sz="2400" dirty="0" err="1">
                <a:latin typeface="Arial" panose="020B0604020202020204" pitchFamily="34" charset="0"/>
                <a:cs typeface="Times New Roman" panose="02020603050405020304" pitchFamily="18" charset="0"/>
              </a:rPr>
              <a:t>cout</a:t>
            </a: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&lt;&lt; "Default Constructor Called" &lt;&lt; </a:t>
            </a:r>
            <a:r>
              <a:rPr lang="en-US" altLang="en-US" sz="2400" dirty="0" err="1">
                <a:latin typeface="Arial" panose="020B0604020202020204" pitchFamily="34" charset="0"/>
                <a:cs typeface="Times New Roman" panose="02020603050405020304" pitchFamily="18" charset="0"/>
              </a:rPr>
              <a:t>endl</a:t>
            </a: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  }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};</a:t>
            </a:r>
          </a:p>
          <a:p>
            <a:pPr>
              <a:lnSpc>
                <a:spcPct val="70000"/>
              </a:lnSpc>
              <a:buFontTx/>
              <a:buNone/>
            </a:pPr>
            <a:endParaRPr lang="en-US" altLang="en-US" sz="24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int main() {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  Student s1;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    return 0;</a:t>
            </a:r>
          </a:p>
          <a:p>
            <a:pPr>
              <a:lnSpc>
                <a:spcPct val="70000"/>
              </a:lnSpc>
              <a:buFontTx/>
              <a:buNone/>
            </a:pPr>
            <a:r>
              <a:rPr lang="en-US" altLang="en-US" sz="2400" dirty="0">
                <a:latin typeface="Arial" panose="020B0604020202020204" pitchFamily="34" charset="0"/>
                <a:cs typeface="Times New Roman" panose="02020603050405020304" pitchFamily="18" charset="0"/>
              </a:rPr>
              <a:t>}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63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8" y="169357"/>
            <a:ext cx="10341458" cy="641432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9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658" y="170912"/>
            <a:ext cx="10341458" cy="641121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53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367" y="170912"/>
            <a:ext cx="9962039" cy="641121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991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B76639-61CA-5683-82BD-631A97F3C912}"/>
              </a:ext>
            </a:extLst>
          </p:cNvPr>
          <p:cNvSpPr txBox="1"/>
          <p:nvPr/>
        </p:nvSpPr>
        <p:spPr>
          <a:xfrm>
            <a:off x="884419" y="254833"/>
            <a:ext cx="8664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accent1"/>
                </a:solidFill>
              </a:rPr>
              <a:t>Default Constructor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1AA17E-1F2C-C4B9-5E49-775C1A469C16}"/>
              </a:ext>
            </a:extLst>
          </p:cNvPr>
          <p:cNvSpPr txBox="1"/>
          <p:nvPr/>
        </p:nvSpPr>
        <p:spPr>
          <a:xfrm>
            <a:off x="659567" y="901164"/>
            <a:ext cx="5861154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#include &lt;iostream&gt;</a:t>
            </a:r>
          </a:p>
          <a:p>
            <a:r>
              <a:rPr lang="en-US" sz="2000" dirty="0"/>
              <a:t>using namespace std;</a:t>
            </a:r>
          </a:p>
          <a:p>
            <a:endParaRPr lang="en-US" sz="2000" dirty="0"/>
          </a:p>
          <a:p>
            <a:r>
              <a:rPr lang="en-US" sz="2000" dirty="0"/>
              <a:t>class Rectangle {</a:t>
            </a:r>
          </a:p>
          <a:p>
            <a:r>
              <a:rPr lang="en-US" sz="2000" dirty="0"/>
              <a:t>    int length, width;</a:t>
            </a:r>
          </a:p>
          <a:p>
            <a:endParaRPr lang="en-US" sz="2000" dirty="0"/>
          </a:p>
          <a:p>
            <a:r>
              <a:rPr lang="en-US" sz="2000" dirty="0"/>
              <a:t>public:</a:t>
            </a:r>
          </a:p>
          <a:p>
            <a:r>
              <a:rPr lang="en-US" sz="2000" dirty="0"/>
              <a:t>    // Default Constructor</a:t>
            </a:r>
          </a:p>
          <a:p>
            <a:r>
              <a:rPr lang="en-US" sz="2000" dirty="0"/>
              <a:t>    Rectangle() {</a:t>
            </a:r>
          </a:p>
          <a:p>
            <a:r>
              <a:rPr lang="en-US" sz="2000" dirty="0"/>
              <a:t>        length = 10;</a:t>
            </a:r>
          </a:p>
          <a:p>
            <a:r>
              <a:rPr lang="en-US" sz="2000" dirty="0"/>
              <a:t>        width = 5;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    void display() {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"Length: " &lt;&lt; length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"Width: " &lt;&lt; width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"Area: " &lt;&lt; length * width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9CFFB-C537-91B5-F6A2-469F89409526}"/>
              </a:ext>
            </a:extLst>
          </p:cNvPr>
          <p:cNvSpPr txBox="1"/>
          <p:nvPr/>
        </p:nvSpPr>
        <p:spPr>
          <a:xfrm>
            <a:off x="6930453" y="3429000"/>
            <a:ext cx="46019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 main() {</a:t>
            </a:r>
          </a:p>
          <a:p>
            <a:r>
              <a:rPr lang="en-US" sz="2000" dirty="0"/>
              <a:t>    Rectangle r1;  // Default constructor automatically called</a:t>
            </a:r>
          </a:p>
          <a:p>
            <a:r>
              <a:rPr lang="en-US" sz="2000" dirty="0"/>
              <a:t>    r1.display();</a:t>
            </a:r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577839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21" y="459902"/>
            <a:ext cx="10201981" cy="6123778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16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BCCC51-5ACB-0751-A4D4-809217F99407}"/>
              </a:ext>
            </a:extLst>
          </p:cNvPr>
          <p:cNvSpPr txBox="1"/>
          <p:nvPr/>
        </p:nvSpPr>
        <p:spPr>
          <a:xfrm>
            <a:off x="2713219" y="104931"/>
            <a:ext cx="8079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600" dirty="0">
                <a:solidFill>
                  <a:schemeClr val="accent1"/>
                </a:solidFill>
              </a:rPr>
              <a:t>Parameterized Constructor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EAA993-5D07-C32A-F677-BB7FE56B6C66}"/>
              </a:ext>
            </a:extLst>
          </p:cNvPr>
          <p:cNvSpPr txBox="1"/>
          <p:nvPr/>
        </p:nvSpPr>
        <p:spPr>
          <a:xfrm>
            <a:off x="1214203" y="856357"/>
            <a:ext cx="547140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#include &lt;iostream&gt;</a:t>
            </a:r>
          </a:p>
          <a:p>
            <a:r>
              <a:rPr lang="en-US" sz="2400" dirty="0"/>
              <a:t>using namespace std;</a:t>
            </a:r>
          </a:p>
          <a:p>
            <a:endParaRPr lang="en-US" sz="2400" dirty="0"/>
          </a:p>
          <a:p>
            <a:r>
              <a:rPr lang="en-US" sz="2400" dirty="0"/>
              <a:t>class Student {</a:t>
            </a:r>
          </a:p>
          <a:p>
            <a:r>
              <a:rPr lang="en-US" sz="2400" dirty="0"/>
              <a:t>    int id;</a:t>
            </a:r>
          </a:p>
          <a:p>
            <a:r>
              <a:rPr lang="en-US" sz="2400" dirty="0"/>
              <a:t>public:</a:t>
            </a:r>
          </a:p>
          <a:p>
            <a:r>
              <a:rPr lang="en-US" sz="2400" dirty="0"/>
              <a:t>    Student(int x) {</a:t>
            </a:r>
          </a:p>
          <a:p>
            <a:r>
              <a:rPr lang="en-US" sz="2400" dirty="0"/>
              <a:t>        id = x;</a:t>
            </a:r>
          </a:p>
          <a:p>
            <a:r>
              <a:rPr lang="en-US" sz="2400" dirty="0"/>
              <a:t>        </a:t>
            </a:r>
            <a:r>
              <a:rPr lang="en-US" sz="2400" dirty="0" err="1"/>
              <a:t>cout</a:t>
            </a:r>
            <a:r>
              <a:rPr lang="en-US" sz="2400" dirty="0"/>
              <a:t> &lt;&lt; "ID: " &lt;&lt; id &lt;&lt; </a:t>
            </a:r>
            <a:r>
              <a:rPr lang="en-US" sz="2400" dirty="0" err="1"/>
              <a:t>endl</a:t>
            </a:r>
            <a:r>
              <a:rPr lang="en-US" sz="2400" dirty="0"/>
              <a:t>;</a:t>
            </a:r>
          </a:p>
          <a:p>
            <a:r>
              <a:rPr lang="en-US" sz="2400" dirty="0"/>
              <a:t>    }</a:t>
            </a:r>
          </a:p>
          <a:p>
            <a:r>
              <a:rPr lang="en-US" sz="2400" dirty="0"/>
              <a:t>};</a:t>
            </a:r>
          </a:p>
          <a:p>
            <a:endParaRPr lang="en-US" sz="2400" dirty="0"/>
          </a:p>
          <a:p>
            <a:r>
              <a:rPr lang="en-US" sz="2400" dirty="0"/>
              <a:t>int main() {</a:t>
            </a:r>
          </a:p>
          <a:p>
            <a:r>
              <a:rPr lang="en-US" sz="2400" dirty="0"/>
              <a:t>    Student s1(101);</a:t>
            </a:r>
          </a:p>
          <a:p>
            <a:r>
              <a:rPr lang="en-US" sz="2400" dirty="0"/>
              <a:t>    return 0;</a:t>
            </a:r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976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3" y="609600"/>
            <a:ext cx="8946351" cy="1320800"/>
          </a:xfrm>
        </p:spPr>
        <p:txBody>
          <a:bodyPr/>
          <a:lstStyle/>
          <a:p>
            <a:pPr algn="r"/>
            <a:r>
              <a:rPr lang="en-US" altLang="en-US" dirty="0">
                <a:ea typeface="MS Mincho" charset="-128"/>
              </a:rPr>
              <a:t>What is a copy constructor?</a:t>
            </a:r>
            <a:r>
              <a:rPr lang="en-US" altLang="en-US" dirty="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>
                <a:cs typeface="Times New Roman" panose="02020603050405020304" pitchFamily="18" charset="0"/>
              </a:rPr>
              <a:t>It is a member function which initializes an object using another object of the same class.</a:t>
            </a:r>
            <a:endParaRPr lang="en-US" alt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3200" dirty="0">
                <a:cs typeface="Times New Roman" panose="02020603050405020304" pitchFamily="18" charset="0"/>
              </a:rPr>
              <a:t>A copy constructor has the following general function prototype: </a:t>
            </a:r>
            <a:endParaRPr lang="en-US" alt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Tx/>
              <a:buNone/>
            </a:pPr>
            <a:r>
              <a:rPr lang="en-US" altLang="en-US" sz="3200" dirty="0">
                <a:cs typeface="Times New Roman" panose="02020603050405020304" pitchFamily="18" charset="0"/>
              </a:rPr>
              <a:t>		</a:t>
            </a:r>
            <a:r>
              <a:rPr lang="en-US" altLang="en-US" sz="3200" i="1" dirty="0" err="1">
                <a:solidFill>
                  <a:srgbClr val="FF9933"/>
                </a:solidFill>
                <a:cs typeface="Times New Roman" panose="02020603050405020304" pitchFamily="18" charset="0"/>
              </a:rPr>
              <a:t>class_name</a:t>
            </a:r>
            <a:r>
              <a:rPr lang="en-US" altLang="en-US" sz="3200" i="1" dirty="0">
                <a:solidFill>
                  <a:srgbClr val="FF9933"/>
                </a:solidFill>
                <a:cs typeface="Times New Roman" panose="02020603050405020304" pitchFamily="18" charset="0"/>
              </a:rPr>
              <a:t> (const </a:t>
            </a:r>
            <a:r>
              <a:rPr lang="en-US" altLang="en-US" sz="3200" i="1" dirty="0" err="1">
                <a:solidFill>
                  <a:srgbClr val="FF9933"/>
                </a:solidFill>
                <a:cs typeface="Times New Roman" panose="02020603050405020304" pitchFamily="18" charset="0"/>
              </a:rPr>
              <a:t>class_name</a:t>
            </a:r>
            <a:r>
              <a:rPr lang="en-US" altLang="en-US" sz="3200" i="1" dirty="0">
                <a:solidFill>
                  <a:srgbClr val="FF9933"/>
                </a:solidFill>
                <a:cs typeface="Times New Roman" panose="02020603050405020304" pitchFamily="18" charset="0"/>
              </a:rPr>
              <a:t> &amp;obj);</a:t>
            </a:r>
            <a:endParaRPr lang="en-US" altLang="en-US" sz="3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05314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D82A4-5F2D-EF65-4835-29B1D2167CD1}"/>
              </a:ext>
            </a:extLst>
          </p:cNvPr>
          <p:cNvSpPr txBox="1"/>
          <p:nvPr/>
        </p:nvSpPr>
        <p:spPr>
          <a:xfrm>
            <a:off x="1109271" y="314614"/>
            <a:ext cx="7481391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#include &lt;iostream&gt;</a:t>
            </a:r>
          </a:p>
          <a:p>
            <a:r>
              <a:rPr lang="en-US" sz="2000" dirty="0"/>
              <a:t>using namespace std;</a:t>
            </a:r>
          </a:p>
          <a:p>
            <a:endParaRPr lang="en-US" sz="2000" dirty="0"/>
          </a:p>
          <a:p>
            <a:r>
              <a:rPr lang="en-US" sz="2000" dirty="0"/>
              <a:t>class Student {</a:t>
            </a:r>
          </a:p>
          <a:p>
            <a:r>
              <a:rPr lang="en-US" sz="2000" dirty="0"/>
              <a:t>    int id;</a:t>
            </a:r>
          </a:p>
          <a:p>
            <a:r>
              <a:rPr lang="en-US" sz="2000" dirty="0"/>
              <a:t>public:</a:t>
            </a:r>
          </a:p>
          <a:p>
            <a:r>
              <a:rPr lang="en-US" sz="2000" dirty="0"/>
              <a:t>    Student(int x) {</a:t>
            </a:r>
          </a:p>
          <a:p>
            <a:r>
              <a:rPr lang="en-US" sz="2000" dirty="0"/>
              <a:t>        id = x;</a:t>
            </a:r>
          </a:p>
          <a:p>
            <a:r>
              <a:rPr lang="en-US" sz="2000" dirty="0"/>
              <a:t>    }</a:t>
            </a:r>
          </a:p>
          <a:p>
            <a:endParaRPr lang="en-US" sz="2000" dirty="0"/>
          </a:p>
          <a:p>
            <a:r>
              <a:rPr lang="en-US" sz="2000" dirty="0"/>
              <a:t>    Student(const Student &amp;s) {</a:t>
            </a:r>
          </a:p>
          <a:p>
            <a:r>
              <a:rPr lang="en-US" sz="2000" dirty="0"/>
              <a:t>        id = s.id;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"Copied ID: " &lt;&lt; id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};</a:t>
            </a:r>
          </a:p>
          <a:p>
            <a:endParaRPr lang="en-US" sz="2000" dirty="0"/>
          </a:p>
          <a:p>
            <a:r>
              <a:rPr lang="en-US" sz="2000" dirty="0"/>
              <a:t>int main() {</a:t>
            </a:r>
          </a:p>
          <a:p>
            <a:r>
              <a:rPr lang="en-US" sz="2000" dirty="0"/>
              <a:t>    Student s1(101);</a:t>
            </a:r>
          </a:p>
          <a:p>
            <a:r>
              <a:rPr lang="en-US" sz="2000" dirty="0"/>
              <a:t>    Student s2 = s1;  // Copy constructor</a:t>
            </a:r>
          </a:p>
          <a:p>
            <a:r>
              <a:rPr lang="en-US" sz="2000" dirty="0"/>
              <a:t>    return 0;</a:t>
            </a:r>
          </a:p>
          <a:p>
            <a:r>
              <a:rPr 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66133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460291" y="103239"/>
            <a:ext cx="9212706" cy="838200"/>
          </a:xfrm>
        </p:spPr>
        <p:txBody>
          <a:bodyPr/>
          <a:lstStyle/>
          <a:p>
            <a:pPr algn="r"/>
            <a:r>
              <a:rPr lang="en-US" altLang="en-US" dirty="0">
                <a:ea typeface="MS Mincho" charset="-128"/>
              </a:rPr>
              <a:t>Overloading constructors</a:t>
            </a:r>
            <a:r>
              <a:rPr lang="en-US" altLang="en-US" dirty="0"/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1016000" y="779489"/>
            <a:ext cx="8862518" cy="597527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en-US" altLang="en-US" sz="2800" dirty="0">
                <a:cs typeface="Times New Roman" panose="02020603050405020304" pitchFamily="18" charset="0"/>
              </a:rPr>
              <a:t>You can have more than one constructor in a class, as long as each has a different list of arguments.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000" dirty="0">
                <a:latin typeface="Arial" panose="020B0604020202020204" pitchFamily="34" charset="0"/>
                <a:cs typeface="Times New Roman" panose="02020603050405020304" pitchFamily="18" charset="0"/>
              </a:rPr>
              <a:t> </a:t>
            </a:r>
            <a:endParaRPr lang="en-US" altLang="en-US" sz="2000" dirty="0"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#include &lt;iostream&gt;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using namespace std;</a:t>
            </a:r>
          </a:p>
          <a:p>
            <a:pPr lvl="2">
              <a:lnSpc>
                <a:spcPct val="70000"/>
              </a:lnSpc>
              <a:buFontTx/>
              <a:buNone/>
            </a:pPr>
            <a:endParaRPr lang="en-US" altLang="en-US" sz="2100" dirty="0">
              <a:latin typeface="+mj-lt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class Student {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public: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Student() {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    </a:t>
            </a:r>
            <a:r>
              <a:rPr lang="en-US" altLang="en-US" sz="2100" dirty="0" err="1">
                <a:latin typeface="+mj-lt"/>
              </a:rPr>
              <a:t>cout</a:t>
            </a:r>
            <a:r>
              <a:rPr lang="en-US" altLang="en-US" sz="2100" dirty="0">
                <a:latin typeface="+mj-lt"/>
              </a:rPr>
              <a:t> &lt;&lt; "Default Constructor" &lt;&lt; </a:t>
            </a:r>
            <a:r>
              <a:rPr lang="en-US" altLang="en-US" sz="2100" dirty="0" err="1">
                <a:latin typeface="+mj-lt"/>
              </a:rPr>
              <a:t>endl</a:t>
            </a:r>
            <a:r>
              <a:rPr lang="en-US" altLang="en-US" sz="2100" dirty="0">
                <a:latin typeface="+mj-lt"/>
              </a:rPr>
              <a:t>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}</a:t>
            </a:r>
          </a:p>
          <a:p>
            <a:pPr lvl="2">
              <a:lnSpc>
                <a:spcPct val="70000"/>
              </a:lnSpc>
              <a:buFontTx/>
              <a:buNone/>
            </a:pPr>
            <a:endParaRPr lang="en-US" altLang="en-US" sz="2100" dirty="0">
              <a:latin typeface="+mj-lt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Student(int x) {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    </a:t>
            </a:r>
            <a:r>
              <a:rPr lang="en-US" altLang="en-US" sz="2100" dirty="0" err="1">
                <a:latin typeface="+mj-lt"/>
              </a:rPr>
              <a:t>cout</a:t>
            </a:r>
            <a:r>
              <a:rPr lang="en-US" altLang="en-US" sz="2100" dirty="0">
                <a:latin typeface="+mj-lt"/>
              </a:rPr>
              <a:t> &lt;&lt; "Parameterized Constructor: " &lt;&lt; x &lt;&lt; </a:t>
            </a:r>
            <a:r>
              <a:rPr lang="en-US" altLang="en-US" sz="2100" dirty="0" err="1">
                <a:latin typeface="+mj-lt"/>
              </a:rPr>
              <a:t>endl</a:t>
            </a:r>
            <a:r>
              <a:rPr lang="en-US" altLang="en-US" sz="2100" dirty="0">
                <a:latin typeface="+mj-lt"/>
              </a:rPr>
              <a:t>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}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};</a:t>
            </a:r>
          </a:p>
          <a:p>
            <a:pPr lvl="2">
              <a:lnSpc>
                <a:spcPct val="70000"/>
              </a:lnSpc>
              <a:buFontTx/>
              <a:buNone/>
            </a:pPr>
            <a:endParaRPr lang="en-US" altLang="en-US" sz="2100" dirty="0">
              <a:latin typeface="+mj-lt"/>
            </a:endParaRP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int main() {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Student s1;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Student s2(50);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    return 0;</a:t>
            </a:r>
          </a:p>
          <a:p>
            <a:pPr lvl="2">
              <a:lnSpc>
                <a:spcPct val="70000"/>
              </a:lnSpc>
              <a:buFontTx/>
              <a:buNone/>
            </a:pPr>
            <a:r>
              <a:rPr lang="en-US" altLang="en-US" sz="2100" dirty="0">
                <a:latin typeface="+mj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46273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52471" y="109286"/>
            <a:ext cx="8660367" cy="1188720"/>
          </a:xfrm>
        </p:spPr>
        <p:txBody>
          <a:bodyPr/>
          <a:lstStyle/>
          <a:p>
            <a:pPr algn="r"/>
            <a:r>
              <a:rPr lang="en-US" altLang="en-US" dirty="0">
                <a:ea typeface="MS Mincho" charset="-128"/>
              </a:rPr>
              <a:t>Overloading constructors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5CD34-698A-F888-7B0E-43CCA73482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73" y="1124263"/>
            <a:ext cx="6160958" cy="611598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#include &lt;iostream&gt;</a:t>
            </a:r>
            <a:br>
              <a:rPr lang="en-US" dirty="0"/>
            </a:br>
            <a:r>
              <a:rPr lang="en-US" dirty="0"/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class </a:t>
            </a:r>
            <a:r>
              <a:rPr lang="en-US" dirty="0" err="1"/>
              <a:t>BankAccount</a:t>
            </a:r>
            <a:r>
              <a:rPr lang="en-US" dirty="0"/>
              <a:t> {</a:t>
            </a:r>
            <a:br>
              <a:rPr lang="en-US" dirty="0"/>
            </a:br>
            <a:r>
              <a:rPr lang="en-US" dirty="0"/>
              <a:t>string name;</a:t>
            </a:r>
            <a:br>
              <a:rPr lang="en-US" dirty="0"/>
            </a:br>
            <a:r>
              <a:rPr lang="en-US" dirty="0"/>
              <a:t>int </a:t>
            </a:r>
            <a:r>
              <a:rPr lang="en-US" dirty="0" err="1"/>
              <a:t>accountNumber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double balance;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public:</a:t>
            </a:r>
            <a:br>
              <a:rPr lang="en-US" dirty="0"/>
            </a:br>
            <a:r>
              <a:rPr lang="en-US" dirty="0"/>
              <a:t>// Default Constructor</a:t>
            </a:r>
            <a:br>
              <a:rPr lang="en-US" dirty="0"/>
            </a:br>
            <a:r>
              <a:rPr lang="en-US" dirty="0" err="1"/>
              <a:t>BankAccount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name = "Not Provided";</a:t>
            </a:r>
            <a:br>
              <a:rPr lang="en-US" dirty="0"/>
            </a:br>
            <a:r>
              <a:rPr lang="en-US" dirty="0" err="1"/>
              <a:t>accountNumber</a:t>
            </a:r>
            <a:r>
              <a:rPr lang="en-US" dirty="0"/>
              <a:t> = 0;</a:t>
            </a:r>
            <a:br>
              <a:rPr lang="en-US" dirty="0"/>
            </a:br>
            <a:r>
              <a:rPr lang="en-US" dirty="0"/>
              <a:t>balance = 0.0;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 Constructor with name and account number</a:t>
            </a:r>
            <a:br>
              <a:rPr lang="en-US" dirty="0"/>
            </a:br>
            <a:r>
              <a:rPr lang="en-US" dirty="0" err="1"/>
              <a:t>BankAccount</a:t>
            </a:r>
            <a:r>
              <a:rPr lang="en-US" dirty="0"/>
              <a:t>(string n, int </a:t>
            </a:r>
            <a:r>
              <a:rPr lang="en-US" dirty="0" err="1"/>
              <a:t>accNo</a:t>
            </a:r>
            <a:r>
              <a:rPr lang="en-US" dirty="0"/>
              <a:t>) {</a:t>
            </a:r>
            <a:br>
              <a:rPr lang="en-US" dirty="0"/>
            </a:br>
            <a:r>
              <a:rPr lang="en-US" dirty="0"/>
              <a:t>name = n;</a:t>
            </a:r>
            <a:br>
              <a:rPr lang="en-US" dirty="0"/>
            </a:br>
            <a:r>
              <a:rPr lang="en-US" dirty="0" err="1"/>
              <a:t>accountNumber</a:t>
            </a:r>
            <a:r>
              <a:rPr lang="en-US" dirty="0"/>
              <a:t> = </a:t>
            </a:r>
            <a:r>
              <a:rPr lang="en-US" dirty="0" err="1"/>
              <a:t>accNo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balance = 0.0;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CC2E4-A761-7DD0-A60F-08340B428C1C}"/>
              </a:ext>
            </a:extLst>
          </p:cNvPr>
          <p:cNvSpPr txBox="1"/>
          <p:nvPr/>
        </p:nvSpPr>
        <p:spPr>
          <a:xfrm>
            <a:off x="5836170" y="1298006"/>
            <a:ext cx="616095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// Constructor with all details</a:t>
            </a:r>
            <a:br>
              <a:rPr lang="en-US"/>
            </a:br>
            <a:r>
              <a:rPr lang="en-US"/>
              <a:t>BankAccount(string n, int accNo, double bal) {</a:t>
            </a:r>
            <a:br>
              <a:rPr lang="en-US"/>
            </a:br>
            <a:r>
              <a:rPr lang="en-US"/>
              <a:t>name = n;</a:t>
            </a:r>
            <a:br>
              <a:rPr lang="en-US"/>
            </a:br>
            <a:r>
              <a:rPr lang="en-US"/>
              <a:t>accountNumber = accNo;</a:t>
            </a:r>
            <a:br>
              <a:rPr lang="en-US"/>
            </a:br>
            <a:r>
              <a:rPr lang="en-US"/>
              <a:t>balance = bal;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br>
              <a:rPr lang="en-US"/>
            </a:br>
            <a:r>
              <a:rPr lang="en-US"/>
              <a:t>void display() {</a:t>
            </a:r>
            <a:br>
              <a:rPr lang="en-US"/>
            </a:br>
            <a:r>
              <a:rPr lang="en-US"/>
              <a:t>cout &lt;&lt; "Name: " &lt;&lt; name &lt;&lt; endl;</a:t>
            </a:r>
            <a:br>
              <a:rPr lang="en-US"/>
            </a:br>
            <a:r>
              <a:rPr lang="en-US"/>
              <a:t>cout &lt;&lt; "Account Number: " &lt;&lt; accountNumber &lt;&lt; endl;</a:t>
            </a:r>
            <a:br>
              <a:rPr lang="en-US"/>
            </a:br>
            <a:r>
              <a:rPr lang="en-US"/>
              <a:t>cout &lt;&lt; "Balance: " &lt;&lt; balance &lt;&lt; endl;</a:t>
            </a:r>
            <a:br>
              <a:rPr lang="en-US"/>
            </a:br>
            <a:r>
              <a:rPr lang="en-US"/>
              <a:t>cout &lt;&lt; "------------------------" &lt;&lt; endl;</a:t>
            </a:r>
            <a:br>
              <a:rPr lang="en-US"/>
            </a:br>
            <a:r>
              <a:rPr lang="en-US"/>
              <a:t>}</a:t>
            </a:r>
            <a:br>
              <a:rPr lang="en-US"/>
            </a:br>
            <a:r>
              <a:rPr lang="en-US"/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32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45D8A-53DE-7B3A-B516-5335B31B7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89DA-7E29-EFA3-CED3-9F0419041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// Different ways of creating objects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BankAccount</a:t>
            </a:r>
            <a:r>
              <a:rPr lang="en-US" dirty="0"/>
              <a:t> a1; // Default constructor</a:t>
            </a:r>
            <a:br>
              <a:rPr lang="en-US" dirty="0"/>
            </a:br>
            <a:r>
              <a:rPr lang="en-US" dirty="0" err="1"/>
              <a:t>BankAccount</a:t>
            </a:r>
            <a:r>
              <a:rPr lang="en-US" dirty="0"/>
              <a:t> a2("Rahim", 101); // Partial info</a:t>
            </a:r>
            <a:br>
              <a:rPr lang="en-US" dirty="0"/>
            </a:br>
            <a:r>
              <a:rPr lang="en-US" dirty="0" err="1"/>
              <a:t>BankAccount</a:t>
            </a:r>
            <a:r>
              <a:rPr lang="en-US" dirty="0"/>
              <a:t> a3("Karim", 102, 5000.50); // Full info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a1.display();</a:t>
            </a:r>
            <a:br>
              <a:rPr lang="en-US" dirty="0"/>
            </a:br>
            <a:r>
              <a:rPr lang="en-US" dirty="0"/>
              <a:t>a2.display();</a:t>
            </a:r>
            <a:br>
              <a:rPr lang="en-US" dirty="0"/>
            </a:br>
            <a:r>
              <a:rPr lang="en-US" dirty="0"/>
              <a:t>a3.display();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return 0;</a:t>
            </a:r>
            <a:br>
              <a:rPr lang="en-US" dirty="0"/>
            </a:br>
            <a:r>
              <a:rPr lang="en-US" dirty="0"/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9FCAD-302F-FCCB-55AE-3F6B670D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3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646" y="153531"/>
            <a:ext cx="7729728" cy="436405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/>
              <a:t>Example of constructor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6774"/>
            <a:ext cx="5785823" cy="29142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58" y="3989908"/>
            <a:ext cx="5745065" cy="286809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7836" y="976774"/>
            <a:ext cx="5864942" cy="297946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137285"/>
            <a:ext cx="5436778" cy="183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646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431" y="368710"/>
            <a:ext cx="9223788" cy="604683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44348" y="5707626"/>
            <a:ext cx="2330246" cy="707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0945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609600"/>
            <a:ext cx="7772400" cy="838200"/>
          </a:xfrm>
        </p:spPr>
        <p:txBody>
          <a:bodyPr/>
          <a:lstStyle/>
          <a:p>
            <a:pPr algn="r"/>
            <a:r>
              <a:rPr lang="en-US" altLang="en-US" dirty="0">
                <a:cs typeface="Times New Roman" panose="02020603050405020304" pitchFamily="18" charset="0"/>
              </a:rPr>
              <a:t>What is a destructor?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676400"/>
            <a:ext cx="8001000" cy="4419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2800">
                <a:cs typeface="Times New Roman" panose="02020603050405020304" pitchFamily="18" charset="0"/>
              </a:rPr>
              <a:t>It is a member function which deletes an object.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cs typeface="Times New Roman" panose="02020603050405020304" pitchFamily="18" charset="0"/>
              </a:rPr>
              <a:t>A destructor function is called automatically when the object goes out  of scope: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(1) the function ends 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(2) the program ends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(3) a block containing temporary variables ends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(4) a </a:t>
            </a:r>
            <a:r>
              <a:rPr lang="en-US" altLang="en-US" sz="2400" i="1">
                <a:cs typeface="Times New Roman" panose="02020603050405020304" pitchFamily="18" charset="0"/>
              </a:rPr>
              <a:t>delete</a:t>
            </a:r>
            <a:r>
              <a:rPr lang="en-US" altLang="en-US" sz="2400">
                <a:cs typeface="Times New Roman" panose="02020603050405020304" pitchFamily="18" charset="0"/>
              </a:rPr>
              <a:t> operator is called 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en-US" sz="2800">
                <a:cs typeface="Times New Roman" panose="02020603050405020304" pitchFamily="18" charset="0"/>
              </a:rPr>
              <a:t>A destructor has:</a:t>
            </a:r>
            <a:endParaRPr lang="en-US" altLang="en-US" sz="2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cs typeface="Times New Roman" panose="02020603050405020304" pitchFamily="18" charset="0"/>
              </a:rPr>
              <a:t> (i) the same name as the class but is preceded by a tilde (~)</a:t>
            </a:r>
            <a:endParaRPr lang="en-US" altLang="en-US" sz="24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en-US" sz="2400">
                <a:ea typeface="MS Mincho" charset="-128"/>
              </a:rPr>
              <a:t> (ii) no arguments and return no values</a:t>
            </a:r>
            <a:r>
              <a:rPr lang="en-US" altLang="en-US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9779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136" y="0"/>
            <a:ext cx="7729728" cy="398198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of destructor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9" y="2788074"/>
            <a:ext cx="4946746" cy="140573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788074"/>
            <a:ext cx="4292742" cy="8731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89" y="675664"/>
            <a:ext cx="4946746" cy="22845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874" y="4193804"/>
            <a:ext cx="4312281" cy="238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2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1EE72-9B51-4D50-7BEB-508019D88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51513"/>
            <a:ext cx="6592896" cy="640648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#include&lt;iostream&gt;</a:t>
            </a:r>
          </a:p>
          <a:p>
            <a:pPr marL="0" indent="0">
              <a:buNone/>
            </a:pPr>
            <a:r>
              <a:rPr lang="en-US" sz="2000" dirty="0"/>
              <a:t>#include &lt;iostream&gt;</a:t>
            </a:r>
          </a:p>
          <a:p>
            <a:pPr marL="0" indent="0">
              <a:buNone/>
            </a:pPr>
            <a:r>
              <a:rPr lang="en-US" sz="2000" dirty="0"/>
              <a:t>using namespace std;</a:t>
            </a:r>
          </a:p>
          <a:p>
            <a:pPr marL="0" indent="0">
              <a:buNone/>
            </a:pPr>
            <a:r>
              <a:rPr lang="en-US" sz="2000" dirty="0"/>
              <a:t>class Demo {</a:t>
            </a:r>
          </a:p>
          <a:p>
            <a:pPr marL="0" indent="0">
              <a:buNone/>
            </a:pPr>
            <a:r>
              <a:rPr lang="en-US" sz="2000" dirty="0"/>
              <a:t>    int id;</a:t>
            </a:r>
          </a:p>
          <a:p>
            <a:pPr marL="0" indent="0">
              <a:buNone/>
            </a:pPr>
            <a:r>
              <a:rPr lang="en-US" sz="2000" dirty="0"/>
              <a:t>public:</a:t>
            </a:r>
          </a:p>
          <a:p>
            <a:pPr marL="0" indent="0">
              <a:buNone/>
            </a:pPr>
            <a:r>
              <a:rPr lang="en-US" sz="2000" dirty="0"/>
              <a:t>    Demo(int </a:t>
            </a:r>
            <a:r>
              <a:rPr lang="en-US" sz="2000" dirty="0" err="1"/>
              <a:t>i</a:t>
            </a:r>
            <a:r>
              <a:rPr lang="en-US" sz="2000" dirty="0"/>
              <a:t>) {</a:t>
            </a:r>
          </a:p>
          <a:p>
            <a:pPr marL="0" indent="0">
              <a:buNone/>
            </a:pPr>
            <a:r>
              <a:rPr lang="en-US" sz="2000" dirty="0"/>
              <a:t>        id = </a:t>
            </a:r>
            <a:r>
              <a:rPr lang="en-US" sz="2000" dirty="0" err="1"/>
              <a:t>i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"Constructor called for object " &lt;&lt; id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    ~Demo() {</a:t>
            </a:r>
          </a:p>
          <a:p>
            <a:pPr marL="0" indent="0">
              <a:buNone/>
            </a:pPr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"Destructor called for object " &lt;&lt; id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    }</a:t>
            </a:r>
          </a:p>
          <a:p>
            <a:pPr marL="0" indent="0">
              <a:buNone/>
            </a:pPr>
            <a:r>
              <a:rPr lang="en-US" sz="2000" dirty="0"/>
              <a:t>};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0C592F-C4AA-ABB2-2A48-0FBF4F90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E4FC93-F278-20E9-D7A6-E46B42510128}"/>
              </a:ext>
            </a:extLst>
          </p:cNvPr>
          <p:cNvSpPr txBox="1"/>
          <p:nvPr/>
        </p:nvSpPr>
        <p:spPr>
          <a:xfrm>
            <a:off x="7321929" y="1975390"/>
            <a:ext cx="4102797" cy="4067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 main()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&lt;&lt; "Creating objects..." &lt;&lt;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endl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Demo obj1(1);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Demo obj2(2);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Demo obj3(3);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cout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&lt;&lt; "End of main function..." &lt;&lt;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endl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return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927308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5F364-D0EA-F2E8-9503-0D48550BF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51513"/>
            <a:ext cx="6997630" cy="64064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900" dirty="0"/>
              <a:t>#include &lt;iostream&gt;</a:t>
            </a:r>
          </a:p>
          <a:p>
            <a:pPr marL="0" indent="0">
              <a:buNone/>
            </a:pPr>
            <a:r>
              <a:rPr lang="en-US" sz="1900" dirty="0"/>
              <a:t>using namespace std;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class Demo {</a:t>
            </a:r>
          </a:p>
          <a:p>
            <a:pPr marL="0" indent="0">
              <a:buNone/>
            </a:pPr>
            <a:r>
              <a:rPr lang="en-US" sz="1900" dirty="0"/>
              <a:t>    int id;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public:</a:t>
            </a:r>
          </a:p>
          <a:p>
            <a:pPr marL="0" indent="0">
              <a:buNone/>
            </a:pPr>
            <a:r>
              <a:rPr lang="en-US" sz="1900" dirty="0"/>
              <a:t>    // Constructor</a:t>
            </a:r>
          </a:p>
          <a:p>
            <a:pPr marL="0" indent="0">
              <a:buNone/>
            </a:pPr>
            <a:r>
              <a:rPr lang="en-US" sz="1900" dirty="0"/>
              <a:t>    Demo(int </a:t>
            </a:r>
            <a:r>
              <a:rPr lang="en-US" sz="1900" dirty="0" err="1"/>
              <a:t>i</a:t>
            </a:r>
            <a:r>
              <a:rPr lang="en-US" sz="1900" dirty="0"/>
              <a:t> = 0) {</a:t>
            </a:r>
          </a:p>
          <a:p>
            <a:pPr marL="0" indent="0">
              <a:buNone/>
            </a:pPr>
            <a:r>
              <a:rPr lang="en-US" sz="1900" dirty="0"/>
              <a:t>        id = </a:t>
            </a:r>
            <a:r>
              <a:rPr lang="en-US" sz="1900" dirty="0" err="1"/>
              <a:t>i</a:t>
            </a:r>
            <a:r>
              <a:rPr lang="en-US" sz="1900" dirty="0"/>
              <a:t>;</a:t>
            </a:r>
          </a:p>
          <a:p>
            <a:pPr marL="0" indent="0">
              <a:buNone/>
            </a:pPr>
            <a:r>
              <a:rPr lang="en-US" sz="1900" dirty="0"/>
              <a:t>        </a:t>
            </a:r>
            <a:r>
              <a:rPr lang="en-US" sz="1900" dirty="0" err="1"/>
              <a:t>cout</a:t>
            </a:r>
            <a:r>
              <a:rPr lang="en-US" sz="1900" dirty="0"/>
              <a:t> &lt;&lt; "Constructor called for object " &lt;&lt; id &lt;&lt; </a:t>
            </a:r>
            <a:r>
              <a:rPr lang="en-US" sz="1900" dirty="0" err="1"/>
              <a:t>endl</a:t>
            </a:r>
            <a:r>
              <a:rPr lang="en-US" sz="1900" dirty="0"/>
              <a:t>;</a:t>
            </a:r>
          </a:p>
          <a:p>
            <a:pPr marL="0" indent="0">
              <a:buNone/>
            </a:pPr>
            <a:r>
              <a:rPr lang="en-US" sz="1900" dirty="0"/>
              <a:t>    }</a:t>
            </a:r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/>
              <a:t>    // Destructor</a:t>
            </a:r>
          </a:p>
          <a:p>
            <a:pPr marL="0" indent="0">
              <a:buNone/>
            </a:pPr>
            <a:r>
              <a:rPr lang="en-US" sz="1900" dirty="0"/>
              <a:t>    ~Demo() {</a:t>
            </a:r>
          </a:p>
          <a:p>
            <a:pPr marL="0" indent="0">
              <a:buNone/>
            </a:pPr>
            <a:r>
              <a:rPr lang="en-US" sz="1900" dirty="0"/>
              <a:t>        </a:t>
            </a:r>
            <a:r>
              <a:rPr lang="en-US" sz="1900" dirty="0" err="1"/>
              <a:t>cout</a:t>
            </a:r>
            <a:r>
              <a:rPr lang="en-US" sz="1900" dirty="0"/>
              <a:t> &lt;&lt; "Destructor called for object " &lt;&lt; id &lt;&lt; </a:t>
            </a:r>
            <a:r>
              <a:rPr lang="en-US" sz="1900" dirty="0" err="1"/>
              <a:t>endl</a:t>
            </a:r>
            <a:r>
              <a:rPr lang="en-US" sz="1900" dirty="0"/>
              <a:t>;</a:t>
            </a:r>
          </a:p>
          <a:p>
            <a:pPr marL="0" indent="0">
              <a:buNone/>
            </a:pPr>
            <a:r>
              <a:rPr lang="en-US" sz="1900" dirty="0"/>
              <a:t>    }</a:t>
            </a:r>
          </a:p>
          <a:p>
            <a:pPr marL="0" indent="0">
              <a:buNone/>
            </a:pPr>
            <a:r>
              <a:rPr lang="en-US" sz="1900" dirty="0"/>
              <a:t>};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9CB05-307C-28BE-D591-F5AE3CDE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123E6-94AF-5B05-7995-3B129FB5ED32}"/>
              </a:ext>
            </a:extLst>
          </p:cNvPr>
          <p:cNvSpPr txBox="1"/>
          <p:nvPr/>
        </p:nvSpPr>
        <p:spPr>
          <a:xfrm>
            <a:off x="7477143" y="1433635"/>
            <a:ext cx="4037523" cy="4442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int main() {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cout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&lt;&lt; "Creating array of objects..." &lt;&lt;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endl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Demo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arr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[3] = { Demo(1), Demo(2), Demo(3) };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cout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&lt;&lt; "End of main function..." &lt;&lt; </a:t>
            </a:r>
            <a:r>
              <a:rPr kumimoji="0" lang="en-US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endl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  <a:lumOff val="25000"/>
                </a:prstClr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    return 0;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0C226"/>
              </a:buClr>
              <a:buSzPct val="80000"/>
              <a:buFont typeface="Wingdings 3" charset="2"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  <a:lumOff val="25000"/>
                  </a:prstClr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4472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77334" y="609600"/>
            <a:ext cx="9905722" cy="1320800"/>
          </a:xfrm>
        </p:spPr>
        <p:txBody>
          <a:bodyPr/>
          <a:lstStyle/>
          <a:p>
            <a:pPr algn="r"/>
            <a:r>
              <a:rPr lang="en-US" altLang="en-US" dirty="0">
                <a:ea typeface="MS Mincho" charset="-128"/>
              </a:rPr>
              <a:t>Comments on destructors</a:t>
            </a:r>
            <a:r>
              <a:rPr lang="en-US" altLang="en-US" dirty="0"/>
              <a:t>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290052" y="2402070"/>
            <a:ext cx="11901948" cy="4028227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cs typeface="Times New Roman" panose="02020603050405020304" pitchFamily="18" charset="0"/>
              </a:rPr>
              <a:t>If you do not specify a destructor, the compiler generates a default destructor for you.</a:t>
            </a:r>
            <a:endParaRPr lang="en-US" alt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800" dirty="0">
                <a:ea typeface="MS Mincho" charset="-128"/>
              </a:rPr>
              <a:t>When a class contains a pointer to memory you allocate, </a:t>
            </a:r>
            <a:r>
              <a:rPr lang="en-US" altLang="en-US" sz="2800" dirty="0">
                <a:solidFill>
                  <a:srgbClr val="FF9933"/>
                </a:solidFill>
                <a:ea typeface="MS Mincho" charset="-128"/>
              </a:rPr>
              <a:t>it is your responsibility </a:t>
            </a:r>
            <a:r>
              <a:rPr lang="en-US" altLang="en-US" sz="2800" dirty="0">
                <a:ea typeface="MS Mincho" charset="-128"/>
              </a:rPr>
              <a:t>to release the memory before the class instance is destroyed. </a:t>
            </a:r>
          </a:p>
          <a:p>
            <a:r>
              <a:rPr lang="en-US" altLang="en-US" sz="2800" dirty="0"/>
              <a:t>It is a good practice to declare destructors in a program since it releases memory space for further use.</a:t>
            </a:r>
          </a:p>
          <a:p>
            <a:endParaRPr lang="en-US" altLang="en-US" sz="2800" dirty="0">
              <a:ea typeface="MS Mincho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10937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CF87-3CC5-369E-DACB-263728466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79816"/>
            <a:ext cx="8596668" cy="679554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6FE99-12CA-FA92-9283-78241C7AD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59370"/>
            <a:ext cx="8596668" cy="58986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1.</a:t>
            </a:r>
            <a:r>
              <a:rPr lang="en-US" dirty="0"/>
              <a:t>Create a class </a:t>
            </a:r>
            <a:r>
              <a:rPr lang="en-US" dirty="0">
                <a:latin typeface="Courier New" panose="02070309020205020404" pitchFamily="49" charset="0"/>
              </a:rPr>
              <a:t>Student</a:t>
            </a:r>
            <a:r>
              <a:rPr lang="en-US" dirty="0"/>
              <a:t>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members: 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id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default constructor</a:t>
            </a:r>
            <a:r>
              <a:rPr lang="en-US" dirty="0"/>
              <a:t> that initializes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function to display data 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i="1" dirty="0"/>
              <a:t>Task:</a:t>
            </a:r>
            <a:r>
              <a:rPr lang="en-US" dirty="0"/>
              <a:t> Create an object and print student details.</a:t>
            </a:r>
          </a:p>
          <a:p>
            <a:pPr>
              <a:buNone/>
            </a:pPr>
            <a:r>
              <a:rPr lang="en-US" b="1" dirty="0"/>
              <a:t>2.</a:t>
            </a:r>
            <a:r>
              <a:rPr lang="en-US" dirty="0"/>
              <a:t>Create a class </a:t>
            </a:r>
            <a:r>
              <a:rPr lang="en-US" dirty="0">
                <a:latin typeface="Courier New" panose="02070309020205020404" pitchFamily="49" charset="0"/>
              </a:rPr>
              <a:t>Rectangle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a </a:t>
            </a:r>
            <a:r>
              <a:rPr lang="en-US" b="1" dirty="0"/>
              <a:t>parameterized constructor</a:t>
            </a:r>
            <a:r>
              <a:rPr lang="en-US" dirty="0"/>
              <a:t> to initialize </a:t>
            </a:r>
            <a:r>
              <a:rPr lang="en-US" dirty="0">
                <a:latin typeface="Courier New" panose="02070309020205020404" pitchFamily="49" charset="0"/>
              </a:rPr>
              <a:t>length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width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 and display </a:t>
            </a:r>
            <a:r>
              <a:rPr lang="en-US" b="1" dirty="0"/>
              <a:t>area</a:t>
            </a:r>
          </a:p>
          <a:p>
            <a:pPr>
              <a:buNone/>
            </a:pPr>
            <a:r>
              <a:rPr lang="en-US" b="1" dirty="0"/>
              <a:t>3.</a:t>
            </a:r>
            <a:r>
              <a:rPr lang="en-US" dirty="0"/>
              <a:t>Create a class </a:t>
            </a:r>
            <a:r>
              <a:rPr lang="en-US" dirty="0">
                <a:latin typeface="Courier New" panose="02070309020205020404" pitchFamily="49" charset="0"/>
              </a:rPr>
              <a:t>Employee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Data: </a:t>
            </a:r>
            <a:r>
              <a:rPr lang="en-US" dirty="0">
                <a:latin typeface="Courier New" panose="02070309020205020404" pitchFamily="49" charset="0"/>
              </a:rPr>
              <a:t>name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salary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b="1" dirty="0"/>
              <a:t>constructor overloading</a:t>
            </a:r>
            <a:r>
              <a:rPr lang="en-US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default constructor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constructor with name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constructor with name and salary </a:t>
            </a:r>
          </a:p>
          <a:p>
            <a:pPr>
              <a:buNone/>
            </a:pPr>
            <a:r>
              <a:rPr lang="en-US" dirty="0"/>
              <a:t> Display employee details for each case.</a:t>
            </a:r>
          </a:p>
          <a:p>
            <a:pPr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81054-D6FA-1E10-5194-3A8F8CAF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1586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4E817-14AE-B93F-C114-DE0A8698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AB33B-33E7-39F6-3218-481C11DE7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4. Create a class </a:t>
            </a:r>
            <a:r>
              <a:rPr lang="en-US" dirty="0">
                <a:latin typeface="Courier New" panose="02070309020205020404" pitchFamily="49" charset="0"/>
              </a:rPr>
              <a:t>Book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Data: </a:t>
            </a:r>
            <a:r>
              <a:rPr lang="en-US" dirty="0">
                <a:latin typeface="Courier New" panose="02070309020205020404" pitchFamily="49" charset="0"/>
              </a:rPr>
              <a:t>title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price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a </a:t>
            </a:r>
            <a:r>
              <a:rPr lang="en-US" b="1" dirty="0"/>
              <a:t>copy constructor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Copy one object into another and display both </a:t>
            </a:r>
          </a:p>
          <a:p>
            <a:pPr>
              <a:buNone/>
            </a:pPr>
            <a:r>
              <a:rPr lang="en-US" i="1" dirty="0"/>
              <a:t>Question:</a:t>
            </a:r>
            <a:r>
              <a:rPr lang="en-US" dirty="0"/>
              <a:t> What happens if copy constructor is not defined?</a:t>
            </a:r>
          </a:p>
          <a:p>
            <a:pPr>
              <a:buNone/>
            </a:pPr>
            <a:r>
              <a:rPr lang="en-US" dirty="0"/>
              <a:t>5. Create a class </a:t>
            </a:r>
            <a:r>
              <a:rPr lang="en-US" dirty="0" err="1">
                <a:latin typeface="Courier New" panose="02070309020205020404" pitchFamily="49" charset="0"/>
              </a:rPr>
              <a:t>BankAccount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Data: </a:t>
            </a:r>
            <a:r>
              <a:rPr lang="en-US" dirty="0" err="1">
                <a:latin typeface="Courier New" panose="02070309020205020404" pitchFamily="49" charset="0"/>
              </a:rPr>
              <a:t>accountNumber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balance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Constructor initializes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Destructor displays message: </a:t>
            </a:r>
            <a:r>
              <a:rPr lang="en-US" dirty="0">
                <a:latin typeface="Courier New" panose="02070309020205020404" pitchFamily="49" charset="0"/>
              </a:rPr>
              <a:t>"Account closed"</a:t>
            </a: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Create multiple objects and observe destructor calls.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89982-7E5E-3DD2-7952-A945DE31E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468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39A55-61F2-9184-C173-BD73F0115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935702" cy="829456"/>
          </a:xfrm>
        </p:spPr>
        <p:txBody>
          <a:bodyPr/>
          <a:lstStyle/>
          <a:p>
            <a:pPr algn="r"/>
            <a:r>
              <a:rPr lang="en-US" dirty="0"/>
              <a:t>Importance of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03152D-431A-DA86-272D-1EB1775A2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1. Automatic Initialization</a:t>
            </a:r>
          </a:p>
          <a:p>
            <a:r>
              <a:rPr lang="en-US" sz="2400" dirty="0"/>
              <a:t>2. Ensures Object Consistency</a:t>
            </a:r>
          </a:p>
          <a:p>
            <a:r>
              <a:rPr lang="en-US" sz="2400" dirty="0"/>
              <a:t>3. Code Reusability and Clean Design</a:t>
            </a:r>
          </a:p>
          <a:p>
            <a:r>
              <a:rPr lang="en-US" sz="2400" dirty="0"/>
              <a:t>4. Supports Multiple Ways of Object Creation (Overloading)</a:t>
            </a:r>
          </a:p>
          <a:p>
            <a:r>
              <a:rPr lang="en-US" sz="2400" dirty="0"/>
              <a:t>5. Helps in Resource Allocation</a:t>
            </a:r>
          </a:p>
          <a:p>
            <a:r>
              <a:rPr lang="en-US" sz="2400" dirty="0"/>
              <a:t>6. Works with Destructor for Resource Management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F90EE9-F2B1-BAA8-6D2C-0E6AACC9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5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3EC55-AB35-3A11-BB55-0A22378E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649" y="2240280"/>
            <a:ext cx="7729728" cy="1188720"/>
          </a:xfrm>
        </p:spPr>
        <p:txBody>
          <a:bodyPr/>
          <a:lstStyle/>
          <a:p>
            <a:r>
              <a:rPr lang="en-US" dirty="0"/>
              <a:t>THANK YOU!!!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62BF9-5FE0-8BA5-6BE7-FB827BF42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AA45-098B-4F25-AB86-06DA2D1A561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1277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1148</TotalTime>
  <Words>1407</Words>
  <Application>Microsoft Office PowerPoint</Application>
  <PresentationFormat>Widescreen</PresentationFormat>
  <Paragraphs>236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MS Mincho</vt:lpstr>
      <vt:lpstr>Arial</vt:lpstr>
      <vt:lpstr>Calibri</vt:lpstr>
      <vt:lpstr>Courier New</vt:lpstr>
      <vt:lpstr>Times New Roman</vt:lpstr>
      <vt:lpstr>Trebuchet MS</vt:lpstr>
      <vt:lpstr>Wingdings 3</vt:lpstr>
      <vt:lpstr>Facet</vt:lpstr>
      <vt:lpstr>Constructor &amp; destructor in c++</vt:lpstr>
      <vt:lpstr>What is a constructor? </vt:lpstr>
      <vt:lpstr>Example of Constructor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a copy constructor? </vt:lpstr>
      <vt:lpstr>PowerPoint Presentation</vt:lpstr>
      <vt:lpstr>Overloading constructors </vt:lpstr>
      <vt:lpstr>Overloading constructors (cont.)</vt:lpstr>
      <vt:lpstr>PowerPoint Presentation</vt:lpstr>
      <vt:lpstr>Example of constructor</vt:lpstr>
      <vt:lpstr>PowerPoint Presentation</vt:lpstr>
      <vt:lpstr>What is a destructor?</vt:lpstr>
      <vt:lpstr>Example of destructor </vt:lpstr>
      <vt:lpstr>PowerPoint Presentation</vt:lpstr>
      <vt:lpstr>PowerPoint Presentation</vt:lpstr>
      <vt:lpstr>Comments on destructors </vt:lpstr>
      <vt:lpstr>Tasks</vt:lpstr>
      <vt:lpstr>PowerPoint Presentation</vt:lpstr>
      <vt:lpstr>Importance of Constructor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of Structured Programming Language</dc:title>
  <dc:creator>Lenovo</dc:creator>
  <cp:lastModifiedBy>Mousumi Hasan Mukti</cp:lastModifiedBy>
  <cp:revision>49</cp:revision>
  <dcterms:created xsi:type="dcterms:W3CDTF">2023-04-30T15:39:25Z</dcterms:created>
  <dcterms:modified xsi:type="dcterms:W3CDTF">2026-04-27T06:29:33Z</dcterms:modified>
</cp:coreProperties>
</file>