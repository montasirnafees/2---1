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sldIdLst>
    <p:sldId id="263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5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303" r:id="rId25"/>
    <p:sldId id="306" r:id="rId26"/>
    <p:sldId id="273" r:id="rId27"/>
    <p:sldId id="274" r:id="rId28"/>
    <p:sldId id="307" r:id="rId29"/>
    <p:sldId id="308" r:id="rId30"/>
    <p:sldId id="275" r:id="rId31"/>
    <p:sldId id="290" r:id="rId32"/>
    <p:sldId id="289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4660"/>
  </p:normalViewPr>
  <p:slideViewPr>
    <p:cSldViewPr snapToGrid="0">
      <p:cViewPr varScale="1">
        <p:scale>
          <a:sx n="67" d="100"/>
          <a:sy n="67" d="100"/>
        </p:scale>
        <p:origin x="5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3A452-B961-4A54-B530-4E6671BD561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38D3-F6E1-417B-8A40-D62BBDD2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3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C85A0-BDF0-43DE-84B8-A00E743734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1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248F-29FC-47B1-BA71-36E3FE9B8B32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2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2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6BDC-08A3-4386-BDCF-B7E2239B2D4A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7F5E-0325-4CF2-A52D-E5D76A068EDF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2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12D1C-CE9E-4E16-B350-97D0E823F121}" type="datetime1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1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659A-B6AB-4FBC-9AD1-6FB0678898B7}" type="datetime1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53B74-C8AE-4543-99F7-30AACFAED325}" type="datetime1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4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871D-5DA4-4DCF-AF65-212F23F4BFED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3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D4A45-D1C0-4E5E-BE57-9765DCD4D490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49A8-9B8F-4B69-BCF1-361BF44FBA13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6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396FA-F610-4150-9D63-C46A2C3DFB0F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EFF80-BAB3-4094-96B5-DC8EBCD2E218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9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30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32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35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39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7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40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41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43.png"/><Relationship Id="rId4" Type="http://schemas.openxmlformats.org/officeDocument/2006/relationships/image" Target="../media/image4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44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7" Type="http://schemas.openxmlformats.org/officeDocument/2006/relationships/image" Target="../media/image4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47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50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51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57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59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61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63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64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66.jpg"/><Relationship Id="rId4" Type="http://schemas.openxmlformats.org/officeDocument/2006/relationships/image" Target="../media/image65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7" Type="http://schemas.openxmlformats.org/officeDocument/2006/relationships/image" Target="../media/image69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67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71.jpg"/><Relationship Id="rId4" Type="http://schemas.openxmlformats.org/officeDocument/2006/relationships/image" Target="../media/image70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7" Type="http://schemas.openxmlformats.org/officeDocument/2006/relationships/image" Target="../media/image71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72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7" Type="http://schemas.openxmlformats.org/officeDocument/2006/relationships/image" Target="../media/image76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74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78.jpg"/><Relationship Id="rId4" Type="http://schemas.openxmlformats.org/officeDocument/2006/relationships/image" Target="../media/image77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7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6FE11E-7142-4712-A99F-88582EB9D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CAA981-2C11-4FB4-A6A2-67F4E9474D86}"/>
              </a:ext>
            </a:extLst>
          </p:cNvPr>
          <p:cNvSpPr txBox="1">
            <a:spLocks/>
          </p:cNvSpPr>
          <p:nvPr/>
        </p:nvSpPr>
        <p:spPr>
          <a:xfrm>
            <a:off x="1625886" y="227599"/>
            <a:ext cx="9125163" cy="1296402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Course Code: MATH 211</a:t>
            </a:r>
          </a:p>
          <a:p>
            <a:pPr algn="ctr"/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MATH III</a:t>
            </a:r>
            <a:endParaRPr lang="en-US" sz="33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1,2 (Complex Number System)</a:t>
            </a:r>
            <a:endParaRPr lang="en-US" sz="3300" b="1" dirty="0">
              <a:solidFill>
                <a:srgbClr val="92D050"/>
              </a:solidFill>
              <a:latin typeface="Sitka Banner" panose="02000505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7341F-0D3F-4D32-8F16-2599205E8FDD}"/>
              </a:ext>
            </a:extLst>
          </p:cNvPr>
          <p:cNvSpPr txBox="1"/>
          <p:nvPr/>
        </p:nvSpPr>
        <p:spPr>
          <a:xfrm>
            <a:off x="6877050" y="3976312"/>
            <a:ext cx="5115889" cy="28069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Tazin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Tamanna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Lecturer in Mathematics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Science and Humanities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M.Sc. in Applied Mathematics (KU)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B.Sc. in Mathematics (KU)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4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86C30-6CBF-4274-B76A-6EEC1F2FD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879809-8886-4F47-BB0B-07A2B7BE6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</a:t>
            </a:fld>
            <a:endParaRPr lang="en-US"/>
          </a:p>
        </p:txBody>
      </p:sp>
      <p:pic>
        <p:nvPicPr>
          <p:cNvPr id="23554" name="Picture 2" descr="Number Sets Venn Diagram">
            <a:extLst>
              <a:ext uri="{FF2B5EF4-FFF2-40B4-BE49-F238E27FC236}">
                <a16:creationId xmlns:a16="http://schemas.microsoft.com/office/drawing/2014/main" id="{214F1E81-07DC-4CDE-83BD-4B46FB003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88900"/>
            <a:ext cx="5781675" cy="4194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13C617F-6B59-4F5B-9D42-DC27D2B4C7E3}"/>
              </a:ext>
            </a:extLst>
          </p:cNvPr>
          <p:cNvSpPr/>
          <p:nvPr/>
        </p:nvSpPr>
        <p:spPr>
          <a:xfrm>
            <a:off x="6519862" y="2370245"/>
            <a:ext cx="4857750" cy="609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The Complex Number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332EE5-430F-4F32-91F6-AA486A4FC2EB}"/>
              </a:ext>
            </a:extLst>
          </p:cNvPr>
          <p:cNvSpPr/>
          <p:nvPr/>
        </p:nvSpPr>
        <p:spPr>
          <a:xfrm>
            <a:off x="6096000" y="752475"/>
            <a:ext cx="847725" cy="31432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C2B76B-F884-48E9-8077-20F1287F2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3291"/>
            <a:ext cx="12192000" cy="248580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311AADF-FEEB-4D26-91A9-91CFFAF9949A}"/>
              </a:ext>
            </a:extLst>
          </p:cNvPr>
          <p:cNvSpPr/>
          <p:nvPr/>
        </p:nvSpPr>
        <p:spPr>
          <a:xfrm>
            <a:off x="5295900" y="136525"/>
            <a:ext cx="571500" cy="2444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90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78DCB-75FD-43A6-8051-F2B5C15A3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F3826-0826-408F-BFD5-7A67F2A70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F4EE30-4F98-44F1-BF68-6E8F6E24CA88}"/>
              </a:ext>
            </a:extLst>
          </p:cNvPr>
          <p:cNvSpPr/>
          <p:nvPr/>
        </p:nvSpPr>
        <p:spPr>
          <a:xfrm>
            <a:off x="2828925" y="114300"/>
            <a:ext cx="6543675" cy="5016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Fundamental Operations with Complex Numbers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E80062-9A72-4522-AFE9-D76E73209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2474"/>
            <a:ext cx="11620745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168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1F612-3634-4DFC-90E2-4A0A3949F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787775-6413-409E-86CB-325BCDFF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B93D5-9FAD-40B4-9F80-7FC5FD7BF868}"/>
              </a:ext>
            </a:extLst>
          </p:cNvPr>
          <p:cNvSpPr/>
          <p:nvPr/>
        </p:nvSpPr>
        <p:spPr>
          <a:xfrm>
            <a:off x="123825" y="438150"/>
            <a:ext cx="2962275" cy="47942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Absolute Value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FA0AD8-05E1-4086-A134-F431BD5758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160"/>
          <a:stretch/>
        </p:blipFill>
        <p:spPr>
          <a:xfrm>
            <a:off x="0" y="1114424"/>
            <a:ext cx="12192000" cy="387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588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A23ED-3581-422B-A19F-7413103BC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42BF0-9603-40DF-B969-23DC41AB1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8C898C-0174-457A-8E99-37959D57550D}"/>
              </a:ext>
            </a:extLst>
          </p:cNvPr>
          <p:cNvSpPr/>
          <p:nvPr/>
        </p:nvSpPr>
        <p:spPr>
          <a:xfrm>
            <a:off x="-1" y="117475"/>
            <a:ext cx="6657975" cy="47942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Graphical Representation of Complex Numbers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7AB6DE-AECB-4214-90E9-885B00F54A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626" y="833755"/>
            <a:ext cx="12124373" cy="13474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B71CCE-A2CA-4E0E-B379-691136FAD2C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79069" y="2386330"/>
            <a:ext cx="11833862" cy="9347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28E7A6C-6131-478B-A6A7-52250FD9574F}"/>
              </a:ext>
            </a:extLst>
          </p:cNvPr>
          <p:cNvSpPr/>
          <p:nvPr/>
        </p:nvSpPr>
        <p:spPr>
          <a:xfrm>
            <a:off x="67626" y="2562225"/>
            <a:ext cx="2285049" cy="2952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139FF3-C370-4AD1-97C9-F8EF63F758B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793172" y="3321050"/>
            <a:ext cx="5179378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051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E5A09-4261-4040-91D6-DDF7A8BB6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59AF7-7C6F-410F-91B4-8A7DBF80E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636E06-757F-42E4-8E04-AC500AC79212}"/>
              </a:ext>
            </a:extLst>
          </p:cNvPr>
          <p:cNvSpPr/>
          <p:nvPr/>
        </p:nvSpPr>
        <p:spPr>
          <a:xfrm>
            <a:off x="-1" y="98425"/>
            <a:ext cx="5314951" cy="45402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Polar form of Complex Numbers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01F9DB-A08E-417D-874C-521F82686FF3}"/>
              </a:ext>
            </a:extLst>
          </p:cNvPr>
          <p:cNvPicPr/>
          <p:nvPr/>
        </p:nvPicPr>
        <p:blipFill rotWithShape="1">
          <a:blip r:embed="rId2"/>
          <a:srcRect t="7394"/>
          <a:stretch/>
        </p:blipFill>
        <p:spPr>
          <a:xfrm>
            <a:off x="0" y="634999"/>
            <a:ext cx="12095798" cy="45275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E53369-F959-468F-B27F-D3827A11B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99847"/>
            <a:ext cx="12192000" cy="112162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24925F-9673-45C3-BEBC-C22F098FBFBB}"/>
              </a:ext>
            </a:extLst>
          </p:cNvPr>
          <p:cNvSpPr/>
          <p:nvPr/>
        </p:nvSpPr>
        <p:spPr>
          <a:xfrm flipV="1">
            <a:off x="1" y="5599847"/>
            <a:ext cx="12095798" cy="112162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439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0AA1C-36DC-4B62-8F42-257DBFD16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CF329-5EF9-4C90-80BD-3555C95ED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77D73D-49E7-4CB7-8311-4FC23DD4D8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730942" y="0"/>
            <a:ext cx="4955858" cy="3429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D730F24-E9C7-4115-9475-8789283C6590}"/>
              </a:ext>
            </a:extLst>
          </p:cNvPr>
          <p:cNvSpPr/>
          <p:nvPr/>
        </p:nvSpPr>
        <p:spPr>
          <a:xfrm>
            <a:off x="1" y="3270250"/>
            <a:ext cx="3581400" cy="45402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De </a:t>
            </a:r>
            <a:r>
              <a:rPr lang="en-US" dirty="0" err="1">
                <a:solidFill>
                  <a:schemeClr val="tx1"/>
                </a:solidFill>
                <a:latin typeface="Arial Black" panose="020B0A04020102020204" pitchFamily="34" charset="0"/>
              </a:rPr>
              <a:t>Moivre’s</a:t>
            </a:r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 Theorem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6D71438-0016-41FE-9965-BD92EDC39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942" y="3274755"/>
            <a:ext cx="551497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z is a complex number in polar form: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4577" name="Picture 13">
            <a:extLst>
              <a:ext uri="{FF2B5EF4-FFF2-40B4-BE49-F238E27FC236}">
                <a16:creationId xmlns:a16="http://schemas.microsoft.com/office/drawing/2014/main" id="{2A30E8CF-97A5-4505-B25D-54CF15EB1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3811589"/>
            <a:ext cx="3457575" cy="5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3C743D-3D78-4A33-9A7D-F6178212B84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405378" y="4396008"/>
            <a:ext cx="7767321" cy="12237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618F10-0D0F-4CCA-8373-E78C2C08098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2645093" y="5829300"/>
            <a:ext cx="6384608" cy="46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78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03391-36BF-4872-8498-043B72EEE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8CC85-9B41-4663-BCB8-D3880BF57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14C8F3-3A00-443C-B2CC-D2DDE2A72F44}"/>
              </a:ext>
            </a:extLst>
          </p:cNvPr>
          <p:cNvSpPr/>
          <p:nvPr/>
        </p:nvSpPr>
        <p:spPr>
          <a:xfrm>
            <a:off x="0" y="-9525"/>
            <a:ext cx="4914900" cy="45402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Roots of Complex Numbers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67F677-FF82-49B5-B241-03E6F65FE41D}"/>
              </a:ext>
            </a:extLst>
          </p:cNvPr>
          <p:cNvPicPr/>
          <p:nvPr/>
        </p:nvPicPr>
        <p:blipFill rotWithShape="1">
          <a:blip r:embed="rId2"/>
          <a:srcRect t="9694"/>
          <a:stretch/>
        </p:blipFill>
        <p:spPr>
          <a:xfrm>
            <a:off x="0" y="509586"/>
            <a:ext cx="12192000" cy="308133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F563B0-B4A5-4AB9-88D2-B52DDADA59EB}"/>
              </a:ext>
            </a:extLst>
          </p:cNvPr>
          <p:cNvSpPr/>
          <p:nvPr/>
        </p:nvSpPr>
        <p:spPr>
          <a:xfrm>
            <a:off x="0" y="3676072"/>
            <a:ext cx="3333750" cy="45402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Euler’s Formula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CCDEB9-0FD6-423A-B86A-1D1EBF4B0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3941"/>
            <a:ext cx="12192000" cy="16691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B7DE8B9-4A08-424A-8A0A-51489E839BA4}"/>
              </a:ext>
            </a:extLst>
          </p:cNvPr>
          <p:cNvSpPr/>
          <p:nvPr/>
        </p:nvSpPr>
        <p:spPr>
          <a:xfrm>
            <a:off x="11496675" y="2045492"/>
            <a:ext cx="695325" cy="52625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E62C80-55DD-419E-8EE1-C39BB7F69D38}"/>
              </a:ext>
            </a:extLst>
          </p:cNvPr>
          <p:cNvSpPr/>
          <p:nvPr/>
        </p:nvSpPr>
        <p:spPr>
          <a:xfrm>
            <a:off x="11496675" y="5419725"/>
            <a:ext cx="628650" cy="54292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53290F-08CA-427F-A6BA-EE17CA029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6107833"/>
            <a:ext cx="39243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477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F34C7-951F-4BA0-BBA9-9EE808856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C9107-0B4A-4CC5-A543-A9CA23809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9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5B8099-DA36-430F-ADFE-986DF73C1DC6}"/>
              </a:ext>
            </a:extLst>
          </p:cNvPr>
          <p:cNvSpPr/>
          <p:nvPr/>
        </p:nvSpPr>
        <p:spPr>
          <a:xfrm>
            <a:off x="0" y="0"/>
            <a:ext cx="3333750" cy="53554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The nth Roots of Unity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63B39D-64EC-4044-9511-66A957582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6972"/>
            <a:ext cx="12192000" cy="231242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3C99CA-6557-4EF4-868E-DBC1850BA710}"/>
              </a:ext>
            </a:extLst>
          </p:cNvPr>
          <p:cNvSpPr/>
          <p:nvPr/>
        </p:nvSpPr>
        <p:spPr>
          <a:xfrm>
            <a:off x="11163300" y="2133600"/>
            <a:ext cx="847725" cy="4381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5250CD-50CB-49DD-834B-E7A7034D4B40}"/>
              </a:ext>
            </a:extLst>
          </p:cNvPr>
          <p:cNvSpPr/>
          <p:nvPr/>
        </p:nvSpPr>
        <p:spPr>
          <a:xfrm>
            <a:off x="2419350" y="2847974"/>
            <a:ext cx="6553200" cy="53554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Fundamental Operations with Complex Numbers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C5796A-BBB7-4E94-84CF-597E38594CC5}"/>
              </a:ext>
            </a:extLst>
          </p:cNvPr>
          <p:cNvPicPr/>
          <p:nvPr/>
        </p:nvPicPr>
        <p:blipFill rotWithShape="1">
          <a:blip r:embed="rId3"/>
          <a:srcRect t="22187"/>
          <a:stretch/>
        </p:blipFill>
        <p:spPr>
          <a:xfrm>
            <a:off x="288607" y="3450348"/>
            <a:ext cx="7731443" cy="20932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34F850-92A5-4058-9728-64A4BA75E13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67752" y="5543551"/>
            <a:ext cx="9724073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105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36B05-64B2-43C8-BA6E-E205DE671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63D3EA-2E83-475D-8563-8F5524AD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B86E8C-554E-4E8D-AC42-DD5BBB49C21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5726" y="-19050"/>
            <a:ext cx="12086273" cy="522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94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B40C3-1DB0-45E3-8506-A249578DC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D306B5-A86F-4B3B-A3A1-8ACD3B19A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80ECDC-5263-49E5-BDA6-23055BE84A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36525"/>
            <a:ext cx="11972925" cy="48736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77E62B9-6389-4A7C-AE33-CB2BC1C20884}"/>
              </a:ext>
            </a:extLst>
          </p:cNvPr>
          <p:cNvSpPr/>
          <p:nvPr/>
        </p:nvSpPr>
        <p:spPr>
          <a:xfrm>
            <a:off x="390524" y="136525"/>
            <a:ext cx="5381625" cy="53554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Argument of Complex Number</a:t>
            </a:r>
          </a:p>
        </p:txBody>
      </p:sp>
    </p:spTree>
    <p:extLst>
      <p:ext uri="{BB962C8B-B14F-4D97-AF65-F5344CB8AC3E}">
        <p14:creationId xmlns:p14="http://schemas.microsoft.com/office/powerpoint/2010/main" val="3434308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8F1F8-01EA-48EF-ACB8-9D55E9540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A2BADA-7D97-49DF-84F5-2A08F003C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B55963-F182-4522-9BD1-90BBD44228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96725" cy="44904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70CBC9-B1E1-42BE-AC09-DD5BA481348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62902" y="4490402"/>
            <a:ext cx="10181273" cy="236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89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D0E91-E618-47CD-8D23-28DD5CE7A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A7D80-519F-498C-9EEC-056ADBBAF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D05428-4373-42A2-87F2-474ED048BF3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8588" y="0"/>
            <a:ext cx="11914823" cy="3114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E926FC-1018-4F6D-80F7-9BBCC2A1189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20662" y="3362325"/>
            <a:ext cx="11237913" cy="343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05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BFB4-36F4-42D3-AF21-5334DDE78039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14</a:t>
            </a:fld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F366F0-A5E9-4EDE-B1CB-F7115DED7207}"/>
              </a:ext>
            </a:extLst>
          </p:cNvPr>
          <p:cNvCxnSpPr/>
          <p:nvPr/>
        </p:nvCxnSpPr>
        <p:spPr>
          <a:xfrm flipV="1">
            <a:off x="3354388" y="1146384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F1C6A5-2A6B-4AF7-9A72-D13F3EA231C1}"/>
              </a:ext>
            </a:extLst>
          </p:cNvPr>
          <p:cNvCxnSpPr>
            <a:cxnSpLocks/>
          </p:cNvCxnSpPr>
          <p:nvPr/>
        </p:nvCxnSpPr>
        <p:spPr>
          <a:xfrm rot="1500000" flipV="1">
            <a:off x="3796243" y="1500740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395B9AF-86E0-47B9-BFC0-B30BF700F13D}"/>
              </a:ext>
            </a:extLst>
          </p:cNvPr>
          <p:cNvCxnSpPr>
            <a:cxnSpLocks/>
          </p:cNvCxnSpPr>
          <p:nvPr/>
        </p:nvCxnSpPr>
        <p:spPr>
          <a:xfrm rot="3000000" flipV="1">
            <a:off x="4081493" y="1986460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4FCD74-D5FF-4633-96B8-977E2FD79C0C}"/>
              </a:ext>
            </a:extLst>
          </p:cNvPr>
          <p:cNvCxnSpPr>
            <a:cxnSpLocks/>
          </p:cNvCxnSpPr>
          <p:nvPr/>
        </p:nvCxnSpPr>
        <p:spPr>
          <a:xfrm rot="4500000" flipV="1">
            <a:off x="4010555" y="2563108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B8166C-8AB1-446E-9535-B7BE4A21D392}"/>
              </a:ext>
            </a:extLst>
          </p:cNvPr>
          <p:cNvCxnSpPr>
            <a:cxnSpLocks/>
          </p:cNvCxnSpPr>
          <p:nvPr/>
        </p:nvCxnSpPr>
        <p:spPr>
          <a:xfrm rot="6000000" flipV="1">
            <a:off x="3763647" y="3064504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1271C1-66B9-4E71-B75B-7E551BF724C9}"/>
              </a:ext>
            </a:extLst>
          </p:cNvPr>
          <p:cNvCxnSpPr>
            <a:cxnSpLocks/>
          </p:cNvCxnSpPr>
          <p:nvPr/>
        </p:nvCxnSpPr>
        <p:spPr>
          <a:xfrm rot="7500000" flipV="1">
            <a:off x="3363390" y="3438836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9761C896-8C21-4ED1-BB97-9CE7B8F7807A}"/>
              </a:ext>
            </a:extLst>
          </p:cNvPr>
          <p:cNvSpPr/>
          <p:nvPr/>
        </p:nvSpPr>
        <p:spPr>
          <a:xfrm>
            <a:off x="1378648" y="1810555"/>
            <a:ext cx="3594186" cy="323689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1270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artial Circle 36">
            <a:extLst>
              <a:ext uri="{FF2B5EF4-FFF2-40B4-BE49-F238E27FC236}">
                <a16:creationId xmlns:a16="http://schemas.microsoft.com/office/drawing/2014/main" id="{9CAE3C71-FD49-41D5-B6EA-CBAD23D6965C}"/>
              </a:ext>
            </a:extLst>
          </p:cNvPr>
          <p:cNvSpPr/>
          <p:nvPr/>
        </p:nvSpPr>
        <p:spPr>
          <a:xfrm rot="19555283">
            <a:off x="1746140" y="1813910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BD25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Partial Circle 37">
            <a:extLst>
              <a:ext uri="{FF2B5EF4-FFF2-40B4-BE49-F238E27FC236}">
                <a16:creationId xmlns:a16="http://schemas.microsoft.com/office/drawing/2014/main" id="{E295E4FA-BAC9-4F12-A985-C42949E2D293}"/>
              </a:ext>
            </a:extLst>
          </p:cNvPr>
          <p:cNvSpPr/>
          <p:nvPr/>
        </p:nvSpPr>
        <p:spPr>
          <a:xfrm rot="18043804">
            <a:off x="1746140" y="1813908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E7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Partial Circle 38">
            <a:extLst>
              <a:ext uri="{FF2B5EF4-FFF2-40B4-BE49-F238E27FC236}">
                <a16:creationId xmlns:a16="http://schemas.microsoft.com/office/drawing/2014/main" id="{37303FED-7F4E-4FF8-A128-0E9253D9BD70}"/>
              </a:ext>
            </a:extLst>
          </p:cNvPr>
          <p:cNvSpPr/>
          <p:nvPr/>
        </p:nvSpPr>
        <p:spPr>
          <a:xfrm rot="16545779">
            <a:off x="1744170" y="1804662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FED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Partial Circle 39">
            <a:extLst>
              <a:ext uri="{FF2B5EF4-FFF2-40B4-BE49-F238E27FC236}">
                <a16:creationId xmlns:a16="http://schemas.microsoft.com/office/drawing/2014/main" id="{42CEEFF0-FB42-4455-9D72-95B33BE199ED}"/>
              </a:ext>
            </a:extLst>
          </p:cNvPr>
          <p:cNvSpPr/>
          <p:nvPr/>
        </p:nvSpPr>
        <p:spPr>
          <a:xfrm rot="21045553">
            <a:off x="1746141" y="1813914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593F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Partial Circle 40">
            <a:extLst>
              <a:ext uri="{FF2B5EF4-FFF2-40B4-BE49-F238E27FC236}">
                <a16:creationId xmlns:a16="http://schemas.microsoft.com/office/drawing/2014/main" id="{B3F14FA2-C024-46F5-9D40-8746FB62EA3E}"/>
              </a:ext>
            </a:extLst>
          </p:cNvPr>
          <p:cNvSpPr/>
          <p:nvPr/>
        </p:nvSpPr>
        <p:spPr>
          <a:xfrm rot="984140">
            <a:off x="1746143" y="1804662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00A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Partial Circle 41">
            <a:extLst>
              <a:ext uri="{FF2B5EF4-FFF2-40B4-BE49-F238E27FC236}">
                <a16:creationId xmlns:a16="http://schemas.microsoft.com/office/drawing/2014/main" id="{B05F4231-267C-4E8C-A052-DF77E9934B37}"/>
              </a:ext>
            </a:extLst>
          </p:cNvPr>
          <p:cNvSpPr/>
          <p:nvPr/>
        </p:nvSpPr>
        <p:spPr>
          <a:xfrm rot="2487498">
            <a:off x="1751999" y="1811012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74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C25BC93-0BD9-4D91-B885-6FAEF5AC44B5}"/>
              </a:ext>
            </a:extLst>
          </p:cNvPr>
          <p:cNvSpPr/>
          <p:nvPr/>
        </p:nvSpPr>
        <p:spPr>
          <a:xfrm>
            <a:off x="1815987" y="2450203"/>
            <a:ext cx="2528888" cy="1953985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190500" dist="1270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5546733-B29D-4688-A34F-49A40200489B}"/>
              </a:ext>
            </a:extLst>
          </p:cNvPr>
          <p:cNvSpPr/>
          <p:nvPr/>
        </p:nvSpPr>
        <p:spPr>
          <a:xfrm>
            <a:off x="1887666" y="2654300"/>
            <a:ext cx="2241423" cy="1561762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A3A2AF-9A67-471F-8C92-3A7E9F9A5608}"/>
              </a:ext>
            </a:extLst>
          </p:cNvPr>
          <p:cNvSpPr txBox="1"/>
          <p:nvPr/>
        </p:nvSpPr>
        <p:spPr>
          <a:xfrm>
            <a:off x="1804446" y="3089612"/>
            <a:ext cx="25789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spc="600" dirty="0">
                <a:solidFill>
                  <a:srgbClr val="0070C0"/>
                </a:solidFill>
                <a:effectLst>
                  <a:outerShdw blurRad="101600" dist="63500" dir="2700000" algn="tl" rotWithShape="0">
                    <a:prstClr val="black">
                      <a:alpha val="41000"/>
                    </a:prstClr>
                  </a:outerShdw>
                </a:effectLst>
                <a:latin typeface="Bebas Neue Bold" panose="020B0606020202050201" pitchFamily="34" charset="0"/>
              </a:rPr>
              <a:t>Mathematical Problem</a:t>
            </a:r>
          </a:p>
        </p:txBody>
      </p:sp>
      <p:sp>
        <p:nvSpPr>
          <p:cNvPr id="25" name="Rectangle: Rounded Corners 51">
            <a:extLst>
              <a:ext uri="{FF2B5EF4-FFF2-40B4-BE49-F238E27FC236}">
                <a16:creationId xmlns:a16="http://schemas.microsoft.com/office/drawing/2014/main" id="{B6F9C562-F044-4D2C-8442-795242DE5529}"/>
              </a:ext>
            </a:extLst>
          </p:cNvPr>
          <p:cNvSpPr/>
          <p:nvPr/>
        </p:nvSpPr>
        <p:spPr>
          <a:xfrm>
            <a:off x="4627654" y="467037"/>
            <a:ext cx="5811746" cy="78029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AD646A2-136F-4859-9097-5F282A5C4117}"/>
              </a:ext>
            </a:extLst>
          </p:cNvPr>
          <p:cNvSpPr/>
          <p:nvPr/>
        </p:nvSpPr>
        <p:spPr>
          <a:xfrm>
            <a:off x="4680019" y="514283"/>
            <a:ext cx="685800" cy="6858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7FB0C9-3128-4E36-8282-B7D855615DC8}"/>
              </a:ext>
            </a:extLst>
          </p:cNvPr>
          <p:cNvSpPr txBox="1"/>
          <p:nvPr/>
        </p:nvSpPr>
        <p:spPr>
          <a:xfrm>
            <a:off x="4804894" y="621360"/>
            <a:ext cx="338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101600" dist="63500" dir="2700000" algn="tl" rotWithShape="0">
                    <a:prstClr val="black">
                      <a:alpha val="41000"/>
                    </a:prstClr>
                  </a:outerShdw>
                </a:effectLst>
                <a:latin typeface="Eurostile BQ" pitchFamily="50" charset="0"/>
              </a:rPr>
              <a:t>1</a:t>
            </a:r>
          </a:p>
        </p:txBody>
      </p:sp>
      <p:sp>
        <p:nvSpPr>
          <p:cNvPr id="35" name="Rectangle: Rounded Corners 52">
            <a:extLst>
              <a:ext uri="{FF2B5EF4-FFF2-40B4-BE49-F238E27FC236}">
                <a16:creationId xmlns:a16="http://schemas.microsoft.com/office/drawing/2014/main" id="{AAD1D8CE-23CA-4164-8BCF-1775C2CD4953}"/>
              </a:ext>
            </a:extLst>
          </p:cNvPr>
          <p:cNvSpPr/>
          <p:nvPr/>
        </p:nvSpPr>
        <p:spPr>
          <a:xfrm>
            <a:off x="5456540" y="1516407"/>
            <a:ext cx="5135260" cy="78029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Polar form Express</a:t>
            </a:r>
            <a:endParaRPr lang="en-US" sz="24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84B8AFC-EEA7-42C3-8AAD-057B4DE359AA}"/>
              </a:ext>
            </a:extLst>
          </p:cNvPr>
          <p:cNvSpPr/>
          <p:nvPr/>
        </p:nvSpPr>
        <p:spPr>
          <a:xfrm>
            <a:off x="5518307" y="1563472"/>
            <a:ext cx="685800" cy="6858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381830-6816-42CF-B9F1-848EE29C6252}"/>
              </a:ext>
            </a:extLst>
          </p:cNvPr>
          <p:cNvSpPr txBox="1"/>
          <p:nvPr/>
        </p:nvSpPr>
        <p:spPr>
          <a:xfrm>
            <a:off x="5666331" y="1686643"/>
            <a:ext cx="338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101600" dist="63500" dir="2700000" algn="tl" rotWithShape="0">
                    <a:prstClr val="black">
                      <a:alpha val="41000"/>
                    </a:prstClr>
                  </a:outerShdw>
                </a:effectLst>
                <a:latin typeface="Eurostile BQ" pitchFamily="50" charset="0"/>
              </a:rPr>
              <a:t>2</a:t>
            </a:r>
          </a:p>
        </p:txBody>
      </p:sp>
      <p:sp>
        <p:nvSpPr>
          <p:cNvPr id="40" name="Rectangle: Rounded Corners 55">
            <a:extLst>
              <a:ext uri="{FF2B5EF4-FFF2-40B4-BE49-F238E27FC236}">
                <a16:creationId xmlns:a16="http://schemas.microsoft.com/office/drawing/2014/main" id="{CEB31C13-FE45-402C-8A4F-B67597F78EE4}"/>
              </a:ext>
            </a:extLst>
          </p:cNvPr>
          <p:cNvSpPr/>
          <p:nvPr/>
        </p:nvSpPr>
        <p:spPr>
          <a:xfrm>
            <a:off x="5539183" y="4932801"/>
            <a:ext cx="5921284" cy="780295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region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49B34C4-FCD2-47E6-9B5C-D6BDDE3215CA}"/>
              </a:ext>
            </a:extLst>
          </p:cNvPr>
          <p:cNvSpPr/>
          <p:nvPr/>
        </p:nvSpPr>
        <p:spPr>
          <a:xfrm>
            <a:off x="5583035" y="4971350"/>
            <a:ext cx="685800" cy="6858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98EBBC-DC0C-4DDB-9F1A-27A1323BA208}"/>
              </a:ext>
            </a:extLst>
          </p:cNvPr>
          <p:cNvSpPr txBox="1"/>
          <p:nvPr/>
        </p:nvSpPr>
        <p:spPr>
          <a:xfrm>
            <a:off x="5745882" y="5051241"/>
            <a:ext cx="338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101600" dist="63500" dir="2700000" algn="tl" rotWithShape="0">
                    <a:prstClr val="black">
                      <a:alpha val="41000"/>
                    </a:prstClr>
                  </a:outerShdw>
                </a:effectLst>
                <a:latin typeface="Eurostile BQ" pitchFamily="50" charset="0"/>
              </a:rPr>
              <a:t>5</a:t>
            </a:r>
          </a:p>
        </p:txBody>
      </p:sp>
      <p:sp>
        <p:nvSpPr>
          <p:cNvPr id="45" name="Rectangle: Rounded Corners 53">
            <a:extLst>
              <a:ext uri="{FF2B5EF4-FFF2-40B4-BE49-F238E27FC236}">
                <a16:creationId xmlns:a16="http://schemas.microsoft.com/office/drawing/2014/main" id="{AC5E14AE-6928-48A8-839E-EBCE00E18D23}"/>
              </a:ext>
            </a:extLst>
          </p:cNvPr>
          <p:cNvSpPr/>
          <p:nvPr/>
        </p:nvSpPr>
        <p:spPr>
          <a:xfrm>
            <a:off x="5989410" y="2564529"/>
            <a:ext cx="4449990" cy="78029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4FDBFDD-8340-4786-B5F5-3F23629DFC08}"/>
              </a:ext>
            </a:extLst>
          </p:cNvPr>
          <p:cNvSpPr/>
          <p:nvPr/>
        </p:nvSpPr>
        <p:spPr>
          <a:xfrm>
            <a:off x="6051265" y="2612661"/>
            <a:ext cx="685800" cy="6858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65916CE-AB2A-4543-AD58-8238CE7DFEFF}"/>
              </a:ext>
            </a:extLst>
          </p:cNvPr>
          <p:cNvSpPr txBox="1"/>
          <p:nvPr/>
        </p:nvSpPr>
        <p:spPr>
          <a:xfrm>
            <a:off x="6186988" y="2693951"/>
            <a:ext cx="338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101600" dist="63500" dir="2700000" algn="tl" rotWithShape="0">
                    <a:prstClr val="black">
                      <a:alpha val="41000"/>
                    </a:prstClr>
                  </a:outerShdw>
                </a:effectLst>
                <a:latin typeface="Eurostile BQ" pitchFamily="50" charset="0"/>
              </a:rPr>
              <a:t>3</a:t>
            </a:r>
          </a:p>
        </p:txBody>
      </p:sp>
      <p:sp>
        <p:nvSpPr>
          <p:cNvPr id="50" name="Rectangle: Rounded Corners 54">
            <a:extLst>
              <a:ext uri="{FF2B5EF4-FFF2-40B4-BE49-F238E27FC236}">
                <a16:creationId xmlns:a16="http://schemas.microsoft.com/office/drawing/2014/main" id="{49A8B012-1545-4436-8528-FBBF0EE522E0}"/>
              </a:ext>
            </a:extLst>
          </p:cNvPr>
          <p:cNvSpPr/>
          <p:nvPr/>
        </p:nvSpPr>
        <p:spPr>
          <a:xfrm>
            <a:off x="5989410" y="3614604"/>
            <a:ext cx="5364390" cy="780295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D79CBBB-135D-40C7-90C7-9E2A0EB63DA1}"/>
              </a:ext>
            </a:extLst>
          </p:cNvPr>
          <p:cNvSpPr/>
          <p:nvPr/>
        </p:nvSpPr>
        <p:spPr>
          <a:xfrm>
            <a:off x="6051265" y="3661850"/>
            <a:ext cx="685800" cy="6858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CC8FE8E-1548-41A5-9544-4944BD64E63A}"/>
              </a:ext>
            </a:extLst>
          </p:cNvPr>
          <p:cNvSpPr txBox="1"/>
          <p:nvPr/>
        </p:nvSpPr>
        <p:spPr>
          <a:xfrm>
            <a:off x="6189973" y="3738355"/>
            <a:ext cx="338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101600" dist="63500" dir="2700000" algn="tl" rotWithShape="0">
                    <a:prstClr val="black">
                      <a:alpha val="41000"/>
                    </a:prstClr>
                  </a:outerShdw>
                </a:effectLst>
                <a:latin typeface="Eurostile BQ" pitchFamily="50" charset="0"/>
              </a:rPr>
              <a:t>4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4024897" y="1066801"/>
            <a:ext cx="655122" cy="8281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4640455" y="2025113"/>
            <a:ext cx="808300" cy="43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cxnSpLocks/>
            <a:endCxn id="45" idx="1"/>
          </p:cNvCxnSpPr>
          <p:nvPr/>
        </p:nvCxnSpPr>
        <p:spPr>
          <a:xfrm flipV="1">
            <a:off x="4921304" y="2954677"/>
            <a:ext cx="1068106" cy="2770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cxnSpLocks/>
            <a:endCxn id="50" idx="1"/>
          </p:cNvCxnSpPr>
          <p:nvPr/>
        </p:nvCxnSpPr>
        <p:spPr>
          <a:xfrm>
            <a:off x="4896488" y="3800159"/>
            <a:ext cx="1092922" cy="2045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4641061" y="4509509"/>
            <a:ext cx="892433" cy="6634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31098" y="556020"/>
            <a:ext cx="4855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Modulus and Argument</a:t>
            </a:r>
            <a:endParaRPr lang="en-US" sz="24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162800" y="3797498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 Solutions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3AE1AE0-7595-452B-9C11-571552D753AA}"/>
              </a:ext>
            </a:extLst>
          </p:cNvPr>
          <p:cNvSpPr txBox="1"/>
          <p:nvPr/>
        </p:nvSpPr>
        <p:spPr>
          <a:xfrm>
            <a:off x="6771358" y="272028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Roots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7ED0340-3E56-4DD9-811C-E8012D72EA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9781451"/>
              </p:ext>
            </p:extLst>
          </p:nvPr>
        </p:nvGraphicFramePr>
        <p:xfrm>
          <a:off x="0" y="1128713"/>
          <a:ext cx="1030922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" name="Equation" r:id="rId3" imgW="4368600" imgH="393480" progId="Equation.DSMT4">
                  <p:embed/>
                </p:oleObj>
              </mc:Choice>
              <mc:Fallback>
                <p:oleObj name="Equation" r:id="rId3" imgW="43686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1128713"/>
                        <a:ext cx="10309225" cy="904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67899A1-BD46-450C-B93D-8203FC8FE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617286"/>
              </p:ext>
            </p:extLst>
          </p:nvPr>
        </p:nvGraphicFramePr>
        <p:xfrm>
          <a:off x="0" y="2033588"/>
          <a:ext cx="10309225" cy="468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" name="Equation" r:id="rId5" imgW="3657600" imgH="1803240" progId="Equation.DSMT4">
                  <p:embed/>
                </p:oleObj>
              </mc:Choice>
              <mc:Fallback>
                <p:oleObj name="Equation" r:id="rId5" imgW="3657600" imgH="1803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2033588"/>
                        <a:ext cx="10309225" cy="4687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E3065978-C194-4948-918A-07641141061B}"/>
              </a:ext>
            </a:extLst>
          </p:cNvPr>
          <p:cNvSpPr/>
          <p:nvPr/>
        </p:nvSpPr>
        <p:spPr>
          <a:xfrm>
            <a:off x="0" y="1"/>
            <a:ext cx="4514850" cy="1085850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Type-I: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Finding Modulus and Argument</a:t>
            </a:r>
          </a:p>
        </p:txBody>
      </p:sp>
    </p:spTree>
    <p:extLst>
      <p:ext uri="{BB962C8B-B14F-4D97-AF65-F5344CB8AC3E}">
        <p14:creationId xmlns:p14="http://schemas.microsoft.com/office/powerpoint/2010/main" val="3259842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E657BFC-BEB2-468E-BFC6-E0105BFEE8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92848"/>
              </p:ext>
            </p:extLst>
          </p:nvPr>
        </p:nvGraphicFramePr>
        <p:xfrm>
          <a:off x="234950" y="227012"/>
          <a:ext cx="9747250" cy="505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" name="Equation" r:id="rId3" imgW="3416040" imgH="2171520" progId="Equation.DSMT4">
                  <p:embed/>
                </p:oleObj>
              </mc:Choice>
              <mc:Fallback>
                <p:oleObj name="Equation" r:id="rId3" imgW="3416040" imgH="2171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4950" y="227012"/>
                        <a:ext cx="9747250" cy="5056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5133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1DCDA04-C707-4468-8821-AFBEAFC9F6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2232720"/>
              </p:ext>
            </p:extLst>
          </p:nvPr>
        </p:nvGraphicFramePr>
        <p:xfrm>
          <a:off x="80962" y="111125"/>
          <a:ext cx="11536363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" name="Equation" r:id="rId3" imgW="4178160" imgH="545760" progId="Equation.DSMT4">
                  <p:embed/>
                </p:oleObj>
              </mc:Choice>
              <mc:Fallback>
                <p:oleObj name="Equation" r:id="rId3" imgW="417816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962" y="111125"/>
                        <a:ext cx="11536363" cy="1376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D39294D-2C4E-4CF6-85D7-FD5A17B52B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852972"/>
              </p:ext>
            </p:extLst>
          </p:nvPr>
        </p:nvGraphicFramePr>
        <p:xfrm>
          <a:off x="88900" y="1738313"/>
          <a:ext cx="11528425" cy="450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3" name="Equation" r:id="rId5" imgW="3759120" imgH="2171520" progId="Equation.DSMT4">
                  <p:embed/>
                </p:oleObj>
              </mc:Choice>
              <mc:Fallback>
                <p:oleObj name="Equation" r:id="rId5" imgW="3759120" imgH="2171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8900" y="1738313"/>
                        <a:ext cx="11528425" cy="4503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7606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BB438F6-DC5D-4F62-B7B4-F18ABF5D6D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29650"/>
              </p:ext>
            </p:extLst>
          </p:nvPr>
        </p:nvGraphicFramePr>
        <p:xfrm>
          <a:off x="95250" y="0"/>
          <a:ext cx="8077200" cy="2320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1" name="Equation" r:id="rId3" imgW="3276360" imgH="1002960" progId="Equation.DSMT4">
                  <p:embed/>
                </p:oleObj>
              </mc:Choice>
              <mc:Fallback>
                <p:oleObj name="Equation" r:id="rId3" imgW="3276360" imgH="1002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250" y="0"/>
                        <a:ext cx="8077200" cy="23209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902D171-03D8-47F9-AE7A-EA302DDDBC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788352"/>
              </p:ext>
            </p:extLst>
          </p:nvPr>
        </p:nvGraphicFramePr>
        <p:xfrm>
          <a:off x="136525" y="2386012"/>
          <a:ext cx="8740775" cy="413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2" name="Equation" r:id="rId5" imgW="2933640" imgH="1638000" progId="Equation.DSMT4">
                  <p:embed/>
                </p:oleObj>
              </mc:Choice>
              <mc:Fallback>
                <p:oleObj name="Equation" r:id="rId5" imgW="2933640" imgH="1638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6525" y="2386012"/>
                        <a:ext cx="8740775" cy="4138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CBD2DF5-A117-478F-B33A-E826641189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9151" y="233362"/>
            <a:ext cx="3657600" cy="7334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21165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999EA99-78C2-4B5F-877E-A5CA2CBCAB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864742"/>
              </p:ext>
            </p:extLst>
          </p:nvPr>
        </p:nvGraphicFramePr>
        <p:xfrm>
          <a:off x="58738" y="-19050"/>
          <a:ext cx="9459912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9" name="Equation" r:id="rId3" imgW="4063680" imgH="393480" progId="Equation.DSMT4">
                  <p:embed/>
                </p:oleObj>
              </mc:Choice>
              <mc:Fallback>
                <p:oleObj name="Equation" r:id="rId3" imgW="40636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738" y="-19050"/>
                        <a:ext cx="9459912" cy="979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B0948BF-D818-4A2E-B021-CD10EF3F07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353813"/>
              </p:ext>
            </p:extLst>
          </p:nvPr>
        </p:nvGraphicFramePr>
        <p:xfrm>
          <a:off x="174625" y="908049"/>
          <a:ext cx="8904288" cy="595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0" name="Equation" r:id="rId5" imgW="3060360" imgH="2882880" progId="Equation.DSMT4">
                  <p:embed/>
                </p:oleObj>
              </mc:Choice>
              <mc:Fallback>
                <p:oleObj name="Equation" r:id="rId5" imgW="3060360" imgH="2882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4625" y="908049"/>
                        <a:ext cx="8904288" cy="5959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927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A01DE28-A0F1-47AA-8883-75D2F66554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562208"/>
              </p:ext>
            </p:extLst>
          </p:nvPr>
        </p:nvGraphicFramePr>
        <p:xfrm>
          <a:off x="187325" y="136525"/>
          <a:ext cx="119586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4" name="Equation" r:id="rId3" imgW="5295600" imgH="215640" progId="Equation.DSMT4">
                  <p:embed/>
                </p:oleObj>
              </mc:Choice>
              <mc:Fallback>
                <p:oleObj name="Equation" r:id="rId3" imgW="5295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7325" y="136525"/>
                        <a:ext cx="11958638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1B1E45E4-2A64-49F0-A35B-BF9FC47A67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6074132"/>
              </p:ext>
            </p:extLst>
          </p:nvPr>
        </p:nvGraphicFramePr>
        <p:xfrm>
          <a:off x="330198" y="811212"/>
          <a:ext cx="8870951" cy="137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5" name="Equation" r:id="rId5" imgW="3429000" imgH="634680" progId="Equation.DSMT4">
                  <p:embed/>
                </p:oleObj>
              </mc:Choice>
              <mc:Fallback>
                <p:oleObj name="Equation" r:id="rId5" imgW="342900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0198" y="811212"/>
                        <a:ext cx="8870951" cy="1379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A667602-2E5D-4D24-91CD-37F1C03F57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399" y="2415621"/>
            <a:ext cx="7143751" cy="363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40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89260B0-C9F9-4FEA-9B88-558CD6BF96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319804"/>
              </p:ext>
            </p:extLst>
          </p:nvPr>
        </p:nvGraphicFramePr>
        <p:xfrm>
          <a:off x="146050" y="136525"/>
          <a:ext cx="10236200" cy="655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" name="Equation" r:id="rId3" imgW="3860640" imgH="2895480" progId="Equation.DSMT4">
                  <p:embed/>
                </p:oleObj>
              </mc:Choice>
              <mc:Fallback>
                <p:oleObj name="Equation" r:id="rId3" imgW="3860640" imgH="289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6050" y="136525"/>
                        <a:ext cx="10236200" cy="6551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8153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CACE1-63D3-42C8-A2D6-1BC06CC32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1B39F-E3F1-4605-B30A-7123DB4AD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25CDED8-608A-4E58-B90F-24F8E5A652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897801"/>
              </p:ext>
            </p:extLst>
          </p:nvPr>
        </p:nvGraphicFramePr>
        <p:xfrm>
          <a:off x="92074" y="136525"/>
          <a:ext cx="10042525" cy="203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6" name="Equation" r:id="rId3" imgW="3797280" imgH="838080" progId="Equation.DSMT4">
                  <p:embed/>
                </p:oleObj>
              </mc:Choice>
              <mc:Fallback>
                <p:oleObj name="Equation" r:id="rId3" imgW="379728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074" y="136525"/>
                        <a:ext cx="10042525" cy="2030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6090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CC616-2C3A-4BAB-82AC-36DF8D8C0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371102-EDFB-44B0-B3CB-9D4FBD655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D05683A-8A2F-4DE1-915C-533D878454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885481"/>
              </p:ext>
            </p:extLst>
          </p:nvPr>
        </p:nvGraphicFramePr>
        <p:xfrm>
          <a:off x="2209800" y="46037"/>
          <a:ext cx="9934575" cy="649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" name="Equation" r:id="rId3" imgW="3238200" imgH="2857320" progId="Equation.DSMT4">
                  <p:embed/>
                </p:oleObj>
              </mc:Choice>
              <mc:Fallback>
                <p:oleObj name="Equation" r:id="rId3" imgW="3238200" imgH="285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09800" y="46037"/>
                        <a:ext cx="9934575" cy="6492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0594CCB3-14DD-460E-9CD8-7D8CE2890A8B}"/>
              </a:ext>
            </a:extLst>
          </p:cNvPr>
          <p:cNvSpPr/>
          <p:nvPr/>
        </p:nvSpPr>
        <p:spPr>
          <a:xfrm>
            <a:off x="95250" y="117475"/>
            <a:ext cx="2114550" cy="968375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Type-II: Polar form Express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2F5D71-04B7-43D4-8B21-A8C95BACB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1937" y="1085850"/>
            <a:ext cx="4119563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353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4F338-AF95-45B1-8DC9-E06F4632B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03460-B472-47BC-A979-FF5821185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24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DA02BAD-A571-41D0-9014-A800B6A53BB3}"/>
              </a:ext>
            </a:extLst>
          </p:cNvPr>
          <p:cNvSpPr/>
          <p:nvPr/>
        </p:nvSpPr>
        <p:spPr>
          <a:xfrm>
            <a:off x="80963" y="0"/>
            <a:ext cx="2586037" cy="11049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Do Yourself 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D17929A-F690-43C8-88A2-10F821C4EB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1234038"/>
              </p:ext>
            </p:extLst>
          </p:nvPr>
        </p:nvGraphicFramePr>
        <p:xfrm>
          <a:off x="2890838" y="136525"/>
          <a:ext cx="9301162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1" name="Equation" r:id="rId3" imgW="3835080" imgH="545760" progId="Equation.DSMT4">
                  <p:embed/>
                </p:oleObj>
              </mc:Choice>
              <mc:Fallback>
                <p:oleObj name="Equation" r:id="rId3" imgW="383508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90838" y="136525"/>
                        <a:ext cx="9301162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CAE320B-3CFD-430C-A205-FFC5B9E84D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108630"/>
              </p:ext>
            </p:extLst>
          </p:nvPr>
        </p:nvGraphicFramePr>
        <p:xfrm>
          <a:off x="107157" y="1701801"/>
          <a:ext cx="5417344" cy="5181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2" name="Equation" r:id="rId5" imgW="2209680" imgH="2679480" progId="Equation.DSMT4">
                  <p:embed/>
                </p:oleObj>
              </mc:Choice>
              <mc:Fallback>
                <p:oleObj name="Equation" r:id="rId5" imgW="2209680" imgH="267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7157" y="1701801"/>
                        <a:ext cx="5417344" cy="51816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524F16-723B-4E51-A48B-9A20D0280EED}"/>
              </a:ext>
            </a:extLst>
          </p:cNvPr>
          <p:cNvCxnSpPr>
            <a:cxnSpLocks/>
          </p:cNvCxnSpPr>
          <p:nvPr/>
        </p:nvCxnSpPr>
        <p:spPr>
          <a:xfrm>
            <a:off x="5657850" y="2286000"/>
            <a:ext cx="41672" cy="457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FD121D04-5687-4B4D-9BEE-FD72A2EED2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379250"/>
              </p:ext>
            </p:extLst>
          </p:nvPr>
        </p:nvGraphicFramePr>
        <p:xfrm>
          <a:off x="5859065" y="1562101"/>
          <a:ext cx="5567362" cy="5311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3" name="Equation" r:id="rId7" imgW="2425680" imgH="3670200" progId="Equation.DSMT4">
                  <p:embed/>
                </p:oleObj>
              </mc:Choice>
              <mc:Fallback>
                <p:oleObj name="Equation" r:id="rId7" imgW="2425680" imgH="3670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59065" y="1562101"/>
                        <a:ext cx="5567362" cy="5311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269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2C647-E409-4881-99B3-2F4C3A87D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56C69-1160-4C3F-A41D-CF7C1A315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8EF6E151-24A1-4E36-B214-C567AB4211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441569"/>
              </p:ext>
            </p:extLst>
          </p:nvPr>
        </p:nvGraphicFramePr>
        <p:xfrm>
          <a:off x="257175" y="219074"/>
          <a:ext cx="5343525" cy="623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2" name="Equation" r:id="rId3" imgW="2501640" imgH="2933640" progId="Equation.DSMT4">
                  <p:embed/>
                </p:oleObj>
              </mc:Choice>
              <mc:Fallback>
                <p:oleObj name="Equation" r:id="rId3" imgW="2501640" imgH="2933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7175" y="219074"/>
                        <a:ext cx="5343525" cy="6238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DF7EE75-7699-4851-9DF0-7EEED29B2D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372399"/>
              </p:ext>
            </p:extLst>
          </p:nvPr>
        </p:nvGraphicFramePr>
        <p:xfrm>
          <a:off x="6191252" y="323849"/>
          <a:ext cx="4552948" cy="195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3" name="Equation" r:id="rId5" imgW="2006280" imgH="939600" progId="Equation.DSMT4">
                  <p:embed/>
                </p:oleObj>
              </mc:Choice>
              <mc:Fallback>
                <p:oleObj name="Equation" r:id="rId5" imgW="200628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91252" y="323849"/>
                        <a:ext cx="4552948" cy="1952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3621B73-5BA7-40B8-8D24-AE8E095B8970}"/>
              </a:ext>
            </a:extLst>
          </p:cNvPr>
          <p:cNvCxnSpPr/>
          <p:nvPr/>
        </p:nvCxnSpPr>
        <p:spPr>
          <a:xfrm>
            <a:off x="5672137" y="278844"/>
            <a:ext cx="85725" cy="6391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E2ED3B8-27B7-4A9A-9487-62E91E816E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7862" y="2047875"/>
            <a:ext cx="6434138" cy="10572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40AF11-560B-4B93-8B93-3ACD41F87166}"/>
              </a:ext>
            </a:extLst>
          </p:cNvPr>
          <p:cNvSpPr txBox="1"/>
          <p:nvPr/>
        </p:nvSpPr>
        <p:spPr>
          <a:xfrm>
            <a:off x="10553700" y="310515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(Ans)</a:t>
            </a:r>
          </a:p>
        </p:txBody>
      </p:sp>
    </p:spTree>
    <p:extLst>
      <p:ext uri="{BB962C8B-B14F-4D97-AF65-F5344CB8AC3E}">
        <p14:creationId xmlns:p14="http://schemas.microsoft.com/office/powerpoint/2010/main" val="363843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A695A-E6F6-459E-96E3-89A568D1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2E3A6-2604-4244-9303-53335335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26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530B8D2-AC3D-4A16-97D8-67ED8C5392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798559"/>
              </p:ext>
            </p:extLst>
          </p:nvPr>
        </p:nvGraphicFramePr>
        <p:xfrm>
          <a:off x="279400" y="1374775"/>
          <a:ext cx="8331200" cy="312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3" name="Equation" r:id="rId3" imgW="3022560" imgH="1346040" progId="Equation.DSMT4">
                  <p:embed/>
                </p:oleObj>
              </mc:Choice>
              <mc:Fallback>
                <p:oleObj name="Equation" r:id="rId3" imgW="3022560" imgH="1346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9400" y="1374775"/>
                        <a:ext cx="8331200" cy="3125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298411F0-C8E3-417F-A910-A1894B4F3168}"/>
              </a:ext>
            </a:extLst>
          </p:cNvPr>
          <p:cNvSpPr/>
          <p:nvPr/>
        </p:nvSpPr>
        <p:spPr>
          <a:xfrm>
            <a:off x="95250" y="-9525"/>
            <a:ext cx="3467100" cy="1133475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Type –III: Finding Roots</a:t>
            </a:r>
          </a:p>
        </p:txBody>
      </p:sp>
    </p:spTree>
    <p:extLst>
      <p:ext uri="{BB962C8B-B14F-4D97-AF65-F5344CB8AC3E}">
        <p14:creationId xmlns:p14="http://schemas.microsoft.com/office/powerpoint/2010/main" val="2464950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8BCDF-DFE2-4E4E-810B-E397F3A75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00B2F-B27D-48D6-9D2C-6074AE13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27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E8C18D0-F405-4A4B-98FF-7E2F086332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970957"/>
              </p:ext>
            </p:extLst>
          </p:nvPr>
        </p:nvGraphicFramePr>
        <p:xfrm>
          <a:off x="0" y="-1"/>
          <a:ext cx="9563100" cy="6721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7" name="Equation" r:id="rId3" imgW="3340080" imgH="3213000" progId="Equation.DSMT4">
                  <p:embed/>
                </p:oleObj>
              </mc:Choice>
              <mc:Fallback>
                <p:oleObj name="Equation" r:id="rId3" imgW="3340080" imgH="321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-1"/>
                        <a:ext cx="9563100" cy="67214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78608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DB3E3-E8D2-49E6-BDFB-866DBD662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99C17-32F6-4A42-B20E-5F7FB06E0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013A81-0B8E-449D-BC6D-D62CABDE50A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57262" y="352425"/>
            <a:ext cx="10790873" cy="533908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BA863D2-23EB-4DF5-852D-2C463BA1C7AD}"/>
              </a:ext>
            </a:extLst>
          </p:cNvPr>
          <p:cNvSpPr/>
          <p:nvPr/>
        </p:nvSpPr>
        <p:spPr>
          <a:xfrm>
            <a:off x="200025" y="276225"/>
            <a:ext cx="1514475" cy="36512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E6B8B1-7E51-4036-AD9C-531CED4BF04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197850" y="4244974"/>
            <a:ext cx="3155950" cy="261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028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18F6A-BF1A-459F-8A40-6AEF9B47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26271-25ED-4FD7-B7D0-3D8497D57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59945A-0C81-4C1D-9143-B96DDEB3603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314498" cy="3997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5B7177-CB7A-4924-874E-706318BF9AC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9022714" y="1866900"/>
            <a:ext cx="2845435" cy="241935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989ED3DB-642D-4C31-9628-E7A0FDCCEF65}"/>
              </a:ext>
            </a:extLst>
          </p:cNvPr>
          <p:cNvSpPr/>
          <p:nvPr/>
        </p:nvSpPr>
        <p:spPr>
          <a:xfrm>
            <a:off x="119063" y="4108450"/>
            <a:ext cx="2586037" cy="11049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Do Yourself 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DFC4932A-4D25-450F-91C4-361AC33ACA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4626799"/>
              </p:ext>
            </p:extLst>
          </p:nvPr>
        </p:nvGraphicFramePr>
        <p:xfrm>
          <a:off x="2705100" y="5121275"/>
          <a:ext cx="6762750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0" name="Equation" r:id="rId5" imgW="2527200" imgH="571320" progId="Equation.DSMT4">
                  <p:embed/>
                </p:oleObj>
              </mc:Choice>
              <mc:Fallback>
                <p:oleObj name="Equation" r:id="rId5" imgW="252720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05100" y="5121275"/>
                        <a:ext cx="6762750" cy="1235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53906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909E5-C7BE-499E-A8F1-E06D222AD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BA39F-23C0-4244-B1F1-7D0000D0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30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9EF5B8F-C096-4193-91EC-1EDF56956A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259015"/>
              </p:ext>
            </p:extLst>
          </p:nvPr>
        </p:nvGraphicFramePr>
        <p:xfrm>
          <a:off x="4010025" y="136525"/>
          <a:ext cx="815816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5" name="Equation" r:id="rId3" imgW="2857320" imgH="190440" progId="Equation.DSMT4">
                  <p:embed/>
                </p:oleObj>
              </mc:Choice>
              <mc:Fallback>
                <p:oleObj name="Equation" r:id="rId3" imgW="285732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10025" y="136525"/>
                        <a:ext cx="8158163" cy="43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A2968B7-D9CD-473B-A3F9-C30CAD74AF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3285671"/>
              </p:ext>
            </p:extLst>
          </p:nvPr>
        </p:nvGraphicFramePr>
        <p:xfrm>
          <a:off x="4152900" y="447675"/>
          <a:ext cx="5372100" cy="626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6" name="Equation" r:id="rId5" imgW="1587240" imgH="2857320" progId="Equation.DSMT4">
                  <p:embed/>
                </p:oleObj>
              </mc:Choice>
              <mc:Fallback>
                <p:oleObj name="Equation" r:id="rId5" imgW="1587240" imgH="285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52900" y="447675"/>
                        <a:ext cx="5372100" cy="6264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7F2456B0-88A7-4A6E-941A-BE235840B162}"/>
              </a:ext>
            </a:extLst>
          </p:cNvPr>
          <p:cNvSpPr/>
          <p:nvPr/>
        </p:nvSpPr>
        <p:spPr>
          <a:xfrm>
            <a:off x="95250" y="-9525"/>
            <a:ext cx="3486150" cy="1133475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Type –IV: Finding  Solutions</a:t>
            </a:r>
          </a:p>
        </p:txBody>
      </p:sp>
    </p:spTree>
    <p:extLst>
      <p:ext uri="{BB962C8B-B14F-4D97-AF65-F5344CB8AC3E}">
        <p14:creationId xmlns:p14="http://schemas.microsoft.com/office/powerpoint/2010/main" val="32630155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909E5-C7BE-499E-A8F1-E06D222AD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BA39F-23C0-4244-B1F1-7D0000D0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9EF5B8F-C096-4193-91EC-1EDF56956A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860845"/>
              </p:ext>
            </p:extLst>
          </p:nvPr>
        </p:nvGraphicFramePr>
        <p:xfrm>
          <a:off x="-66675" y="0"/>
          <a:ext cx="8791575" cy="434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6" name="Equation" r:id="rId3" imgW="2920680" imgH="190440" progId="Equation.DSMT4">
                  <p:embed/>
                </p:oleObj>
              </mc:Choice>
              <mc:Fallback>
                <p:oleObj name="Equation" r:id="rId3" imgW="2920680" imgH="1904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79EF5B8F-C096-4193-91EC-1EDF56956A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66675" y="0"/>
                        <a:ext cx="8791575" cy="434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A2968B7-D9CD-473B-A3F9-C30CAD74AF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558322"/>
              </p:ext>
            </p:extLst>
          </p:nvPr>
        </p:nvGraphicFramePr>
        <p:xfrm>
          <a:off x="2276475" y="325437"/>
          <a:ext cx="4992688" cy="639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7" name="Equation" r:id="rId5" imgW="1638000" imgH="3238200" progId="Equation.DSMT4">
                  <p:embed/>
                </p:oleObj>
              </mc:Choice>
              <mc:Fallback>
                <p:oleObj name="Equation" r:id="rId5" imgW="1638000" imgH="32382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A2968B7-D9CD-473B-A3F9-C30CAD74AF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76475" y="325437"/>
                        <a:ext cx="4992688" cy="6396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6801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AA362-F490-4188-8059-7269F562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C120C-41AC-4945-B529-0AB882990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32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DFB972B-567F-4F8F-A674-4B79F8BC94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590176"/>
              </p:ext>
            </p:extLst>
          </p:nvPr>
        </p:nvGraphicFramePr>
        <p:xfrm>
          <a:off x="0" y="41274"/>
          <a:ext cx="7524751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24" name="Equation" r:id="rId3" imgW="2920680" imgH="190440" progId="Equation.DSMT4">
                  <p:embed/>
                </p:oleObj>
              </mc:Choice>
              <mc:Fallback>
                <p:oleObj name="Equation" r:id="rId3" imgW="292068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41274"/>
                        <a:ext cx="7524751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50C5466-0989-4983-A710-2BD262F913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092631"/>
              </p:ext>
            </p:extLst>
          </p:nvPr>
        </p:nvGraphicFramePr>
        <p:xfrm>
          <a:off x="69848" y="495299"/>
          <a:ext cx="7197725" cy="5861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25" name="Equation" r:id="rId5" imgW="3149280" imgH="2692080" progId="Equation.DSMT4">
                  <p:embed/>
                </p:oleObj>
              </mc:Choice>
              <mc:Fallback>
                <p:oleObj name="Equation" r:id="rId5" imgW="3149280" imgH="269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848" y="495299"/>
                        <a:ext cx="7197725" cy="58610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17968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014BB-D4E0-4970-A338-066917268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84F5D-AFE2-4DC6-9EF8-12950F604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33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3000951-9FC8-4B59-A69F-51A830D4C8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6467334"/>
              </p:ext>
            </p:extLst>
          </p:nvPr>
        </p:nvGraphicFramePr>
        <p:xfrm>
          <a:off x="150813" y="66675"/>
          <a:ext cx="6665912" cy="648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2" name="Equation" r:id="rId3" imgW="2323800" imgH="3035160" progId="Equation.DSMT4">
                  <p:embed/>
                </p:oleObj>
              </mc:Choice>
              <mc:Fallback>
                <p:oleObj name="Equation" r:id="rId3" imgW="2323800" imgH="3035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0813" y="66675"/>
                        <a:ext cx="6665912" cy="6486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38703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5A313-6651-4EED-A406-015E8DDD1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0C13D2-802F-45D4-83F8-3FA3173E8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34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64762CC-A7F5-47BA-A5F9-70846A29B0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678628"/>
              </p:ext>
            </p:extLst>
          </p:nvPr>
        </p:nvGraphicFramePr>
        <p:xfrm>
          <a:off x="3455988" y="479425"/>
          <a:ext cx="7637462" cy="412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4" name="Equation" r:id="rId3" imgW="3187440" imgH="1663560" progId="Equation.DSMT4">
                  <p:embed/>
                </p:oleObj>
              </mc:Choice>
              <mc:Fallback>
                <p:oleObj name="Equation" r:id="rId3" imgW="3187440" imgH="1663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55988" y="479425"/>
                        <a:ext cx="7637462" cy="412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521819C6-8B1D-49D0-875F-DEBCDC4EB7AD}"/>
              </a:ext>
            </a:extLst>
          </p:cNvPr>
          <p:cNvSpPr/>
          <p:nvPr/>
        </p:nvSpPr>
        <p:spPr>
          <a:xfrm>
            <a:off x="80963" y="136525"/>
            <a:ext cx="3375025" cy="968375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Type V-: Determine the region </a:t>
            </a:r>
          </a:p>
        </p:txBody>
      </p:sp>
    </p:spTree>
    <p:extLst>
      <p:ext uri="{BB962C8B-B14F-4D97-AF65-F5344CB8AC3E}">
        <p14:creationId xmlns:p14="http://schemas.microsoft.com/office/powerpoint/2010/main" val="17629670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BCFD5-AB4F-4167-BFD6-2FBA0238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D1266-00BE-4194-8A1A-67EC77910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BFF095F-87B3-4F28-BECC-BFD1EBAC38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588283"/>
              </p:ext>
            </p:extLst>
          </p:nvPr>
        </p:nvGraphicFramePr>
        <p:xfrm>
          <a:off x="73024" y="136525"/>
          <a:ext cx="12042776" cy="583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8" name="Equation" r:id="rId3" imgW="4635360" imgH="1968480" progId="Equation.DSMT4">
                  <p:embed/>
                </p:oleObj>
              </mc:Choice>
              <mc:Fallback>
                <p:oleObj name="Equation" r:id="rId3" imgW="4635360" imgH="1968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024" y="136525"/>
                        <a:ext cx="12042776" cy="5835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CB7BC60-16F2-4188-A8C2-B198848A46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971" y="295276"/>
            <a:ext cx="5786679" cy="341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1326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6A512-AE16-4B4D-8544-247325356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66740-0FCC-40D3-A2AF-5F9B55573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36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D8D8D99-FB2F-453F-A758-E8B895DE02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736548"/>
              </p:ext>
            </p:extLst>
          </p:nvPr>
        </p:nvGraphicFramePr>
        <p:xfrm>
          <a:off x="95249" y="136526"/>
          <a:ext cx="8791575" cy="410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06" name="Equation" r:id="rId3" imgW="2933640" imgH="1841400" progId="Equation.DSMT4">
                  <p:embed/>
                </p:oleObj>
              </mc:Choice>
              <mc:Fallback>
                <p:oleObj name="Equation" r:id="rId3" imgW="2933640" imgH="1841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249" y="136526"/>
                        <a:ext cx="8791575" cy="410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2DC9D98-0CD9-4723-A0CE-D9020CC914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450862"/>
              </p:ext>
            </p:extLst>
          </p:nvPr>
        </p:nvGraphicFramePr>
        <p:xfrm>
          <a:off x="77788" y="4238625"/>
          <a:ext cx="7826375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07" name="Equation" r:id="rId5" imgW="2882880" imgH="1130040" progId="Equation.DSMT4">
                  <p:embed/>
                </p:oleObj>
              </mc:Choice>
              <mc:Fallback>
                <p:oleObj name="Equation" r:id="rId5" imgW="2882880" imgH="1130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788" y="4238625"/>
                        <a:ext cx="7826375" cy="2333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11EEAD6-2384-4965-9AB3-033148D60F2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363" y="136525"/>
            <a:ext cx="4363437" cy="322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797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9B85E-6B80-44FA-8507-FA7021A0D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AEDB2-2B95-4409-AE85-309D2327E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A554A4-6E65-4E0A-953E-A62E77EB675C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55A7350-72BD-4B21-9647-0DBD72AF44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983432"/>
              </p:ext>
            </p:extLst>
          </p:nvPr>
        </p:nvGraphicFramePr>
        <p:xfrm>
          <a:off x="-50801" y="-19051"/>
          <a:ext cx="10899775" cy="5086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0" name="Equation" r:id="rId3" imgW="3911400" imgH="1993680" progId="Equation.DSMT4">
                  <p:embed/>
                </p:oleObj>
              </mc:Choice>
              <mc:Fallback>
                <p:oleObj name="Equation" r:id="rId3" imgW="3911400" imgH="1993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50801" y="-19051"/>
                        <a:ext cx="10899775" cy="5086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3845F2C-C904-41BC-A287-ACC77701EFD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118" y="-19051"/>
            <a:ext cx="493568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7451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FC518-524D-4776-BE6F-739FBF7E4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DA5D96-AC7A-447E-B416-64563D6E9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38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A7FCC81-BACD-4958-96F3-100DDE97A8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030819"/>
              </p:ext>
            </p:extLst>
          </p:nvPr>
        </p:nvGraphicFramePr>
        <p:xfrm>
          <a:off x="0" y="-19050"/>
          <a:ext cx="7664450" cy="235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6" name="Equation" r:id="rId3" imgW="2869920" imgH="1130040" progId="Equation.DSMT4">
                  <p:embed/>
                </p:oleObj>
              </mc:Choice>
              <mc:Fallback>
                <p:oleObj name="Equation" r:id="rId3" imgW="2869920" imgH="1130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-19050"/>
                        <a:ext cx="7664450" cy="2355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7D0C563-32A9-4099-BACC-3DA4DFAFC5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515678"/>
              </p:ext>
            </p:extLst>
          </p:nvPr>
        </p:nvGraphicFramePr>
        <p:xfrm>
          <a:off x="4507464" y="1660887"/>
          <a:ext cx="6935788" cy="508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7" name="Equation" r:id="rId5" imgW="2489040" imgH="1993680" progId="Equation.DSMT4">
                  <p:embed/>
                </p:oleObj>
              </mc:Choice>
              <mc:Fallback>
                <p:oleObj name="Equation" r:id="rId5" imgW="2489040" imgH="19936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255A7350-72BD-4B21-9647-0DBD72AF44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07464" y="1660887"/>
                        <a:ext cx="6935788" cy="5086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1661EC9-C348-465B-A8C0-AD65B30D744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118" y="110763"/>
            <a:ext cx="4551796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920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FC518-524D-4776-BE6F-739FBF7E4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DA5D96-AC7A-447E-B416-64563D6E9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39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4636153-EB7B-4962-B3FB-8A7580BD52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125060"/>
              </p:ext>
            </p:extLst>
          </p:nvPr>
        </p:nvGraphicFramePr>
        <p:xfrm>
          <a:off x="117475" y="0"/>
          <a:ext cx="6515100" cy="300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7" name="Equation" r:id="rId3" imgW="2603160" imgH="1257120" progId="Equation.DSMT4">
                  <p:embed/>
                </p:oleObj>
              </mc:Choice>
              <mc:Fallback>
                <p:oleObj name="Equation" r:id="rId3" imgW="2603160" imgH="1257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7475" y="0"/>
                        <a:ext cx="6515100" cy="300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CD25CCF-403B-493C-A055-671A03DFC9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274859"/>
              </p:ext>
            </p:extLst>
          </p:nvPr>
        </p:nvGraphicFramePr>
        <p:xfrm>
          <a:off x="0" y="4229101"/>
          <a:ext cx="1219200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8" name="Equation" r:id="rId5" imgW="5981400" imgH="825480" progId="Equation.DSMT4">
                  <p:embed/>
                </p:oleObj>
              </mc:Choice>
              <mc:Fallback>
                <p:oleObj name="Equation" r:id="rId5" imgW="598140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4229101"/>
                        <a:ext cx="12192000" cy="171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96362B6-D967-44B3-887C-CDDE76417F7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808" y="914399"/>
            <a:ext cx="4761505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9012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FC518-524D-4776-BE6F-739FBF7E4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DA5D96-AC7A-447E-B416-64563D6E9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40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0F4A38C-59AB-409B-9DD0-CFAB4AB13B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703748"/>
              </p:ext>
            </p:extLst>
          </p:nvPr>
        </p:nvGraphicFramePr>
        <p:xfrm>
          <a:off x="88899" y="650875"/>
          <a:ext cx="11731625" cy="4702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8" name="Equation" r:id="rId3" imgW="4089240" imgH="1726920" progId="Equation.DSMT4">
                  <p:embed/>
                </p:oleObj>
              </mc:Choice>
              <mc:Fallback>
                <p:oleObj name="Equation" r:id="rId3" imgW="4089240" imgH="1726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899" y="650875"/>
                        <a:ext cx="11731625" cy="4702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B845256-E3FB-4498-B68E-F28A3B3007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004" y="774699"/>
            <a:ext cx="4182392" cy="204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2916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FC518-524D-4776-BE6F-739FBF7E4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DA5D96-AC7A-447E-B416-64563D6E9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41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8BB01D9-0451-4B66-9B9A-9F3B12638D08}"/>
              </a:ext>
            </a:extLst>
          </p:cNvPr>
          <p:cNvSpPr/>
          <p:nvPr/>
        </p:nvSpPr>
        <p:spPr>
          <a:xfrm>
            <a:off x="80963" y="0"/>
            <a:ext cx="2586037" cy="11049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Do Yourself 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60BFA20D-3618-4C1A-A605-CAD2CDEA53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24879"/>
              </p:ext>
            </p:extLst>
          </p:nvPr>
        </p:nvGraphicFramePr>
        <p:xfrm>
          <a:off x="2852738" y="431800"/>
          <a:ext cx="7759700" cy="277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3" imgW="3238200" imgH="1117440" progId="Equation.DSMT4">
                  <p:embed/>
                </p:oleObj>
              </mc:Choice>
              <mc:Fallback>
                <p:oleObj name="Equation" r:id="rId3" imgW="3238200" imgH="11174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064762CC-A7F5-47BA-A5F9-70846A29B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2738" y="431800"/>
                        <a:ext cx="7759700" cy="2770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7201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5962</TotalTime>
  <Words>244</Words>
  <Application>Microsoft Office PowerPoint</Application>
  <PresentationFormat>Widescreen</PresentationFormat>
  <Paragraphs>122</Paragraphs>
  <Slides>41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3" baseType="lpstr">
      <vt:lpstr>Algerian</vt:lpstr>
      <vt:lpstr>Arial</vt:lpstr>
      <vt:lpstr>Arial Black</vt:lpstr>
      <vt:lpstr>Bebas Neue Bold</vt:lpstr>
      <vt:lpstr>Calibri</vt:lpstr>
      <vt:lpstr>Calibri Light</vt:lpstr>
      <vt:lpstr>Eurostile BQ</vt:lpstr>
      <vt:lpstr>Sitka Banner</vt:lpstr>
      <vt:lpstr>Times New Roman</vt:lpstr>
      <vt:lpstr>Office Theme</vt:lpstr>
      <vt:lpstr>Equation</vt:lpstr>
      <vt:lpstr>MathType 7.0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kcv</dc:creator>
  <cp:lastModifiedBy>ThinkPad</cp:lastModifiedBy>
  <cp:revision>427</cp:revision>
  <dcterms:created xsi:type="dcterms:W3CDTF">2024-04-27T09:17:32Z</dcterms:created>
  <dcterms:modified xsi:type="dcterms:W3CDTF">2025-12-07T04:54:57Z</dcterms:modified>
</cp:coreProperties>
</file>