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63" r:id="rId2"/>
    <p:sldId id="271" r:id="rId3"/>
    <p:sldId id="29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 (Laplace Transform)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169B2-0269-4A57-92F6-1FB5E8D8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7C29C-6519-45F9-9194-F14A111D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D3E48-0262-46AD-8842-34E7F0DA85D8}"/>
              </a:ext>
            </a:extLst>
          </p:cNvPr>
          <p:cNvSpPr/>
          <p:nvPr/>
        </p:nvSpPr>
        <p:spPr>
          <a:xfrm>
            <a:off x="3648075" y="247650"/>
            <a:ext cx="3876675" cy="6191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Laplace Transform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A2376B-EEB8-4226-B036-5E69D41E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725"/>
            <a:ext cx="4886325" cy="438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BC681B-CACE-41EC-99C8-690BAC4434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151"/>
          <a:stretch/>
        </p:blipFill>
        <p:spPr>
          <a:xfrm>
            <a:off x="0" y="1776413"/>
            <a:ext cx="9791700" cy="20503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3668EB-3807-441E-A64B-2206E73F8F08}"/>
              </a:ext>
            </a:extLst>
          </p:cNvPr>
          <p:cNvSpPr txBox="1"/>
          <p:nvPr/>
        </p:nvSpPr>
        <p:spPr>
          <a:xfrm>
            <a:off x="0" y="5530699"/>
            <a:ext cx="38481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Lecture Division on Laplace Transform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95389A-6AA1-4017-9212-48EF0612B665}"/>
              </a:ext>
            </a:extLst>
          </p:cNvPr>
          <p:cNvCxnSpPr>
            <a:cxnSpLocks/>
          </p:cNvCxnSpPr>
          <p:nvPr/>
        </p:nvCxnSpPr>
        <p:spPr>
          <a:xfrm flipV="1">
            <a:off x="3848100" y="5112736"/>
            <a:ext cx="1333500" cy="434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F030DDD-E1AF-406B-A74D-579E74D80D8B}"/>
              </a:ext>
            </a:extLst>
          </p:cNvPr>
          <p:cNvSpPr txBox="1"/>
          <p:nvPr/>
        </p:nvSpPr>
        <p:spPr>
          <a:xfrm>
            <a:off x="5181600" y="4814721"/>
            <a:ext cx="5305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Laplace Transform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8C279E-03F5-4FEF-833C-DDBC7B552CC8}"/>
              </a:ext>
            </a:extLst>
          </p:cNvPr>
          <p:cNvCxnSpPr>
            <a:cxnSpLocks/>
          </p:cNvCxnSpPr>
          <p:nvPr/>
        </p:nvCxnSpPr>
        <p:spPr>
          <a:xfrm>
            <a:off x="3848100" y="5900396"/>
            <a:ext cx="1266825" cy="455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3D01F4-5B0D-440A-83F3-669E3CFB522B}"/>
              </a:ext>
            </a:extLst>
          </p:cNvPr>
          <p:cNvSpPr txBox="1"/>
          <p:nvPr/>
        </p:nvSpPr>
        <p:spPr>
          <a:xfrm>
            <a:off x="5172075" y="5499921"/>
            <a:ext cx="5305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Inverse Laplace Transform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CD6B51-3C75-4FDF-A907-39563BEB5A6E}"/>
              </a:ext>
            </a:extLst>
          </p:cNvPr>
          <p:cNvSpPr txBox="1"/>
          <p:nvPr/>
        </p:nvSpPr>
        <p:spPr>
          <a:xfrm>
            <a:off x="5114925" y="6122024"/>
            <a:ext cx="5305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Application of Laplace Transform (ODE Solution)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962C69-DB04-4E96-B3B7-1B6D01F5A9B2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 flipV="1">
            <a:off x="3848100" y="5699976"/>
            <a:ext cx="1323975" cy="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CDA5BCD-B345-45C3-A323-BBE6911234D7}"/>
              </a:ext>
            </a:extLst>
          </p:cNvPr>
          <p:cNvSpPr txBox="1"/>
          <p:nvPr/>
        </p:nvSpPr>
        <p:spPr>
          <a:xfrm>
            <a:off x="1" y="3948310"/>
            <a:ext cx="10687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‘</a:t>
            </a:r>
            <a:r>
              <a:rPr lang="en-US" sz="2400" dirty="0"/>
              <a:t>s’ is a parameter which may be real or complex number.</a:t>
            </a:r>
          </a:p>
        </p:txBody>
      </p:sp>
    </p:spTree>
    <p:extLst>
      <p:ext uri="{BB962C8B-B14F-4D97-AF65-F5344CB8AC3E}">
        <p14:creationId xmlns:p14="http://schemas.microsoft.com/office/powerpoint/2010/main" val="420197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B863A-3B94-4626-805C-45908B67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97777-186C-4162-A80D-7A657D00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77E5D24-5E13-431B-BDF7-7CD77B3F217D}"/>
              </a:ext>
            </a:extLst>
          </p:cNvPr>
          <p:cNvSpPr/>
          <p:nvPr/>
        </p:nvSpPr>
        <p:spPr>
          <a:xfrm>
            <a:off x="4105274" y="1876425"/>
            <a:ext cx="3552825" cy="147637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Laplace Transform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E72129-9B99-4BDF-BA84-7D56092B1EC8}"/>
              </a:ext>
            </a:extLst>
          </p:cNvPr>
          <p:cNvCxnSpPr/>
          <p:nvPr/>
        </p:nvCxnSpPr>
        <p:spPr>
          <a:xfrm flipV="1">
            <a:off x="7258050" y="1446907"/>
            <a:ext cx="1228725" cy="714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D52D1A-29E5-4F65-B730-7492D29E3E34}"/>
              </a:ext>
            </a:extLst>
          </p:cNvPr>
          <p:cNvSpPr txBox="1"/>
          <p:nvPr/>
        </p:nvSpPr>
        <p:spPr>
          <a:xfrm>
            <a:off x="8610600" y="985242"/>
            <a:ext cx="3533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Control Systems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→ Transfer functions, stability, system response.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AE7D28-840D-4544-998D-EFFA8E5280EC}"/>
              </a:ext>
            </a:extLst>
          </p:cNvPr>
          <p:cNvCxnSpPr>
            <a:cxnSpLocks/>
          </p:cNvCxnSpPr>
          <p:nvPr/>
        </p:nvCxnSpPr>
        <p:spPr>
          <a:xfrm flipV="1">
            <a:off x="7658099" y="2510881"/>
            <a:ext cx="1152526" cy="23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3D40B47-100D-45D7-B464-88FFDC4EB91B}"/>
              </a:ext>
            </a:extLst>
          </p:cNvPr>
          <p:cNvSpPr txBox="1"/>
          <p:nvPr/>
        </p:nvSpPr>
        <p:spPr>
          <a:xfrm>
            <a:off x="8486775" y="2295376"/>
            <a:ext cx="37052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Mechanical Systems</a:t>
            </a:r>
            <a:r>
              <a:rPr lang="en-US" sz="2000" dirty="0"/>
              <a:t> → Analyze vibrations </a:t>
            </a:r>
          </a:p>
          <a:p>
            <a:pPr algn="ctr"/>
            <a:r>
              <a:rPr lang="en-US" sz="2000" dirty="0"/>
              <a:t>&amp; damping.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BC891E-63E0-4537-BBC0-F08FB260D39B}"/>
              </a:ext>
            </a:extLst>
          </p:cNvPr>
          <p:cNvCxnSpPr>
            <a:cxnSpLocks/>
          </p:cNvCxnSpPr>
          <p:nvPr/>
        </p:nvCxnSpPr>
        <p:spPr>
          <a:xfrm>
            <a:off x="7296149" y="3079852"/>
            <a:ext cx="1314451" cy="425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4BD6A25-1051-4F31-B53B-49F11DDEE80B}"/>
              </a:ext>
            </a:extLst>
          </p:cNvPr>
          <p:cNvSpPr txBox="1"/>
          <p:nvPr/>
        </p:nvSpPr>
        <p:spPr>
          <a:xfrm>
            <a:off x="8673703" y="3445133"/>
            <a:ext cx="35182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/>
              <a:t>Signal Processing</a:t>
            </a:r>
            <a:r>
              <a:rPr lang="en-US" sz="2000" dirty="0"/>
              <a:t> → Filter and system design.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C37045-6CD3-4404-9125-3CE64B1035AD}"/>
              </a:ext>
            </a:extLst>
          </p:cNvPr>
          <p:cNvCxnSpPr/>
          <p:nvPr/>
        </p:nvCxnSpPr>
        <p:spPr>
          <a:xfrm flipH="1" flipV="1">
            <a:off x="3581400" y="1446907"/>
            <a:ext cx="895350" cy="696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84BBD57-1E6E-4323-A2E3-078345808EB5}"/>
              </a:ext>
            </a:extLst>
          </p:cNvPr>
          <p:cNvSpPr txBox="1"/>
          <p:nvPr/>
        </p:nvSpPr>
        <p:spPr>
          <a:xfrm>
            <a:off x="0" y="1039624"/>
            <a:ext cx="358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Probability</a:t>
            </a:r>
            <a:r>
              <a:rPr lang="en-US" sz="2000" dirty="0"/>
              <a:t> → Compute statistical moments.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003AD18-7D35-4B6B-83D4-47ADF5CF2BB5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981325" y="2614613"/>
            <a:ext cx="11239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B1918ED-C7BE-42B8-A0EC-F27D4A4B0C8B}"/>
              </a:ext>
            </a:extLst>
          </p:cNvPr>
          <p:cNvSpPr txBox="1"/>
          <p:nvPr/>
        </p:nvSpPr>
        <p:spPr>
          <a:xfrm>
            <a:off x="428624" y="2295376"/>
            <a:ext cx="26979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Heat/Fluid PDEs</a:t>
            </a:r>
            <a:r>
              <a:rPr lang="en-US" sz="2000" dirty="0"/>
              <a:t> → Solve diffusion</a:t>
            </a:r>
          </a:p>
          <a:p>
            <a:pPr algn="ctr"/>
            <a:r>
              <a:rPr lang="en-US" sz="2000" dirty="0"/>
              <a:t> &amp; conduction problems.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68AF548-658B-40CF-A7DC-6DF19E433BD0}"/>
              </a:ext>
            </a:extLst>
          </p:cNvPr>
          <p:cNvCxnSpPr>
            <a:cxnSpLocks/>
          </p:cNvCxnSpPr>
          <p:nvPr/>
        </p:nvCxnSpPr>
        <p:spPr>
          <a:xfrm flipH="1">
            <a:off x="3241775" y="3037452"/>
            <a:ext cx="1234975" cy="661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5B8392C-1DD0-487C-A548-DEA4A948229C}"/>
              </a:ext>
            </a:extLst>
          </p:cNvPr>
          <p:cNvSpPr txBox="1"/>
          <p:nvPr/>
        </p:nvSpPr>
        <p:spPr>
          <a:xfrm>
            <a:off x="428624" y="3587198"/>
            <a:ext cx="24503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2000" b="1" dirty="0"/>
              <a:t>Communications</a:t>
            </a:r>
            <a:r>
              <a:rPr lang="en-US" sz="2000" dirty="0"/>
              <a:t> → Transmission,</a:t>
            </a:r>
          </a:p>
          <a:p>
            <a:pPr algn="ctr"/>
            <a:r>
              <a:rPr lang="en-US" sz="2000" dirty="0"/>
              <a:t> bandwidth, filter design.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1C33A-DC01-4D76-B56F-2506ED8A11B2}"/>
              </a:ext>
            </a:extLst>
          </p:cNvPr>
          <p:cNvSpPr txBox="1"/>
          <p:nvPr/>
        </p:nvSpPr>
        <p:spPr>
          <a:xfrm>
            <a:off x="3126580" y="114300"/>
            <a:ext cx="5547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</a:rPr>
              <a:t>Why Do We Need Laplace Transform?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15EBBC-B358-478E-8C82-D6FBB6622D63}"/>
              </a:ext>
            </a:extLst>
          </p:cNvPr>
          <p:cNvSpPr txBox="1"/>
          <p:nvPr/>
        </p:nvSpPr>
        <p:spPr>
          <a:xfrm>
            <a:off x="0" y="5072211"/>
            <a:ext cx="85820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Laplace Transform converts a problem from the time domain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(t-domain)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complex frequency domain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(s-domain)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the time domain, systems are described by differential equations, which are often difficult to solve. By moving to the s-domain, these differential equations become algebraic equations, which are much easier to handle.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984BD3-F81C-4CE9-BA61-68918022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703" y="4248917"/>
            <a:ext cx="3552825" cy="255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5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7610F2-89F3-4671-950A-33EF8CBA1243}"/>
              </a:ext>
            </a:extLst>
          </p:cNvPr>
          <p:cNvPicPr/>
          <p:nvPr/>
        </p:nvPicPr>
        <p:blipFill rotWithShape="1">
          <a:blip r:embed="rId2"/>
          <a:srcRect t="6200" b="10827"/>
          <a:stretch/>
        </p:blipFill>
        <p:spPr>
          <a:xfrm>
            <a:off x="0" y="1257300"/>
            <a:ext cx="10714673" cy="46386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33D849-4394-4C88-8C2E-A4279BDCAFEA}"/>
              </a:ext>
            </a:extLst>
          </p:cNvPr>
          <p:cNvSpPr txBox="1"/>
          <p:nvPr/>
        </p:nvSpPr>
        <p:spPr>
          <a:xfrm>
            <a:off x="2343150" y="612259"/>
            <a:ext cx="724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Module I: Laplace Transform of Some Elementary Functions</a:t>
            </a:r>
          </a:p>
        </p:txBody>
      </p:sp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C1C75A-8CAE-4A37-B1D4-FDAAC140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0"/>
            <a:ext cx="2181225" cy="676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C0CA1-0679-4701-977E-C37CD64900D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609599"/>
            <a:ext cx="11087100" cy="3104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E5869E-79D2-41D8-941C-85A7BA838BB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3463925"/>
            <a:ext cx="10258425" cy="339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DC3E5-2F99-4565-9760-3E23CB1D39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0977" y="136525"/>
            <a:ext cx="11362373" cy="40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9D8925-6583-4052-BEFF-B0E046D7E5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1927" y="136524"/>
            <a:ext cx="11019473" cy="485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C9F41-C55D-465C-BD32-FF7042EC6B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877" y="-19049"/>
            <a:ext cx="10876598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6BB813-085A-41ED-ACAC-A2425613024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80047" y="3857624"/>
            <a:ext cx="11097578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5F48E2-CAE0-494B-9B85-12A47CA86D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10715625" cy="3092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49AD2-E3F4-444A-B338-4ADE7BD41F9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295650"/>
            <a:ext cx="100012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AA3F5EC-423D-4191-9D00-4266AB71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-19050"/>
            <a:ext cx="9496425" cy="39147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559E25A-D551-45DF-BEC8-885C6F07A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" y="3914775"/>
            <a:ext cx="73628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CE8E1-8909-4BFB-A425-0831E16D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26AC4-B16B-42F8-840E-35EC3B5E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07A65-5F58-4C6F-8C86-1820D928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48550" cy="4962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F8D330-CA99-44C5-BCD2-92B3F20C5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5110162"/>
            <a:ext cx="64008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2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8D2D8-1D08-4593-A570-DCC2AF27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D933E-7D6F-4CDF-92DA-4B7C5EBC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C70413-EA49-411F-BB08-C8AF412DA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66675"/>
            <a:ext cx="8362950" cy="3105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9375F-A4C9-46CA-9AF4-7F3CB3F2B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3238500"/>
            <a:ext cx="71818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2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5067</TotalTime>
  <Words>236</Words>
  <Application>Microsoft Office PowerPoint</Application>
  <PresentationFormat>Widescreen</PresentationFormat>
  <Paragraphs>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 Unicode MS</vt:lpstr>
      <vt:lpstr>Arial</vt:lpstr>
      <vt:lpstr>Calibri</vt:lpstr>
      <vt:lpstr>Calibri Light</vt:lpstr>
      <vt:lpstr>Sitka Banner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302</cp:revision>
  <dcterms:created xsi:type="dcterms:W3CDTF">2024-04-27T09:17:32Z</dcterms:created>
  <dcterms:modified xsi:type="dcterms:W3CDTF">2025-09-28T05:41:54Z</dcterms:modified>
</cp:coreProperties>
</file>