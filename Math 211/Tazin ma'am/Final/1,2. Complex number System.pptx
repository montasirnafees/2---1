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63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5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303" r:id="rId25"/>
    <p:sldId id="306" r:id="rId26"/>
    <p:sldId id="273" r:id="rId27"/>
    <p:sldId id="274" r:id="rId28"/>
    <p:sldId id="307" r:id="rId29"/>
    <p:sldId id="308" r:id="rId30"/>
    <p:sldId id="275" r:id="rId31"/>
    <p:sldId id="290" r:id="rId32"/>
    <p:sldId id="289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39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6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6.jpg"/><Relationship Id="rId4" Type="http://schemas.openxmlformats.org/officeDocument/2006/relationships/image" Target="../media/image65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69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6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71.jpg"/><Relationship Id="rId4" Type="http://schemas.openxmlformats.org/officeDocument/2006/relationships/image" Target="../media/image7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7" Type="http://schemas.openxmlformats.org/officeDocument/2006/relationships/image" Target="../media/image71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7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7" Type="http://schemas.openxmlformats.org/officeDocument/2006/relationships/image" Target="../media/image76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7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78.jpg"/><Relationship Id="rId4" Type="http://schemas.openxmlformats.org/officeDocument/2006/relationships/image" Target="../media/image7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7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1,2 (Complex Number System)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6C30-6CBF-4274-B76A-6EEC1F2F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79809-8886-4F47-BB0B-07A2B7BE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pic>
        <p:nvPicPr>
          <p:cNvPr id="23554" name="Picture 2" descr="Number Sets Venn Diagram">
            <a:extLst>
              <a:ext uri="{FF2B5EF4-FFF2-40B4-BE49-F238E27FC236}">
                <a16:creationId xmlns:a16="http://schemas.microsoft.com/office/drawing/2014/main" id="{214F1E81-07DC-4CDE-83BD-4B46FB003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88900"/>
            <a:ext cx="5781675" cy="419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3C617F-6B59-4F5B-9D42-DC27D2B4C7E3}"/>
              </a:ext>
            </a:extLst>
          </p:cNvPr>
          <p:cNvSpPr/>
          <p:nvPr/>
        </p:nvSpPr>
        <p:spPr>
          <a:xfrm>
            <a:off x="6519862" y="2370245"/>
            <a:ext cx="4857750" cy="609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The Complex Number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32EE5-430F-4F32-91F6-AA486A4FC2EB}"/>
              </a:ext>
            </a:extLst>
          </p:cNvPr>
          <p:cNvSpPr/>
          <p:nvPr/>
        </p:nvSpPr>
        <p:spPr>
          <a:xfrm>
            <a:off x="6096000" y="752475"/>
            <a:ext cx="847725" cy="3143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C2B76B-F884-48E9-8077-20F1287F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3291"/>
            <a:ext cx="12192000" cy="24858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311AADF-FEEB-4D26-91A9-91CFFAF9949A}"/>
              </a:ext>
            </a:extLst>
          </p:cNvPr>
          <p:cNvSpPr/>
          <p:nvPr/>
        </p:nvSpPr>
        <p:spPr>
          <a:xfrm>
            <a:off x="5295900" y="136525"/>
            <a:ext cx="571500" cy="244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0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78DCB-75FD-43A6-8051-F2B5C15A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F3826-0826-408F-BFD5-7A67F2A7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F4EE30-4F98-44F1-BF68-6E8F6E24CA88}"/>
              </a:ext>
            </a:extLst>
          </p:cNvPr>
          <p:cNvSpPr/>
          <p:nvPr/>
        </p:nvSpPr>
        <p:spPr>
          <a:xfrm>
            <a:off x="2828925" y="114300"/>
            <a:ext cx="6543675" cy="5016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Fundamental Operations with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80062-9A72-4522-AFE9-D76E7320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474"/>
            <a:ext cx="1162074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6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1F612-3634-4DFC-90E2-4A0A3949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87775-6413-409E-86CB-325BCDFF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B93D5-9FAD-40B4-9F80-7FC5FD7BF868}"/>
              </a:ext>
            </a:extLst>
          </p:cNvPr>
          <p:cNvSpPr/>
          <p:nvPr/>
        </p:nvSpPr>
        <p:spPr>
          <a:xfrm>
            <a:off x="123825" y="438150"/>
            <a:ext cx="2962275" cy="4794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Absolute Value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A0AD8-05E1-4086-A134-F431BD5758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60"/>
          <a:stretch/>
        </p:blipFill>
        <p:spPr>
          <a:xfrm>
            <a:off x="0" y="1114424"/>
            <a:ext cx="12192000" cy="387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88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A23ED-3581-422B-A19F-7413103BC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42BF0-9603-40DF-B969-23DC41AB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C898C-0174-457A-8E99-37959D57550D}"/>
              </a:ext>
            </a:extLst>
          </p:cNvPr>
          <p:cNvSpPr/>
          <p:nvPr/>
        </p:nvSpPr>
        <p:spPr>
          <a:xfrm>
            <a:off x="-1" y="117475"/>
            <a:ext cx="6657975" cy="4794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Graphical Representation of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7AB6DE-AECB-4214-90E9-885B00F54A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626" y="833755"/>
            <a:ext cx="12124373" cy="1347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B71CCE-A2CA-4E0E-B379-691136FAD2C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9069" y="2386330"/>
            <a:ext cx="11833862" cy="9347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8E7A6C-6131-478B-A6A7-52250FD9574F}"/>
              </a:ext>
            </a:extLst>
          </p:cNvPr>
          <p:cNvSpPr/>
          <p:nvPr/>
        </p:nvSpPr>
        <p:spPr>
          <a:xfrm>
            <a:off x="67626" y="2562225"/>
            <a:ext cx="2285049" cy="2952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139FF3-C370-4AD1-97C9-F8EF63F758B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93172" y="3321050"/>
            <a:ext cx="5179378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51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E5A09-4261-4040-91D6-DDF7A8BB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59AF7-7C6F-410F-91B4-8A7DBF80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636E06-757F-42E4-8E04-AC500AC79212}"/>
              </a:ext>
            </a:extLst>
          </p:cNvPr>
          <p:cNvSpPr/>
          <p:nvPr/>
        </p:nvSpPr>
        <p:spPr>
          <a:xfrm>
            <a:off x="-1" y="98425"/>
            <a:ext cx="5314951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Polar form of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1F9DB-A08E-417D-874C-521F82686FF3}"/>
              </a:ext>
            </a:extLst>
          </p:cNvPr>
          <p:cNvPicPr/>
          <p:nvPr/>
        </p:nvPicPr>
        <p:blipFill rotWithShape="1">
          <a:blip r:embed="rId2"/>
          <a:srcRect t="7394"/>
          <a:stretch/>
        </p:blipFill>
        <p:spPr>
          <a:xfrm>
            <a:off x="0" y="634999"/>
            <a:ext cx="12095798" cy="4527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E53369-F959-468F-B27F-D3827A11B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99847"/>
            <a:ext cx="12192000" cy="112162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24925F-9673-45C3-BEBC-C22F098FBFBB}"/>
              </a:ext>
            </a:extLst>
          </p:cNvPr>
          <p:cNvSpPr/>
          <p:nvPr/>
        </p:nvSpPr>
        <p:spPr>
          <a:xfrm flipV="1">
            <a:off x="1" y="5599847"/>
            <a:ext cx="12095798" cy="11216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3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AA1C-36DC-4B62-8F42-257DBFD1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CF329-5EF9-4C90-80BD-3555C95E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77D73D-49E7-4CB7-8311-4FC23DD4D8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30942" y="0"/>
            <a:ext cx="4955858" cy="342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730F24-E9C7-4115-9475-8789283C6590}"/>
              </a:ext>
            </a:extLst>
          </p:cNvPr>
          <p:cNvSpPr/>
          <p:nvPr/>
        </p:nvSpPr>
        <p:spPr>
          <a:xfrm>
            <a:off x="1" y="3270250"/>
            <a:ext cx="3581400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De </a:t>
            </a:r>
            <a:r>
              <a:rPr lang="en-US" dirty="0" err="1">
                <a:solidFill>
                  <a:schemeClr val="tx1"/>
                </a:solidFill>
                <a:latin typeface="Arial Black" panose="020B0A04020102020204" pitchFamily="34" charset="0"/>
              </a:rPr>
              <a:t>Moivre’s</a:t>
            </a: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 Theorem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6D71438-0016-41FE-9965-BD92EDC39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942" y="3274755"/>
            <a:ext cx="55149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z is a complex number in polar form: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577" name="Picture 13">
            <a:extLst>
              <a:ext uri="{FF2B5EF4-FFF2-40B4-BE49-F238E27FC236}">
                <a16:creationId xmlns:a16="http://schemas.microsoft.com/office/drawing/2014/main" id="{2A30E8CF-97A5-4505-B25D-54CF15EB1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3811589"/>
            <a:ext cx="3457575" cy="5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3C743D-3D78-4A33-9A7D-F6178212B84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05378" y="4396008"/>
            <a:ext cx="7767321" cy="1223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618F10-0D0F-4CCA-8373-E78C2C08098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645093" y="5829300"/>
            <a:ext cx="6384608" cy="46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7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03391-36BF-4872-8498-043B72EEE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8CC85-9B41-4663-BCB8-D3880BF5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4C8F3-3A00-443C-B2CC-D2DDE2A72F44}"/>
              </a:ext>
            </a:extLst>
          </p:cNvPr>
          <p:cNvSpPr/>
          <p:nvPr/>
        </p:nvSpPr>
        <p:spPr>
          <a:xfrm>
            <a:off x="0" y="-9525"/>
            <a:ext cx="4914900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Roots of Complex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7F677-FF82-49B5-B241-03E6F65FE41D}"/>
              </a:ext>
            </a:extLst>
          </p:cNvPr>
          <p:cNvPicPr/>
          <p:nvPr/>
        </p:nvPicPr>
        <p:blipFill rotWithShape="1">
          <a:blip r:embed="rId2"/>
          <a:srcRect t="9694"/>
          <a:stretch/>
        </p:blipFill>
        <p:spPr>
          <a:xfrm>
            <a:off x="0" y="509586"/>
            <a:ext cx="12192000" cy="30813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F563B0-B4A5-4AB9-88D2-B52DDADA59EB}"/>
              </a:ext>
            </a:extLst>
          </p:cNvPr>
          <p:cNvSpPr/>
          <p:nvPr/>
        </p:nvSpPr>
        <p:spPr>
          <a:xfrm>
            <a:off x="0" y="3676072"/>
            <a:ext cx="3333750" cy="454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Euler’s Formula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CDEB9-0FD6-423A-B86A-1D1EBF4B0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3941"/>
            <a:ext cx="12192000" cy="16691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7DE8B9-4A08-424A-8A0A-51489E839BA4}"/>
              </a:ext>
            </a:extLst>
          </p:cNvPr>
          <p:cNvSpPr/>
          <p:nvPr/>
        </p:nvSpPr>
        <p:spPr>
          <a:xfrm>
            <a:off x="11496675" y="2045492"/>
            <a:ext cx="695325" cy="5262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E62C80-55DD-419E-8EE1-C39BB7F69D38}"/>
              </a:ext>
            </a:extLst>
          </p:cNvPr>
          <p:cNvSpPr/>
          <p:nvPr/>
        </p:nvSpPr>
        <p:spPr>
          <a:xfrm>
            <a:off x="11496675" y="5419725"/>
            <a:ext cx="628650" cy="5429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53290F-08CA-427F-A6BA-EE17CA029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6107833"/>
            <a:ext cx="39243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7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F34C7-951F-4BA0-BBA9-9EE8088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9107-0B4A-4CC5-A543-A9CA2380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5B8099-DA36-430F-ADFE-986DF73C1DC6}"/>
              </a:ext>
            </a:extLst>
          </p:cNvPr>
          <p:cNvSpPr/>
          <p:nvPr/>
        </p:nvSpPr>
        <p:spPr>
          <a:xfrm>
            <a:off x="0" y="0"/>
            <a:ext cx="3333750" cy="53554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The nth Roots of 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63B39D-64EC-4044-9511-66A95758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972"/>
            <a:ext cx="12192000" cy="23124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3C99CA-6557-4EF4-868E-DBC1850BA710}"/>
              </a:ext>
            </a:extLst>
          </p:cNvPr>
          <p:cNvSpPr/>
          <p:nvPr/>
        </p:nvSpPr>
        <p:spPr>
          <a:xfrm>
            <a:off x="11163300" y="2133600"/>
            <a:ext cx="847725" cy="4381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250CD-50CB-49DD-834B-E7A7034D4B40}"/>
              </a:ext>
            </a:extLst>
          </p:cNvPr>
          <p:cNvSpPr/>
          <p:nvPr/>
        </p:nvSpPr>
        <p:spPr>
          <a:xfrm>
            <a:off x="2419350" y="2847974"/>
            <a:ext cx="6553200" cy="53554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Fundamental Operations with Complex Numbers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5796A-BBB7-4E94-84CF-597E38594CC5}"/>
              </a:ext>
            </a:extLst>
          </p:cNvPr>
          <p:cNvPicPr/>
          <p:nvPr/>
        </p:nvPicPr>
        <p:blipFill rotWithShape="1">
          <a:blip r:embed="rId3"/>
          <a:srcRect t="22187"/>
          <a:stretch/>
        </p:blipFill>
        <p:spPr>
          <a:xfrm>
            <a:off x="288607" y="3450348"/>
            <a:ext cx="7731443" cy="2093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34F850-92A5-4058-9728-64A4BA75E13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67752" y="5543551"/>
            <a:ext cx="9724073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0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36B05-64B2-43C8-BA6E-E205DE67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3D3EA-2E83-475D-8563-8F5524AD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B86E8C-554E-4E8D-AC42-DD5BBB49C2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5726" y="-19050"/>
            <a:ext cx="12086273" cy="522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9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B40C3-1DB0-45E3-8506-A249578D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306B5-A86F-4B3B-A3A1-8ACD3B19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0ECDC-5263-49E5-BDA6-23055BE84A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11972925" cy="48736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7E62B9-6389-4A7C-AE33-CB2BC1C20884}"/>
              </a:ext>
            </a:extLst>
          </p:cNvPr>
          <p:cNvSpPr/>
          <p:nvPr/>
        </p:nvSpPr>
        <p:spPr>
          <a:xfrm>
            <a:off x="390524" y="136525"/>
            <a:ext cx="5381625" cy="53554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Argument of Complex Number</a:t>
            </a:r>
          </a:p>
        </p:txBody>
      </p:sp>
    </p:spTree>
    <p:extLst>
      <p:ext uri="{BB962C8B-B14F-4D97-AF65-F5344CB8AC3E}">
        <p14:creationId xmlns:p14="http://schemas.microsoft.com/office/powerpoint/2010/main" val="3434308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F1F8-01EA-48EF-ACB8-9D55E954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2BADA-7D97-49DF-84F5-2A08F003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55963-F182-4522-9BD1-90BBD44228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96725" cy="4490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70CBC9-B1E1-42BE-AC09-DD5BA481348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2902" y="4490402"/>
            <a:ext cx="10181273" cy="236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9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D0E91-E618-47CD-8D23-28DD5CE7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A7D80-519F-498C-9EEC-056ADBBA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D05428-4373-42A2-87F2-474ED048BF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8588" y="0"/>
            <a:ext cx="11914823" cy="3114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E926FC-1018-4F6D-80F7-9BBCC2A1189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0662" y="3362325"/>
            <a:ext cx="11237913" cy="343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05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BFB4-36F4-42D3-AF21-5334DDE78039}" type="datetime1">
              <a:rPr lang="en-US" smtClean="0"/>
              <a:t>6/23/2026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14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F366F0-A5E9-4EDE-B1CB-F7115DED7207}"/>
              </a:ext>
            </a:extLst>
          </p:cNvPr>
          <p:cNvCxnSpPr/>
          <p:nvPr/>
        </p:nvCxnSpPr>
        <p:spPr>
          <a:xfrm flipV="1">
            <a:off x="3354388" y="1146384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F1C6A5-2A6B-4AF7-9A72-D13F3EA231C1}"/>
              </a:ext>
            </a:extLst>
          </p:cNvPr>
          <p:cNvCxnSpPr>
            <a:cxnSpLocks/>
          </p:cNvCxnSpPr>
          <p:nvPr/>
        </p:nvCxnSpPr>
        <p:spPr>
          <a:xfrm rot="1500000" flipV="1">
            <a:off x="3796243" y="1500740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95B9AF-86E0-47B9-BFC0-B30BF700F13D}"/>
              </a:ext>
            </a:extLst>
          </p:cNvPr>
          <p:cNvCxnSpPr>
            <a:cxnSpLocks/>
          </p:cNvCxnSpPr>
          <p:nvPr/>
        </p:nvCxnSpPr>
        <p:spPr>
          <a:xfrm rot="3000000" flipV="1">
            <a:off x="4081493" y="1986460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4FCD74-D5FF-4633-96B8-977E2FD79C0C}"/>
              </a:ext>
            </a:extLst>
          </p:cNvPr>
          <p:cNvCxnSpPr>
            <a:cxnSpLocks/>
          </p:cNvCxnSpPr>
          <p:nvPr/>
        </p:nvCxnSpPr>
        <p:spPr>
          <a:xfrm rot="4500000" flipV="1">
            <a:off x="4010555" y="2563108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B8166C-8AB1-446E-9535-B7BE4A21D392}"/>
              </a:ext>
            </a:extLst>
          </p:cNvPr>
          <p:cNvCxnSpPr>
            <a:cxnSpLocks/>
          </p:cNvCxnSpPr>
          <p:nvPr/>
        </p:nvCxnSpPr>
        <p:spPr>
          <a:xfrm rot="6000000" flipV="1">
            <a:off x="3763647" y="3064504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1271C1-66B9-4E71-B75B-7E551BF724C9}"/>
              </a:ext>
            </a:extLst>
          </p:cNvPr>
          <p:cNvCxnSpPr>
            <a:cxnSpLocks/>
          </p:cNvCxnSpPr>
          <p:nvPr/>
        </p:nvCxnSpPr>
        <p:spPr>
          <a:xfrm rot="7500000" flipV="1">
            <a:off x="3363390" y="3438836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761C896-8C21-4ED1-BB97-9CE7B8F7807A}"/>
              </a:ext>
            </a:extLst>
          </p:cNvPr>
          <p:cNvSpPr/>
          <p:nvPr/>
        </p:nvSpPr>
        <p:spPr>
          <a:xfrm>
            <a:off x="1378648" y="1810555"/>
            <a:ext cx="3594186" cy="3236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tial Circle 36">
            <a:extLst>
              <a:ext uri="{FF2B5EF4-FFF2-40B4-BE49-F238E27FC236}">
                <a16:creationId xmlns:a16="http://schemas.microsoft.com/office/drawing/2014/main" id="{9CAE3C71-FD49-41D5-B6EA-CBAD23D6965C}"/>
              </a:ext>
            </a:extLst>
          </p:cNvPr>
          <p:cNvSpPr/>
          <p:nvPr/>
        </p:nvSpPr>
        <p:spPr>
          <a:xfrm rot="19555283">
            <a:off x="1746140" y="1813910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BD2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Partial Circle 37">
            <a:extLst>
              <a:ext uri="{FF2B5EF4-FFF2-40B4-BE49-F238E27FC236}">
                <a16:creationId xmlns:a16="http://schemas.microsoft.com/office/drawing/2014/main" id="{E295E4FA-BAC9-4F12-A985-C42949E2D293}"/>
              </a:ext>
            </a:extLst>
          </p:cNvPr>
          <p:cNvSpPr/>
          <p:nvPr/>
        </p:nvSpPr>
        <p:spPr>
          <a:xfrm rot="18043804">
            <a:off x="1746140" y="1813908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E7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Partial Circle 38">
            <a:extLst>
              <a:ext uri="{FF2B5EF4-FFF2-40B4-BE49-F238E27FC236}">
                <a16:creationId xmlns:a16="http://schemas.microsoft.com/office/drawing/2014/main" id="{37303FED-7F4E-4FF8-A128-0E9253D9BD70}"/>
              </a:ext>
            </a:extLst>
          </p:cNvPr>
          <p:cNvSpPr/>
          <p:nvPr/>
        </p:nvSpPr>
        <p:spPr>
          <a:xfrm rot="16545779">
            <a:off x="1744170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FE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Partial Circle 39">
            <a:extLst>
              <a:ext uri="{FF2B5EF4-FFF2-40B4-BE49-F238E27FC236}">
                <a16:creationId xmlns:a16="http://schemas.microsoft.com/office/drawing/2014/main" id="{42CEEFF0-FB42-4455-9D72-95B33BE199ED}"/>
              </a:ext>
            </a:extLst>
          </p:cNvPr>
          <p:cNvSpPr/>
          <p:nvPr/>
        </p:nvSpPr>
        <p:spPr>
          <a:xfrm rot="21045553">
            <a:off x="1746141" y="1813914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593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Partial Circle 40">
            <a:extLst>
              <a:ext uri="{FF2B5EF4-FFF2-40B4-BE49-F238E27FC236}">
                <a16:creationId xmlns:a16="http://schemas.microsoft.com/office/drawing/2014/main" id="{B3F14FA2-C024-46F5-9D40-8746FB62EA3E}"/>
              </a:ext>
            </a:extLst>
          </p:cNvPr>
          <p:cNvSpPr/>
          <p:nvPr/>
        </p:nvSpPr>
        <p:spPr>
          <a:xfrm rot="984140">
            <a:off x="1746143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00A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Partial Circle 41">
            <a:extLst>
              <a:ext uri="{FF2B5EF4-FFF2-40B4-BE49-F238E27FC236}">
                <a16:creationId xmlns:a16="http://schemas.microsoft.com/office/drawing/2014/main" id="{B05F4231-267C-4E8C-A052-DF77E9934B37}"/>
              </a:ext>
            </a:extLst>
          </p:cNvPr>
          <p:cNvSpPr/>
          <p:nvPr/>
        </p:nvSpPr>
        <p:spPr>
          <a:xfrm rot="2487498">
            <a:off x="1751999" y="181101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74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25BC93-0BD9-4D91-B885-6FAEF5AC44B5}"/>
              </a:ext>
            </a:extLst>
          </p:cNvPr>
          <p:cNvSpPr/>
          <p:nvPr/>
        </p:nvSpPr>
        <p:spPr>
          <a:xfrm>
            <a:off x="1815987" y="2450203"/>
            <a:ext cx="2528888" cy="195398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5546733-B29D-4688-A34F-49A40200489B}"/>
              </a:ext>
            </a:extLst>
          </p:cNvPr>
          <p:cNvSpPr/>
          <p:nvPr/>
        </p:nvSpPr>
        <p:spPr>
          <a:xfrm>
            <a:off x="1887666" y="2654300"/>
            <a:ext cx="2241423" cy="156176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A3A2AF-9A67-471F-8C92-3A7E9F9A5608}"/>
              </a:ext>
            </a:extLst>
          </p:cNvPr>
          <p:cNvSpPr txBox="1"/>
          <p:nvPr/>
        </p:nvSpPr>
        <p:spPr>
          <a:xfrm>
            <a:off x="1804446" y="3089612"/>
            <a:ext cx="2578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600" dirty="0">
                <a:solidFill>
                  <a:srgbClr val="0070C0"/>
                </a:solidFill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Bebas Neue Bold" panose="020B0606020202050201" pitchFamily="34" charset="0"/>
              </a:rPr>
              <a:t>Mathematical Problem</a:t>
            </a:r>
          </a:p>
        </p:txBody>
      </p:sp>
      <p:sp>
        <p:nvSpPr>
          <p:cNvPr id="25" name="Rectangle: Rounded Corners 51">
            <a:extLst>
              <a:ext uri="{FF2B5EF4-FFF2-40B4-BE49-F238E27FC236}">
                <a16:creationId xmlns:a16="http://schemas.microsoft.com/office/drawing/2014/main" id="{B6F9C562-F044-4D2C-8442-795242DE5529}"/>
              </a:ext>
            </a:extLst>
          </p:cNvPr>
          <p:cNvSpPr/>
          <p:nvPr/>
        </p:nvSpPr>
        <p:spPr>
          <a:xfrm>
            <a:off x="4627654" y="467037"/>
            <a:ext cx="5811746" cy="78029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D646A2-136F-4859-9097-5F282A5C4117}"/>
              </a:ext>
            </a:extLst>
          </p:cNvPr>
          <p:cNvSpPr/>
          <p:nvPr/>
        </p:nvSpPr>
        <p:spPr>
          <a:xfrm>
            <a:off x="4680019" y="514283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7FB0C9-3128-4E36-8282-B7D855615DC8}"/>
              </a:ext>
            </a:extLst>
          </p:cNvPr>
          <p:cNvSpPr txBox="1"/>
          <p:nvPr/>
        </p:nvSpPr>
        <p:spPr>
          <a:xfrm>
            <a:off x="4804894" y="621360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1</a:t>
            </a:r>
          </a:p>
        </p:txBody>
      </p:sp>
      <p:sp>
        <p:nvSpPr>
          <p:cNvPr id="35" name="Rectangle: Rounded Corners 52">
            <a:extLst>
              <a:ext uri="{FF2B5EF4-FFF2-40B4-BE49-F238E27FC236}">
                <a16:creationId xmlns:a16="http://schemas.microsoft.com/office/drawing/2014/main" id="{AAD1D8CE-23CA-4164-8BCF-1775C2CD4953}"/>
              </a:ext>
            </a:extLst>
          </p:cNvPr>
          <p:cNvSpPr/>
          <p:nvPr/>
        </p:nvSpPr>
        <p:spPr>
          <a:xfrm>
            <a:off x="5456540" y="1516407"/>
            <a:ext cx="5135260" cy="78029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Polar form Express</a:t>
            </a:r>
            <a:endParaRPr lang="en-US" sz="24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84B8AFC-EEA7-42C3-8AAD-057B4DE359AA}"/>
              </a:ext>
            </a:extLst>
          </p:cNvPr>
          <p:cNvSpPr/>
          <p:nvPr/>
        </p:nvSpPr>
        <p:spPr>
          <a:xfrm>
            <a:off x="5518307" y="1563472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81830-6816-42CF-B9F1-848EE29C6252}"/>
              </a:ext>
            </a:extLst>
          </p:cNvPr>
          <p:cNvSpPr txBox="1"/>
          <p:nvPr/>
        </p:nvSpPr>
        <p:spPr>
          <a:xfrm>
            <a:off x="5666331" y="1686643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2</a:t>
            </a:r>
          </a:p>
        </p:txBody>
      </p:sp>
      <p:sp>
        <p:nvSpPr>
          <p:cNvPr id="40" name="Rectangle: Rounded Corners 55">
            <a:extLst>
              <a:ext uri="{FF2B5EF4-FFF2-40B4-BE49-F238E27FC236}">
                <a16:creationId xmlns:a16="http://schemas.microsoft.com/office/drawing/2014/main" id="{CEB31C13-FE45-402C-8A4F-B67597F78EE4}"/>
              </a:ext>
            </a:extLst>
          </p:cNvPr>
          <p:cNvSpPr/>
          <p:nvPr/>
        </p:nvSpPr>
        <p:spPr>
          <a:xfrm>
            <a:off x="5539183" y="4932801"/>
            <a:ext cx="5921284" cy="78029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region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49B34C4-FCD2-47E6-9B5C-D6BDDE3215CA}"/>
              </a:ext>
            </a:extLst>
          </p:cNvPr>
          <p:cNvSpPr/>
          <p:nvPr/>
        </p:nvSpPr>
        <p:spPr>
          <a:xfrm>
            <a:off x="5583035" y="4971350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98EBBC-DC0C-4DDB-9F1A-27A1323BA208}"/>
              </a:ext>
            </a:extLst>
          </p:cNvPr>
          <p:cNvSpPr txBox="1"/>
          <p:nvPr/>
        </p:nvSpPr>
        <p:spPr>
          <a:xfrm>
            <a:off x="5745882" y="5051241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5</a:t>
            </a:r>
          </a:p>
        </p:txBody>
      </p:sp>
      <p:sp>
        <p:nvSpPr>
          <p:cNvPr id="45" name="Rectangle: Rounded Corners 53">
            <a:extLst>
              <a:ext uri="{FF2B5EF4-FFF2-40B4-BE49-F238E27FC236}">
                <a16:creationId xmlns:a16="http://schemas.microsoft.com/office/drawing/2014/main" id="{AC5E14AE-6928-48A8-839E-EBCE00E18D23}"/>
              </a:ext>
            </a:extLst>
          </p:cNvPr>
          <p:cNvSpPr/>
          <p:nvPr/>
        </p:nvSpPr>
        <p:spPr>
          <a:xfrm>
            <a:off x="5989410" y="2564529"/>
            <a:ext cx="4449990" cy="78029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4FDBFDD-8340-4786-B5F5-3F23629DFC08}"/>
              </a:ext>
            </a:extLst>
          </p:cNvPr>
          <p:cNvSpPr/>
          <p:nvPr/>
        </p:nvSpPr>
        <p:spPr>
          <a:xfrm>
            <a:off x="6051265" y="2612661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5916CE-AB2A-4543-AD58-8238CE7DFEFF}"/>
              </a:ext>
            </a:extLst>
          </p:cNvPr>
          <p:cNvSpPr txBox="1"/>
          <p:nvPr/>
        </p:nvSpPr>
        <p:spPr>
          <a:xfrm>
            <a:off x="6186988" y="2693951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3</a:t>
            </a:r>
          </a:p>
        </p:txBody>
      </p:sp>
      <p:sp>
        <p:nvSpPr>
          <p:cNvPr id="50" name="Rectangle: Rounded Corners 54">
            <a:extLst>
              <a:ext uri="{FF2B5EF4-FFF2-40B4-BE49-F238E27FC236}">
                <a16:creationId xmlns:a16="http://schemas.microsoft.com/office/drawing/2014/main" id="{49A8B012-1545-4436-8528-FBBF0EE522E0}"/>
              </a:ext>
            </a:extLst>
          </p:cNvPr>
          <p:cNvSpPr/>
          <p:nvPr/>
        </p:nvSpPr>
        <p:spPr>
          <a:xfrm>
            <a:off x="5989410" y="3614604"/>
            <a:ext cx="5364390" cy="780295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79CBBB-135D-40C7-90C7-9E2A0EB63DA1}"/>
              </a:ext>
            </a:extLst>
          </p:cNvPr>
          <p:cNvSpPr/>
          <p:nvPr/>
        </p:nvSpPr>
        <p:spPr>
          <a:xfrm>
            <a:off x="6051265" y="3661850"/>
            <a:ext cx="685800" cy="685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C8FE8E-1548-41A5-9544-4944BD64E63A}"/>
              </a:ext>
            </a:extLst>
          </p:cNvPr>
          <p:cNvSpPr txBox="1"/>
          <p:nvPr/>
        </p:nvSpPr>
        <p:spPr>
          <a:xfrm>
            <a:off x="6189973" y="3738355"/>
            <a:ext cx="338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4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024897" y="1066801"/>
            <a:ext cx="655122" cy="8281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640455" y="2025113"/>
            <a:ext cx="808300" cy="43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cxnSpLocks/>
            <a:endCxn id="45" idx="1"/>
          </p:cNvCxnSpPr>
          <p:nvPr/>
        </p:nvCxnSpPr>
        <p:spPr>
          <a:xfrm flipV="1">
            <a:off x="4921304" y="2954677"/>
            <a:ext cx="1068106" cy="2770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cxnSpLocks/>
            <a:endCxn id="50" idx="1"/>
          </p:cNvCxnSpPr>
          <p:nvPr/>
        </p:nvCxnSpPr>
        <p:spPr>
          <a:xfrm>
            <a:off x="4896488" y="3800159"/>
            <a:ext cx="1092922" cy="2045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641061" y="4509509"/>
            <a:ext cx="892433" cy="6634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31098" y="556020"/>
            <a:ext cx="4855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Modulus and Argument</a:t>
            </a:r>
            <a:endParaRPr lang="en-US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162800" y="3797498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 Solutions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AE1AE0-7595-452B-9C11-571552D753AA}"/>
              </a:ext>
            </a:extLst>
          </p:cNvPr>
          <p:cNvSpPr txBox="1"/>
          <p:nvPr/>
        </p:nvSpPr>
        <p:spPr>
          <a:xfrm>
            <a:off x="6771358" y="2720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Roots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7ED0340-3E56-4DD9-811C-E8012D72E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781451"/>
              </p:ext>
            </p:extLst>
          </p:nvPr>
        </p:nvGraphicFramePr>
        <p:xfrm>
          <a:off x="0" y="1128713"/>
          <a:ext cx="103092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" name="Equation" r:id="rId3" imgW="4368600" imgH="393480" progId="Equation.DSMT4">
                  <p:embed/>
                </p:oleObj>
              </mc:Choice>
              <mc:Fallback>
                <p:oleObj name="Equation" r:id="rId3" imgW="4368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128713"/>
                        <a:ext cx="10309225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67899A1-BD46-450C-B93D-8203FC8FE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17286"/>
              </p:ext>
            </p:extLst>
          </p:nvPr>
        </p:nvGraphicFramePr>
        <p:xfrm>
          <a:off x="0" y="2033588"/>
          <a:ext cx="10309225" cy="468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" name="Equation" r:id="rId5" imgW="3657600" imgH="1803240" progId="Equation.DSMT4">
                  <p:embed/>
                </p:oleObj>
              </mc:Choice>
              <mc:Fallback>
                <p:oleObj name="Equation" r:id="rId5" imgW="3657600" imgH="1803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2033588"/>
                        <a:ext cx="10309225" cy="468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E3065978-C194-4948-918A-07641141061B}"/>
              </a:ext>
            </a:extLst>
          </p:cNvPr>
          <p:cNvSpPr/>
          <p:nvPr/>
        </p:nvSpPr>
        <p:spPr>
          <a:xfrm>
            <a:off x="0" y="1"/>
            <a:ext cx="4514850" cy="1085850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Type-I: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Finding Modulus and Argument</a:t>
            </a:r>
          </a:p>
        </p:txBody>
      </p:sp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E657BFC-BEB2-468E-BFC6-E0105BFEE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92848"/>
              </p:ext>
            </p:extLst>
          </p:nvPr>
        </p:nvGraphicFramePr>
        <p:xfrm>
          <a:off x="234950" y="227012"/>
          <a:ext cx="9747250" cy="505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" name="Equation" r:id="rId3" imgW="3416040" imgH="2171520" progId="Equation.DSMT4">
                  <p:embed/>
                </p:oleObj>
              </mc:Choice>
              <mc:Fallback>
                <p:oleObj name="Equation" r:id="rId3" imgW="3416040" imgH="217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950" y="227012"/>
                        <a:ext cx="9747250" cy="5056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1DCDA04-C707-4468-8821-AFBEAFC9F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793132"/>
              </p:ext>
            </p:extLst>
          </p:nvPr>
        </p:nvGraphicFramePr>
        <p:xfrm>
          <a:off x="80962" y="165100"/>
          <a:ext cx="11536363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" name="Equation" r:id="rId3" imgW="4178160" imgH="545760" progId="Equation.DSMT4">
                  <p:embed/>
                </p:oleObj>
              </mc:Choice>
              <mc:Fallback>
                <p:oleObj name="Equation" r:id="rId3" imgW="417816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962" y="165100"/>
                        <a:ext cx="11536363" cy="1376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D39294D-2C4E-4CF6-85D7-FD5A17B52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852972"/>
              </p:ext>
            </p:extLst>
          </p:nvPr>
        </p:nvGraphicFramePr>
        <p:xfrm>
          <a:off x="88900" y="1738313"/>
          <a:ext cx="11528425" cy="450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Equation" r:id="rId5" imgW="3759120" imgH="2171520" progId="Equation.DSMT4">
                  <p:embed/>
                </p:oleObj>
              </mc:Choice>
              <mc:Fallback>
                <p:oleObj name="Equation" r:id="rId5" imgW="3759120" imgH="217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900" y="1738313"/>
                        <a:ext cx="11528425" cy="4503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BB438F6-DC5D-4F62-B7B4-F18ABF5D6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29650"/>
              </p:ext>
            </p:extLst>
          </p:nvPr>
        </p:nvGraphicFramePr>
        <p:xfrm>
          <a:off x="95250" y="0"/>
          <a:ext cx="8077200" cy="232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" name="Equation" r:id="rId3" imgW="3276360" imgH="1002960" progId="Equation.DSMT4">
                  <p:embed/>
                </p:oleObj>
              </mc:Choice>
              <mc:Fallback>
                <p:oleObj name="Equation" r:id="rId3" imgW="3276360" imgH="1002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50" y="0"/>
                        <a:ext cx="8077200" cy="2320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902D171-03D8-47F9-AE7A-EA302DDDBC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788352"/>
              </p:ext>
            </p:extLst>
          </p:nvPr>
        </p:nvGraphicFramePr>
        <p:xfrm>
          <a:off x="136525" y="2386012"/>
          <a:ext cx="8740775" cy="413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" name="Equation" r:id="rId5" imgW="2933640" imgH="1638000" progId="Equation.DSMT4">
                  <p:embed/>
                </p:oleObj>
              </mc:Choice>
              <mc:Fallback>
                <p:oleObj name="Equation" r:id="rId5" imgW="2933640" imgH="1638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6525" y="2386012"/>
                        <a:ext cx="8740775" cy="413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CBD2DF5-A117-478F-B33A-E82664118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1" y="233362"/>
            <a:ext cx="3657600" cy="733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999EA99-78C2-4B5F-877E-A5CA2CBCA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960251"/>
              </p:ext>
            </p:extLst>
          </p:nvPr>
        </p:nvGraphicFramePr>
        <p:xfrm>
          <a:off x="0" y="0"/>
          <a:ext cx="945991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" name="Equation" r:id="rId3" imgW="4063680" imgH="393480" progId="Equation.DSMT4">
                  <p:embed/>
                </p:oleObj>
              </mc:Choice>
              <mc:Fallback>
                <p:oleObj name="Equation" r:id="rId3" imgW="4063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459912" cy="979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B0948BF-D818-4A2E-B021-CD10EF3F0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353813"/>
              </p:ext>
            </p:extLst>
          </p:nvPr>
        </p:nvGraphicFramePr>
        <p:xfrm>
          <a:off x="174625" y="908049"/>
          <a:ext cx="8904288" cy="595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" name="Equation" r:id="rId5" imgW="3060360" imgH="2882880" progId="Equation.DSMT4">
                  <p:embed/>
                </p:oleObj>
              </mc:Choice>
              <mc:Fallback>
                <p:oleObj name="Equation" r:id="rId5" imgW="3060360" imgH="2882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625" y="908049"/>
                        <a:ext cx="8904288" cy="595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A01DE28-A0F1-47AA-8883-75D2F6655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62208"/>
              </p:ext>
            </p:extLst>
          </p:nvPr>
        </p:nvGraphicFramePr>
        <p:xfrm>
          <a:off x="187325" y="136525"/>
          <a:ext cx="119586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" name="Equation" r:id="rId3" imgW="5295600" imgH="215640" progId="Equation.DSMT4">
                  <p:embed/>
                </p:oleObj>
              </mc:Choice>
              <mc:Fallback>
                <p:oleObj name="Equation" r:id="rId3" imgW="5295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325" y="136525"/>
                        <a:ext cx="11958638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B1E45E4-2A64-49F0-A35B-BF9FC47A6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074132"/>
              </p:ext>
            </p:extLst>
          </p:nvPr>
        </p:nvGraphicFramePr>
        <p:xfrm>
          <a:off x="330198" y="811212"/>
          <a:ext cx="8870951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" name="Equation" r:id="rId5" imgW="3429000" imgH="634680" progId="Equation.DSMT4">
                  <p:embed/>
                </p:oleObj>
              </mc:Choice>
              <mc:Fallback>
                <p:oleObj name="Equation" r:id="rId5" imgW="34290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198" y="811212"/>
                        <a:ext cx="8870951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A667602-2E5D-4D24-91CD-37F1C03F57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399" y="2415621"/>
            <a:ext cx="7143751" cy="363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89260B0-C9F9-4FEA-9B88-558CD6BF96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319804"/>
              </p:ext>
            </p:extLst>
          </p:nvPr>
        </p:nvGraphicFramePr>
        <p:xfrm>
          <a:off x="146050" y="136525"/>
          <a:ext cx="10236200" cy="655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" name="Equation" r:id="rId3" imgW="3860640" imgH="2895480" progId="Equation.DSMT4">
                  <p:embed/>
                </p:oleObj>
              </mc:Choice>
              <mc:Fallback>
                <p:oleObj name="Equation" r:id="rId3" imgW="3860640" imgH="289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050" y="136525"/>
                        <a:ext cx="10236200" cy="655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CACE1-63D3-42C8-A2D6-1BC06CC3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1B39F-E3F1-4605-B30A-7123DB4A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25CDED8-608A-4E58-B90F-24F8E5A65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97801"/>
              </p:ext>
            </p:extLst>
          </p:nvPr>
        </p:nvGraphicFramePr>
        <p:xfrm>
          <a:off x="92074" y="136525"/>
          <a:ext cx="10042525" cy="20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Equation" r:id="rId3" imgW="3797280" imgH="838080" progId="Equation.DSMT4">
                  <p:embed/>
                </p:oleObj>
              </mc:Choice>
              <mc:Fallback>
                <p:oleObj name="Equation" r:id="rId3" imgW="37972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074" y="136525"/>
                        <a:ext cx="10042525" cy="2030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6090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CC616-2C3A-4BAB-82AC-36DF8D8C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71102-EDFB-44B0-B3CB-9D4FBD65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D05683A-8A2F-4DE1-915C-533D87845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943698"/>
              </p:ext>
            </p:extLst>
          </p:nvPr>
        </p:nvGraphicFramePr>
        <p:xfrm>
          <a:off x="2209800" y="46037"/>
          <a:ext cx="9934575" cy="649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2" name="Equation" r:id="rId3" imgW="3238200" imgH="2857320" progId="Equation.DSMT4">
                  <p:embed/>
                </p:oleObj>
              </mc:Choice>
              <mc:Fallback>
                <p:oleObj name="Equation" r:id="rId3" imgW="3238200" imgH="285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9800" y="46037"/>
                        <a:ext cx="9934575" cy="649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0594CCB3-14DD-460E-9CD8-7D8CE2890A8B}"/>
              </a:ext>
            </a:extLst>
          </p:cNvPr>
          <p:cNvSpPr/>
          <p:nvPr/>
        </p:nvSpPr>
        <p:spPr>
          <a:xfrm>
            <a:off x="95250" y="117475"/>
            <a:ext cx="2114550" cy="968375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Type-II: Polar form Express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F5D71-04B7-43D4-8B21-A8C95BACB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937" y="1085850"/>
            <a:ext cx="411956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53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4F338-AF95-45B1-8DC9-E06F4632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03460-B472-47BC-A979-FF582118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24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DA02BAD-A571-41D0-9014-A800B6A53BB3}"/>
              </a:ext>
            </a:extLst>
          </p:cNvPr>
          <p:cNvSpPr/>
          <p:nvPr/>
        </p:nvSpPr>
        <p:spPr>
          <a:xfrm>
            <a:off x="80963" y="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D17929A-F690-43C8-88A2-10F821C4EB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234038"/>
              </p:ext>
            </p:extLst>
          </p:nvPr>
        </p:nvGraphicFramePr>
        <p:xfrm>
          <a:off x="2890838" y="136525"/>
          <a:ext cx="93011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0" name="Equation" r:id="rId3" imgW="3835080" imgH="545760" progId="Equation.DSMT4">
                  <p:embed/>
                </p:oleObj>
              </mc:Choice>
              <mc:Fallback>
                <p:oleObj name="Equation" r:id="rId3" imgW="38350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0838" y="136525"/>
                        <a:ext cx="9301162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CAE320B-3CFD-430C-A205-FFC5B9E84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108630"/>
              </p:ext>
            </p:extLst>
          </p:nvPr>
        </p:nvGraphicFramePr>
        <p:xfrm>
          <a:off x="107157" y="1701801"/>
          <a:ext cx="5417344" cy="5181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1" name="Equation" r:id="rId5" imgW="2209680" imgH="2679480" progId="Equation.DSMT4">
                  <p:embed/>
                </p:oleObj>
              </mc:Choice>
              <mc:Fallback>
                <p:oleObj name="Equation" r:id="rId5" imgW="2209680" imgH="267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157" y="1701801"/>
                        <a:ext cx="5417344" cy="51816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524F16-723B-4E51-A48B-9A20D0280EED}"/>
              </a:ext>
            </a:extLst>
          </p:cNvPr>
          <p:cNvCxnSpPr>
            <a:cxnSpLocks/>
          </p:cNvCxnSpPr>
          <p:nvPr/>
        </p:nvCxnSpPr>
        <p:spPr>
          <a:xfrm>
            <a:off x="5657850" y="2286000"/>
            <a:ext cx="41672" cy="45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D121D04-5687-4B4D-9BEE-FD72A2EED2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379250"/>
              </p:ext>
            </p:extLst>
          </p:nvPr>
        </p:nvGraphicFramePr>
        <p:xfrm>
          <a:off x="5859065" y="1562101"/>
          <a:ext cx="5567362" cy="5311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2" name="Equation" r:id="rId7" imgW="2425680" imgH="3670200" progId="Equation.DSMT4">
                  <p:embed/>
                </p:oleObj>
              </mc:Choice>
              <mc:Fallback>
                <p:oleObj name="Equation" r:id="rId7" imgW="2425680" imgH="367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59065" y="1562101"/>
                        <a:ext cx="5567362" cy="5311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269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2C647-E409-4881-99B3-2F4C3A87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56C69-1160-4C3F-A41D-CF7C1A31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EF6E151-24A1-4E36-B214-C567AB421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441569"/>
              </p:ext>
            </p:extLst>
          </p:nvPr>
        </p:nvGraphicFramePr>
        <p:xfrm>
          <a:off x="257175" y="219074"/>
          <a:ext cx="5343525" cy="623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name="Equation" r:id="rId3" imgW="2501640" imgH="2933640" progId="Equation.DSMT4">
                  <p:embed/>
                </p:oleObj>
              </mc:Choice>
              <mc:Fallback>
                <p:oleObj name="Equation" r:id="rId3" imgW="2501640" imgH="2933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175" y="219074"/>
                        <a:ext cx="5343525" cy="6238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DF7EE75-7699-4851-9DF0-7EEED29B2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372399"/>
              </p:ext>
            </p:extLst>
          </p:nvPr>
        </p:nvGraphicFramePr>
        <p:xfrm>
          <a:off x="6191252" y="323849"/>
          <a:ext cx="4552948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Equation" r:id="rId5" imgW="2006280" imgH="939600" progId="Equation.DSMT4">
                  <p:embed/>
                </p:oleObj>
              </mc:Choice>
              <mc:Fallback>
                <p:oleObj name="Equation" r:id="rId5" imgW="20062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91252" y="323849"/>
                        <a:ext cx="4552948" cy="195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621B73-5BA7-40B8-8D24-AE8E095B8970}"/>
              </a:ext>
            </a:extLst>
          </p:cNvPr>
          <p:cNvCxnSpPr/>
          <p:nvPr/>
        </p:nvCxnSpPr>
        <p:spPr>
          <a:xfrm>
            <a:off x="5672137" y="278844"/>
            <a:ext cx="85725" cy="6391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E2ED3B8-27B7-4A9A-9487-62E91E816E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862" y="2047875"/>
            <a:ext cx="6434138" cy="1057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40AF11-560B-4B93-8B93-3ACD41F87166}"/>
              </a:ext>
            </a:extLst>
          </p:cNvPr>
          <p:cNvSpPr txBox="1"/>
          <p:nvPr/>
        </p:nvSpPr>
        <p:spPr>
          <a:xfrm>
            <a:off x="10553700" y="310515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(Ans)</a:t>
            </a:r>
          </a:p>
        </p:txBody>
      </p:sp>
    </p:spTree>
    <p:extLst>
      <p:ext uri="{BB962C8B-B14F-4D97-AF65-F5344CB8AC3E}">
        <p14:creationId xmlns:p14="http://schemas.microsoft.com/office/powerpoint/2010/main" val="363843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A695A-E6F6-459E-96E3-89A568D1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2E3A6-2604-4244-9303-53335335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530B8D2-AC3D-4A16-97D8-67ED8C539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798559"/>
              </p:ext>
            </p:extLst>
          </p:nvPr>
        </p:nvGraphicFramePr>
        <p:xfrm>
          <a:off x="279400" y="1374775"/>
          <a:ext cx="8331200" cy="312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Equation" r:id="rId3" imgW="3022560" imgH="1346040" progId="Equation.DSMT4">
                  <p:embed/>
                </p:oleObj>
              </mc:Choice>
              <mc:Fallback>
                <p:oleObj name="Equation" r:id="rId3" imgW="302256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400" y="1374775"/>
                        <a:ext cx="8331200" cy="3125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98411F0-C8E3-417F-A910-A1894B4F3168}"/>
              </a:ext>
            </a:extLst>
          </p:cNvPr>
          <p:cNvSpPr/>
          <p:nvPr/>
        </p:nvSpPr>
        <p:spPr>
          <a:xfrm>
            <a:off x="95250" y="-9525"/>
            <a:ext cx="3467100" cy="113347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 –III: Finding Roots</a:t>
            </a:r>
          </a:p>
        </p:txBody>
      </p:sp>
    </p:spTree>
    <p:extLst>
      <p:ext uri="{BB962C8B-B14F-4D97-AF65-F5344CB8AC3E}">
        <p14:creationId xmlns:p14="http://schemas.microsoft.com/office/powerpoint/2010/main" val="2464950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8BCDF-DFE2-4E4E-810B-E397F3A7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00B2F-B27D-48D6-9D2C-6074AE13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E8C18D0-F405-4A4B-98FF-7E2F08633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970957"/>
              </p:ext>
            </p:extLst>
          </p:nvPr>
        </p:nvGraphicFramePr>
        <p:xfrm>
          <a:off x="0" y="-1"/>
          <a:ext cx="9563100" cy="6721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" name="Equation" r:id="rId3" imgW="3340080" imgH="3213000" progId="Equation.DSMT4">
                  <p:embed/>
                </p:oleObj>
              </mc:Choice>
              <mc:Fallback>
                <p:oleObj name="Equation" r:id="rId3" imgW="3340080" imgH="321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9563100" cy="6721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7860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DB3E3-E8D2-49E6-BDFB-866DBD66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99C17-32F6-4A42-B20E-5F7FB06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13A81-0B8E-449D-BC6D-D62CABDE50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7262" y="352425"/>
            <a:ext cx="10790873" cy="53390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A863D2-23EB-4DF5-852D-2C463BA1C7AD}"/>
              </a:ext>
            </a:extLst>
          </p:cNvPr>
          <p:cNvSpPr/>
          <p:nvPr/>
        </p:nvSpPr>
        <p:spPr>
          <a:xfrm>
            <a:off x="200025" y="276225"/>
            <a:ext cx="1514475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6B8B1-7E51-4036-AD9C-531CED4BF04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197850" y="4244974"/>
            <a:ext cx="3155950" cy="261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28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8F6A-BF1A-459F-8A40-6AEF9B47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26271-25ED-4FD7-B7D0-3D8497D5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9945A-0C81-4C1D-9143-B96DDEB360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14498" cy="399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5B7177-CB7A-4924-874E-706318BF9AC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022714" y="1866900"/>
            <a:ext cx="2845435" cy="24193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89ED3DB-642D-4C31-9628-E7A0FDCCEF65}"/>
              </a:ext>
            </a:extLst>
          </p:cNvPr>
          <p:cNvSpPr/>
          <p:nvPr/>
        </p:nvSpPr>
        <p:spPr>
          <a:xfrm>
            <a:off x="119063" y="410845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FC4932A-4D25-450F-91C4-361AC33ACA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827685"/>
              </p:ext>
            </p:extLst>
          </p:nvPr>
        </p:nvGraphicFramePr>
        <p:xfrm>
          <a:off x="2705100" y="5121275"/>
          <a:ext cx="67627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5" imgW="2527200" imgH="571320" progId="Equation.DSMT4">
                  <p:embed/>
                </p:oleObj>
              </mc:Choice>
              <mc:Fallback>
                <p:oleObj name="Equation" r:id="rId5" imgW="25272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5100" y="5121275"/>
                        <a:ext cx="6762750" cy="123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5390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09E5-C7BE-499E-A8F1-E06D222A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BA39F-23C0-4244-B1F1-7D0000D0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9EF5B8F-C096-4193-91EC-1EDF56956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259015"/>
              </p:ext>
            </p:extLst>
          </p:nvPr>
        </p:nvGraphicFramePr>
        <p:xfrm>
          <a:off x="4010025" y="136525"/>
          <a:ext cx="81581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1" name="Equation" r:id="rId3" imgW="2857320" imgH="190440" progId="Equation.DSMT4">
                  <p:embed/>
                </p:oleObj>
              </mc:Choice>
              <mc:Fallback>
                <p:oleObj name="Equation" r:id="rId3" imgW="28573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10025" y="136525"/>
                        <a:ext cx="8158163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A2968B7-D9CD-473B-A3F9-C30CAD74A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285671"/>
              </p:ext>
            </p:extLst>
          </p:nvPr>
        </p:nvGraphicFramePr>
        <p:xfrm>
          <a:off x="4152900" y="447675"/>
          <a:ext cx="5372100" cy="626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2" name="Equation" r:id="rId5" imgW="1587240" imgH="2857320" progId="Equation.DSMT4">
                  <p:embed/>
                </p:oleObj>
              </mc:Choice>
              <mc:Fallback>
                <p:oleObj name="Equation" r:id="rId5" imgW="1587240" imgH="285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2900" y="447675"/>
                        <a:ext cx="5372100" cy="626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F2456B0-88A7-4A6E-941A-BE235840B162}"/>
              </a:ext>
            </a:extLst>
          </p:cNvPr>
          <p:cNvSpPr/>
          <p:nvPr/>
        </p:nvSpPr>
        <p:spPr>
          <a:xfrm>
            <a:off x="95250" y="-9525"/>
            <a:ext cx="3486150" cy="113347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 –IV: Finding  Solutions</a:t>
            </a:r>
          </a:p>
        </p:txBody>
      </p:sp>
    </p:spTree>
    <p:extLst>
      <p:ext uri="{BB962C8B-B14F-4D97-AF65-F5344CB8AC3E}">
        <p14:creationId xmlns:p14="http://schemas.microsoft.com/office/powerpoint/2010/main" val="3263015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09E5-C7BE-499E-A8F1-E06D222A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BA39F-23C0-4244-B1F1-7D0000D0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9EF5B8F-C096-4193-91EC-1EDF56956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860845"/>
              </p:ext>
            </p:extLst>
          </p:nvPr>
        </p:nvGraphicFramePr>
        <p:xfrm>
          <a:off x="-66675" y="0"/>
          <a:ext cx="8791575" cy="434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2" name="Equation" r:id="rId3" imgW="2920680" imgH="190440" progId="Equation.DSMT4">
                  <p:embed/>
                </p:oleObj>
              </mc:Choice>
              <mc:Fallback>
                <p:oleObj name="Equation" r:id="rId3" imgW="2920680" imgH="1904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9EF5B8F-C096-4193-91EC-1EDF56956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66675" y="0"/>
                        <a:ext cx="8791575" cy="434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A2968B7-D9CD-473B-A3F9-C30CAD74A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558322"/>
              </p:ext>
            </p:extLst>
          </p:nvPr>
        </p:nvGraphicFramePr>
        <p:xfrm>
          <a:off x="2276475" y="325437"/>
          <a:ext cx="4992688" cy="639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3" name="Equation" r:id="rId5" imgW="1638000" imgH="3238200" progId="Equation.DSMT4">
                  <p:embed/>
                </p:oleObj>
              </mc:Choice>
              <mc:Fallback>
                <p:oleObj name="Equation" r:id="rId5" imgW="1638000" imgH="32382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A2968B7-D9CD-473B-A3F9-C30CAD74A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6475" y="325437"/>
                        <a:ext cx="4992688" cy="639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680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AA362-F490-4188-8059-7269F562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C120C-41AC-4945-B529-0AB88299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DFB972B-567F-4F8F-A674-4B79F8BC9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590176"/>
              </p:ext>
            </p:extLst>
          </p:nvPr>
        </p:nvGraphicFramePr>
        <p:xfrm>
          <a:off x="0" y="41274"/>
          <a:ext cx="7524751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0" name="Equation" r:id="rId3" imgW="2920680" imgH="190440" progId="Equation.DSMT4">
                  <p:embed/>
                </p:oleObj>
              </mc:Choice>
              <mc:Fallback>
                <p:oleObj name="Equation" r:id="rId3" imgW="29206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1274"/>
                        <a:ext cx="7524751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0C5466-0989-4983-A710-2BD262F91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092631"/>
              </p:ext>
            </p:extLst>
          </p:nvPr>
        </p:nvGraphicFramePr>
        <p:xfrm>
          <a:off x="69848" y="495299"/>
          <a:ext cx="7197725" cy="5861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1" name="Equation" r:id="rId5" imgW="3149280" imgH="2692080" progId="Equation.DSMT4">
                  <p:embed/>
                </p:oleObj>
              </mc:Choice>
              <mc:Fallback>
                <p:oleObj name="Equation" r:id="rId5" imgW="3149280" imgH="269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848" y="495299"/>
                        <a:ext cx="7197725" cy="5861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1796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014BB-D4E0-4970-A338-06691726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84F5D-AFE2-4DC6-9EF8-12950F60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3000951-9FC8-4B59-A69F-51A830D4C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467334"/>
              </p:ext>
            </p:extLst>
          </p:nvPr>
        </p:nvGraphicFramePr>
        <p:xfrm>
          <a:off x="150813" y="66675"/>
          <a:ext cx="6665912" cy="648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5" name="Equation" r:id="rId3" imgW="2323800" imgH="3035160" progId="Equation.DSMT4">
                  <p:embed/>
                </p:oleObj>
              </mc:Choice>
              <mc:Fallback>
                <p:oleObj name="Equation" r:id="rId3" imgW="2323800" imgH="303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813" y="66675"/>
                        <a:ext cx="6665912" cy="648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3870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A313-6651-4EED-A406-015E8DDD1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C13D2-802F-45D4-83F8-3FA3173E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64762CC-A7F5-47BA-A5F9-70846A29B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701884"/>
              </p:ext>
            </p:extLst>
          </p:nvPr>
        </p:nvGraphicFramePr>
        <p:xfrm>
          <a:off x="3455988" y="479425"/>
          <a:ext cx="7637462" cy="412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1" name="Equation" r:id="rId3" imgW="3187440" imgH="1663560" progId="Equation.DSMT4">
                  <p:embed/>
                </p:oleObj>
              </mc:Choice>
              <mc:Fallback>
                <p:oleObj name="Equation" r:id="rId3" imgW="3187440" imgH="1663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55988" y="479425"/>
                        <a:ext cx="7637462" cy="412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521819C6-8B1D-49D0-875F-DEBCDC4EB7AD}"/>
              </a:ext>
            </a:extLst>
          </p:cNvPr>
          <p:cNvSpPr/>
          <p:nvPr/>
        </p:nvSpPr>
        <p:spPr>
          <a:xfrm>
            <a:off x="80963" y="136525"/>
            <a:ext cx="3375025" cy="968375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 V-: Determine the region </a:t>
            </a:r>
          </a:p>
        </p:txBody>
      </p:sp>
    </p:spTree>
    <p:extLst>
      <p:ext uri="{BB962C8B-B14F-4D97-AF65-F5344CB8AC3E}">
        <p14:creationId xmlns:p14="http://schemas.microsoft.com/office/powerpoint/2010/main" val="1762967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BCFD5-AB4F-4167-BFD6-2FBA0238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D1266-00BE-4194-8A1A-67EC7791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BFF095F-87B3-4F28-BECC-BFD1EBAC3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588283"/>
              </p:ext>
            </p:extLst>
          </p:nvPr>
        </p:nvGraphicFramePr>
        <p:xfrm>
          <a:off x="73024" y="136525"/>
          <a:ext cx="12042776" cy="583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1" name="Equation" r:id="rId3" imgW="4635360" imgH="1968480" progId="Equation.DSMT4">
                  <p:embed/>
                </p:oleObj>
              </mc:Choice>
              <mc:Fallback>
                <p:oleObj name="Equation" r:id="rId3" imgW="4635360" imgH="1968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024" y="136525"/>
                        <a:ext cx="12042776" cy="583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CB7BC60-16F2-4188-A8C2-B198848A4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971" y="295276"/>
            <a:ext cx="5786679" cy="341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32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6A512-AE16-4B4D-8544-24732535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66740-0FCC-40D3-A2AF-5F9B5557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D8D8D99-FB2F-453F-A758-E8B895DE0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736548"/>
              </p:ext>
            </p:extLst>
          </p:nvPr>
        </p:nvGraphicFramePr>
        <p:xfrm>
          <a:off x="95249" y="136526"/>
          <a:ext cx="8791575" cy="410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2" name="Equation" r:id="rId3" imgW="2933640" imgH="1841400" progId="Equation.DSMT4">
                  <p:embed/>
                </p:oleObj>
              </mc:Choice>
              <mc:Fallback>
                <p:oleObj name="Equation" r:id="rId3" imgW="2933640" imgH="1841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49" y="136526"/>
                        <a:ext cx="8791575" cy="410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2DC9D98-0CD9-4723-A0CE-D9020CC91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450862"/>
              </p:ext>
            </p:extLst>
          </p:nvPr>
        </p:nvGraphicFramePr>
        <p:xfrm>
          <a:off x="77788" y="4238625"/>
          <a:ext cx="78263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3" name="Equation" r:id="rId5" imgW="2882880" imgH="1130040" progId="Equation.DSMT4">
                  <p:embed/>
                </p:oleObj>
              </mc:Choice>
              <mc:Fallback>
                <p:oleObj name="Equation" r:id="rId5" imgW="288288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788" y="4238625"/>
                        <a:ext cx="7826375" cy="233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11EEAD6-2384-4965-9AB3-033148D60F2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363" y="136525"/>
            <a:ext cx="4363437" cy="322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9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9B85E-6B80-44FA-8507-FA7021A0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AEDB2-2B95-4409-AE85-309D2327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554A4-6E65-4E0A-953E-A62E77EB675C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55A7350-72BD-4B21-9647-0DBD72AF4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983432"/>
              </p:ext>
            </p:extLst>
          </p:nvPr>
        </p:nvGraphicFramePr>
        <p:xfrm>
          <a:off x="-50801" y="-19051"/>
          <a:ext cx="10899775" cy="5086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3" name="Equation" r:id="rId3" imgW="3911400" imgH="1993680" progId="Equation.DSMT4">
                  <p:embed/>
                </p:oleObj>
              </mc:Choice>
              <mc:Fallback>
                <p:oleObj name="Equation" r:id="rId3" imgW="3911400" imgH="1993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50801" y="-19051"/>
                        <a:ext cx="10899775" cy="5086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3845F2C-C904-41BC-A287-ACC77701EF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118" y="-19051"/>
            <a:ext cx="493568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45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A7FCC81-BACD-4958-96F3-100DDE97A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030819"/>
              </p:ext>
            </p:extLst>
          </p:nvPr>
        </p:nvGraphicFramePr>
        <p:xfrm>
          <a:off x="0" y="-19050"/>
          <a:ext cx="7664450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2" name="Equation" r:id="rId3" imgW="2869920" imgH="1130040" progId="Equation.DSMT4">
                  <p:embed/>
                </p:oleObj>
              </mc:Choice>
              <mc:Fallback>
                <p:oleObj name="Equation" r:id="rId3" imgW="286992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-19050"/>
                        <a:ext cx="7664450" cy="235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7D0C563-32A9-4099-BACC-3DA4DFAFC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515678"/>
              </p:ext>
            </p:extLst>
          </p:nvPr>
        </p:nvGraphicFramePr>
        <p:xfrm>
          <a:off x="4507464" y="1660887"/>
          <a:ext cx="6935788" cy="508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3" name="Equation" r:id="rId5" imgW="2489040" imgH="1993680" progId="Equation.DSMT4">
                  <p:embed/>
                </p:oleObj>
              </mc:Choice>
              <mc:Fallback>
                <p:oleObj name="Equation" r:id="rId5" imgW="2489040" imgH="19936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55A7350-72BD-4B21-9647-0DBD72AF44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7464" y="1660887"/>
                        <a:ext cx="6935788" cy="508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1661EC9-C348-465B-A8C0-AD65B30D744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118" y="110763"/>
            <a:ext cx="4551796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2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4636153-EB7B-4962-B3FB-8A7580BD5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125060"/>
              </p:ext>
            </p:extLst>
          </p:nvPr>
        </p:nvGraphicFramePr>
        <p:xfrm>
          <a:off x="117475" y="0"/>
          <a:ext cx="6515100" cy="300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3" name="Equation" r:id="rId3" imgW="2603160" imgH="1257120" progId="Equation.DSMT4">
                  <p:embed/>
                </p:oleObj>
              </mc:Choice>
              <mc:Fallback>
                <p:oleObj name="Equation" r:id="rId3" imgW="260316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475" y="0"/>
                        <a:ext cx="6515100" cy="300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CD25CCF-403B-493C-A055-671A03DFC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274859"/>
              </p:ext>
            </p:extLst>
          </p:nvPr>
        </p:nvGraphicFramePr>
        <p:xfrm>
          <a:off x="0" y="4229101"/>
          <a:ext cx="121920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4" name="Equation" r:id="rId5" imgW="5981400" imgH="825480" progId="Equation.DSMT4">
                  <p:embed/>
                </p:oleObj>
              </mc:Choice>
              <mc:Fallback>
                <p:oleObj name="Equation" r:id="rId5" imgW="59814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4229101"/>
                        <a:ext cx="12192000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96362B6-D967-44B3-887C-CDDE76417F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808" y="914399"/>
            <a:ext cx="476150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01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0F4A38C-59AB-409B-9DD0-CFAB4AB13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703748"/>
              </p:ext>
            </p:extLst>
          </p:nvPr>
        </p:nvGraphicFramePr>
        <p:xfrm>
          <a:off x="88899" y="650875"/>
          <a:ext cx="11731625" cy="470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1" name="Equation" r:id="rId3" imgW="4089240" imgH="1726920" progId="Equation.DSMT4">
                  <p:embed/>
                </p:oleObj>
              </mc:Choice>
              <mc:Fallback>
                <p:oleObj name="Equation" r:id="rId3" imgW="4089240" imgH="1726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899" y="650875"/>
                        <a:ext cx="11731625" cy="4702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B845256-E3FB-4498-B68E-F28A3B3007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004" y="774699"/>
            <a:ext cx="4182392" cy="204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91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C518-524D-4776-BE6F-739FBF7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A5D96-AC7A-447E-B416-64563D6E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41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8BB01D9-0451-4B66-9B9A-9F3B12638D08}"/>
              </a:ext>
            </a:extLst>
          </p:cNvPr>
          <p:cNvSpPr/>
          <p:nvPr/>
        </p:nvSpPr>
        <p:spPr>
          <a:xfrm>
            <a:off x="80963" y="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0BFA20D-3618-4C1A-A605-CAD2CDEA5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24879"/>
              </p:ext>
            </p:extLst>
          </p:nvPr>
        </p:nvGraphicFramePr>
        <p:xfrm>
          <a:off x="2852738" y="431800"/>
          <a:ext cx="7759700" cy="27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3" imgW="3238200" imgH="1117440" progId="Equation.DSMT4">
                  <p:embed/>
                </p:oleObj>
              </mc:Choice>
              <mc:Fallback>
                <p:oleObj name="Equation" r:id="rId3" imgW="3238200" imgH="11174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64762CC-A7F5-47BA-A5F9-70846A29B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2738" y="431800"/>
                        <a:ext cx="7759700" cy="2770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720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6181</TotalTime>
  <Words>244</Words>
  <Application>Microsoft Office PowerPoint</Application>
  <PresentationFormat>Widescreen</PresentationFormat>
  <Paragraphs>122</Paragraphs>
  <Slides>41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Algerian</vt:lpstr>
      <vt:lpstr>Arial</vt:lpstr>
      <vt:lpstr>Arial Black</vt:lpstr>
      <vt:lpstr>Bebas Neue Bold</vt:lpstr>
      <vt:lpstr>Calibri</vt:lpstr>
      <vt:lpstr>Calibri Light</vt:lpstr>
      <vt:lpstr>Eurostile BQ</vt:lpstr>
      <vt:lpstr>Sitka Banner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435</cp:revision>
  <dcterms:created xsi:type="dcterms:W3CDTF">2024-04-27T09:17:32Z</dcterms:created>
  <dcterms:modified xsi:type="dcterms:W3CDTF">2026-06-23T03:27:40Z</dcterms:modified>
</cp:coreProperties>
</file>