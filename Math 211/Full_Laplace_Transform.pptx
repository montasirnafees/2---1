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2"/>
  </p:notesMasterIdLst>
  <p:sldIdLst>
    <p:sldId id="263" r:id="rId2"/>
    <p:sldId id="271" r:id="rId3"/>
    <p:sldId id="29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90" r:id="rId26"/>
    <p:sldId id="291" r:id="rId27"/>
    <p:sldId id="287" r:id="rId28"/>
    <p:sldId id="288" r:id="rId29"/>
    <p:sldId id="289" r:id="rId30"/>
    <p:sldId id="292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AA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7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0.wmf"/><Relationship Id="rId1" Type="http://schemas.openxmlformats.org/officeDocument/2006/relationships/image" Target="../media/image39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83A452-B961-4A54-B530-4E6671BD5616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DF38D3-F6E1-417B-8A40-D62BBDD27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537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FC85A0-BDF0-43DE-84B8-A00E7437346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310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8248F-29FC-47B1-BA71-36E3FE9B8B32}" type="datetime1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724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123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C6BDC-08A3-4386-BDCF-B7E2239B2D4A}" type="datetime1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911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7F5E-0325-4CF2-A52D-E5D76A068EDF}" type="datetime1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929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12D1C-CE9E-4E16-B350-97D0E823F121}" type="datetime1">
              <a:rPr lang="en-US" smtClean="0"/>
              <a:t>10/18/2025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211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A659A-B6AB-4FBC-9AD1-6FB0678898B7}" type="datetime1">
              <a:rPr lang="en-US" smtClean="0"/>
              <a:t>10/18/2025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205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53B74-C8AE-4543-99F7-30AACFAED325}" type="datetime1">
              <a:rPr lang="en-US" smtClean="0"/>
              <a:t>10/18/2025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546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8871D-5DA4-4DCF-AF65-212F23F4BFED}" type="datetime1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638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D4A45-D1C0-4E5E-BE57-9765DCD4D490}" type="datetime1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431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749A8-9B8F-4B69-BCF1-361BF44FBA13}" type="datetime1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564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396FA-F610-4150-9D63-C46A2C3DFB0F}" type="datetime1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3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DEFF80-BAB3-4094-96B5-DC8EBCD2E218}" type="datetime1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559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9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1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image" Target="../media/image4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38.png"/><Relationship Id="rId4" Type="http://schemas.openxmlformats.org/officeDocument/2006/relationships/image" Target="../media/image46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48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49.w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5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F6FE11E-7142-4712-A99F-88582EB9D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2444" b="-1"/>
          <a:stretch/>
        </p:blipFill>
        <p:spPr>
          <a:xfrm>
            <a:off x="20" y="0"/>
            <a:ext cx="1219198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0CAA981-2C11-4FB4-A6A2-67F4E9474D86}"/>
              </a:ext>
            </a:extLst>
          </p:cNvPr>
          <p:cNvSpPr txBox="1">
            <a:spLocks/>
          </p:cNvSpPr>
          <p:nvPr/>
        </p:nvSpPr>
        <p:spPr>
          <a:xfrm>
            <a:off x="1625886" y="227599"/>
            <a:ext cx="9125163" cy="1296402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</a:t>
            </a:r>
            <a:r>
              <a:rPr lang="en-US" sz="3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Course Code: MATH 211</a:t>
            </a:r>
          </a:p>
          <a:p>
            <a:pPr algn="ctr"/>
            <a:r>
              <a:rPr lang="en-US" sz="3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Title: MATH III</a:t>
            </a:r>
            <a:endParaRPr lang="en-US" sz="3300" b="1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3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1 (Laplace Transform)</a:t>
            </a:r>
            <a:endParaRPr lang="en-US" sz="3300" b="1" dirty="0">
              <a:solidFill>
                <a:srgbClr val="92D050"/>
              </a:solidFill>
              <a:latin typeface="Sitka Banner" panose="02000505000000020004" pitchFamily="2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47341F-0D3F-4D32-8F16-2599205E8FDD}"/>
              </a:ext>
            </a:extLst>
          </p:cNvPr>
          <p:cNvSpPr txBox="1"/>
          <p:nvPr/>
        </p:nvSpPr>
        <p:spPr>
          <a:xfrm>
            <a:off x="6877050" y="3976312"/>
            <a:ext cx="5115889" cy="280698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76200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 err="1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Tazin</a:t>
            </a: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Tamanna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Lecturer in Mathematics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Department of Science and Humanities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M.Sc. in Applied Mathematics (KU)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B.Sc. in Mathematics (KU)</a:t>
            </a:r>
          </a:p>
          <a:p>
            <a:pPr algn="ctr">
              <a:lnSpc>
                <a:spcPct val="150000"/>
              </a:lnSpc>
            </a:pPr>
            <a:endParaRPr lang="en-US" sz="20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642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169B2-0269-4A57-92F6-1FB5E8D87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10/18/2025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77C29C-6519-45F9-9194-F14A111DB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4D3E48-0262-46AD-8842-34E7F0DA85D8}"/>
              </a:ext>
            </a:extLst>
          </p:cNvPr>
          <p:cNvSpPr/>
          <p:nvPr/>
        </p:nvSpPr>
        <p:spPr>
          <a:xfrm>
            <a:off x="3648075" y="247650"/>
            <a:ext cx="3876675" cy="6191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Laplace Transform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A2376B-EEB8-4226-B036-5E69D41E4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8725"/>
            <a:ext cx="4886325" cy="4381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BC681B-CACE-41EC-99C8-690BAC4434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1151"/>
          <a:stretch/>
        </p:blipFill>
        <p:spPr>
          <a:xfrm>
            <a:off x="0" y="1776413"/>
            <a:ext cx="9791700" cy="205032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3668EB-3807-441E-A64B-2206E73F8F08}"/>
              </a:ext>
            </a:extLst>
          </p:cNvPr>
          <p:cNvSpPr txBox="1"/>
          <p:nvPr/>
        </p:nvSpPr>
        <p:spPr>
          <a:xfrm>
            <a:off x="0" y="5530699"/>
            <a:ext cx="38481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Lecture Division on Laplace Transform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E95389A-6AA1-4017-9212-48EF0612B665}"/>
              </a:ext>
            </a:extLst>
          </p:cNvPr>
          <p:cNvCxnSpPr>
            <a:cxnSpLocks/>
          </p:cNvCxnSpPr>
          <p:nvPr/>
        </p:nvCxnSpPr>
        <p:spPr>
          <a:xfrm flipV="1">
            <a:off x="3848100" y="5112736"/>
            <a:ext cx="1333500" cy="434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F030DDD-E1AF-406B-A74D-579E74D80D8B}"/>
              </a:ext>
            </a:extLst>
          </p:cNvPr>
          <p:cNvSpPr txBox="1"/>
          <p:nvPr/>
        </p:nvSpPr>
        <p:spPr>
          <a:xfrm>
            <a:off x="5181600" y="4814721"/>
            <a:ext cx="5305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Laplace Transform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E8C279E-03F5-4FEF-833C-DDBC7B552CC8}"/>
              </a:ext>
            </a:extLst>
          </p:cNvPr>
          <p:cNvCxnSpPr>
            <a:cxnSpLocks/>
          </p:cNvCxnSpPr>
          <p:nvPr/>
        </p:nvCxnSpPr>
        <p:spPr>
          <a:xfrm>
            <a:off x="3848100" y="5900396"/>
            <a:ext cx="1266825" cy="4559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A3D01F4-5B0D-440A-83F3-669E3CFB522B}"/>
              </a:ext>
            </a:extLst>
          </p:cNvPr>
          <p:cNvSpPr txBox="1"/>
          <p:nvPr/>
        </p:nvSpPr>
        <p:spPr>
          <a:xfrm>
            <a:off x="5172075" y="5499921"/>
            <a:ext cx="5305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Inverse Laplace Transform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CD6B51-3C75-4FDF-A907-39563BEB5A6E}"/>
              </a:ext>
            </a:extLst>
          </p:cNvPr>
          <p:cNvSpPr txBox="1"/>
          <p:nvPr/>
        </p:nvSpPr>
        <p:spPr>
          <a:xfrm>
            <a:off x="5114925" y="6122024"/>
            <a:ext cx="5305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Application of Laplace Transform (ODE Solution)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2962C69-DB04-4E96-B3B7-1B6D01F5A9B2}"/>
              </a:ext>
            </a:extLst>
          </p:cNvPr>
          <p:cNvCxnSpPr>
            <a:cxnSpLocks/>
            <a:stCxn id="9" idx="3"/>
            <a:endCxn id="18" idx="1"/>
          </p:cNvCxnSpPr>
          <p:nvPr/>
        </p:nvCxnSpPr>
        <p:spPr>
          <a:xfrm flipV="1">
            <a:off x="3848100" y="5699976"/>
            <a:ext cx="1323975" cy="15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CDA5BCD-B345-45C3-A323-BBE6911234D7}"/>
              </a:ext>
            </a:extLst>
          </p:cNvPr>
          <p:cNvSpPr txBox="1"/>
          <p:nvPr/>
        </p:nvSpPr>
        <p:spPr>
          <a:xfrm>
            <a:off x="1" y="3948310"/>
            <a:ext cx="10687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‘</a:t>
            </a:r>
            <a:r>
              <a:rPr lang="en-US" sz="2400" dirty="0"/>
              <a:t>s’ is a parameter which may be real or complex number.</a:t>
            </a:r>
          </a:p>
        </p:txBody>
      </p:sp>
    </p:spTree>
    <p:extLst>
      <p:ext uri="{BB962C8B-B14F-4D97-AF65-F5344CB8AC3E}">
        <p14:creationId xmlns:p14="http://schemas.microsoft.com/office/powerpoint/2010/main" val="4201978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B863A-3B94-4626-805C-45908B671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10/18/2025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D97777-186C-4162-A80D-7A657D00F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3</a:t>
            </a:fld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77E5D24-5E13-431B-BDF7-7CD77B3F217D}"/>
              </a:ext>
            </a:extLst>
          </p:cNvPr>
          <p:cNvSpPr/>
          <p:nvPr/>
        </p:nvSpPr>
        <p:spPr>
          <a:xfrm>
            <a:off x="4105274" y="1876425"/>
            <a:ext cx="3552825" cy="1476375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Laplace Transform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6E72129-9B99-4BDF-BA84-7D56092B1EC8}"/>
              </a:ext>
            </a:extLst>
          </p:cNvPr>
          <p:cNvCxnSpPr/>
          <p:nvPr/>
        </p:nvCxnSpPr>
        <p:spPr>
          <a:xfrm flipV="1">
            <a:off x="7258050" y="1446907"/>
            <a:ext cx="1228725" cy="714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4D52D1A-29E5-4F65-B730-7492D29E3E34}"/>
              </a:ext>
            </a:extLst>
          </p:cNvPr>
          <p:cNvSpPr txBox="1"/>
          <p:nvPr/>
        </p:nvSpPr>
        <p:spPr>
          <a:xfrm>
            <a:off x="8610600" y="985242"/>
            <a:ext cx="35337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Control Systems</a:t>
            </a:r>
            <a:r>
              <a:rPr lang="en-US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→ Transfer functions, stability, system response.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5AE7D28-840D-4544-998D-EFFA8E5280EC}"/>
              </a:ext>
            </a:extLst>
          </p:cNvPr>
          <p:cNvCxnSpPr>
            <a:cxnSpLocks/>
          </p:cNvCxnSpPr>
          <p:nvPr/>
        </p:nvCxnSpPr>
        <p:spPr>
          <a:xfrm flipV="1">
            <a:off x="7658099" y="2510881"/>
            <a:ext cx="1152526" cy="238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3D40B47-100D-45D7-B464-88FFDC4EB91B}"/>
              </a:ext>
            </a:extLst>
          </p:cNvPr>
          <p:cNvSpPr txBox="1"/>
          <p:nvPr/>
        </p:nvSpPr>
        <p:spPr>
          <a:xfrm>
            <a:off x="8486775" y="2295376"/>
            <a:ext cx="370522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US" sz="2000" b="1" dirty="0"/>
              <a:t>Mechanical Systems</a:t>
            </a:r>
            <a:r>
              <a:rPr lang="en-US" sz="2000" dirty="0"/>
              <a:t> → Analyze vibrations </a:t>
            </a:r>
          </a:p>
          <a:p>
            <a:pPr algn="ctr"/>
            <a:r>
              <a:rPr lang="en-US" sz="2000" dirty="0"/>
              <a:t>&amp; damping.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EBC891E-63E0-4537-BBC0-F08FB260D39B}"/>
              </a:ext>
            </a:extLst>
          </p:cNvPr>
          <p:cNvCxnSpPr>
            <a:cxnSpLocks/>
          </p:cNvCxnSpPr>
          <p:nvPr/>
        </p:nvCxnSpPr>
        <p:spPr>
          <a:xfrm>
            <a:off x="7296149" y="3079852"/>
            <a:ext cx="1314451" cy="4253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4BD6A25-1051-4F31-B53B-49F11DDEE80B}"/>
              </a:ext>
            </a:extLst>
          </p:cNvPr>
          <p:cNvSpPr txBox="1"/>
          <p:nvPr/>
        </p:nvSpPr>
        <p:spPr>
          <a:xfrm>
            <a:off x="8673703" y="3445133"/>
            <a:ext cx="351829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/>
              <a:t>Signal Processing</a:t>
            </a:r>
            <a:r>
              <a:rPr lang="en-US" sz="2000" dirty="0"/>
              <a:t> → Filter and system design.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AC37045-6CD3-4404-9125-3CE64B1035AD}"/>
              </a:ext>
            </a:extLst>
          </p:cNvPr>
          <p:cNvCxnSpPr/>
          <p:nvPr/>
        </p:nvCxnSpPr>
        <p:spPr>
          <a:xfrm flipH="1" flipV="1">
            <a:off x="3581400" y="1446907"/>
            <a:ext cx="895350" cy="6960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84BBD57-1E6E-4323-A2E3-078345808EB5}"/>
              </a:ext>
            </a:extLst>
          </p:cNvPr>
          <p:cNvSpPr txBox="1"/>
          <p:nvPr/>
        </p:nvSpPr>
        <p:spPr>
          <a:xfrm>
            <a:off x="0" y="1039624"/>
            <a:ext cx="3581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US" sz="2000" b="1" dirty="0"/>
              <a:t>Probability</a:t>
            </a:r>
            <a:r>
              <a:rPr lang="en-US" sz="2000" dirty="0"/>
              <a:t> → Compute statistical moments.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003AD18-7D35-4B6B-83D4-47ADF5CF2BB5}"/>
              </a:ext>
            </a:extLst>
          </p:cNvPr>
          <p:cNvCxnSpPr>
            <a:cxnSpLocks/>
            <a:stCxn id="2" idx="2"/>
          </p:cNvCxnSpPr>
          <p:nvPr/>
        </p:nvCxnSpPr>
        <p:spPr>
          <a:xfrm flipH="1">
            <a:off x="2981325" y="2614613"/>
            <a:ext cx="11239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B1918ED-C7BE-42B8-A0EC-F27D4A4B0C8B}"/>
              </a:ext>
            </a:extLst>
          </p:cNvPr>
          <p:cNvSpPr txBox="1"/>
          <p:nvPr/>
        </p:nvSpPr>
        <p:spPr>
          <a:xfrm>
            <a:off x="428624" y="2295376"/>
            <a:ext cx="26979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US" sz="2000" b="1" dirty="0"/>
              <a:t>Heat/Fluid PDEs</a:t>
            </a:r>
            <a:r>
              <a:rPr lang="en-US" sz="2000" dirty="0"/>
              <a:t> → Solve diffusion</a:t>
            </a:r>
          </a:p>
          <a:p>
            <a:pPr algn="ctr"/>
            <a:r>
              <a:rPr lang="en-US" sz="2000" dirty="0"/>
              <a:t> &amp; conduction problems.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68AF548-658B-40CF-A7DC-6DF19E433BD0}"/>
              </a:ext>
            </a:extLst>
          </p:cNvPr>
          <p:cNvCxnSpPr>
            <a:cxnSpLocks/>
          </p:cNvCxnSpPr>
          <p:nvPr/>
        </p:nvCxnSpPr>
        <p:spPr>
          <a:xfrm flipH="1">
            <a:off x="3241775" y="3037452"/>
            <a:ext cx="1234975" cy="6619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5B8392C-1DD0-487C-A548-DEA4A948229C}"/>
              </a:ext>
            </a:extLst>
          </p:cNvPr>
          <p:cNvSpPr txBox="1"/>
          <p:nvPr/>
        </p:nvSpPr>
        <p:spPr>
          <a:xfrm>
            <a:off x="428624" y="3587198"/>
            <a:ext cx="245030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US" sz="2000" b="1" dirty="0"/>
              <a:t>Communications</a:t>
            </a:r>
            <a:r>
              <a:rPr lang="en-US" sz="2000" dirty="0"/>
              <a:t> → Transmission,</a:t>
            </a:r>
          </a:p>
          <a:p>
            <a:pPr algn="ctr"/>
            <a:r>
              <a:rPr lang="en-US" sz="2000" dirty="0"/>
              <a:t> bandwidth, filter design.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A1C33A-DC01-4D76-B56F-2506ED8A11B2}"/>
              </a:ext>
            </a:extLst>
          </p:cNvPr>
          <p:cNvSpPr txBox="1"/>
          <p:nvPr/>
        </p:nvSpPr>
        <p:spPr>
          <a:xfrm>
            <a:off x="3126580" y="114300"/>
            <a:ext cx="5547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highlight>
                  <a:srgbClr val="FFFF00"/>
                </a:highlight>
              </a:rPr>
              <a:t>Why Do We Need Laplace Transform?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215EBBC-B358-478E-8C82-D6FBB6622D63}"/>
              </a:ext>
            </a:extLst>
          </p:cNvPr>
          <p:cNvSpPr txBox="1"/>
          <p:nvPr/>
        </p:nvSpPr>
        <p:spPr>
          <a:xfrm>
            <a:off x="0" y="5072211"/>
            <a:ext cx="858202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Laplace Transform converts a problem from the time domain </a:t>
            </a: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(t-domain)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the complex frequency domain </a:t>
            </a: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(s-domain)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In the time domain, systems are described by differential equations, which are often difficult to solve. By moving to the s-domain, these differential equations become algebraic equations, which are much easier to handle.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984BD3-F81C-4CE9-BA61-689180227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3703" y="4248917"/>
            <a:ext cx="3552825" cy="2557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552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10/18/2025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7610F2-89F3-4671-950A-33EF8CBA1243}"/>
              </a:ext>
            </a:extLst>
          </p:cNvPr>
          <p:cNvPicPr/>
          <p:nvPr/>
        </p:nvPicPr>
        <p:blipFill rotWithShape="1">
          <a:blip r:embed="rId2"/>
          <a:srcRect t="6200" b="10827"/>
          <a:stretch/>
        </p:blipFill>
        <p:spPr>
          <a:xfrm>
            <a:off x="0" y="1257300"/>
            <a:ext cx="10714673" cy="46386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C33D849-4394-4C88-8C2E-A4279BDCAFEA}"/>
              </a:ext>
            </a:extLst>
          </p:cNvPr>
          <p:cNvSpPr txBox="1"/>
          <p:nvPr/>
        </p:nvSpPr>
        <p:spPr>
          <a:xfrm>
            <a:off x="2343150" y="612259"/>
            <a:ext cx="7248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Module I: Laplace Transform of Some Elementary Functions</a:t>
            </a:r>
          </a:p>
        </p:txBody>
      </p:sp>
    </p:spTree>
    <p:extLst>
      <p:ext uri="{BB962C8B-B14F-4D97-AF65-F5344CB8AC3E}">
        <p14:creationId xmlns:p14="http://schemas.microsoft.com/office/powerpoint/2010/main" val="3259842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10/18/2025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5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AC1C75A-8CAE-4A37-B1D4-FDAAC1408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" y="0"/>
            <a:ext cx="2181225" cy="6762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AC0CA1-0679-4701-977E-C37CD64900D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609599"/>
            <a:ext cx="11087100" cy="31045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E5869E-79D2-41D8-941C-85A7BA838BBB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3463925"/>
            <a:ext cx="10258425" cy="339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133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10/18/2025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CDC3E5-2F99-4565-9760-3E23CB1D39E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00977" y="136525"/>
            <a:ext cx="11362373" cy="4044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606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10/18/2025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9D8925-6583-4052-BEFF-B0E046D7E54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81927" y="136524"/>
            <a:ext cx="11019473" cy="485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165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10/18/2025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3C9F41-C55D-465C-BD32-FF7042EC6B0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62877" y="-19049"/>
            <a:ext cx="10876598" cy="3429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6BB813-085A-41ED-ACAC-A2425613024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80047" y="3857624"/>
            <a:ext cx="11097578" cy="229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277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10/18/2025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5F48E2-CAE0-494B-9B85-12A47CA86DC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136525"/>
            <a:ext cx="10715625" cy="30924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F49AD2-E3F4-444A-B338-4ADE7BD41F9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3295650"/>
            <a:ext cx="10001250" cy="349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040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10/18/2025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10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AA3F5EC-423D-4191-9D00-4266AB71C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" y="-19050"/>
            <a:ext cx="9496425" cy="39147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559E25A-D551-45DF-BEC8-885C6F07A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37" y="3914775"/>
            <a:ext cx="7362825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1533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CE8E1-8909-4BFB-A425-0831E16DB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10/18/2025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126AC4-B16B-42F8-840E-35EC3B5E5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E07A65-5F58-4C6F-8C86-1820D928B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448550" cy="49625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F8D330-CA99-44C5-BCD2-92B3F20C5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50" y="5110162"/>
            <a:ext cx="640080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726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8D2D8-1D08-4593-A570-DCC2AF279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10/18/2025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6D933E-7D6F-4CDF-92DA-4B7C5EBC7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C70413-EA49-411F-BB08-C8AF412DA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" y="66675"/>
            <a:ext cx="8362950" cy="31051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49375F-A4C9-46CA-9AF4-7F3CB3F2B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" y="3238500"/>
            <a:ext cx="7181850" cy="211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12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D1EBF-FDA8-43DC-B77E-372F3D5C1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10/18/2025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BEB087-64F1-41F8-B410-BC2C60F37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EE004D-E380-43FB-B5D4-F2FB22CDA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848600" cy="26289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0D58FF-2E27-4D1A-A798-186B093F0570}"/>
              </a:ext>
            </a:extLst>
          </p:cNvPr>
          <p:cNvSpPr txBox="1"/>
          <p:nvPr/>
        </p:nvSpPr>
        <p:spPr>
          <a:xfrm>
            <a:off x="1543050" y="3076575"/>
            <a:ext cx="92487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</a:rPr>
              <a:t>Module II: Some Properties of Laplace Transform and Related Examples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239B4B-AEDB-4FDA-9A42-5A7BE710C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25" y="3711575"/>
            <a:ext cx="7962900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803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A4131-5778-48C5-9920-A0EBE7D64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10/18/2025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6C8DF-ED31-4DF5-93EA-56061D446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C78C31-64A8-4B80-9F69-DF98D1427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9050"/>
            <a:ext cx="8839200" cy="3276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8482F8-D311-4C77-8A36-3904E956A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82938"/>
            <a:ext cx="6267450" cy="3675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8978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06E3F-00CE-4193-8CDF-1F866024F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10/18/2025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871BA7-9B9A-4A83-85B7-64497C55D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617C43-6E3F-4F7E-9277-A971BD8D7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7" y="0"/>
            <a:ext cx="10296525" cy="3962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76C464-8AEA-46E3-809E-2410AA911E9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7556"/>
          <a:stretch/>
        </p:blipFill>
        <p:spPr>
          <a:xfrm>
            <a:off x="223837" y="4067175"/>
            <a:ext cx="7458075" cy="533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AA061DD-645B-4387-8217-667E541FECA6}"/>
              </a:ext>
            </a:extLst>
          </p:cNvPr>
          <p:cNvSpPr txBox="1"/>
          <p:nvPr/>
        </p:nvSpPr>
        <p:spPr>
          <a:xfrm>
            <a:off x="514350" y="4810125"/>
            <a:ext cx="52387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Do Yourself. Ans: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D4D2DE-255A-466B-99DB-A55EE70832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7950" y="4591050"/>
            <a:ext cx="1114425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154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0B8F4-0FF4-436B-A54B-41B5E92DD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10/18/2025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5D8CD8-70B6-4BB7-BC8F-51292C428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131942-43FE-4D8F-AB0C-497A910F6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525"/>
            <a:ext cx="9153525" cy="2781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03EDAC-CBB4-44FE-B041-505E62A66FC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5421"/>
          <a:stretch/>
        </p:blipFill>
        <p:spPr>
          <a:xfrm>
            <a:off x="1895474" y="3246437"/>
            <a:ext cx="5362575" cy="2781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8425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81681-4603-4C12-9D87-B08068AA3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10/18/2025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5E3ED-5804-4154-9619-1848C9478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CD1069-FB1F-470D-ADE5-594232A93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86325" cy="23526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1D59E7-B4F5-4B13-B576-31E66F542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90787"/>
            <a:ext cx="2105025" cy="6381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92E832-4DC8-4942-A355-66D525846C55}"/>
              </a:ext>
            </a:extLst>
          </p:cNvPr>
          <p:cNvSpPr txBox="1"/>
          <p:nvPr/>
        </p:nvSpPr>
        <p:spPr>
          <a:xfrm>
            <a:off x="381000" y="3343275"/>
            <a:ext cx="5943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Yourself.  Ans: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9CB6D3-CC83-4006-A649-2D7B29545F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3162" y="3186172"/>
            <a:ext cx="1352550" cy="9239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D7D6AB1-E0B9-4862-81AD-58DFDBDD7A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354601"/>
            <a:ext cx="8610600" cy="131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4668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997144-0C97-42FC-8D1E-5A8D3A058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10/18/2025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2A5E8-9043-4F8B-903E-F5B357A14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9C4CB0-4C0E-41DC-89EC-E051982BC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" y="238124"/>
            <a:ext cx="6376988" cy="541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6461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7FA5D-72E9-4839-97DC-8C0B83314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10/18/2025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7BFEEE-74B4-4866-9555-E3DED848E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FF70E8-D3DB-4985-B307-EDE4B62D3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" y="76200"/>
            <a:ext cx="9258300" cy="3352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1517D7-AA84-4671-9EF2-129D5EE4F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429000"/>
            <a:ext cx="8572500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8927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9C75F-FE87-4060-93BC-6089B463E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10/18/2025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642126-3A9F-4308-B662-47AAE2037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E8F35B-35F7-401A-B126-C721C9101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36525"/>
            <a:ext cx="4057650" cy="22002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CBDF55-EC77-4DE9-AC77-348F84AAB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65412"/>
            <a:ext cx="8296275" cy="336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6262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FA54B-6934-452B-947C-679B3FFC3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10/18/2025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1BBBB-752E-42A2-8FA6-E0DCE4436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21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2115287F-8ECB-485A-B7A1-5642A633B6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0253273"/>
              </p:ext>
            </p:extLst>
          </p:nvPr>
        </p:nvGraphicFramePr>
        <p:xfrm>
          <a:off x="120650" y="14288"/>
          <a:ext cx="7089775" cy="2405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0" name="Equation" r:id="rId3" imgW="2844720" imgH="1028520" progId="Equation.DSMT4">
                  <p:embed/>
                </p:oleObj>
              </mc:Choice>
              <mc:Fallback>
                <p:oleObj name="Equation" r:id="rId3" imgW="2844720" imgH="1028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0650" y="14288"/>
                        <a:ext cx="7089775" cy="24050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517C4496-027A-4160-8D90-306BFC429C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6826756"/>
              </p:ext>
            </p:extLst>
          </p:nvPr>
        </p:nvGraphicFramePr>
        <p:xfrm>
          <a:off x="520700" y="2281238"/>
          <a:ext cx="8221663" cy="444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1" name="Equation" r:id="rId5" imgW="2908080" imgH="2323800" progId="Equation.DSMT4">
                  <p:embed/>
                </p:oleObj>
              </mc:Choice>
              <mc:Fallback>
                <p:oleObj name="Equation" r:id="rId5" imgW="2908080" imgH="232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0700" y="2281238"/>
                        <a:ext cx="8221663" cy="4440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219136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9BA21-56A3-4EF9-964B-7EDAD4ED3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10/18/2025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25C9AE-051D-46E4-BE38-67152E8F4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22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95CBBD41-D66F-4BCC-A644-13687FED75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9367967"/>
              </p:ext>
            </p:extLst>
          </p:nvPr>
        </p:nvGraphicFramePr>
        <p:xfrm>
          <a:off x="304799" y="250825"/>
          <a:ext cx="9572626" cy="622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3" name="Equation" r:id="rId3" imgW="4063680" imgH="2997000" progId="Equation.DSMT4">
                  <p:embed/>
                </p:oleObj>
              </mc:Choice>
              <mc:Fallback>
                <p:oleObj name="Equation" r:id="rId3" imgW="4063680" imgH="2997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4799" y="250825"/>
                        <a:ext cx="9572626" cy="6226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819323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DEAFF-3679-4F47-9191-40FA1861C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10/18/2025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A92A1A-F203-4A37-A71E-6A7DA9660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790E2D-3494-4B03-9009-198A61616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475"/>
            <a:ext cx="7419975" cy="22574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0CD65B-573F-4AC3-824D-65668E8EA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12988"/>
            <a:ext cx="8477250" cy="41243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43723D-3911-454D-841B-0AE2A4ABA2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2719388"/>
            <a:ext cx="2600325" cy="966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5132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766DC-6A55-4C43-BD35-1F9F89C3A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10/18/2025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FB89BA-9C80-44A4-B0E8-4F1EFE3FB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FDE581-C2B2-4B02-8FF6-E0AF86F4C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36525"/>
            <a:ext cx="8305800" cy="568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1450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D5B48-673F-4D4D-8508-393E89926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10/18/2025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875156-9CA2-449E-A45B-B1DFD329B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25</a:t>
            </a:fld>
            <a:endParaRPr lang="en-US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51CACACA-0DAD-4D22-99E1-7F53F994F5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7145070"/>
              </p:ext>
            </p:extLst>
          </p:nvPr>
        </p:nvGraphicFramePr>
        <p:xfrm>
          <a:off x="0" y="246063"/>
          <a:ext cx="5432425" cy="83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6" name="Equation" r:id="rId3" imgW="2755800" imgH="469800" progId="Equation.DSMT4">
                  <p:embed/>
                </p:oleObj>
              </mc:Choice>
              <mc:Fallback>
                <p:oleObj name="Equation" r:id="rId3" imgW="275580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246063"/>
                        <a:ext cx="5432425" cy="839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B53B122C-D00C-4806-B001-7B3BFD00CB3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9027"/>
          <a:stretch/>
        </p:blipFill>
        <p:spPr>
          <a:xfrm>
            <a:off x="0" y="1009650"/>
            <a:ext cx="8296275" cy="2603104"/>
          </a:xfrm>
          <a:prstGeom prst="rect">
            <a:avLst/>
          </a:prstGeom>
        </p:spPr>
      </p:pic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140A6B39-5A0D-424E-ACD0-70A1891526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7429988"/>
              </p:ext>
            </p:extLst>
          </p:nvPr>
        </p:nvGraphicFramePr>
        <p:xfrm>
          <a:off x="2120900" y="3657600"/>
          <a:ext cx="7089775" cy="231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7" name="Equation" r:id="rId6" imgW="2844720" imgH="990360" progId="Equation.DSMT4">
                  <p:embed/>
                </p:oleObj>
              </mc:Choice>
              <mc:Fallback>
                <p:oleObj name="Equation" r:id="rId6" imgW="2844720" imgH="99036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2115287F-8ECB-485A-B7A1-5642A633B6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20900" y="3657600"/>
                        <a:ext cx="7089775" cy="2316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498818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E9A0E4-9BF9-43B5-B3E4-DE7CB022D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10/18/2025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C4F5F9-DBDE-4B24-B545-D0EBE8E8B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26</a:t>
            </a:fld>
            <a:endParaRPr lang="en-US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DF4A48DC-F88E-4B5C-B683-E43D9521A8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8327331"/>
              </p:ext>
            </p:extLst>
          </p:nvPr>
        </p:nvGraphicFramePr>
        <p:xfrm>
          <a:off x="307974" y="128587"/>
          <a:ext cx="7997825" cy="321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Equation" r:id="rId3" imgW="2450880" imgH="1447560" progId="Equation.DSMT4">
                  <p:embed/>
                </p:oleObj>
              </mc:Choice>
              <mc:Fallback>
                <p:oleObj name="Equation" r:id="rId3" imgW="2450880" imgH="1447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7974" y="128587"/>
                        <a:ext cx="7997825" cy="3214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014304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EA308-5E65-4DFA-BCA6-53317C781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10/18/2025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128A92-7C7B-42E5-B235-455002588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27</a:t>
            </a:fld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4E724027-A228-4123-B43E-B062AACFA885}"/>
              </a:ext>
            </a:extLst>
          </p:cNvPr>
          <p:cNvSpPr/>
          <p:nvPr/>
        </p:nvSpPr>
        <p:spPr>
          <a:xfrm>
            <a:off x="247651" y="-19050"/>
            <a:ext cx="2628900" cy="8286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134E63-538C-40B1-906A-91E9132B52B2}"/>
              </a:ext>
            </a:extLst>
          </p:cNvPr>
          <p:cNvSpPr txBox="1"/>
          <p:nvPr/>
        </p:nvSpPr>
        <p:spPr>
          <a:xfrm>
            <a:off x="419100" y="272792"/>
            <a:ext cx="1790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Algerian" panose="04020705040A02060702" pitchFamily="82" charset="0"/>
              </a:rPr>
              <a:t>Do Yourself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8FB950-6680-4C82-8A9C-7BCB8116D52B}"/>
              </a:ext>
            </a:extLst>
          </p:cNvPr>
          <p:cNvSpPr txBox="1"/>
          <p:nvPr/>
        </p:nvSpPr>
        <p:spPr>
          <a:xfrm>
            <a:off x="4429125" y="272792"/>
            <a:ext cx="4486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highlight>
                  <a:srgbClr val="FFFF00"/>
                </a:highlight>
              </a:rPr>
              <a:t>Some Examples For Practice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8E982756-7151-49B3-84CA-A3E1B36010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57531"/>
              </p:ext>
            </p:extLst>
          </p:nvPr>
        </p:nvGraphicFramePr>
        <p:xfrm>
          <a:off x="247651" y="734458"/>
          <a:ext cx="9426575" cy="61235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" name="Equation" r:id="rId3" imgW="4140000" imgH="3479760" progId="Equation.DSMT4">
                  <p:embed/>
                </p:oleObj>
              </mc:Choice>
              <mc:Fallback>
                <p:oleObj name="Equation" r:id="rId3" imgW="4140000" imgH="3479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7651" y="734458"/>
                        <a:ext cx="9426575" cy="61235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268517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AFE95-9339-4549-871B-882CA3A21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10/18/2025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A62CED-E614-44ED-9F92-AAC669B73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69600C-082B-4081-8D52-ED93052C7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9050"/>
            <a:ext cx="9648825" cy="631507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8C5A886-811F-49CE-AAE1-5CD3A3291EC8}"/>
              </a:ext>
            </a:extLst>
          </p:cNvPr>
          <p:cNvSpPr/>
          <p:nvPr/>
        </p:nvSpPr>
        <p:spPr>
          <a:xfrm>
            <a:off x="171450" y="203200"/>
            <a:ext cx="666750" cy="53022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3.</a:t>
            </a:r>
          </a:p>
        </p:txBody>
      </p:sp>
    </p:spTree>
    <p:extLst>
      <p:ext uri="{BB962C8B-B14F-4D97-AF65-F5344CB8AC3E}">
        <p14:creationId xmlns:p14="http://schemas.microsoft.com/office/powerpoint/2010/main" val="8094720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CC79C-3AEE-4E9B-9F26-39A6BD210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10/18/2025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166C2F-BB8F-44B6-858F-9CC2ED7AE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4F7D24-61AF-402F-9FCB-0C07EFA3E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6" y="136525"/>
            <a:ext cx="5472110" cy="26352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8A1BFD-C3DD-4A03-86FC-DCD956C4D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6899" y="-12700"/>
            <a:ext cx="6315075" cy="6734175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13B5998-859C-429D-98FB-37D90FDD0978}"/>
              </a:ext>
            </a:extLst>
          </p:cNvPr>
          <p:cNvCxnSpPr/>
          <p:nvPr/>
        </p:nvCxnSpPr>
        <p:spPr>
          <a:xfrm>
            <a:off x="5605462" y="0"/>
            <a:ext cx="0" cy="67214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6FB80961-BB20-438C-B279-D3D74DFCF3D9}"/>
              </a:ext>
            </a:extLst>
          </p:cNvPr>
          <p:cNvSpPr/>
          <p:nvPr/>
        </p:nvSpPr>
        <p:spPr>
          <a:xfrm>
            <a:off x="5676899" y="136525"/>
            <a:ext cx="628649" cy="47307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4.</a:t>
            </a:r>
          </a:p>
        </p:txBody>
      </p:sp>
    </p:spTree>
    <p:extLst>
      <p:ext uri="{BB962C8B-B14F-4D97-AF65-F5344CB8AC3E}">
        <p14:creationId xmlns:p14="http://schemas.microsoft.com/office/powerpoint/2010/main" val="5393024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509D8-C832-474A-895F-8C5F5B000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10/18/2025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EEA78E-2189-4226-9A0F-B89DEC3BF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30</a:t>
            </a:fld>
            <a:endParaRPr lang="en-US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D69C7B83-1401-4B3D-BB15-18CD26B109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2885437"/>
              </p:ext>
            </p:extLst>
          </p:nvPr>
        </p:nvGraphicFramePr>
        <p:xfrm>
          <a:off x="203200" y="0"/>
          <a:ext cx="6797675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7" name="Equation" r:id="rId3" imgW="2997000" imgH="5511600" progId="Equation.DSMT4">
                  <p:embed/>
                </p:oleObj>
              </mc:Choice>
              <mc:Fallback>
                <p:oleObj name="Equation" r:id="rId3" imgW="2997000" imgH="5511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3200" y="0"/>
                        <a:ext cx="6797675" cy="685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81735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5505</TotalTime>
  <Words>303</Words>
  <Application>Microsoft Office PowerPoint</Application>
  <PresentationFormat>Widescreen</PresentationFormat>
  <Paragraphs>93</Paragraphs>
  <Slides>30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41" baseType="lpstr">
      <vt:lpstr>Arial Unicode MS</vt:lpstr>
      <vt:lpstr>Algerian</vt:lpstr>
      <vt:lpstr>Arial</vt:lpstr>
      <vt:lpstr>Calibri</vt:lpstr>
      <vt:lpstr>Calibri Light</vt:lpstr>
      <vt:lpstr>Sitka Banner</vt:lpstr>
      <vt:lpstr>Times New Roman</vt:lpstr>
      <vt:lpstr>Wingdings</vt:lpstr>
      <vt:lpstr>Office Theme</vt:lpstr>
      <vt:lpstr>Equation</vt:lpstr>
      <vt:lpstr>MathType 7.0 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kcv</dc:creator>
  <cp:lastModifiedBy>ThinkPad</cp:lastModifiedBy>
  <cp:revision>352</cp:revision>
  <dcterms:created xsi:type="dcterms:W3CDTF">2024-04-27T09:17:32Z</dcterms:created>
  <dcterms:modified xsi:type="dcterms:W3CDTF">2025-10-18T07:34:54Z</dcterms:modified>
</cp:coreProperties>
</file>