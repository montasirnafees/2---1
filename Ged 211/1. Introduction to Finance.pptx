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3378" r:id="rId2"/>
    <p:sldId id="3407" r:id="rId3"/>
    <p:sldId id="3392" r:id="rId4"/>
    <p:sldId id="3473" r:id="rId5"/>
    <p:sldId id="3465" r:id="rId6"/>
    <p:sldId id="3492" r:id="rId7"/>
    <p:sldId id="3493" r:id="rId8"/>
    <p:sldId id="3494" r:id="rId9"/>
    <p:sldId id="3495" r:id="rId10"/>
    <p:sldId id="3470" r:id="rId11"/>
    <p:sldId id="3445" r:id="rId12"/>
    <p:sldId id="3468" r:id="rId13"/>
    <p:sldId id="3496" r:id="rId14"/>
    <p:sldId id="3467" r:id="rId15"/>
    <p:sldId id="3475" r:id="rId16"/>
    <p:sldId id="3479" r:id="rId17"/>
    <p:sldId id="3497" r:id="rId18"/>
    <p:sldId id="3488" r:id="rId19"/>
    <p:sldId id="3491" r:id="rId20"/>
    <p:sldId id="3490" r:id="rId21"/>
    <p:sldId id="28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8B42"/>
    <a:srgbClr val="FF5050"/>
    <a:srgbClr val="EBBA13"/>
    <a:srgbClr val="FF0000"/>
    <a:srgbClr val="575757"/>
    <a:srgbClr val="006A3A"/>
    <a:srgbClr val="BDB12B"/>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6374" autoAdjust="0"/>
  </p:normalViewPr>
  <p:slideViewPr>
    <p:cSldViewPr snapToGrid="0">
      <p:cViewPr varScale="1">
        <p:scale>
          <a:sx n="66" d="100"/>
          <a:sy n="66" d="100"/>
        </p:scale>
        <p:origin x="576"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34B8A6C-EBC5-4BFA-A04E-E3C1F89BABB9}" type="datetimeFigureOut">
              <a:rPr lang="en-US" smtClean="0"/>
              <a:t>4/12/2026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BD4244-6FF0-48A0-A92B-3BEF1572DF27}" type="slidenum">
              <a:rPr lang="en-US" smtClean="0"/>
              <a:t>‹#›</a:t>
            </a:fld>
            <a:endParaRPr lang="en-US"/>
          </a:p>
        </p:txBody>
      </p:sp>
    </p:spTree>
    <p:extLst>
      <p:ext uri="{BB962C8B-B14F-4D97-AF65-F5344CB8AC3E}">
        <p14:creationId xmlns:p14="http://schemas.microsoft.com/office/powerpoint/2010/main" val="2438128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3E0120B-9E6F-4881-B528-FD88A0D520F4}"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63DD59-B4F3-4FC7-8475-D21E5DDE77E1}" type="slidenum">
              <a:rPr lang="en-US" smtClean="0"/>
              <a:t>‹#›</a:t>
            </a:fld>
            <a:endParaRPr lang="en-US"/>
          </a:p>
        </p:txBody>
      </p:sp>
      <p:cxnSp>
        <p:nvCxnSpPr>
          <p:cNvPr id="21" name="Straight Connector 20"/>
          <p:cNvCxnSpPr/>
          <p:nvPr userDrawn="1"/>
        </p:nvCxnSpPr>
        <p:spPr>
          <a:xfrm flipV="1">
            <a:off x="313113" y="886681"/>
            <a:ext cx="11612880" cy="0"/>
          </a:xfrm>
          <a:prstGeom prst="line">
            <a:avLst/>
          </a:prstGeom>
          <a:ln w="57150">
            <a:solidFill>
              <a:srgbClr val="FFC000"/>
            </a:solidFill>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B6B1AC76-A3D6-DAF9-1A8D-39FB50D64773}"/>
              </a:ext>
            </a:extLst>
          </p:cNvPr>
          <p:cNvPicPr>
            <a:picLocks noChangeAspect="1"/>
          </p:cNvPicPr>
          <p:nvPr userDrawn="1"/>
        </p:nvPicPr>
        <p:blipFill>
          <a:blip r:embed="rId2" cstate="print">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l="29616" t="13140" r="29576" b="13140"/>
          <a:stretch>
            <a:fillRect/>
          </a:stretch>
        </p:blipFill>
        <p:spPr>
          <a:xfrm>
            <a:off x="11217747" y="66502"/>
            <a:ext cx="708246" cy="750031"/>
          </a:xfrm>
          <a:prstGeom prst="rect">
            <a:avLst/>
          </a:prstGeom>
        </p:spPr>
      </p:pic>
      <p:grpSp>
        <p:nvGrpSpPr>
          <p:cNvPr id="7" name="Group 6">
            <a:extLst>
              <a:ext uri="{FF2B5EF4-FFF2-40B4-BE49-F238E27FC236}">
                <a16:creationId xmlns:a16="http://schemas.microsoft.com/office/drawing/2014/main" id="{4CF1547F-E71A-252C-6B72-4A84F42BDA80}"/>
              </a:ext>
            </a:extLst>
          </p:cNvPr>
          <p:cNvGrpSpPr/>
          <p:nvPr userDrawn="1"/>
        </p:nvGrpSpPr>
        <p:grpSpPr>
          <a:xfrm>
            <a:off x="0" y="6716686"/>
            <a:ext cx="3082325" cy="91436"/>
            <a:chOff x="0" y="6647688"/>
            <a:chExt cx="8038222" cy="210312"/>
          </a:xfrm>
          <a:effectLst>
            <a:reflection blurRad="6350" stA="50000" endA="300" endPos="90000" dir="5400000" sy="-100000" algn="bl" rotWithShape="0"/>
          </a:effectLst>
        </p:grpSpPr>
        <p:sp>
          <p:nvSpPr>
            <p:cNvPr id="9" name="Rectangle 8">
              <a:extLst>
                <a:ext uri="{FF2B5EF4-FFF2-40B4-BE49-F238E27FC236}">
                  <a16:creationId xmlns:a16="http://schemas.microsoft.com/office/drawing/2014/main" id="{371B05C3-7F50-9606-1AC0-1CCB39ED33DA}"/>
                </a:ext>
              </a:extLst>
            </p:cNvPr>
            <p:cNvSpPr/>
            <p:nvPr/>
          </p:nvSpPr>
          <p:spPr>
            <a:xfrm>
              <a:off x="0" y="6647688"/>
              <a:ext cx="5463771" cy="210312"/>
            </a:xfrm>
            <a:prstGeom prst="rect">
              <a:avLst/>
            </a:prstGeom>
            <a:solidFill>
              <a:srgbClr val="2F8B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8FE072F-89BD-31E5-10A4-68D127BA0845}"/>
                </a:ext>
              </a:extLst>
            </p:cNvPr>
            <p:cNvSpPr/>
            <p:nvPr/>
          </p:nvSpPr>
          <p:spPr>
            <a:xfrm>
              <a:off x="5602676" y="6647688"/>
              <a:ext cx="2435546" cy="21031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552214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3E0120B-9E6F-4881-B528-FD88A0D520F4}"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63DD59-B4F3-4FC7-8475-D21E5DDE77E1}" type="slidenum">
              <a:rPr lang="en-US" smtClean="0"/>
              <a:t>‹#›</a:t>
            </a:fld>
            <a:endParaRPr lang="en-US"/>
          </a:p>
        </p:txBody>
      </p:sp>
    </p:spTree>
    <p:extLst>
      <p:ext uri="{BB962C8B-B14F-4D97-AF65-F5344CB8AC3E}">
        <p14:creationId xmlns:p14="http://schemas.microsoft.com/office/powerpoint/2010/main" val="379657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E3E0120B-9E6F-4881-B528-FD88A0D520F4}"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63DD59-B4F3-4FC7-8475-D21E5DDE77E1}" type="slidenum">
              <a:rPr lang="en-US" smtClean="0"/>
              <a:t>‹#›</a:t>
            </a:fld>
            <a:endParaRPr lang="en-US"/>
          </a:p>
        </p:txBody>
      </p:sp>
    </p:spTree>
    <p:extLst>
      <p:ext uri="{BB962C8B-B14F-4D97-AF65-F5344CB8AC3E}">
        <p14:creationId xmlns:p14="http://schemas.microsoft.com/office/powerpoint/2010/main" val="11934478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E3E0120B-9E6F-4881-B528-FD88A0D520F4}" type="datetimeFigureOut">
              <a:rPr lang="en-US" smtClean="0"/>
              <a:t>4/12/2026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63DD59-B4F3-4FC7-8475-D21E5DDE77E1}" type="slidenum">
              <a:rPr lang="en-US" smtClean="0"/>
              <a:t>‹#›</a:t>
            </a:fld>
            <a:endParaRPr lang="en-US"/>
          </a:p>
        </p:txBody>
      </p:sp>
    </p:spTree>
    <p:extLst>
      <p:ext uri="{BB962C8B-B14F-4D97-AF65-F5344CB8AC3E}">
        <p14:creationId xmlns:p14="http://schemas.microsoft.com/office/powerpoint/2010/main" val="3153540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3E0120B-9E6F-4881-B528-FD88A0D520F4}" type="datetimeFigureOut">
              <a:rPr lang="en-US" smtClean="0"/>
              <a:t>4/12/2026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C63DD59-B4F3-4FC7-8475-D21E5DDE77E1}" type="slidenum">
              <a:rPr lang="en-US" smtClean="0"/>
              <a:t>‹#›</a:t>
            </a:fld>
            <a:endParaRPr lang="en-US"/>
          </a:p>
        </p:txBody>
      </p:sp>
    </p:spTree>
    <p:extLst>
      <p:ext uri="{BB962C8B-B14F-4D97-AF65-F5344CB8AC3E}">
        <p14:creationId xmlns:p14="http://schemas.microsoft.com/office/powerpoint/2010/main" val="17255264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3E0120B-9E6F-4881-B528-FD88A0D520F4}" type="datetimeFigureOut">
              <a:rPr lang="en-US" smtClean="0"/>
              <a:t>4/12/2026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C63DD59-B4F3-4FC7-8475-D21E5DDE77E1}" type="slidenum">
              <a:rPr lang="en-US" smtClean="0"/>
              <a:t>‹#›</a:t>
            </a:fld>
            <a:endParaRPr lang="en-US"/>
          </a:p>
        </p:txBody>
      </p:sp>
    </p:spTree>
    <p:extLst>
      <p:ext uri="{BB962C8B-B14F-4D97-AF65-F5344CB8AC3E}">
        <p14:creationId xmlns:p14="http://schemas.microsoft.com/office/powerpoint/2010/main" val="752680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3E0120B-9E6F-4881-B528-FD88A0D520F4}" type="datetimeFigureOut">
              <a:rPr lang="en-US" smtClean="0"/>
              <a:t>4/12/2026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C63DD59-B4F3-4FC7-8475-D21E5DDE77E1}" type="slidenum">
              <a:rPr lang="en-US" smtClean="0"/>
              <a:t>‹#›</a:t>
            </a:fld>
            <a:endParaRPr lang="en-US"/>
          </a:p>
        </p:txBody>
      </p:sp>
    </p:spTree>
    <p:extLst>
      <p:ext uri="{BB962C8B-B14F-4D97-AF65-F5344CB8AC3E}">
        <p14:creationId xmlns:p14="http://schemas.microsoft.com/office/powerpoint/2010/main" val="11821402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3E0120B-9E6F-4881-B528-FD88A0D520F4}" type="datetimeFigureOut">
              <a:rPr lang="en-US" smtClean="0"/>
              <a:t>4/12/2026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63DD59-B4F3-4FC7-8475-D21E5DDE77E1}" type="slidenum">
              <a:rPr lang="en-US" smtClean="0"/>
              <a:t>‹#›</a:t>
            </a:fld>
            <a:endParaRPr lang="en-US"/>
          </a:p>
        </p:txBody>
      </p:sp>
    </p:spTree>
    <p:extLst>
      <p:ext uri="{BB962C8B-B14F-4D97-AF65-F5344CB8AC3E}">
        <p14:creationId xmlns:p14="http://schemas.microsoft.com/office/powerpoint/2010/main" val="18721820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3E0120B-9E6F-4881-B528-FD88A0D520F4}" type="datetimeFigureOut">
              <a:rPr lang="en-US" smtClean="0"/>
              <a:t>4/12/2026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C63DD59-B4F3-4FC7-8475-D21E5DDE77E1}" type="slidenum">
              <a:rPr lang="en-US" smtClean="0"/>
              <a:t>‹#›</a:t>
            </a:fld>
            <a:endParaRPr lang="en-US"/>
          </a:p>
        </p:txBody>
      </p:sp>
    </p:spTree>
    <p:extLst>
      <p:ext uri="{BB962C8B-B14F-4D97-AF65-F5344CB8AC3E}">
        <p14:creationId xmlns:p14="http://schemas.microsoft.com/office/powerpoint/2010/main" val="29008552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3E0120B-9E6F-4881-B528-FD88A0D520F4}"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63DD59-B4F3-4FC7-8475-D21E5DDE77E1}" type="slidenum">
              <a:rPr lang="en-US" smtClean="0"/>
              <a:t>‹#›</a:t>
            </a:fld>
            <a:endParaRPr lang="en-US"/>
          </a:p>
        </p:txBody>
      </p:sp>
    </p:spTree>
    <p:extLst>
      <p:ext uri="{BB962C8B-B14F-4D97-AF65-F5344CB8AC3E}">
        <p14:creationId xmlns:p14="http://schemas.microsoft.com/office/powerpoint/2010/main" val="31442467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3E0120B-9E6F-4881-B528-FD88A0D520F4}" type="datetimeFigureOut">
              <a:rPr lang="en-US" smtClean="0"/>
              <a:t>4/12/2026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C63DD59-B4F3-4FC7-8475-D21E5DDE77E1}" type="slidenum">
              <a:rPr lang="en-US" smtClean="0"/>
              <a:t>‹#›</a:t>
            </a:fld>
            <a:endParaRPr lang="en-US"/>
          </a:p>
        </p:txBody>
      </p:sp>
    </p:spTree>
    <p:extLst>
      <p:ext uri="{BB962C8B-B14F-4D97-AF65-F5344CB8AC3E}">
        <p14:creationId xmlns:p14="http://schemas.microsoft.com/office/powerpoint/2010/main" val="17505194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3E0120B-9E6F-4881-B528-FD88A0D520F4}" type="datetimeFigureOut">
              <a:rPr lang="en-US" smtClean="0"/>
              <a:t>4/12/2026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C63DD59-B4F3-4FC7-8475-D21E5DDE77E1}" type="slidenum">
              <a:rPr lang="en-US" smtClean="0"/>
              <a:t>‹#›</a:t>
            </a:fld>
            <a:endParaRPr lang="en-US"/>
          </a:p>
        </p:txBody>
      </p:sp>
    </p:spTree>
    <p:extLst>
      <p:ext uri="{BB962C8B-B14F-4D97-AF65-F5344CB8AC3E}">
        <p14:creationId xmlns:p14="http://schemas.microsoft.com/office/powerpoint/2010/main" val="29309654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7.xml"/><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7082B-DE2E-4798-F248-6BF39DA421EC}"/>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0F7C8815-11D4-534F-E26C-D0200703AA5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
        <p:nvSpPr>
          <p:cNvPr id="2" name="Rectangle 1">
            <a:extLst>
              <a:ext uri="{FF2B5EF4-FFF2-40B4-BE49-F238E27FC236}">
                <a16:creationId xmlns:a16="http://schemas.microsoft.com/office/drawing/2014/main" id="{80B4DEE6-2EF1-10E7-E520-51DCB7DB8F90}"/>
              </a:ext>
            </a:extLst>
          </p:cNvPr>
          <p:cNvSpPr/>
          <p:nvPr/>
        </p:nvSpPr>
        <p:spPr>
          <a:xfrm>
            <a:off x="0" y="0"/>
            <a:ext cx="12192000" cy="6858000"/>
          </a:xfrm>
          <a:prstGeom prst="rect">
            <a:avLst/>
          </a:prstGeom>
          <a:solidFill>
            <a:schemeClr val="tx1">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effectLst>
                <a:outerShdw blurRad="38100" dist="38100" dir="2700000" algn="tl">
                  <a:srgbClr val="000000">
                    <a:alpha val="43137"/>
                  </a:srgbClr>
                </a:outerShdw>
              </a:effectLst>
            </a:endParaRPr>
          </a:p>
        </p:txBody>
      </p:sp>
      <p:sp>
        <p:nvSpPr>
          <p:cNvPr id="6" name="Rectangle 5">
            <a:extLst>
              <a:ext uri="{FF2B5EF4-FFF2-40B4-BE49-F238E27FC236}">
                <a16:creationId xmlns:a16="http://schemas.microsoft.com/office/drawing/2014/main" id="{85F4322E-3402-66B8-9A73-2637F36DBAE4}"/>
              </a:ext>
            </a:extLst>
          </p:cNvPr>
          <p:cNvSpPr/>
          <p:nvPr/>
        </p:nvSpPr>
        <p:spPr>
          <a:xfrm>
            <a:off x="0" y="2522633"/>
            <a:ext cx="914400" cy="1812734"/>
          </a:xfrm>
          <a:prstGeom prst="rect">
            <a:avLst/>
          </a:prstGeom>
          <a:gradFill flip="none" rotWithShape="1">
            <a:gsLst>
              <a:gs pos="0">
                <a:srgbClr val="FFC000">
                  <a:shade val="30000"/>
                  <a:satMod val="115000"/>
                </a:srgbClr>
              </a:gs>
              <a:gs pos="50000">
                <a:srgbClr val="FFC000">
                  <a:shade val="67500"/>
                  <a:satMod val="115000"/>
                </a:srgbClr>
              </a:gs>
              <a:gs pos="100000">
                <a:srgbClr val="FFC000">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C5C687F-BD90-DD8F-6B43-64C179220B83}"/>
              </a:ext>
            </a:extLst>
          </p:cNvPr>
          <p:cNvSpPr txBox="1"/>
          <p:nvPr/>
        </p:nvSpPr>
        <p:spPr>
          <a:xfrm>
            <a:off x="1024346" y="2700059"/>
            <a:ext cx="7743825" cy="923330"/>
          </a:xfrm>
          <a:prstGeom prst="rect">
            <a:avLst/>
          </a:prstGeom>
          <a:noFill/>
        </p:spPr>
        <p:txBody>
          <a:bodyPr wrap="square" rtlCol="0">
            <a:spAutoFit/>
          </a:bodyPr>
          <a:lstStyle/>
          <a:p>
            <a:r>
              <a:rPr lang="en-US" sz="5400" b="1" dirty="0" smtClean="0">
                <a:solidFill>
                  <a:schemeClr val="bg1"/>
                </a:solidFill>
                <a:effectLst>
                  <a:outerShdw blurRad="38100" dist="38100" dir="2700000" algn="tl">
                    <a:srgbClr val="000000">
                      <a:alpha val="43137"/>
                    </a:srgbClr>
                  </a:outerShdw>
                </a:effectLst>
                <a:latin typeface="Bahnschrift" panose="020B0502040204020203" pitchFamily="34" charset="0"/>
              </a:rPr>
              <a:t>Introduction to Finance</a:t>
            </a:r>
            <a:endParaRPr lang="en-US" sz="5400" b="1" dirty="0">
              <a:solidFill>
                <a:schemeClr val="bg1"/>
              </a:solidFill>
              <a:effectLst>
                <a:outerShdw blurRad="38100" dist="38100" dir="2700000" algn="tl">
                  <a:srgbClr val="000000">
                    <a:alpha val="43137"/>
                  </a:srgbClr>
                </a:outerShdw>
              </a:effectLst>
              <a:latin typeface="Bahnschrift" panose="020B0502040204020203" pitchFamily="34" charset="0"/>
            </a:endParaRPr>
          </a:p>
        </p:txBody>
      </p:sp>
      <p:sp>
        <p:nvSpPr>
          <p:cNvPr id="132" name="Rectangle 131">
            <a:extLst>
              <a:ext uri="{FF2B5EF4-FFF2-40B4-BE49-F238E27FC236}">
                <a16:creationId xmlns:a16="http://schemas.microsoft.com/office/drawing/2014/main" id="{FC692ED2-FC1C-B595-E008-88673FC23C42}"/>
              </a:ext>
            </a:extLst>
          </p:cNvPr>
          <p:cNvSpPr/>
          <p:nvPr/>
        </p:nvSpPr>
        <p:spPr>
          <a:xfrm>
            <a:off x="-1" y="6550223"/>
            <a:ext cx="2403567" cy="276999"/>
          </a:xfrm>
          <a:prstGeom prst="rect">
            <a:avLst/>
          </a:prstGeom>
          <a:noFill/>
        </p:spPr>
        <p:txBody>
          <a:bodyPr wrap="square" lIns="91440" tIns="45720" rIns="91440" bIns="45720">
            <a:spAutoFit/>
          </a:bodyPr>
          <a:lstStyle/>
          <a:p>
            <a:pPr algn="just"/>
            <a:r>
              <a:rPr lang="en-US" sz="1200" i="1" cap="none" spc="0" dirty="0">
                <a:ln w="0"/>
                <a:solidFill>
                  <a:schemeClr val="bg1">
                    <a:lumMod val="75000"/>
                  </a:schemeClr>
                </a:solidFill>
                <a:latin typeface="Bahnschrift" panose="020B0502040204020203" pitchFamily="34" charset="0"/>
                <a:ea typeface="Roboto" panose="02000000000000000000" pitchFamily="2" charset="0"/>
                <a:cs typeface="Arial" panose="020B0604020202020204" pitchFamily="34" charset="0"/>
              </a:rPr>
              <a:t>4(1) FIN</a:t>
            </a:r>
          </a:p>
        </p:txBody>
      </p:sp>
      <p:sp>
        <p:nvSpPr>
          <p:cNvPr id="136" name="Rectangle 135">
            <a:extLst>
              <a:ext uri="{FF2B5EF4-FFF2-40B4-BE49-F238E27FC236}">
                <a16:creationId xmlns:a16="http://schemas.microsoft.com/office/drawing/2014/main" id="{F3890046-63F1-5FEA-F7FD-778D53197F0B}"/>
              </a:ext>
            </a:extLst>
          </p:cNvPr>
          <p:cNvSpPr/>
          <p:nvPr/>
        </p:nvSpPr>
        <p:spPr>
          <a:xfrm>
            <a:off x="7056027" y="5596116"/>
            <a:ext cx="4905351" cy="1015663"/>
          </a:xfrm>
          <a:prstGeom prst="rect">
            <a:avLst/>
          </a:prstGeom>
          <a:noFill/>
        </p:spPr>
        <p:txBody>
          <a:bodyPr wrap="square" lIns="91440" tIns="45720" rIns="91440" bIns="45720">
            <a:spAutoFit/>
          </a:bodyPr>
          <a:lstStyle/>
          <a:p>
            <a:pPr algn="r"/>
            <a:r>
              <a:rPr lang="en-US" sz="3600" cap="none" spc="0" dirty="0">
                <a:ln w="0"/>
                <a:solidFill>
                  <a:schemeClr val="bg1"/>
                </a:solidFill>
                <a:latin typeface="Bahnschrift" panose="020B0502040204020203" pitchFamily="34" charset="0"/>
                <a:ea typeface="Roboto" panose="02000000000000000000" pitchFamily="2" charset="0"/>
                <a:cs typeface="Arial" panose="020B0604020202020204" pitchFamily="34" charset="0"/>
              </a:rPr>
              <a:t>Tahsin Mamun </a:t>
            </a:r>
            <a:r>
              <a:rPr lang="en-US" sz="3600" cap="none" spc="0" dirty="0" err="1">
                <a:ln w="0"/>
                <a:solidFill>
                  <a:schemeClr val="bg1"/>
                </a:solidFill>
                <a:latin typeface="Bahnschrift" panose="020B0502040204020203" pitchFamily="34" charset="0"/>
                <a:ea typeface="Roboto" panose="02000000000000000000" pitchFamily="2" charset="0"/>
                <a:cs typeface="Arial" panose="020B0604020202020204" pitchFamily="34" charset="0"/>
              </a:rPr>
              <a:t>Prottoy</a:t>
            </a:r>
            <a:endParaRPr lang="en-US" sz="3600" cap="none" spc="0" dirty="0">
              <a:ln w="0"/>
              <a:solidFill>
                <a:schemeClr val="bg1"/>
              </a:solidFill>
              <a:latin typeface="Bahnschrift" panose="020B0502040204020203" pitchFamily="34" charset="0"/>
              <a:ea typeface="Roboto" panose="02000000000000000000" pitchFamily="2" charset="0"/>
              <a:cs typeface="Arial" panose="020B0604020202020204" pitchFamily="34" charset="0"/>
            </a:endParaRPr>
          </a:p>
          <a:p>
            <a:pPr algn="r"/>
            <a:r>
              <a:rPr lang="en-US" sz="2400" cap="none" spc="0" dirty="0">
                <a:ln w="0"/>
                <a:solidFill>
                  <a:schemeClr val="bg1"/>
                </a:solidFill>
                <a:latin typeface="Bahnschrift" panose="020B0502040204020203" pitchFamily="34" charset="0"/>
                <a:ea typeface="Roboto" panose="02000000000000000000" pitchFamily="2" charset="0"/>
                <a:cs typeface="Arial" panose="020B0604020202020204" pitchFamily="34" charset="0"/>
              </a:rPr>
              <a:t>Lecturer (Finance), DBA, BAIUST</a:t>
            </a:r>
          </a:p>
        </p:txBody>
      </p:sp>
      <p:sp>
        <p:nvSpPr>
          <p:cNvPr id="133" name="Rectangle 132">
            <a:extLst>
              <a:ext uri="{FF2B5EF4-FFF2-40B4-BE49-F238E27FC236}">
                <a16:creationId xmlns:a16="http://schemas.microsoft.com/office/drawing/2014/main" id="{3EE06531-914B-61F9-4199-195BC4D238BA}"/>
              </a:ext>
            </a:extLst>
          </p:cNvPr>
          <p:cNvSpPr/>
          <p:nvPr/>
        </p:nvSpPr>
        <p:spPr>
          <a:xfrm>
            <a:off x="1024346" y="3605882"/>
            <a:ext cx="6836138" cy="523220"/>
          </a:xfrm>
          <a:prstGeom prst="rect">
            <a:avLst/>
          </a:prstGeom>
          <a:noFill/>
        </p:spPr>
        <p:txBody>
          <a:bodyPr wrap="square" lIns="91440" tIns="45720" rIns="91440" bIns="45720">
            <a:spAutoFit/>
          </a:bodyPr>
          <a:lstStyle/>
          <a:p>
            <a:r>
              <a:rPr lang="en-US" sz="2800" b="1" dirty="0" smtClean="0">
                <a:ln w="0"/>
                <a:solidFill>
                  <a:schemeClr val="bg1"/>
                </a:solidFill>
                <a:effectLst>
                  <a:outerShdw blurRad="38100" dist="38100" dir="2700000" algn="tl">
                    <a:srgbClr val="000000">
                      <a:alpha val="43137"/>
                    </a:srgbClr>
                  </a:outerShdw>
                </a:effectLst>
                <a:latin typeface="Bahnschrift" panose="020B0502040204020203" pitchFamily="34" charset="0"/>
                <a:ea typeface="Roboto" panose="02000000000000000000" pitchFamily="2" charset="0"/>
                <a:cs typeface="Arial" panose="020B0604020202020204" pitchFamily="34" charset="0"/>
              </a:rPr>
              <a:t>Investment &amp; Finance</a:t>
            </a:r>
            <a:endParaRPr lang="en-US" sz="2800" b="1" cap="none" spc="0" dirty="0">
              <a:ln w="0"/>
              <a:solidFill>
                <a:schemeClr val="bg1"/>
              </a:solidFill>
              <a:effectLst>
                <a:outerShdw blurRad="38100" dist="38100" dir="2700000" algn="tl">
                  <a:srgbClr val="000000">
                    <a:alpha val="43137"/>
                  </a:srgbClr>
                </a:outerShdw>
              </a:effectLst>
              <a:latin typeface="Bahnschrift" panose="020B0502040204020203" pitchFamily="34" charset="0"/>
              <a:ea typeface="Roboto" panose="02000000000000000000" pitchFamily="2" charset="0"/>
              <a:cs typeface="Arial" panose="020B0604020202020204" pitchFamily="34" charset="0"/>
            </a:endParaRPr>
          </a:p>
        </p:txBody>
      </p:sp>
      <p:pic>
        <p:nvPicPr>
          <p:cNvPr id="5" name="Picture 4">
            <a:extLst>
              <a:ext uri="{FF2B5EF4-FFF2-40B4-BE49-F238E27FC236}">
                <a16:creationId xmlns:a16="http://schemas.microsoft.com/office/drawing/2014/main" id="{2FB97EDF-F9FA-185A-1282-2F8C68D60CD6}"/>
              </a:ext>
            </a:extLst>
          </p:cNvPr>
          <p:cNvPicPr>
            <a:picLocks noChangeAspect="1"/>
          </p:cNvPicPr>
          <p:nvPr/>
        </p:nvPicPr>
        <p:blipFill>
          <a:blip r:embed="rId3" cstate="print">
            <a:extLst>
              <a:ext uri="{BEBA8EAE-BF5A-486C-A8C5-ECC9F3942E4B}">
                <a14:imgProps xmlns:a14="http://schemas.microsoft.com/office/drawing/2010/main">
                  <a14:imgLayer r:embed="rId4">
                    <a14:imgEffect>
                      <a14:backgroundRemoval t="10000" b="90000" l="10000" r="90000"/>
                    </a14:imgEffect>
                  </a14:imgLayer>
                </a14:imgProps>
              </a:ext>
              <a:ext uri="{28A0092B-C50C-407E-A947-70E740481C1C}">
                <a14:useLocalDpi xmlns:a14="http://schemas.microsoft.com/office/drawing/2010/main" val="0"/>
              </a:ext>
            </a:extLst>
          </a:blip>
          <a:srcRect l="29616" t="13140" r="29576" b="13140"/>
          <a:stretch>
            <a:fillRect/>
          </a:stretch>
        </p:blipFill>
        <p:spPr>
          <a:xfrm>
            <a:off x="10746297" y="175558"/>
            <a:ext cx="1215081" cy="1286768"/>
          </a:xfrm>
          <a:prstGeom prst="rect">
            <a:avLst/>
          </a:prstGeom>
        </p:spPr>
      </p:pic>
      <p:sp>
        <p:nvSpPr>
          <p:cNvPr id="3" name="Rectangle 2">
            <a:extLst>
              <a:ext uri="{FF2B5EF4-FFF2-40B4-BE49-F238E27FC236}">
                <a16:creationId xmlns:a16="http://schemas.microsoft.com/office/drawing/2014/main" id="{9C3B37C0-9425-E889-45D7-7949EADF6029}"/>
              </a:ext>
            </a:extLst>
          </p:cNvPr>
          <p:cNvSpPr/>
          <p:nvPr/>
        </p:nvSpPr>
        <p:spPr>
          <a:xfrm rot="16200000">
            <a:off x="-460214" y="3167391"/>
            <a:ext cx="1812735" cy="523220"/>
          </a:xfrm>
          <a:prstGeom prst="rect">
            <a:avLst/>
          </a:prstGeom>
          <a:noFill/>
        </p:spPr>
        <p:txBody>
          <a:bodyPr wrap="square" lIns="91440" tIns="45720" rIns="91440" bIns="45720">
            <a:spAutoFit/>
          </a:bodyPr>
          <a:lstStyle/>
          <a:p>
            <a:pPr algn="ctr"/>
            <a:r>
              <a:rPr lang="en-US" sz="2800" b="1" dirty="0" smtClean="0">
                <a:ln w="0"/>
                <a:solidFill>
                  <a:schemeClr val="bg1"/>
                </a:solidFill>
                <a:effectLst>
                  <a:outerShdw blurRad="38100" dist="38100" dir="2700000" algn="tl">
                    <a:srgbClr val="000000">
                      <a:alpha val="43137"/>
                    </a:srgbClr>
                  </a:outerShdw>
                </a:effectLst>
                <a:latin typeface="Bahnschrift" panose="020B0502040204020203" pitchFamily="34" charset="0"/>
                <a:ea typeface="Roboto" panose="02000000000000000000" pitchFamily="2" charset="0"/>
                <a:cs typeface="Arial" panose="020B0604020202020204" pitchFamily="34" charset="0"/>
              </a:rPr>
              <a:t>GED 211</a:t>
            </a:r>
            <a:endParaRPr lang="en-US" sz="2800" b="1" cap="none" spc="0" dirty="0">
              <a:ln w="0"/>
              <a:solidFill>
                <a:schemeClr val="bg1"/>
              </a:solidFill>
              <a:effectLst>
                <a:outerShdw blurRad="38100" dist="38100" dir="2700000" algn="tl">
                  <a:srgbClr val="000000">
                    <a:alpha val="43137"/>
                  </a:srgbClr>
                </a:outerShdw>
              </a:effectLst>
              <a:latin typeface="Bahnschrift" panose="020B0502040204020203" pitchFamily="34" charset="0"/>
              <a:ea typeface="Roboto" panose="02000000000000000000" pitchFamily="2" charset="0"/>
              <a:cs typeface="Arial" panose="020B0604020202020204" pitchFamily="34" charset="0"/>
            </a:endParaRPr>
          </a:p>
        </p:txBody>
      </p:sp>
    </p:spTree>
    <p:extLst>
      <p:ext uri="{BB962C8B-B14F-4D97-AF65-F5344CB8AC3E}">
        <p14:creationId xmlns:p14="http://schemas.microsoft.com/office/powerpoint/2010/main" val="34142557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32"/>
                                        </p:tgtEl>
                                        <p:attrNameLst>
                                          <p:attrName>style.visibility</p:attrName>
                                        </p:attrNameLst>
                                      </p:cBhvr>
                                      <p:to>
                                        <p:strVal val="visible"/>
                                      </p:to>
                                    </p:set>
                                    <p:animEffect transition="in" filter="fade">
                                      <p:cBhvr>
                                        <p:cTn id="7" dur="500"/>
                                        <p:tgtEl>
                                          <p:spTgt spid="132"/>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500"/>
                                        <p:tgtEl>
                                          <p:spTgt spid="3"/>
                                        </p:tgtEl>
                                      </p:cBhvr>
                                    </p:animEffect>
                                  </p:childTnLst>
                                </p:cTn>
                              </p:par>
                            </p:childTnLst>
                          </p:cTn>
                        </p:par>
                      </p:childTnLst>
                    </p:cTn>
                  </p:par>
                  <p:par>
                    <p:cTn id="12" fill="hold">
                      <p:stCondLst>
                        <p:cond delay="indefinite"/>
                      </p:stCondLst>
                      <p:childTnLst>
                        <p:par>
                          <p:cTn id="13" fill="hold">
                            <p:stCondLst>
                              <p:cond delay="0"/>
                            </p:stCondLst>
                            <p:childTnLst>
                              <p:par>
                                <p:cTn id="14" presetID="2" presetClass="entr" presetSubtype="4" fill="hold" nodeType="clickEffect">
                                  <p:stCondLst>
                                    <p:cond delay="0"/>
                                  </p:stCondLst>
                                  <p:childTnLst>
                                    <p:set>
                                      <p:cBhvr>
                                        <p:cTn id="15" dur="1" fill="hold">
                                          <p:stCondLst>
                                            <p:cond delay="0"/>
                                          </p:stCondLst>
                                        </p:cTn>
                                        <p:tgtEl>
                                          <p:spTgt spid="136">
                                            <p:txEl>
                                              <p:pRg st="0" end="0"/>
                                            </p:txEl>
                                          </p:spTgt>
                                        </p:tgtEl>
                                        <p:attrNameLst>
                                          <p:attrName>style.visibility</p:attrName>
                                        </p:attrNameLst>
                                      </p:cBhvr>
                                      <p:to>
                                        <p:strVal val="visible"/>
                                      </p:to>
                                    </p:set>
                                    <p:anim calcmode="lin" valueType="num">
                                      <p:cBhvr additive="base">
                                        <p:cTn id="16" dur="500" fill="hold"/>
                                        <p:tgtEl>
                                          <p:spTgt spid="136">
                                            <p:txEl>
                                              <p:pRg st="0" end="0"/>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13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136">
                                            <p:txEl>
                                              <p:pRg st="1" end="1"/>
                                            </p:txEl>
                                          </p:spTgt>
                                        </p:tgtEl>
                                        <p:attrNameLst>
                                          <p:attrName>style.visibility</p:attrName>
                                        </p:attrNameLst>
                                      </p:cBhvr>
                                      <p:to>
                                        <p:strVal val="visible"/>
                                      </p:to>
                                    </p:set>
                                    <p:animEffect transition="in" filter="fade">
                                      <p:cBhvr>
                                        <p:cTn id="22" dur="500"/>
                                        <p:tgtEl>
                                          <p:spTgt spid="136">
                                            <p:txEl>
                                              <p:pRg st="1" end="1"/>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3"/>
                                        </p:tgtEl>
                                        <p:attrNameLst>
                                          <p:attrName>style.visibility</p:attrName>
                                        </p:attrNameLst>
                                      </p:cBhvr>
                                      <p:to>
                                        <p:strVal val="visible"/>
                                      </p:to>
                                    </p:set>
                                    <p:animEffect transition="in" filter="fade">
                                      <p:cBhvr>
                                        <p:cTn id="32" dur="500"/>
                                        <p:tgtEl>
                                          <p:spTgt spid="1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32" grpId="0"/>
      <p:bldP spid="133" grpId="0"/>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9CE3C-0618-7584-6C72-00EEFB407EE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92C6095-F903-B474-5F17-6D559008D844}"/>
              </a:ext>
            </a:extLst>
          </p:cNvPr>
          <p:cNvPicPr>
            <a:picLocks noChangeAspect="1"/>
          </p:cNvPicPr>
          <p:nvPr/>
        </p:nvPicPr>
        <p:blipFill>
          <a:blip r:embed="rId2" cstate="print">
            <a:extLst>
              <a:ext uri="{BEBA8EAE-BF5A-486C-A8C5-ECC9F3942E4B}">
                <a14:imgProps xmlns:a14="http://schemas.microsoft.com/office/drawing/2010/main">
                  <a14:imgLayer r:embed="rId3">
                    <a14:imgEffect>
                      <a14:backgroundRemoval t="10000" b="90000" l="10000" r="90000"/>
                    </a14:imgEffect>
                  </a14:imgLayer>
                </a14:imgProps>
              </a:ext>
              <a:ext uri="{28A0092B-C50C-407E-A947-70E740481C1C}">
                <a14:useLocalDpi xmlns:a14="http://schemas.microsoft.com/office/drawing/2010/main" val="0"/>
              </a:ext>
            </a:extLst>
          </a:blip>
          <a:srcRect l="29616" t="13140" r="29576" b="13140"/>
          <a:stretch>
            <a:fillRect/>
          </a:stretch>
        </p:blipFill>
        <p:spPr>
          <a:xfrm>
            <a:off x="10746297" y="175558"/>
            <a:ext cx="1215081" cy="1286768"/>
          </a:xfrm>
          <a:prstGeom prst="rect">
            <a:avLst/>
          </a:prstGeom>
        </p:spPr>
      </p:pic>
      <p:grpSp>
        <p:nvGrpSpPr>
          <p:cNvPr id="9" name="Group 8">
            <a:extLst>
              <a:ext uri="{FF2B5EF4-FFF2-40B4-BE49-F238E27FC236}">
                <a16:creationId xmlns:a16="http://schemas.microsoft.com/office/drawing/2014/main" id="{4E5E9315-8B82-4D08-2ACB-1D37950ED37C}"/>
              </a:ext>
            </a:extLst>
          </p:cNvPr>
          <p:cNvGrpSpPr/>
          <p:nvPr/>
        </p:nvGrpSpPr>
        <p:grpSpPr>
          <a:xfrm>
            <a:off x="1136716" y="2231062"/>
            <a:ext cx="557859" cy="2860992"/>
            <a:chOff x="1027659" y="1677451"/>
            <a:chExt cx="557859" cy="2860992"/>
          </a:xfrm>
        </p:grpSpPr>
        <p:sp>
          <p:nvSpPr>
            <p:cNvPr id="10" name="Rectangle 9">
              <a:extLst>
                <a:ext uri="{FF2B5EF4-FFF2-40B4-BE49-F238E27FC236}">
                  <a16:creationId xmlns:a16="http://schemas.microsoft.com/office/drawing/2014/main" id="{F48306E1-8FB5-854D-E8F6-37D3540F959F}"/>
                </a:ext>
              </a:extLst>
            </p:cNvPr>
            <p:cNvSpPr/>
            <p:nvPr/>
          </p:nvSpPr>
          <p:spPr>
            <a:xfrm>
              <a:off x="1392574" y="2709643"/>
              <a:ext cx="192944" cy="1828800"/>
            </a:xfrm>
            <a:prstGeom prst="rect">
              <a:avLst/>
            </a:prstGeom>
            <a:solidFill>
              <a:schemeClr val="tx1">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effectLst>
                  <a:outerShdw blurRad="38100" dist="38100" dir="2700000" algn="tl">
                    <a:srgbClr val="000000">
                      <a:alpha val="43137"/>
                    </a:srgbClr>
                  </a:outerShdw>
                </a:effectLst>
              </a:endParaRPr>
            </a:p>
          </p:txBody>
        </p:sp>
        <p:sp>
          <p:nvSpPr>
            <p:cNvPr id="11" name="Rectangle 10">
              <a:extLst>
                <a:ext uri="{FF2B5EF4-FFF2-40B4-BE49-F238E27FC236}">
                  <a16:creationId xmlns:a16="http://schemas.microsoft.com/office/drawing/2014/main" id="{DF828A06-369C-09C2-A63E-4752D100669D}"/>
                </a:ext>
              </a:extLst>
            </p:cNvPr>
            <p:cNvSpPr/>
            <p:nvPr/>
          </p:nvSpPr>
          <p:spPr>
            <a:xfrm>
              <a:off x="1216408" y="2226212"/>
              <a:ext cx="192944" cy="1828800"/>
            </a:xfrm>
            <a:prstGeom prst="rect">
              <a:avLst/>
            </a:prstGeom>
            <a:gradFill flip="none" rotWithShape="1">
              <a:gsLst>
                <a:gs pos="0">
                  <a:srgbClr val="006A3A">
                    <a:shade val="30000"/>
                    <a:satMod val="115000"/>
                  </a:srgbClr>
                </a:gs>
                <a:gs pos="50000">
                  <a:srgbClr val="006A3A">
                    <a:shade val="67500"/>
                    <a:satMod val="115000"/>
                  </a:srgbClr>
                </a:gs>
                <a:gs pos="100000">
                  <a:srgbClr val="006A3A">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A644CA27-8BDA-907C-276C-B7468ACAE883}"/>
                </a:ext>
              </a:extLst>
            </p:cNvPr>
            <p:cNvSpPr/>
            <p:nvPr/>
          </p:nvSpPr>
          <p:spPr>
            <a:xfrm>
              <a:off x="1027659" y="1677451"/>
              <a:ext cx="192944" cy="1828800"/>
            </a:xfrm>
            <a:prstGeom prst="rect">
              <a:avLst/>
            </a:prstGeom>
            <a:gradFill flip="none" rotWithShape="1">
              <a:gsLst>
                <a:gs pos="0">
                  <a:srgbClr val="EBBA13">
                    <a:shade val="30000"/>
                    <a:satMod val="115000"/>
                  </a:srgbClr>
                </a:gs>
                <a:gs pos="50000">
                  <a:srgbClr val="EBBA13">
                    <a:shade val="67500"/>
                    <a:satMod val="115000"/>
                  </a:srgbClr>
                </a:gs>
                <a:gs pos="100000">
                  <a:srgbClr val="EBBA13">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721FA2EE-4D7B-0207-D4A4-F8FE7ACA0ED5}"/>
              </a:ext>
            </a:extLst>
          </p:cNvPr>
          <p:cNvGrpSpPr/>
          <p:nvPr/>
        </p:nvGrpSpPr>
        <p:grpSpPr>
          <a:xfrm>
            <a:off x="1048031" y="971247"/>
            <a:ext cx="7218516" cy="603248"/>
            <a:chOff x="1907008" y="1257570"/>
            <a:chExt cx="7218516" cy="603248"/>
          </a:xfrm>
        </p:grpSpPr>
        <p:sp>
          <p:nvSpPr>
            <p:cNvPr id="3" name="TextBox 2">
              <a:extLst>
                <a:ext uri="{FF2B5EF4-FFF2-40B4-BE49-F238E27FC236}">
                  <a16:creationId xmlns:a16="http://schemas.microsoft.com/office/drawing/2014/main" id="{079AD1D3-7036-4F2C-1BB6-9036430761A2}"/>
                </a:ext>
              </a:extLst>
            </p:cNvPr>
            <p:cNvSpPr txBox="1"/>
            <p:nvPr/>
          </p:nvSpPr>
          <p:spPr>
            <a:xfrm>
              <a:off x="1907008" y="1257570"/>
              <a:ext cx="7218516" cy="584775"/>
            </a:xfrm>
            <a:prstGeom prst="rect">
              <a:avLst/>
            </a:prstGeom>
            <a:noFill/>
          </p:spPr>
          <p:txBody>
            <a:bodyPr wrap="square" rtlCol="0">
              <a:spAutoFit/>
            </a:bodyPr>
            <a:lstStyle/>
            <a:p>
              <a:r>
                <a:rPr lang="en-US" sz="3200" b="1" spc="300" dirty="0">
                  <a:solidFill>
                    <a:srgbClr val="006A3A"/>
                  </a:solidFill>
                  <a:latin typeface="Bahnschrift Condensed" panose="020B0502040204020203" pitchFamily="34" charset="0"/>
                </a:rPr>
                <a:t>Contents:</a:t>
              </a:r>
              <a:r>
                <a:rPr lang="en-US" sz="3200" b="1" spc="300" dirty="0">
                  <a:solidFill>
                    <a:srgbClr val="2F8B42"/>
                  </a:solidFill>
                  <a:latin typeface="Bahnschrift Condensed" panose="020B0502040204020203" pitchFamily="34" charset="0"/>
                </a:rPr>
                <a:t> </a:t>
              </a:r>
              <a:r>
                <a:rPr lang="en-US" sz="3200" b="1" spc="300" dirty="0">
                  <a:solidFill>
                    <a:srgbClr val="EBBA13"/>
                  </a:solidFill>
                  <a:latin typeface="Bahnschrift Condensed" panose="020B0502040204020203" pitchFamily="34" charset="0"/>
                </a:rPr>
                <a:t>Focus of Discussion</a:t>
              </a:r>
            </a:p>
          </p:txBody>
        </p:sp>
        <p:cxnSp>
          <p:nvCxnSpPr>
            <p:cNvPr id="15" name="Straight Connector 14">
              <a:extLst>
                <a:ext uri="{FF2B5EF4-FFF2-40B4-BE49-F238E27FC236}">
                  <a16:creationId xmlns:a16="http://schemas.microsoft.com/office/drawing/2014/main" id="{BE01F48C-C3F9-9C8E-1B18-F8B93C178195}"/>
                </a:ext>
              </a:extLst>
            </p:cNvPr>
            <p:cNvCxnSpPr>
              <a:cxnSpLocks/>
            </p:cNvCxnSpPr>
            <p:nvPr/>
          </p:nvCxnSpPr>
          <p:spPr>
            <a:xfrm>
              <a:off x="2004292" y="1860818"/>
              <a:ext cx="6668655" cy="0"/>
            </a:xfrm>
            <a:prstGeom prst="line">
              <a:avLst/>
            </a:prstGeom>
            <a:ln w="38100">
              <a:solidFill>
                <a:srgbClr val="006A3A"/>
              </a:solidFill>
            </a:ln>
          </p:spPr>
          <p:style>
            <a:lnRef idx="1">
              <a:schemeClr val="accent1"/>
            </a:lnRef>
            <a:fillRef idx="0">
              <a:schemeClr val="accent1"/>
            </a:fillRef>
            <a:effectRef idx="0">
              <a:schemeClr val="accent1"/>
            </a:effectRef>
            <a:fontRef idx="minor">
              <a:schemeClr val="tx1"/>
            </a:fontRef>
          </p:style>
        </p:cxnSp>
      </p:grpSp>
      <p:grpSp>
        <p:nvGrpSpPr>
          <p:cNvPr id="6" name="Group 5">
            <a:extLst>
              <a:ext uri="{FF2B5EF4-FFF2-40B4-BE49-F238E27FC236}">
                <a16:creationId xmlns:a16="http://schemas.microsoft.com/office/drawing/2014/main" id="{F0B8BE32-DDB3-C174-14FD-21F52119B2AA}"/>
              </a:ext>
            </a:extLst>
          </p:cNvPr>
          <p:cNvGrpSpPr/>
          <p:nvPr/>
        </p:nvGrpSpPr>
        <p:grpSpPr>
          <a:xfrm>
            <a:off x="6661750" y="2165056"/>
            <a:ext cx="5215735" cy="2926080"/>
            <a:chOff x="6661750" y="2165056"/>
            <a:chExt cx="5215735" cy="2926080"/>
          </a:xfrm>
        </p:grpSpPr>
        <p:sp>
          <p:nvSpPr>
            <p:cNvPr id="18" name="Text Box 5">
              <a:extLst>
                <a:ext uri="{FF2B5EF4-FFF2-40B4-BE49-F238E27FC236}">
                  <a16:creationId xmlns:a16="http://schemas.microsoft.com/office/drawing/2014/main" id="{CF6783A2-2A04-59C4-173C-D9CE4777B36D}"/>
                </a:ext>
              </a:extLst>
            </p:cNvPr>
            <p:cNvSpPr txBox="1">
              <a:spLocks noChangeArrowheads="1"/>
            </p:cNvSpPr>
            <p:nvPr/>
          </p:nvSpPr>
          <p:spPr bwMode="auto">
            <a:xfrm>
              <a:off x="7027123" y="2962068"/>
              <a:ext cx="4850362" cy="934358"/>
            </a:xfrm>
            <a:prstGeom prst="rect">
              <a:avLst/>
            </a:prstGeom>
            <a:noFill/>
            <a:ln w="9525">
              <a:noFill/>
              <a:miter lim="800000"/>
              <a:headEnd/>
              <a:tailEnd/>
            </a:ln>
          </p:spPr>
          <p:txBody>
            <a:bodyPr wrap="square">
              <a:spAutoFit/>
            </a:bodyPr>
            <a:lstStyle/>
            <a:p>
              <a:pPr>
                <a:lnSpc>
                  <a:spcPct val="114000"/>
                </a:lnSpc>
              </a:pPr>
              <a:r>
                <a:rPr lang="en-US" altLang="de-DE" sz="2400" b="1" dirty="0" smtClean="0">
                  <a:solidFill>
                    <a:srgbClr val="006A3A"/>
                  </a:solidFill>
                  <a:latin typeface="Congenial" panose="02000503040000020004" pitchFamily="2" charset="0"/>
                  <a:cs typeface="Tahoma" pitchFamily="34" charset="0"/>
                </a:rPr>
                <a:t>Management vs Shareholders </a:t>
              </a:r>
              <a:endParaRPr lang="en-US" altLang="de-DE" sz="2400" b="1" dirty="0">
                <a:solidFill>
                  <a:srgbClr val="006A3A"/>
                </a:solidFill>
                <a:latin typeface="Congenial" panose="02000503040000020004" pitchFamily="2" charset="0"/>
                <a:cs typeface="Tahoma" pitchFamily="34" charset="0"/>
              </a:endParaRPr>
            </a:p>
            <a:p>
              <a:pPr marL="341313" indent="-341313">
                <a:lnSpc>
                  <a:spcPct val="114000"/>
                </a:lnSpc>
                <a:buFont typeface="Wingdings" pitchFamily="2" charset="2"/>
                <a:buChar char="§"/>
              </a:pPr>
              <a:r>
                <a:rPr lang="en-US" altLang="de-DE" sz="2400" dirty="0">
                  <a:solidFill>
                    <a:schemeClr val="tx1">
                      <a:lumMod val="75000"/>
                      <a:lumOff val="25000"/>
                    </a:schemeClr>
                  </a:solidFill>
                  <a:latin typeface="Congenial" panose="02000503040000020004" pitchFamily="2" charset="0"/>
                  <a:cs typeface="Tahoma" pitchFamily="34" charset="0"/>
                </a:rPr>
                <a:t>The Agency Issue</a:t>
              </a:r>
            </a:p>
          </p:txBody>
        </p:sp>
        <p:cxnSp>
          <p:nvCxnSpPr>
            <p:cNvPr id="19" name="Straight Connector 18">
              <a:extLst>
                <a:ext uri="{FF2B5EF4-FFF2-40B4-BE49-F238E27FC236}">
                  <a16:creationId xmlns:a16="http://schemas.microsoft.com/office/drawing/2014/main" id="{B6D7D440-C209-F782-780C-AA659E2A41C5}"/>
                </a:ext>
              </a:extLst>
            </p:cNvPr>
            <p:cNvCxnSpPr>
              <a:cxnSpLocks/>
            </p:cNvCxnSpPr>
            <p:nvPr/>
          </p:nvCxnSpPr>
          <p:spPr>
            <a:xfrm rot="5400000">
              <a:off x="5198710" y="3628096"/>
              <a:ext cx="2926080" cy="0"/>
            </a:xfrm>
            <a:prstGeom prst="line">
              <a:avLst/>
            </a:prstGeom>
            <a:ln w="38100">
              <a:solidFill>
                <a:srgbClr val="006A3A"/>
              </a:solidFill>
            </a:ln>
          </p:spPr>
          <p:style>
            <a:lnRef idx="1">
              <a:schemeClr val="accent1"/>
            </a:lnRef>
            <a:fillRef idx="0">
              <a:schemeClr val="accent1"/>
            </a:fillRef>
            <a:effectRef idx="0">
              <a:schemeClr val="accent1"/>
            </a:effectRef>
            <a:fontRef idx="minor">
              <a:schemeClr val="tx1"/>
            </a:fontRef>
          </p:style>
        </p:cxnSp>
      </p:grpSp>
      <p:sp>
        <p:nvSpPr>
          <p:cNvPr id="4" name="Text Box 5">
            <a:extLst>
              <a:ext uri="{FF2B5EF4-FFF2-40B4-BE49-F238E27FC236}">
                <a16:creationId xmlns:a16="http://schemas.microsoft.com/office/drawing/2014/main" id="{7BB0ED6B-816A-AD46-DFCE-2FB6AF79346F}"/>
              </a:ext>
            </a:extLst>
          </p:cNvPr>
          <p:cNvSpPr txBox="1">
            <a:spLocks noChangeArrowheads="1"/>
          </p:cNvSpPr>
          <p:nvPr/>
        </p:nvSpPr>
        <p:spPr bwMode="auto">
          <a:xfrm>
            <a:off x="1885019" y="2137004"/>
            <a:ext cx="4737724" cy="1565942"/>
          </a:xfrm>
          <a:prstGeom prst="rect">
            <a:avLst/>
          </a:prstGeom>
          <a:noFill/>
          <a:ln w="9525">
            <a:noFill/>
            <a:miter lim="800000"/>
            <a:headEnd/>
            <a:tailEnd/>
          </a:ln>
        </p:spPr>
        <p:txBody>
          <a:bodyPr wrap="square">
            <a:spAutoFit/>
          </a:bodyPr>
          <a:lstStyle/>
          <a:p>
            <a:pPr>
              <a:lnSpc>
                <a:spcPct val="114000"/>
              </a:lnSpc>
            </a:pPr>
            <a:r>
              <a:rPr lang="en-US" altLang="de-DE" sz="2400" b="1" dirty="0" smtClean="0">
                <a:solidFill>
                  <a:srgbClr val="006A3A"/>
                </a:solidFill>
                <a:latin typeface="Congenial" panose="02000503040000020004" pitchFamily="2" charset="0"/>
                <a:cs typeface="Tahoma" pitchFamily="34" charset="0"/>
              </a:rPr>
              <a:t>Introduction to Finance </a:t>
            </a:r>
            <a:endParaRPr lang="en-US" altLang="de-DE" sz="2400" b="1" dirty="0">
              <a:solidFill>
                <a:srgbClr val="006A3A"/>
              </a:solidFill>
              <a:latin typeface="Congenial" panose="02000503040000020004" pitchFamily="2" charset="0"/>
              <a:cs typeface="Tahoma" pitchFamily="34" charset="0"/>
            </a:endParaRPr>
          </a:p>
          <a:p>
            <a:pPr marL="341313" indent="-341313">
              <a:lnSpc>
                <a:spcPct val="114000"/>
              </a:lnSpc>
              <a:buFont typeface="Wingdings" pitchFamily="2" charset="2"/>
              <a:buChar char="§"/>
            </a:pPr>
            <a:r>
              <a:rPr lang="en-US" altLang="de-DE" sz="2000" dirty="0" smtClean="0">
                <a:solidFill>
                  <a:schemeClr val="tx1">
                    <a:lumMod val="75000"/>
                    <a:lumOff val="25000"/>
                  </a:schemeClr>
                </a:solidFill>
                <a:latin typeface="Congenial" panose="02000503040000020004" pitchFamily="2" charset="0"/>
                <a:cs typeface="Tahoma" pitchFamily="34" charset="0"/>
              </a:rPr>
              <a:t>Define Finance</a:t>
            </a:r>
          </a:p>
          <a:p>
            <a:pPr marL="341313" indent="-341313">
              <a:lnSpc>
                <a:spcPct val="114000"/>
              </a:lnSpc>
              <a:buFont typeface="Wingdings" pitchFamily="2" charset="2"/>
              <a:buChar char="§"/>
            </a:pPr>
            <a:r>
              <a:rPr lang="en-US" altLang="de-DE" sz="2000" dirty="0">
                <a:solidFill>
                  <a:schemeClr val="tx1">
                    <a:lumMod val="75000"/>
                    <a:lumOff val="25000"/>
                  </a:schemeClr>
                </a:solidFill>
                <a:latin typeface="Congenial" panose="02000503040000020004" pitchFamily="2" charset="0"/>
                <a:cs typeface="Tahoma" pitchFamily="34" charset="0"/>
              </a:rPr>
              <a:t>Functions of Finance</a:t>
            </a:r>
          </a:p>
          <a:p>
            <a:pPr marL="341313" indent="-341313">
              <a:lnSpc>
                <a:spcPct val="114000"/>
              </a:lnSpc>
              <a:buFont typeface="Wingdings" pitchFamily="2" charset="2"/>
              <a:buChar char="§"/>
            </a:pPr>
            <a:r>
              <a:rPr lang="en-US" altLang="de-DE" sz="2000" dirty="0" smtClean="0">
                <a:solidFill>
                  <a:schemeClr val="tx1">
                    <a:lumMod val="75000"/>
                    <a:lumOff val="25000"/>
                  </a:schemeClr>
                </a:solidFill>
                <a:latin typeface="Congenial" panose="02000503040000020004" pitchFamily="2" charset="0"/>
                <a:cs typeface="Tahoma" pitchFamily="34" charset="0"/>
              </a:rPr>
              <a:t>Principles </a:t>
            </a:r>
            <a:r>
              <a:rPr lang="en-US" altLang="de-DE" sz="2000" dirty="0">
                <a:solidFill>
                  <a:schemeClr val="tx1">
                    <a:lumMod val="75000"/>
                    <a:lumOff val="25000"/>
                  </a:schemeClr>
                </a:solidFill>
                <a:latin typeface="Congenial" panose="02000503040000020004" pitchFamily="2" charset="0"/>
                <a:cs typeface="Tahoma" pitchFamily="34" charset="0"/>
              </a:rPr>
              <a:t>of </a:t>
            </a:r>
            <a:r>
              <a:rPr lang="en-US" altLang="de-DE" sz="2000" dirty="0" smtClean="0">
                <a:solidFill>
                  <a:schemeClr val="tx1">
                    <a:lumMod val="75000"/>
                    <a:lumOff val="25000"/>
                  </a:schemeClr>
                </a:solidFill>
                <a:latin typeface="Congenial" panose="02000503040000020004" pitchFamily="2" charset="0"/>
                <a:cs typeface="Tahoma" pitchFamily="34" charset="0"/>
              </a:rPr>
              <a:t>Finance</a:t>
            </a:r>
          </a:p>
        </p:txBody>
      </p:sp>
      <p:sp>
        <p:nvSpPr>
          <p:cNvPr id="13" name="Text Box 5">
            <a:extLst>
              <a:ext uri="{FF2B5EF4-FFF2-40B4-BE49-F238E27FC236}">
                <a16:creationId xmlns:a16="http://schemas.microsoft.com/office/drawing/2014/main" id="{8B963025-03C7-6BE2-84F5-20DD3F27F7F5}"/>
              </a:ext>
            </a:extLst>
          </p:cNvPr>
          <p:cNvSpPr txBox="1">
            <a:spLocks noChangeArrowheads="1"/>
          </p:cNvSpPr>
          <p:nvPr/>
        </p:nvSpPr>
        <p:spPr bwMode="auto">
          <a:xfrm>
            <a:off x="1885019" y="3954909"/>
            <a:ext cx="3555199" cy="864211"/>
          </a:xfrm>
          <a:prstGeom prst="rect">
            <a:avLst/>
          </a:prstGeom>
          <a:noFill/>
          <a:ln w="9525">
            <a:noFill/>
            <a:miter lim="800000"/>
            <a:headEnd/>
            <a:tailEnd/>
          </a:ln>
        </p:spPr>
        <p:txBody>
          <a:bodyPr wrap="square">
            <a:spAutoFit/>
          </a:bodyPr>
          <a:lstStyle/>
          <a:p>
            <a:pPr>
              <a:lnSpc>
                <a:spcPct val="114000"/>
              </a:lnSpc>
            </a:pPr>
            <a:r>
              <a:rPr lang="en-US" altLang="de-DE" sz="2400" b="1" dirty="0">
                <a:solidFill>
                  <a:srgbClr val="006A3A"/>
                </a:solidFill>
                <a:latin typeface="Congenial" panose="02000503040000020004" pitchFamily="2" charset="0"/>
                <a:cs typeface="Tahoma" pitchFamily="34" charset="0"/>
              </a:rPr>
              <a:t>Goal of a Firm </a:t>
            </a:r>
          </a:p>
          <a:p>
            <a:pPr marL="341313" indent="-341313">
              <a:lnSpc>
                <a:spcPct val="114000"/>
              </a:lnSpc>
              <a:buFont typeface="Wingdings" pitchFamily="2" charset="2"/>
              <a:buChar char="§"/>
            </a:pPr>
            <a:r>
              <a:rPr lang="en-US" altLang="de-DE" sz="2000" dirty="0" smtClean="0">
                <a:solidFill>
                  <a:schemeClr val="tx1">
                    <a:lumMod val="75000"/>
                    <a:lumOff val="25000"/>
                  </a:schemeClr>
                </a:solidFill>
                <a:latin typeface="Congenial" panose="02000503040000020004" pitchFamily="2" charset="0"/>
                <a:cs typeface="Tahoma" pitchFamily="34" charset="0"/>
              </a:rPr>
              <a:t>Wealth Maximization</a:t>
            </a:r>
            <a:endParaRPr lang="en-US" altLang="de-DE" sz="2000" dirty="0">
              <a:solidFill>
                <a:schemeClr val="tx1">
                  <a:lumMod val="75000"/>
                  <a:lumOff val="25000"/>
                </a:schemeClr>
              </a:solidFill>
              <a:latin typeface="Congenial" panose="02000503040000020004" pitchFamily="2" charset="0"/>
              <a:cs typeface="Tahoma" pitchFamily="34" charset="0"/>
            </a:endParaRPr>
          </a:p>
        </p:txBody>
      </p:sp>
    </p:spTree>
    <p:extLst>
      <p:ext uri="{BB962C8B-B14F-4D97-AF65-F5344CB8AC3E}">
        <p14:creationId xmlns:p14="http://schemas.microsoft.com/office/powerpoint/2010/main" val="1005240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1000"/>
                                        <p:tgtEl>
                                          <p:spTgt spid="13"/>
                                        </p:tgtEl>
                                      </p:cBhvr>
                                    </p:animEffect>
                                    <p:anim calcmode="lin" valueType="num">
                                      <p:cBhvr>
                                        <p:cTn id="18" dur="1000" fill="hold"/>
                                        <p:tgtEl>
                                          <p:spTgt spid="13"/>
                                        </p:tgtEl>
                                        <p:attrNameLst>
                                          <p:attrName>ppt_x</p:attrName>
                                        </p:attrNameLst>
                                      </p:cBhvr>
                                      <p:tavLst>
                                        <p:tav tm="0">
                                          <p:val>
                                            <p:strVal val="#ppt_x"/>
                                          </p:val>
                                        </p:tav>
                                        <p:tav tm="100000">
                                          <p:val>
                                            <p:strVal val="#ppt_x"/>
                                          </p:val>
                                        </p:tav>
                                      </p:tavLst>
                                    </p:anim>
                                    <p:anim calcmode="lin" valueType="num">
                                      <p:cBhvr>
                                        <p:cTn id="19"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0E0B9-5465-BF27-A2E9-81473DDEE3EB}"/>
            </a:ext>
          </a:extLst>
        </p:cNvPr>
        <p:cNvGrpSpPr/>
        <p:nvPr/>
      </p:nvGrpSpPr>
      <p:grpSpPr>
        <a:xfrm>
          <a:off x="0" y="0"/>
          <a:ext cx="0" cy="0"/>
          <a:chOff x="0" y="0"/>
          <a:chExt cx="0" cy="0"/>
        </a:xfrm>
      </p:grpSpPr>
      <p:sp>
        <p:nvSpPr>
          <p:cNvPr id="7" name="Text Box 5">
            <a:extLst>
              <a:ext uri="{FF2B5EF4-FFF2-40B4-BE49-F238E27FC236}">
                <a16:creationId xmlns:a16="http://schemas.microsoft.com/office/drawing/2014/main" id="{99C08C8A-216F-BD8C-2F86-F396AB3299B4}"/>
              </a:ext>
            </a:extLst>
          </p:cNvPr>
          <p:cNvSpPr txBox="1">
            <a:spLocks noChangeArrowheads="1"/>
          </p:cNvSpPr>
          <p:nvPr/>
        </p:nvSpPr>
        <p:spPr bwMode="auto">
          <a:xfrm>
            <a:off x="1977297" y="2910570"/>
            <a:ext cx="8718411" cy="1285288"/>
          </a:xfrm>
          <a:prstGeom prst="rect">
            <a:avLst/>
          </a:prstGeom>
          <a:noFill/>
          <a:ln w="9525">
            <a:noFill/>
            <a:miter lim="800000"/>
            <a:headEnd/>
            <a:tailEnd/>
          </a:ln>
        </p:spPr>
        <p:txBody>
          <a:bodyPr wrap="square">
            <a:spAutoFit/>
          </a:bodyPr>
          <a:lstStyle/>
          <a:p>
            <a:pPr>
              <a:lnSpc>
                <a:spcPct val="114000"/>
              </a:lnSpc>
            </a:pPr>
            <a:r>
              <a:rPr lang="en-US" altLang="de-DE" sz="3600" b="1" dirty="0" smtClean="0">
                <a:solidFill>
                  <a:srgbClr val="006A3A"/>
                </a:solidFill>
                <a:latin typeface="Congenial" panose="02000503040000020004" pitchFamily="2" charset="0"/>
                <a:cs typeface="Tahoma" pitchFamily="34" charset="0"/>
              </a:rPr>
              <a:t>Introduction to Finance </a:t>
            </a:r>
            <a:endParaRPr lang="en-US" altLang="de-DE" sz="3600" b="1" dirty="0">
              <a:solidFill>
                <a:srgbClr val="006A3A"/>
              </a:solidFill>
              <a:latin typeface="Congenial" panose="02000503040000020004" pitchFamily="2" charset="0"/>
              <a:cs typeface="Tahoma" pitchFamily="34" charset="0"/>
            </a:endParaRPr>
          </a:p>
          <a:p>
            <a:pPr>
              <a:lnSpc>
                <a:spcPct val="114000"/>
              </a:lnSpc>
            </a:pPr>
            <a:r>
              <a:rPr lang="en-US" altLang="de-DE" sz="3200" dirty="0" smtClean="0">
                <a:solidFill>
                  <a:schemeClr val="tx1">
                    <a:lumMod val="75000"/>
                    <a:lumOff val="25000"/>
                  </a:schemeClr>
                </a:solidFill>
                <a:latin typeface="Congenial" panose="02000503040000020004" pitchFamily="2" charset="0"/>
                <a:cs typeface="Tahoma" pitchFamily="34" charset="0"/>
              </a:rPr>
              <a:t>Define Finance</a:t>
            </a:r>
            <a:endParaRPr lang="en-US" altLang="de-DE" sz="3200" dirty="0">
              <a:solidFill>
                <a:schemeClr val="tx1">
                  <a:lumMod val="75000"/>
                  <a:lumOff val="25000"/>
                </a:schemeClr>
              </a:solidFill>
              <a:latin typeface="Congenial" panose="02000503040000020004" pitchFamily="2" charset="0"/>
              <a:cs typeface="Tahoma" pitchFamily="34" charset="0"/>
            </a:endParaRPr>
          </a:p>
        </p:txBody>
      </p:sp>
      <p:grpSp>
        <p:nvGrpSpPr>
          <p:cNvPr id="9" name="Group 8">
            <a:extLst>
              <a:ext uri="{FF2B5EF4-FFF2-40B4-BE49-F238E27FC236}">
                <a16:creationId xmlns:a16="http://schemas.microsoft.com/office/drawing/2014/main" id="{FBADF365-C1E3-309F-E5D9-36CAD89D1F44}"/>
              </a:ext>
            </a:extLst>
          </p:cNvPr>
          <p:cNvGrpSpPr/>
          <p:nvPr/>
        </p:nvGrpSpPr>
        <p:grpSpPr>
          <a:xfrm>
            <a:off x="1136716" y="1996170"/>
            <a:ext cx="557859" cy="2860992"/>
            <a:chOff x="1027659" y="1677451"/>
            <a:chExt cx="557859" cy="2860992"/>
          </a:xfrm>
        </p:grpSpPr>
        <p:sp>
          <p:nvSpPr>
            <p:cNvPr id="10" name="Rectangle 9">
              <a:extLst>
                <a:ext uri="{FF2B5EF4-FFF2-40B4-BE49-F238E27FC236}">
                  <a16:creationId xmlns:a16="http://schemas.microsoft.com/office/drawing/2014/main" id="{FD15B5C1-41A8-C6C2-21E9-466A5A9F5294}"/>
                </a:ext>
              </a:extLst>
            </p:cNvPr>
            <p:cNvSpPr/>
            <p:nvPr/>
          </p:nvSpPr>
          <p:spPr>
            <a:xfrm>
              <a:off x="1392574" y="2709643"/>
              <a:ext cx="192944" cy="1828800"/>
            </a:xfrm>
            <a:prstGeom prst="rect">
              <a:avLst/>
            </a:prstGeom>
            <a:solidFill>
              <a:schemeClr val="tx1">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effectLst>
                  <a:outerShdw blurRad="38100" dist="38100" dir="2700000" algn="tl">
                    <a:srgbClr val="000000">
                      <a:alpha val="43137"/>
                    </a:srgbClr>
                  </a:outerShdw>
                </a:effectLst>
              </a:endParaRPr>
            </a:p>
          </p:txBody>
        </p:sp>
        <p:sp>
          <p:nvSpPr>
            <p:cNvPr id="11" name="Rectangle 10">
              <a:extLst>
                <a:ext uri="{FF2B5EF4-FFF2-40B4-BE49-F238E27FC236}">
                  <a16:creationId xmlns:a16="http://schemas.microsoft.com/office/drawing/2014/main" id="{F9150FDB-C4D7-AB62-3FA2-5EAEB96B0B69}"/>
                </a:ext>
              </a:extLst>
            </p:cNvPr>
            <p:cNvSpPr/>
            <p:nvPr/>
          </p:nvSpPr>
          <p:spPr>
            <a:xfrm>
              <a:off x="1216408" y="2226212"/>
              <a:ext cx="192944" cy="1828800"/>
            </a:xfrm>
            <a:prstGeom prst="rect">
              <a:avLst/>
            </a:prstGeom>
            <a:gradFill flip="none" rotWithShape="1">
              <a:gsLst>
                <a:gs pos="0">
                  <a:srgbClr val="006A3A">
                    <a:shade val="30000"/>
                    <a:satMod val="115000"/>
                  </a:srgbClr>
                </a:gs>
                <a:gs pos="50000">
                  <a:srgbClr val="006A3A">
                    <a:shade val="67500"/>
                    <a:satMod val="115000"/>
                  </a:srgbClr>
                </a:gs>
                <a:gs pos="100000">
                  <a:srgbClr val="006A3A">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8E3D1EE-214D-E8EE-3E55-361FCF61CED4}"/>
                </a:ext>
              </a:extLst>
            </p:cNvPr>
            <p:cNvSpPr/>
            <p:nvPr/>
          </p:nvSpPr>
          <p:spPr>
            <a:xfrm>
              <a:off x="1027659" y="1677451"/>
              <a:ext cx="192944" cy="1828800"/>
            </a:xfrm>
            <a:prstGeom prst="rect">
              <a:avLst/>
            </a:prstGeom>
            <a:gradFill flip="none" rotWithShape="1">
              <a:gsLst>
                <a:gs pos="0">
                  <a:srgbClr val="EBBA13">
                    <a:shade val="30000"/>
                    <a:satMod val="115000"/>
                  </a:srgbClr>
                </a:gs>
                <a:gs pos="50000">
                  <a:srgbClr val="EBBA13">
                    <a:shade val="67500"/>
                    <a:satMod val="115000"/>
                  </a:srgbClr>
                </a:gs>
                <a:gs pos="100000">
                  <a:srgbClr val="EBBA13">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27058304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6E595-39CC-7128-F784-EB5F08D312A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2149901-AC8F-DF3A-233B-7E1D2ABC6669}"/>
              </a:ext>
            </a:extLst>
          </p:cNvPr>
          <p:cNvSpPr txBox="1"/>
          <p:nvPr/>
        </p:nvSpPr>
        <p:spPr>
          <a:xfrm>
            <a:off x="301842" y="235524"/>
            <a:ext cx="10989614" cy="584775"/>
          </a:xfrm>
          <a:prstGeom prst="rect">
            <a:avLst/>
          </a:prstGeom>
          <a:noFill/>
        </p:spPr>
        <p:txBody>
          <a:bodyPr wrap="square" rtlCol="0">
            <a:spAutoFit/>
          </a:bodyPr>
          <a:lstStyle/>
          <a:p>
            <a:r>
              <a:rPr lang="en-US" sz="3200" b="1" spc="300" dirty="0">
                <a:solidFill>
                  <a:srgbClr val="006A3A"/>
                </a:solidFill>
                <a:latin typeface="Bahnschrift Condensed" panose="020B0502040204020203" pitchFamily="34" charset="0"/>
              </a:rPr>
              <a:t>Introduction to Finance:</a:t>
            </a:r>
            <a:r>
              <a:rPr lang="en-US" sz="3200" b="1" spc="300" dirty="0" smtClean="0">
                <a:solidFill>
                  <a:srgbClr val="2F8B42"/>
                </a:solidFill>
                <a:latin typeface="Bahnschrift Condensed" panose="020B0502040204020203" pitchFamily="34" charset="0"/>
              </a:rPr>
              <a:t> </a:t>
            </a:r>
            <a:r>
              <a:rPr lang="en-US" sz="3200" b="1" spc="300" dirty="0" smtClean="0">
                <a:solidFill>
                  <a:schemeClr val="tx1">
                    <a:lumMod val="75000"/>
                    <a:lumOff val="25000"/>
                  </a:schemeClr>
                </a:solidFill>
                <a:latin typeface="Bahnschrift Condensed" panose="020B0502040204020203" pitchFamily="34" charset="0"/>
              </a:rPr>
              <a:t>Define Finance</a:t>
            </a:r>
            <a:endParaRPr lang="en-US" sz="3200" b="1" spc="300" dirty="0">
              <a:solidFill>
                <a:schemeClr val="tx1">
                  <a:lumMod val="75000"/>
                  <a:lumOff val="25000"/>
                </a:schemeClr>
              </a:solidFill>
              <a:latin typeface="Bahnschrift Condensed" panose="020B0502040204020203" pitchFamily="34" charset="0"/>
            </a:endParaRPr>
          </a:p>
        </p:txBody>
      </p:sp>
      <p:sp>
        <p:nvSpPr>
          <p:cNvPr id="69" name="Rectangle 68">
            <a:extLst>
              <a:ext uri="{FF2B5EF4-FFF2-40B4-BE49-F238E27FC236}">
                <a16:creationId xmlns:a16="http://schemas.microsoft.com/office/drawing/2014/main" id="{40ABA62D-E04F-AE5A-8B4F-F01FD652D53C}"/>
              </a:ext>
            </a:extLst>
          </p:cNvPr>
          <p:cNvSpPr/>
          <p:nvPr/>
        </p:nvSpPr>
        <p:spPr>
          <a:xfrm>
            <a:off x="0" y="1169808"/>
            <a:ext cx="12192000" cy="548560"/>
          </a:xfrm>
          <a:prstGeom prst="rect">
            <a:avLst/>
          </a:prstGeom>
          <a:solidFill>
            <a:schemeClr val="tx1">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800" b="1" dirty="0" smtClean="0">
                <a:effectLst>
                  <a:outerShdw blurRad="38100" dist="38100" dir="2700000" algn="tl">
                    <a:srgbClr val="000000">
                      <a:alpha val="43137"/>
                    </a:srgbClr>
                  </a:outerShdw>
                </a:effectLst>
              </a:rPr>
              <a:t>Finance: Definition Simplified </a:t>
            </a:r>
            <a:endParaRPr lang="en-US" sz="2800" b="1" dirty="0">
              <a:effectLst>
                <a:outerShdw blurRad="38100" dist="38100" dir="2700000" algn="tl">
                  <a:srgbClr val="000000">
                    <a:alpha val="43137"/>
                  </a:srgbClr>
                </a:outerShdw>
              </a:effectLst>
            </a:endParaRPr>
          </a:p>
        </p:txBody>
      </p:sp>
      <p:sp>
        <p:nvSpPr>
          <p:cNvPr id="18" name="TextBox 17">
            <a:extLst>
              <a:ext uri="{FF2B5EF4-FFF2-40B4-BE49-F238E27FC236}">
                <a16:creationId xmlns:a16="http://schemas.microsoft.com/office/drawing/2014/main" id="{79DAAE63-E402-10B4-6FBE-253183D73301}"/>
              </a:ext>
            </a:extLst>
          </p:cNvPr>
          <p:cNvSpPr txBox="1"/>
          <p:nvPr/>
        </p:nvSpPr>
        <p:spPr>
          <a:xfrm>
            <a:off x="301840" y="1926995"/>
            <a:ext cx="11620865" cy="2739211"/>
          </a:xfrm>
          <a:prstGeom prst="rect">
            <a:avLst/>
          </a:prstGeom>
          <a:noFill/>
        </p:spPr>
        <p:txBody>
          <a:bodyPr wrap="square">
            <a:spAutoFit/>
          </a:bodyPr>
          <a:lstStyle/>
          <a:p>
            <a:pPr algn="just"/>
            <a:r>
              <a:rPr lang="en-US" sz="2400" dirty="0">
                <a:solidFill>
                  <a:schemeClr val="tx1">
                    <a:lumMod val="75000"/>
                    <a:lumOff val="25000"/>
                  </a:schemeClr>
                </a:solidFill>
              </a:rPr>
              <a:t>Finance is the art and science of managing </a:t>
            </a:r>
            <a:r>
              <a:rPr lang="en-US" sz="2400" dirty="0" smtClean="0">
                <a:solidFill>
                  <a:schemeClr val="tx1">
                    <a:lumMod val="75000"/>
                    <a:lumOff val="25000"/>
                  </a:schemeClr>
                </a:solidFill>
              </a:rPr>
              <a:t>money, and deciding </a:t>
            </a:r>
            <a:r>
              <a:rPr lang="en-US" sz="2400" dirty="0">
                <a:solidFill>
                  <a:schemeClr val="tx1">
                    <a:lumMod val="75000"/>
                    <a:lumOff val="25000"/>
                  </a:schemeClr>
                </a:solidFill>
              </a:rPr>
              <a:t>how </a:t>
            </a:r>
            <a:r>
              <a:rPr lang="en-US" sz="2400" dirty="0" smtClean="0">
                <a:solidFill>
                  <a:schemeClr val="tx1">
                    <a:lumMod val="75000"/>
                    <a:lumOff val="25000"/>
                  </a:schemeClr>
                </a:solidFill>
              </a:rPr>
              <a:t>to;</a:t>
            </a:r>
          </a:p>
          <a:p>
            <a:pPr algn="just"/>
            <a:r>
              <a:rPr lang="en-US" sz="800" dirty="0" smtClean="0">
                <a:solidFill>
                  <a:schemeClr val="tx1">
                    <a:lumMod val="75000"/>
                    <a:lumOff val="25000"/>
                  </a:schemeClr>
                </a:solidFill>
              </a:rPr>
              <a:t> </a:t>
            </a:r>
          </a:p>
          <a:p>
            <a:pPr marL="742950" lvl="1" indent="-285750" algn="just">
              <a:buFont typeface="Wingdings" panose="05000000000000000000" pitchFamily="2" charset="2"/>
              <a:buChar char="§"/>
            </a:pPr>
            <a:r>
              <a:rPr lang="en-US" sz="2800" b="1" dirty="0" smtClean="0">
                <a:solidFill>
                  <a:schemeClr val="accent5">
                    <a:lumMod val="50000"/>
                  </a:schemeClr>
                </a:solidFill>
                <a:sym typeface="Wingdings" panose="05000000000000000000" pitchFamily="2" charset="2"/>
              </a:rPr>
              <a:t>Raise it</a:t>
            </a:r>
          </a:p>
          <a:p>
            <a:pPr marL="742950" lvl="1" indent="-285750" algn="just">
              <a:buFont typeface="Wingdings" panose="05000000000000000000" pitchFamily="2" charset="2"/>
              <a:buChar char="§"/>
            </a:pPr>
            <a:r>
              <a:rPr lang="en-US" sz="2800" b="1" dirty="0" smtClean="0">
                <a:solidFill>
                  <a:schemeClr val="accent5">
                    <a:lumMod val="50000"/>
                  </a:schemeClr>
                </a:solidFill>
                <a:sym typeface="Wingdings" panose="05000000000000000000" pitchFamily="2" charset="2"/>
              </a:rPr>
              <a:t>Utilize it</a:t>
            </a:r>
          </a:p>
          <a:p>
            <a:pPr marL="742950" lvl="1" indent="-285750" algn="just">
              <a:buFont typeface="Wingdings" panose="05000000000000000000" pitchFamily="2" charset="2"/>
              <a:buChar char="§"/>
            </a:pPr>
            <a:r>
              <a:rPr lang="en-US" sz="2800" b="1" dirty="0" smtClean="0">
                <a:solidFill>
                  <a:schemeClr val="accent5">
                    <a:lumMod val="50000"/>
                  </a:schemeClr>
                </a:solidFill>
                <a:sym typeface="Wingdings" panose="05000000000000000000" pitchFamily="2" charset="2"/>
              </a:rPr>
              <a:t>Grow it </a:t>
            </a:r>
          </a:p>
          <a:p>
            <a:pPr marL="742950" lvl="1" indent="-285750" algn="just">
              <a:buFont typeface="Wingdings" panose="05000000000000000000" pitchFamily="2" charset="2"/>
              <a:buChar char="§"/>
            </a:pPr>
            <a:r>
              <a:rPr lang="en-US" sz="2800" b="1" dirty="0" smtClean="0">
                <a:solidFill>
                  <a:schemeClr val="accent5">
                    <a:lumMod val="50000"/>
                  </a:schemeClr>
                </a:solidFill>
                <a:sym typeface="Wingdings" panose="05000000000000000000" pitchFamily="2" charset="2"/>
              </a:rPr>
              <a:t>While Balancing Risk &amp; Reward</a:t>
            </a:r>
          </a:p>
          <a:p>
            <a:pPr marL="742950" lvl="1" indent="-285750" algn="just">
              <a:buFont typeface="Wingdings" panose="05000000000000000000" pitchFamily="2" charset="2"/>
              <a:buChar char="§"/>
            </a:pPr>
            <a:r>
              <a:rPr lang="en-US" sz="2800" b="1" dirty="0" smtClean="0">
                <a:solidFill>
                  <a:schemeClr val="accent5">
                    <a:lumMod val="50000"/>
                  </a:schemeClr>
                </a:solidFill>
                <a:sym typeface="Wingdings" panose="05000000000000000000" pitchFamily="2" charset="2"/>
              </a:rPr>
              <a:t>To </a:t>
            </a:r>
            <a:r>
              <a:rPr lang="en-US" sz="2800" b="1" dirty="0">
                <a:solidFill>
                  <a:schemeClr val="accent5">
                    <a:lumMod val="50000"/>
                  </a:schemeClr>
                </a:solidFill>
                <a:sym typeface="Wingdings" panose="05000000000000000000" pitchFamily="2" charset="2"/>
              </a:rPr>
              <a:t>achieve </a:t>
            </a:r>
            <a:r>
              <a:rPr lang="en-US" sz="2800" b="1" dirty="0" smtClean="0">
                <a:solidFill>
                  <a:schemeClr val="accent5">
                    <a:lumMod val="50000"/>
                  </a:schemeClr>
                </a:solidFill>
                <a:sym typeface="Wingdings" panose="05000000000000000000" pitchFamily="2" charset="2"/>
              </a:rPr>
              <a:t>Individual</a:t>
            </a:r>
            <a:r>
              <a:rPr lang="en-US" sz="2800" b="1" dirty="0">
                <a:solidFill>
                  <a:schemeClr val="accent5">
                    <a:lumMod val="50000"/>
                  </a:schemeClr>
                </a:solidFill>
                <a:sym typeface="Wingdings" panose="05000000000000000000" pitchFamily="2" charset="2"/>
              </a:rPr>
              <a:t>, Corporate, or Govt. monetary goals</a:t>
            </a:r>
            <a:endParaRPr lang="en-US" sz="2800" b="1" dirty="0" smtClean="0">
              <a:solidFill>
                <a:schemeClr val="accent5">
                  <a:lumMod val="50000"/>
                </a:schemeClr>
              </a:solidFill>
              <a:sym typeface="Wingdings" panose="05000000000000000000" pitchFamily="2" charset="2"/>
            </a:endParaRPr>
          </a:p>
        </p:txBody>
      </p:sp>
    </p:spTree>
    <p:extLst>
      <p:ext uri="{BB962C8B-B14F-4D97-AF65-F5344CB8AC3E}">
        <p14:creationId xmlns:p14="http://schemas.microsoft.com/office/powerpoint/2010/main" val="19364590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8">
                                            <p:txEl>
                                              <p:pRg st="0" end="0"/>
                                            </p:txEl>
                                          </p:spTgt>
                                        </p:tgtEl>
                                        <p:attrNameLst>
                                          <p:attrName>style.visibility</p:attrName>
                                        </p:attrNameLst>
                                      </p:cBhvr>
                                      <p:to>
                                        <p:strVal val="visible"/>
                                      </p:to>
                                    </p:set>
                                    <p:animEffect transition="in" filter="fade">
                                      <p:cBhvr>
                                        <p:cTn id="7" dur="500"/>
                                        <p:tgtEl>
                                          <p:spTgt spid="1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8">
                                            <p:txEl>
                                              <p:pRg st="1" end="1"/>
                                            </p:txEl>
                                          </p:spTgt>
                                        </p:tgtEl>
                                        <p:attrNameLst>
                                          <p:attrName>style.visibility</p:attrName>
                                        </p:attrNameLst>
                                      </p:cBhvr>
                                      <p:to>
                                        <p:strVal val="visible"/>
                                      </p:to>
                                    </p:set>
                                    <p:animEffect transition="in" filter="fade">
                                      <p:cBhvr>
                                        <p:cTn id="12" dur="500"/>
                                        <p:tgtEl>
                                          <p:spTgt spid="1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42" presetClass="entr" presetSubtype="0" fill="hold" nodeType="clickEffect">
                                  <p:stCondLst>
                                    <p:cond delay="0"/>
                                  </p:stCondLst>
                                  <p:childTnLst>
                                    <p:set>
                                      <p:cBhvr>
                                        <p:cTn id="16" dur="1" fill="hold">
                                          <p:stCondLst>
                                            <p:cond delay="0"/>
                                          </p:stCondLst>
                                        </p:cTn>
                                        <p:tgtEl>
                                          <p:spTgt spid="18">
                                            <p:txEl>
                                              <p:pRg st="2" end="2"/>
                                            </p:txEl>
                                          </p:spTgt>
                                        </p:tgtEl>
                                        <p:attrNameLst>
                                          <p:attrName>style.visibility</p:attrName>
                                        </p:attrNameLst>
                                      </p:cBhvr>
                                      <p:to>
                                        <p:strVal val="visible"/>
                                      </p:to>
                                    </p:set>
                                    <p:animEffect transition="in" filter="fade">
                                      <p:cBhvr>
                                        <p:cTn id="17" dur="1000"/>
                                        <p:tgtEl>
                                          <p:spTgt spid="18">
                                            <p:txEl>
                                              <p:pRg st="2" end="2"/>
                                            </p:txEl>
                                          </p:spTgt>
                                        </p:tgtEl>
                                      </p:cBhvr>
                                    </p:animEffect>
                                    <p:anim calcmode="lin" valueType="num">
                                      <p:cBhvr>
                                        <p:cTn id="18" dur="1000" fill="hold"/>
                                        <p:tgtEl>
                                          <p:spTgt spid="18">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18">
                                            <p:txEl>
                                              <p:pRg st="2" end="2"/>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18">
                                            <p:txEl>
                                              <p:pRg st="3" end="3"/>
                                            </p:txEl>
                                          </p:spTgt>
                                        </p:tgtEl>
                                        <p:attrNameLst>
                                          <p:attrName>style.visibility</p:attrName>
                                        </p:attrNameLst>
                                      </p:cBhvr>
                                      <p:to>
                                        <p:strVal val="visible"/>
                                      </p:to>
                                    </p:set>
                                    <p:animEffect transition="in" filter="fade">
                                      <p:cBhvr>
                                        <p:cTn id="22" dur="1000"/>
                                        <p:tgtEl>
                                          <p:spTgt spid="18">
                                            <p:txEl>
                                              <p:pRg st="3" end="3"/>
                                            </p:txEl>
                                          </p:spTgt>
                                        </p:tgtEl>
                                      </p:cBhvr>
                                    </p:animEffect>
                                    <p:anim calcmode="lin" valueType="num">
                                      <p:cBhvr>
                                        <p:cTn id="23" dur="1000" fill="hold"/>
                                        <p:tgtEl>
                                          <p:spTgt spid="18">
                                            <p:txEl>
                                              <p:pRg st="3" end="3"/>
                                            </p:txEl>
                                          </p:spTgt>
                                        </p:tgtEl>
                                        <p:attrNameLst>
                                          <p:attrName>ppt_x</p:attrName>
                                        </p:attrNameLst>
                                      </p:cBhvr>
                                      <p:tavLst>
                                        <p:tav tm="0">
                                          <p:val>
                                            <p:strVal val="#ppt_x"/>
                                          </p:val>
                                        </p:tav>
                                        <p:tav tm="100000">
                                          <p:val>
                                            <p:strVal val="#ppt_x"/>
                                          </p:val>
                                        </p:tav>
                                      </p:tavLst>
                                    </p:anim>
                                    <p:anim calcmode="lin" valueType="num">
                                      <p:cBhvr>
                                        <p:cTn id="24" dur="1000" fill="hold"/>
                                        <p:tgtEl>
                                          <p:spTgt spid="18">
                                            <p:txEl>
                                              <p:pRg st="3" end="3"/>
                                            </p:txEl>
                                          </p:spTgt>
                                        </p:tgtEl>
                                        <p:attrNameLst>
                                          <p:attrName>ppt_y</p:attrName>
                                        </p:attrNameLst>
                                      </p:cBhvr>
                                      <p:tavLst>
                                        <p:tav tm="0">
                                          <p:val>
                                            <p:strVal val="#ppt_y+.1"/>
                                          </p:val>
                                        </p:tav>
                                        <p:tav tm="100000">
                                          <p:val>
                                            <p:strVal val="#ppt_y"/>
                                          </p:val>
                                        </p:tav>
                                      </p:tavLst>
                                    </p:anim>
                                  </p:childTnLst>
                                </p:cTn>
                              </p:par>
                              <p:par>
                                <p:cTn id="25" presetID="42" presetClass="entr" presetSubtype="0" fill="hold" nodeType="withEffect">
                                  <p:stCondLst>
                                    <p:cond delay="0"/>
                                  </p:stCondLst>
                                  <p:childTnLst>
                                    <p:set>
                                      <p:cBhvr>
                                        <p:cTn id="26" dur="1" fill="hold">
                                          <p:stCondLst>
                                            <p:cond delay="0"/>
                                          </p:stCondLst>
                                        </p:cTn>
                                        <p:tgtEl>
                                          <p:spTgt spid="18">
                                            <p:txEl>
                                              <p:pRg st="4" end="4"/>
                                            </p:txEl>
                                          </p:spTgt>
                                        </p:tgtEl>
                                        <p:attrNameLst>
                                          <p:attrName>style.visibility</p:attrName>
                                        </p:attrNameLst>
                                      </p:cBhvr>
                                      <p:to>
                                        <p:strVal val="visible"/>
                                      </p:to>
                                    </p:set>
                                    <p:animEffect transition="in" filter="fade">
                                      <p:cBhvr>
                                        <p:cTn id="27" dur="1000"/>
                                        <p:tgtEl>
                                          <p:spTgt spid="18">
                                            <p:txEl>
                                              <p:pRg st="4" end="4"/>
                                            </p:txEl>
                                          </p:spTgt>
                                        </p:tgtEl>
                                      </p:cBhvr>
                                    </p:animEffect>
                                    <p:anim calcmode="lin" valueType="num">
                                      <p:cBhvr>
                                        <p:cTn id="28" dur="1000" fill="hold"/>
                                        <p:tgtEl>
                                          <p:spTgt spid="18">
                                            <p:txEl>
                                              <p:pRg st="4" end="4"/>
                                            </p:txEl>
                                          </p:spTgt>
                                        </p:tgtEl>
                                        <p:attrNameLst>
                                          <p:attrName>ppt_x</p:attrName>
                                        </p:attrNameLst>
                                      </p:cBhvr>
                                      <p:tavLst>
                                        <p:tav tm="0">
                                          <p:val>
                                            <p:strVal val="#ppt_x"/>
                                          </p:val>
                                        </p:tav>
                                        <p:tav tm="100000">
                                          <p:val>
                                            <p:strVal val="#ppt_x"/>
                                          </p:val>
                                        </p:tav>
                                      </p:tavLst>
                                    </p:anim>
                                    <p:anim calcmode="lin" valueType="num">
                                      <p:cBhvr>
                                        <p:cTn id="29" dur="1000" fill="hold"/>
                                        <p:tgtEl>
                                          <p:spTgt spid="18">
                                            <p:txEl>
                                              <p:pRg st="4" end="4"/>
                                            </p:txEl>
                                          </p:spTgt>
                                        </p:tgtEl>
                                        <p:attrNameLst>
                                          <p:attrName>ppt_y</p:attrName>
                                        </p:attrNameLst>
                                      </p:cBhvr>
                                      <p:tavLst>
                                        <p:tav tm="0">
                                          <p:val>
                                            <p:strVal val="#ppt_y+.1"/>
                                          </p:val>
                                        </p:tav>
                                        <p:tav tm="100000">
                                          <p:val>
                                            <p:strVal val="#ppt_y"/>
                                          </p:val>
                                        </p:tav>
                                      </p:tavLst>
                                    </p:anim>
                                  </p:childTnLst>
                                </p:cTn>
                              </p:par>
                              <p:par>
                                <p:cTn id="30" presetID="42" presetClass="entr" presetSubtype="0" fill="hold" nodeType="withEffect">
                                  <p:stCondLst>
                                    <p:cond delay="0"/>
                                  </p:stCondLst>
                                  <p:childTnLst>
                                    <p:set>
                                      <p:cBhvr>
                                        <p:cTn id="31" dur="1" fill="hold">
                                          <p:stCondLst>
                                            <p:cond delay="0"/>
                                          </p:stCondLst>
                                        </p:cTn>
                                        <p:tgtEl>
                                          <p:spTgt spid="18">
                                            <p:txEl>
                                              <p:pRg st="5" end="5"/>
                                            </p:txEl>
                                          </p:spTgt>
                                        </p:tgtEl>
                                        <p:attrNameLst>
                                          <p:attrName>style.visibility</p:attrName>
                                        </p:attrNameLst>
                                      </p:cBhvr>
                                      <p:to>
                                        <p:strVal val="visible"/>
                                      </p:to>
                                    </p:set>
                                    <p:animEffect transition="in" filter="fade">
                                      <p:cBhvr>
                                        <p:cTn id="32" dur="1000"/>
                                        <p:tgtEl>
                                          <p:spTgt spid="18">
                                            <p:txEl>
                                              <p:pRg st="5" end="5"/>
                                            </p:txEl>
                                          </p:spTgt>
                                        </p:tgtEl>
                                      </p:cBhvr>
                                    </p:animEffect>
                                    <p:anim calcmode="lin" valueType="num">
                                      <p:cBhvr>
                                        <p:cTn id="33" dur="1000" fill="hold"/>
                                        <p:tgtEl>
                                          <p:spTgt spid="18">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18">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8">
                                            <p:txEl>
                                              <p:pRg st="6" end="6"/>
                                            </p:txEl>
                                          </p:spTgt>
                                        </p:tgtEl>
                                        <p:attrNameLst>
                                          <p:attrName>style.visibility</p:attrName>
                                        </p:attrNameLst>
                                      </p:cBhvr>
                                      <p:to>
                                        <p:strVal val="visible"/>
                                      </p:to>
                                    </p:set>
                                    <p:animEffect transition="in" filter="fade">
                                      <p:cBhvr>
                                        <p:cTn id="37" dur="1000"/>
                                        <p:tgtEl>
                                          <p:spTgt spid="18">
                                            <p:txEl>
                                              <p:pRg st="6" end="6"/>
                                            </p:txEl>
                                          </p:spTgt>
                                        </p:tgtEl>
                                      </p:cBhvr>
                                    </p:animEffect>
                                    <p:anim calcmode="lin" valueType="num">
                                      <p:cBhvr>
                                        <p:cTn id="38" dur="1000" fill="hold"/>
                                        <p:tgtEl>
                                          <p:spTgt spid="18">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18">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6E595-39CC-7128-F784-EB5F08D312A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2149901-AC8F-DF3A-233B-7E1D2ABC6669}"/>
              </a:ext>
            </a:extLst>
          </p:cNvPr>
          <p:cNvSpPr txBox="1"/>
          <p:nvPr/>
        </p:nvSpPr>
        <p:spPr>
          <a:xfrm>
            <a:off x="301842" y="235524"/>
            <a:ext cx="10989614" cy="584775"/>
          </a:xfrm>
          <a:prstGeom prst="rect">
            <a:avLst/>
          </a:prstGeom>
          <a:noFill/>
        </p:spPr>
        <p:txBody>
          <a:bodyPr wrap="square" rtlCol="0">
            <a:spAutoFit/>
          </a:bodyPr>
          <a:lstStyle/>
          <a:p>
            <a:r>
              <a:rPr lang="en-US" sz="3200" b="1" spc="300" dirty="0">
                <a:solidFill>
                  <a:srgbClr val="006A3A"/>
                </a:solidFill>
                <a:latin typeface="Bahnschrift Condensed" panose="020B0502040204020203" pitchFamily="34" charset="0"/>
              </a:rPr>
              <a:t>Introduction to Finance:</a:t>
            </a:r>
            <a:r>
              <a:rPr lang="en-US" sz="3200" b="1" spc="300" dirty="0" smtClean="0">
                <a:solidFill>
                  <a:srgbClr val="2F8B42"/>
                </a:solidFill>
                <a:latin typeface="Bahnschrift Condensed" panose="020B0502040204020203" pitchFamily="34" charset="0"/>
              </a:rPr>
              <a:t> </a:t>
            </a:r>
            <a:r>
              <a:rPr lang="en-US" sz="3200" b="1" spc="300" dirty="0" smtClean="0">
                <a:solidFill>
                  <a:schemeClr val="tx1">
                    <a:lumMod val="75000"/>
                    <a:lumOff val="25000"/>
                  </a:schemeClr>
                </a:solidFill>
                <a:latin typeface="Bahnschrift Condensed" panose="020B0502040204020203" pitchFamily="34" charset="0"/>
              </a:rPr>
              <a:t>Define Finance</a:t>
            </a:r>
            <a:endParaRPr lang="en-US" sz="3200" b="1" spc="300" dirty="0">
              <a:solidFill>
                <a:schemeClr val="tx1">
                  <a:lumMod val="75000"/>
                  <a:lumOff val="25000"/>
                </a:schemeClr>
              </a:solidFill>
              <a:latin typeface="Bahnschrift Condensed" panose="020B0502040204020203" pitchFamily="34" charset="0"/>
            </a:endParaRPr>
          </a:p>
        </p:txBody>
      </p:sp>
      <p:sp>
        <p:nvSpPr>
          <p:cNvPr id="22" name="TextBox 21">
            <a:extLst>
              <a:ext uri="{FF2B5EF4-FFF2-40B4-BE49-F238E27FC236}">
                <a16:creationId xmlns:a16="http://schemas.microsoft.com/office/drawing/2014/main" id="{79DAAE63-E402-10B4-6FBE-253183D73301}"/>
              </a:ext>
            </a:extLst>
          </p:cNvPr>
          <p:cNvSpPr txBox="1"/>
          <p:nvPr/>
        </p:nvSpPr>
        <p:spPr>
          <a:xfrm>
            <a:off x="301840" y="1248124"/>
            <a:ext cx="11620865" cy="1661993"/>
          </a:xfrm>
          <a:prstGeom prst="rect">
            <a:avLst/>
          </a:prstGeom>
          <a:noFill/>
        </p:spPr>
        <p:txBody>
          <a:bodyPr wrap="square">
            <a:spAutoFit/>
          </a:bodyPr>
          <a:lstStyle/>
          <a:p>
            <a:pPr algn="just"/>
            <a:r>
              <a:rPr lang="en-US" sz="3600" b="1" dirty="0" smtClean="0">
                <a:solidFill>
                  <a:srgbClr val="348B41"/>
                </a:solidFill>
                <a:latin typeface="Tahoma" panose="020B0604030504040204" pitchFamily="34" charset="0"/>
                <a:ea typeface="Tahoma" panose="020B0604030504040204" pitchFamily="34" charset="0"/>
                <a:cs typeface="Tahoma" panose="020B0604030504040204" pitchFamily="34" charset="0"/>
              </a:rPr>
              <a:t>Finance: </a:t>
            </a:r>
            <a:r>
              <a:rPr lang="en-US" sz="3600" b="1" dirty="0" smtClean="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rPr>
              <a:t>My Definition? </a:t>
            </a:r>
            <a:endParaRPr lang="en-US" sz="3600" b="1" dirty="0">
              <a:solidFill>
                <a:schemeClr val="tx1">
                  <a:lumMod val="75000"/>
                  <a:lumOff val="25000"/>
                </a:schemeClr>
              </a:solidFill>
              <a:latin typeface="Tahoma" panose="020B0604030504040204" pitchFamily="34" charset="0"/>
              <a:ea typeface="Tahoma" panose="020B0604030504040204" pitchFamily="34" charset="0"/>
              <a:cs typeface="Tahoma" panose="020B0604030504040204" pitchFamily="34" charset="0"/>
            </a:endParaRPr>
          </a:p>
          <a:p>
            <a:pPr algn="just"/>
            <a:endParaRPr lang="en-US" sz="1000" b="1" dirty="0">
              <a:solidFill>
                <a:schemeClr val="tx1">
                  <a:lumMod val="75000"/>
                  <a:lumOff val="25000"/>
                </a:schemeClr>
              </a:solidFill>
            </a:endParaRPr>
          </a:p>
          <a:p>
            <a:pPr marL="285750" indent="-285750" algn="just">
              <a:buFont typeface="Wingdings" panose="05000000000000000000" pitchFamily="2" charset="2"/>
              <a:buChar char="§"/>
            </a:pPr>
            <a:r>
              <a:rPr lang="en-US" sz="2800" b="1" dirty="0" smtClean="0">
                <a:solidFill>
                  <a:schemeClr val="accent5">
                    <a:lumMod val="50000"/>
                  </a:schemeClr>
                </a:solidFill>
              </a:rPr>
              <a:t>Finance is the sorcery of creating money out of thin air </a:t>
            </a:r>
          </a:p>
          <a:p>
            <a:pPr marL="742950" lvl="1" indent="-285750" algn="just">
              <a:buFont typeface="Wingdings" panose="05000000000000000000" pitchFamily="2" charset="2"/>
              <a:buChar char="§"/>
            </a:pPr>
            <a:r>
              <a:rPr lang="en-US" sz="2800" b="1" dirty="0" smtClean="0">
                <a:solidFill>
                  <a:srgbClr val="2F8B42"/>
                </a:solidFill>
              </a:rPr>
              <a:t>Well not thin air, but rather out of ideas and concepts</a:t>
            </a:r>
            <a:endParaRPr lang="en-US" sz="2800" dirty="0" smtClean="0">
              <a:solidFill>
                <a:srgbClr val="2F8B42"/>
              </a:solidFill>
              <a:sym typeface="Wingdings" panose="05000000000000000000" pitchFamily="2" charset="2"/>
            </a:endParaRPr>
          </a:p>
        </p:txBody>
      </p:sp>
    </p:spTree>
    <p:extLst>
      <p:ext uri="{BB962C8B-B14F-4D97-AF65-F5344CB8AC3E}">
        <p14:creationId xmlns:p14="http://schemas.microsoft.com/office/powerpoint/2010/main" val="1972801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fade">
                                      <p:cBhvr>
                                        <p:cTn id="7" dur="500"/>
                                        <p:tgtEl>
                                          <p:spTgt spid="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2">
                                            <p:txEl>
                                              <p:pRg st="2" end="2"/>
                                            </p:txEl>
                                          </p:spTgt>
                                        </p:tgtEl>
                                        <p:attrNameLst>
                                          <p:attrName>style.visibility</p:attrName>
                                        </p:attrNameLst>
                                      </p:cBhvr>
                                      <p:to>
                                        <p:strVal val="visible"/>
                                      </p:to>
                                    </p:set>
                                    <p:animEffect transition="in" filter="fade">
                                      <p:cBhvr>
                                        <p:cTn id="12" dur="500"/>
                                        <p:tgtEl>
                                          <p:spTgt spid="22">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2">
                                            <p:txEl>
                                              <p:pRg st="3" end="3"/>
                                            </p:txEl>
                                          </p:spTgt>
                                        </p:tgtEl>
                                        <p:attrNameLst>
                                          <p:attrName>style.visibility</p:attrName>
                                        </p:attrNameLst>
                                      </p:cBhvr>
                                      <p:to>
                                        <p:strVal val="visible"/>
                                      </p:to>
                                    </p:set>
                                    <p:animEffect transition="in" filter="fade">
                                      <p:cBhvr>
                                        <p:cTn id="17" dur="500"/>
                                        <p:tgtEl>
                                          <p:spTgt spid="2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0E0B9-5465-BF27-A2E9-81473DDEE3EB}"/>
            </a:ext>
          </a:extLst>
        </p:cNvPr>
        <p:cNvGrpSpPr/>
        <p:nvPr/>
      </p:nvGrpSpPr>
      <p:grpSpPr>
        <a:xfrm>
          <a:off x="0" y="0"/>
          <a:ext cx="0" cy="0"/>
          <a:chOff x="0" y="0"/>
          <a:chExt cx="0" cy="0"/>
        </a:xfrm>
      </p:grpSpPr>
      <p:sp>
        <p:nvSpPr>
          <p:cNvPr id="7" name="Text Box 5">
            <a:extLst>
              <a:ext uri="{FF2B5EF4-FFF2-40B4-BE49-F238E27FC236}">
                <a16:creationId xmlns:a16="http://schemas.microsoft.com/office/drawing/2014/main" id="{99C08C8A-216F-BD8C-2F86-F396AB3299B4}"/>
              </a:ext>
            </a:extLst>
          </p:cNvPr>
          <p:cNvSpPr txBox="1">
            <a:spLocks noChangeArrowheads="1"/>
          </p:cNvSpPr>
          <p:nvPr/>
        </p:nvSpPr>
        <p:spPr bwMode="auto">
          <a:xfrm>
            <a:off x="1977297" y="2910570"/>
            <a:ext cx="8718411" cy="1285288"/>
          </a:xfrm>
          <a:prstGeom prst="rect">
            <a:avLst/>
          </a:prstGeom>
          <a:noFill/>
          <a:ln w="9525">
            <a:noFill/>
            <a:miter lim="800000"/>
            <a:headEnd/>
            <a:tailEnd/>
          </a:ln>
        </p:spPr>
        <p:txBody>
          <a:bodyPr wrap="square">
            <a:spAutoFit/>
          </a:bodyPr>
          <a:lstStyle/>
          <a:p>
            <a:pPr>
              <a:lnSpc>
                <a:spcPct val="114000"/>
              </a:lnSpc>
            </a:pPr>
            <a:r>
              <a:rPr lang="en-US" altLang="de-DE" sz="3600" b="1" dirty="0" smtClean="0">
                <a:solidFill>
                  <a:srgbClr val="006A3A"/>
                </a:solidFill>
                <a:latin typeface="Congenial" panose="02000503040000020004" pitchFamily="2" charset="0"/>
                <a:cs typeface="Tahoma" pitchFamily="34" charset="0"/>
              </a:rPr>
              <a:t>Introduction to Finance </a:t>
            </a:r>
            <a:endParaRPr lang="en-US" altLang="de-DE" sz="3600" b="1" dirty="0">
              <a:solidFill>
                <a:srgbClr val="006A3A"/>
              </a:solidFill>
              <a:latin typeface="Congenial" panose="02000503040000020004" pitchFamily="2" charset="0"/>
              <a:cs typeface="Tahoma" pitchFamily="34" charset="0"/>
            </a:endParaRPr>
          </a:p>
          <a:p>
            <a:pPr>
              <a:lnSpc>
                <a:spcPct val="114000"/>
              </a:lnSpc>
            </a:pPr>
            <a:r>
              <a:rPr lang="en-US" altLang="de-DE" sz="3200" dirty="0" smtClean="0">
                <a:solidFill>
                  <a:schemeClr val="tx1">
                    <a:lumMod val="75000"/>
                    <a:lumOff val="25000"/>
                  </a:schemeClr>
                </a:solidFill>
                <a:latin typeface="Congenial" panose="02000503040000020004" pitchFamily="2" charset="0"/>
                <a:cs typeface="Tahoma" pitchFamily="34" charset="0"/>
              </a:rPr>
              <a:t>Functions of Finance</a:t>
            </a:r>
            <a:endParaRPr lang="en-US" altLang="de-DE" sz="3200" dirty="0">
              <a:solidFill>
                <a:schemeClr val="tx1">
                  <a:lumMod val="75000"/>
                  <a:lumOff val="25000"/>
                </a:schemeClr>
              </a:solidFill>
              <a:latin typeface="Congenial" panose="02000503040000020004" pitchFamily="2" charset="0"/>
              <a:cs typeface="Tahoma" pitchFamily="34" charset="0"/>
            </a:endParaRPr>
          </a:p>
        </p:txBody>
      </p:sp>
      <p:grpSp>
        <p:nvGrpSpPr>
          <p:cNvPr id="9" name="Group 8">
            <a:extLst>
              <a:ext uri="{FF2B5EF4-FFF2-40B4-BE49-F238E27FC236}">
                <a16:creationId xmlns:a16="http://schemas.microsoft.com/office/drawing/2014/main" id="{FBADF365-C1E3-309F-E5D9-36CAD89D1F44}"/>
              </a:ext>
            </a:extLst>
          </p:cNvPr>
          <p:cNvGrpSpPr/>
          <p:nvPr/>
        </p:nvGrpSpPr>
        <p:grpSpPr>
          <a:xfrm>
            <a:off x="1136716" y="1996170"/>
            <a:ext cx="557859" cy="2860992"/>
            <a:chOff x="1027659" y="1677451"/>
            <a:chExt cx="557859" cy="2860992"/>
          </a:xfrm>
        </p:grpSpPr>
        <p:sp>
          <p:nvSpPr>
            <p:cNvPr id="10" name="Rectangle 9">
              <a:extLst>
                <a:ext uri="{FF2B5EF4-FFF2-40B4-BE49-F238E27FC236}">
                  <a16:creationId xmlns:a16="http://schemas.microsoft.com/office/drawing/2014/main" id="{FD15B5C1-41A8-C6C2-21E9-466A5A9F5294}"/>
                </a:ext>
              </a:extLst>
            </p:cNvPr>
            <p:cNvSpPr/>
            <p:nvPr/>
          </p:nvSpPr>
          <p:spPr>
            <a:xfrm>
              <a:off x="1392574" y="2709643"/>
              <a:ext cx="192944" cy="1828800"/>
            </a:xfrm>
            <a:prstGeom prst="rect">
              <a:avLst/>
            </a:prstGeom>
            <a:solidFill>
              <a:schemeClr val="tx1">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effectLst>
                  <a:outerShdw blurRad="38100" dist="38100" dir="2700000" algn="tl">
                    <a:srgbClr val="000000">
                      <a:alpha val="43137"/>
                    </a:srgbClr>
                  </a:outerShdw>
                </a:effectLst>
              </a:endParaRPr>
            </a:p>
          </p:txBody>
        </p:sp>
        <p:sp>
          <p:nvSpPr>
            <p:cNvPr id="11" name="Rectangle 10">
              <a:extLst>
                <a:ext uri="{FF2B5EF4-FFF2-40B4-BE49-F238E27FC236}">
                  <a16:creationId xmlns:a16="http://schemas.microsoft.com/office/drawing/2014/main" id="{F9150FDB-C4D7-AB62-3FA2-5EAEB96B0B69}"/>
                </a:ext>
              </a:extLst>
            </p:cNvPr>
            <p:cNvSpPr/>
            <p:nvPr/>
          </p:nvSpPr>
          <p:spPr>
            <a:xfrm>
              <a:off x="1216408" y="2226212"/>
              <a:ext cx="192944" cy="1828800"/>
            </a:xfrm>
            <a:prstGeom prst="rect">
              <a:avLst/>
            </a:prstGeom>
            <a:gradFill flip="none" rotWithShape="1">
              <a:gsLst>
                <a:gs pos="0">
                  <a:srgbClr val="006A3A">
                    <a:shade val="30000"/>
                    <a:satMod val="115000"/>
                  </a:srgbClr>
                </a:gs>
                <a:gs pos="50000">
                  <a:srgbClr val="006A3A">
                    <a:shade val="67500"/>
                    <a:satMod val="115000"/>
                  </a:srgbClr>
                </a:gs>
                <a:gs pos="100000">
                  <a:srgbClr val="006A3A">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8E3D1EE-214D-E8EE-3E55-361FCF61CED4}"/>
                </a:ext>
              </a:extLst>
            </p:cNvPr>
            <p:cNvSpPr/>
            <p:nvPr/>
          </p:nvSpPr>
          <p:spPr>
            <a:xfrm>
              <a:off x="1027659" y="1677451"/>
              <a:ext cx="192944" cy="1828800"/>
            </a:xfrm>
            <a:prstGeom prst="rect">
              <a:avLst/>
            </a:prstGeom>
            <a:gradFill flip="none" rotWithShape="1">
              <a:gsLst>
                <a:gs pos="0">
                  <a:srgbClr val="EBBA13">
                    <a:shade val="30000"/>
                    <a:satMod val="115000"/>
                  </a:srgbClr>
                </a:gs>
                <a:gs pos="50000">
                  <a:srgbClr val="EBBA13">
                    <a:shade val="67500"/>
                    <a:satMod val="115000"/>
                  </a:srgbClr>
                </a:gs>
                <a:gs pos="100000">
                  <a:srgbClr val="EBBA13">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6103002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6E595-39CC-7128-F784-EB5F08D312A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2149901-AC8F-DF3A-233B-7E1D2ABC6669}"/>
              </a:ext>
            </a:extLst>
          </p:cNvPr>
          <p:cNvSpPr txBox="1"/>
          <p:nvPr/>
        </p:nvSpPr>
        <p:spPr>
          <a:xfrm>
            <a:off x="301842" y="235524"/>
            <a:ext cx="10989614" cy="584775"/>
          </a:xfrm>
          <a:prstGeom prst="rect">
            <a:avLst/>
          </a:prstGeom>
          <a:noFill/>
        </p:spPr>
        <p:txBody>
          <a:bodyPr wrap="square" rtlCol="0">
            <a:spAutoFit/>
          </a:bodyPr>
          <a:lstStyle/>
          <a:p>
            <a:r>
              <a:rPr lang="en-US" sz="3200" b="1" spc="300" dirty="0">
                <a:solidFill>
                  <a:srgbClr val="006A3A"/>
                </a:solidFill>
                <a:latin typeface="Bahnschrift Condensed" panose="020B0502040204020203" pitchFamily="34" charset="0"/>
              </a:rPr>
              <a:t>Introduction to Finance:</a:t>
            </a:r>
            <a:r>
              <a:rPr lang="en-US" sz="3200" b="1" spc="300" dirty="0">
                <a:solidFill>
                  <a:srgbClr val="2F8B42"/>
                </a:solidFill>
                <a:latin typeface="Bahnschrift Condensed" panose="020B0502040204020203" pitchFamily="34" charset="0"/>
              </a:rPr>
              <a:t> </a:t>
            </a:r>
            <a:r>
              <a:rPr lang="en-US" sz="3200" b="1" spc="300" dirty="0" smtClean="0">
                <a:solidFill>
                  <a:schemeClr val="tx1">
                    <a:lumMod val="75000"/>
                    <a:lumOff val="25000"/>
                  </a:schemeClr>
                </a:solidFill>
                <a:latin typeface="Bahnschrift Condensed" panose="020B0502040204020203" pitchFamily="34" charset="0"/>
              </a:rPr>
              <a:t>Functions of </a:t>
            </a:r>
            <a:r>
              <a:rPr lang="en-US" sz="3200" b="1" spc="300" dirty="0">
                <a:solidFill>
                  <a:schemeClr val="tx1">
                    <a:lumMod val="75000"/>
                    <a:lumOff val="25000"/>
                  </a:schemeClr>
                </a:solidFill>
                <a:latin typeface="Bahnschrift Condensed" panose="020B0502040204020203" pitchFamily="34" charset="0"/>
              </a:rPr>
              <a:t>Finance</a:t>
            </a:r>
          </a:p>
        </p:txBody>
      </p:sp>
      <p:sp>
        <p:nvSpPr>
          <p:cNvPr id="28" name="Rectangle: Single Corner Rounded 1">
            <a:extLst>
              <a:ext uri="{FF2B5EF4-FFF2-40B4-BE49-F238E27FC236}">
                <a16:creationId xmlns:a16="http://schemas.microsoft.com/office/drawing/2014/main" id="{E236DAFB-E649-1C3A-C5BE-1A6594899696}"/>
              </a:ext>
            </a:extLst>
          </p:cNvPr>
          <p:cNvSpPr/>
          <p:nvPr/>
        </p:nvSpPr>
        <p:spPr>
          <a:xfrm>
            <a:off x="301841" y="1113146"/>
            <a:ext cx="5627260" cy="438564"/>
          </a:xfrm>
          <a:prstGeom prst="round1Rect">
            <a:avLst/>
          </a:prstGeom>
          <a:solidFill>
            <a:srgbClr val="EBBA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400" b="1" dirty="0"/>
              <a:t>The Financing Decision (Capital Structure)</a:t>
            </a:r>
          </a:p>
        </p:txBody>
      </p:sp>
      <p:sp>
        <p:nvSpPr>
          <p:cNvPr id="31" name="Rectangle: Single Corner Rounded 4">
            <a:extLst>
              <a:ext uri="{FF2B5EF4-FFF2-40B4-BE49-F238E27FC236}">
                <a16:creationId xmlns:a16="http://schemas.microsoft.com/office/drawing/2014/main" id="{263CF6E3-32D5-814C-8B67-1B6D1EEBA258}"/>
              </a:ext>
            </a:extLst>
          </p:cNvPr>
          <p:cNvSpPr/>
          <p:nvPr/>
        </p:nvSpPr>
        <p:spPr>
          <a:xfrm>
            <a:off x="301841" y="3532029"/>
            <a:ext cx="6126668" cy="467317"/>
          </a:xfrm>
          <a:prstGeom prst="round1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400" b="1" dirty="0"/>
              <a:t>The Investment Decision (Capital Budgeting)</a:t>
            </a:r>
          </a:p>
        </p:txBody>
      </p:sp>
      <p:sp>
        <p:nvSpPr>
          <p:cNvPr id="32" name="Rectangle: Single Corner Rounded 8">
            <a:extLst>
              <a:ext uri="{FF2B5EF4-FFF2-40B4-BE49-F238E27FC236}">
                <a16:creationId xmlns:a16="http://schemas.microsoft.com/office/drawing/2014/main" id="{2A907CCA-A5EC-20C2-1ED4-D14CA1E9925D}"/>
              </a:ext>
            </a:extLst>
          </p:cNvPr>
          <p:cNvSpPr/>
          <p:nvPr/>
        </p:nvSpPr>
        <p:spPr>
          <a:xfrm>
            <a:off x="301842" y="1636837"/>
            <a:ext cx="11608754" cy="1355744"/>
          </a:xfrm>
          <a:prstGeom prst="round1Rect">
            <a:avLst/>
          </a:prstGeom>
          <a:solidFill>
            <a:schemeClr val="bg1"/>
          </a:solidFill>
          <a:ln>
            <a:solidFill>
              <a:srgbClr val="EBBA1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400" dirty="0" smtClean="0">
                <a:solidFill>
                  <a:schemeClr val="tx1">
                    <a:lumMod val="75000"/>
                    <a:lumOff val="25000"/>
                  </a:schemeClr>
                </a:solidFill>
              </a:rPr>
              <a:t>How to raise funds for business operations and projects </a:t>
            </a:r>
            <a:r>
              <a:rPr lang="en-US" sz="2400" dirty="0" smtClean="0">
                <a:solidFill>
                  <a:schemeClr val="tx1">
                    <a:lumMod val="75000"/>
                    <a:lumOff val="25000"/>
                  </a:schemeClr>
                </a:solidFill>
                <a:sym typeface="Wingdings" panose="05000000000000000000" pitchFamily="2" charset="2"/>
              </a:rPr>
              <a:t> Does your choice of capital structure matter?</a:t>
            </a:r>
            <a:endParaRPr lang="en-US" sz="2400" dirty="0" smtClean="0">
              <a:solidFill>
                <a:schemeClr val="tx1">
                  <a:lumMod val="75000"/>
                  <a:lumOff val="25000"/>
                </a:schemeClr>
              </a:solidFill>
            </a:endParaRPr>
          </a:p>
          <a:p>
            <a:pPr algn="just"/>
            <a:endParaRPr lang="en-US" sz="800" dirty="0" smtClean="0">
              <a:solidFill>
                <a:schemeClr val="tx1">
                  <a:lumMod val="75000"/>
                  <a:lumOff val="25000"/>
                </a:schemeClr>
              </a:solidFill>
            </a:endParaRPr>
          </a:p>
          <a:p>
            <a:pPr marL="285750" indent="-285750" algn="just">
              <a:buFont typeface="Wingdings" panose="05000000000000000000" pitchFamily="2" charset="2"/>
              <a:buChar char="§"/>
            </a:pPr>
            <a:r>
              <a:rPr lang="en-US" sz="2400" b="1" dirty="0" smtClean="0">
                <a:solidFill>
                  <a:schemeClr val="tx1">
                    <a:lumMod val="75000"/>
                    <a:lumOff val="25000"/>
                  </a:schemeClr>
                </a:solidFill>
              </a:rPr>
              <a:t>Sources:</a:t>
            </a:r>
            <a:r>
              <a:rPr lang="en-US" sz="2400" dirty="0" smtClean="0">
                <a:solidFill>
                  <a:schemeClr val="tx1">
                    <a:lumMod val="75000"/>
                    <a:lumOff val="25000"/>
                  </a:schemeClr>
                </a:solidFill>
              </a:rPr>
              <a:t> Involves </a:t>
            </a:r>
            <a:r>
              <a:rPr lang="en-US" sz="2400" dirty="0">
                <a:solidFill>
                  <a:schemeClr val="tx1">
                    <a:lumMod val="75000"/>
                    <a:lumOff val="25000"/>
                  </a:schemeClr>
                </a:solidFill>
              </a:rPr>
              <a:t>the choice between </a:t>
            </a:r>
            <a:r>
              <a:rPr lang="en-US" sz="2400" b="1" dirty="0" smtClean="0">
                <a:solidFill>
                  <a:srgbClr val="2F8B42"/>
                </a:solidFill>
              </a:rPr>
              <a:t>Debt, Equity and Hybrid Financial instruments </a:t>
            </a:r>
          </a:p>
        </p:txBody>
      </p:sp>
      <p:sp>
        <p:nvSpPr>
          <p:cNvPr id="34" name="Rectangle: Single Corner Rounded 10">
            <a:extLst>
              <a:ext uri="{FF2B5EF4-FFF2-40B4-BE49-F238E27FC236}">
                <a16:creationId xmlns:a16="http://schemas.microsoft.com/office/drawing/2014/main" id="{DA340FE2-6AC7-17B1-6B50-A86C5CDA4E26}"/>
              </a:ext>
            </a:extLst>
          </p:cNvPr>
          <p:cNvSpPr/>
          <p:nvPr/>
        </p:nvSpPr>
        <p:spPr>
          <a:xfrm>
            <a:off x="301842" y="4123880"/>
            <a:ext cx="11608754" cy="1824337"/>
          </a:xfrm>
          <a:prstGeom prst="round1Rect">
            <a:avLst/>
          </a:prstGeom>
          <a:solidFill>
            <a:schemeClr val="bg1"/>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400" dirty="0" smtClean="0">
                <a:solidFill>
                  <a:schemeClr val="tx1">
                    <a:lumMod val="75000"/>
                    <a:lumOff val="25000"/>
                  </a:schemeClr>
                </a:solidFill>
              </a:rPr>
              <a:t>The </a:t>
            </a:r>
            <a:r>
              <a:rPr lang="en-US" sz="2400" dirty="0">
                <a:solidFill>
                  <a:schemeClr val="tx1">
                    <a:lumMod val="75000"/>
                    <a:lumOff val="25000"/>
                  </a:schemeClr>
                </a:solidFill>
              </a:rPr>
              <a:t>process of planning and managing a firm's long-term investments </a:t>
            </a:r>
            <a:r>
              <a:rPr lang="en-US" sz="2400" dirty="0">
                <a:solidFill>
                  <a:schemeClr val="tx1">
                    <a:lumMod val="75000"/>
                    <a:lumOff val="25000"/>
                  </a:schemeClr>
                </a:solidFill>
                <a:sym typeface="Wingdings" panose="05000000000000000000" pitchFamily="2" charset="2"/>
              </a:rPr>
              <a:t> </a:t>
            </a:r>
            <a:r>
              <a:rPr lang="en-US" sz="2400" dirty="0" smtClean="0">
                <a:solidFill>
                  <a:schemeClr val="tx1">
                    <a:lumMod val="75000"/>
                    <a:lumOff val="25000"/>
                  </a:schemeClr>
                </a:solidFill>
                <a:sym typeface="Wingdings" panose="05000000000000000000" pitchFamily="2" charset="2"/>
              </a:rPr>
              <a:t>What </a:t>
            </a:r>
            <a:r>
              <a:rPr lang="en-US" sz="2400" dirty="0">
                <a:solidFill>
                  <a:schemeClr val="tx1">
                    <a:lumMod val="75000"/>
                    <a:lumOff val="25000"/>
                  </a:schemeClr>
                </a:solidFill>
                <a:sym typeface="Wingdings" panose="05000000000000000000" pitchFamily="2" charset="2"/>
              </a:rPr>
              <a:t>long-term projects or assets should the company invest in</a:t>
            </a:r>
            <a:r>
              <a:rPr lang="en-US" sz="2400" dirty="0" smtClean="0">
                <a:solidFill>
                  <a:schemeClr val="tx1">
                    <a:lumMod val="75000"/>
                    <a:lumOff val="25000"/>
                  </a:schemeClr>
                </a:solidFill>
                <a:sym typeface="Wingdings" panose="05000000000000000000" pitchFamily="2" charset="2"/>
              </a:rPr>
              <a:t>?</a:t>
            </a:r>
          </a:p>
          <a:p>
            <a:pPr algn="just"/>
            <a:endParaRPr lang="en-US" sz="800" dirty="0">
              <a:solidFill>
                <a:schemeClr val="tx1">
                  <a:lumMod val="75000"/>
                  <a:lumOff val="25000"/>
                </a:schemeClr>
              </a:solidFill>
              <a:sym typeface="Wingdings" panose="05000000000000000000" pitchFamily="2" charset="2"/>
            </a:endParaRPr>
          </a:p>
          <a:p>
            <a:pPr marL="285750" indent="-285750" algn="just">
              <a:buFont typeface="Wingdings" panose="05000000000000000000" pitchFamily="2" charset="2"/>
              <a:buChar char="§"/>
            </a:pPr>
            <a:r>
              <a:rPr lang="en-US" sz="2400" b="1" dirty="0" smtClean="0">
                <a:solidFill>
                  <a:schemeClr val="tx1">
                    <a:lumMod val="75000"/>
                    <a:lumOff val="25000"/>
                  </a:schemeClr>
                </a:solidFill>
              </a:rPr>
              <a:t>Capital Budgeting Tools: </a:t>
            </a:r>
            <a:r>
              <a:rPr lang="en-US" sz="2400" dirty="0" smtClean="0">
                <a:solidFill>
                  <a:schemeClr val="tx1">
                    <a:lumMod val="75000"/>
                    <a:lumOff val="25000"/>
                  </a:schemeClr>
                </a:solidFill>
              </a:rPr>
              <a:t>A range of tools including Payback Period (PBP), Net Present Value (NPV), Internal Rate of Return (IRR), Profitability Index (PI)</a:t>
            </a:r>
            <a:endParaRPr lang="en-US" sz="2400" dirty="0">
              <a:solidFill>
                <a:schemeClr val="tx1">
                  <a:lumMod val="75000"/>
                  <a:lumOff val="25000"/>
                </a:schemeClr>
              </a:solidFill>
            </a:endParaRPr>
          </a:p>
        </p:txBody>
      </p:sp>
    </p:spTree>
    <p:extLst>
      <p:ext uri="{BB962C8B-B14F-4D97-AF65-F5344CB8AC3E}">
        <p14:creationId xmlns:p14="http://schemas.microsoft.com/office/powerpoint/2010/main" val="4261668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1" presetClass="entr" presetSubtype="0"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32">
                                            <p:txEl>
                                              <p:pRg st="0" end="0"/>
                                            </p:txEl>
                                          </p:spTgt>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32">
                                            <p:txEl>
                                              <p:pRg st="2" end="2"/>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31"/>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34"/>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3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1" grpId="0" animBg="1"/>
      <p:bldP spid="32" grpId="0" animBg="1"/>
      <p:bldP spid="3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6E595-39CC-7128-F784-EB5F08D312A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2149901-AC8F-DF3A-233B-7E1D2ABC6669}"/>
              </a:ext>
            </a:extLst>
          </p:cNvPr>
          <p:cNvSpPr txBox="1"/>
          <p:nvPr/>
        </p:nvSpPr>
        <p:spPr>
          <a:xfrm>
            <a:off x="301842" y="235524"/>
            <a:ext cx="10989614" cy="584775"/>
          </a:xfrm>
          <a:prstGeom prst="rect">
            <a:avLst/>
          </a:prstGeom>
          <a:noFill/>
        </p:spPr>
        <p:txBody>
          <a:bodyPr wrap="square" rtlCol="0">
            <a:spAutoFit/>
          </a:bodyPr>
          <a:lstStyle/>
          <a:p>
            <a:r>
              <a:rPr lang="en-US" sz="3200" b="1" spc="300" dirty="0">
                <a:solidFill>
                  <a:srgbClr val="006A3A"/>
                </a:solidFill>
                <a:latin typeface="Bahnschrift Condensed" panose="020B0502040204020203" pitchFamily="34" charset="0"/>
              </a:rPr>
              <a:t>Introduction to Finance:</a:t>
            </a:r>
            <a:r>
              <a:rPr lang="en-US" sz="3200" b="1" spc="300" dirty="0">
                <a:solidFill>
                  <a:srgbClr val="2F8B42"/>
                </a:solidFill>
                <a:latin typeface="Bahnschrift Condensed" panose="020B0502040204020203" pitchFamily="34" charset="0"/>
              </a:rPr>
              <a:t> </a:t>
            </a:r>
            <a:r>
              <a:rPr lang="en-US" sz="3200" b="1" spc="300" dirty="0" smtClean="0">
                <a:solidFill>
                  <a:schemeClr val="tx1">
                    <a:lumMod val="75000"/>
                    <a:lumOff val="25000"/>
                  </a:schemeClr>
                </a:solidFill>
                <a:latin typeface="Bahnschrift Condensed" panose="020B0502040204020203" pitchFamily="34" charset="0"/>
              </a:rPr>
              <a:t>Functions of </a:t>
            </a:r>
            <a:r>
              <a:rPr lang="en-US" sz="3200" b="1" spc="300" dirty="0">
                <a:solidFill>
                  <a:schemeClr val="tx1">
                    <a:lumMod val="75000"/>
                    <a:lumOff val="25000"/>
                  </a:schemeClr>
                </a:solidFill>
                <a:latin typeface="Bahnschrift Condensed" panose="020B0502040204020203" pitchFamily="34" charset="0"/>
              </a:rPr>
              <a:t>Finance</a:t>
            </a:r>
          </a:p>
        </p:txBody>
      </p:sp>
      <p:sp>
        <p:nvSpPr>
          <p:cNvPr id="9" name="Rectangle: Single Corner Rounded 4">
            <a:extLst>
              <a:ext uri="{FF2B5EF4-FFF2-40B4-BE49-F238E27FC236}">
                <a16:creationId xmlns:a16="http://schemas.microsoft.com/office/drawing/2014/main" id="{263CF6E3-32D5-814C-8B67-1B6D1EEBA258}"/>
              </a:ext>
            </a:extLst>
          </p:cNvPr>
          <p:cNvSpPr/>
          <p:nvPr/>
        </p:nvSpPr>
        <p:spPr>
          <a:xfrm>
            <a:off x="301842" y="1049145"/>
            <a:ext cx="5832258" cy="466495"/>
          </a:xfrm>
          <a:prstGeom prst="round1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400" b="1" dirty="0"/>
              <a:t>The Dividend Decision (Payout Policy)</a:t>
            </a:r>
          </a:p>
        </p:txBody>
      </p:sp>
      <p:sp>
        <p:nvSpPr>
          <p:cNvPr id="10" name="Rectangle: Single Corner Rounded 10">
            <a:extLst>
              <a:ext uri="{FF2B5EF4-FFF2-40B4-BE49-F238E27FC236}">
                <a16:creationId xmlns:a16="http://schemas.microsoft.com/office/drawing/2014/main" id="{DA340FE2-6AC7-17B1-6B50-A86C5CDA4E26}"/>
              </a:ext>
            </a:extLst>
          </p:cNvPr>
          <p:cNvSpPr/>
          <p:nvPr/>
        </p:nvSpPr>
        <p:spPr>
          <a:xfrm>
            <a:off x="301842" y="1615945"/>
            <a:ext cx="11608754" cy="2429584"/>
          </a:xfrm>
          <a:prstGeom prst="round1Rect">
            <a:avLst/>
          </a:prstGeom>
          <a:solidFill>
            <a:schemeClr val="bg1"/>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400" dirty="0" smtClean="0">
                <a:solidFill>
                  <a:schemeClr val="tx1">
                    <a:lumMod val="75000"/>
                    <a:lumOff val="25000"/>
                  </a:schemeClr>
                </a:solidFill>
              </a:rPr>
              <a:t>What </a:t>
            </a:r>
            <a:r>
              <a:rPr lang="en-US" sz="2400" dirty="0">
                <a:solidFill>
                  <a:schemeClr val="tx1">
                    <a:lumMod val="75000"/>
                    <a:lumOff val="25000"/>
                  </a:schemeClr>
                </a:solidFill>
              </a:rPr>
              <a:t>to do with the firm's </a:t>
            </a:r>
            <a:r>
              <a:rPr lang="en-US" sz="2400" dirty="0" smtClean="0">
                <a:solidFill>
                  <a:schemeClr val="tx1">
                    <a:lumMod val="75000"/>
                    <a:lumOff val="25000"/>
                  </a:schemeClr>
                </a:solidFill>
              </a:rPr>
              <a:t>profits </a:t>
            </a:r>
            <a:r>
              <a:rPr lang="en-US" sz="2400" dirty="0" smtClean="0">
                <a:solidFill>
                  <a:schemeClr val="tx1">
                    <a:lumMod val="75000"/>
                    <a:lumOff val="25000"/>
                  </a:schemeClr>
                </a:solidFill>
                <a:sym typeface="Wingdings" panose="05000000000000000000" pitchFamily="2" charset="2"/>
              </a:rPr>
              <a:t> What portion of earnings to pay out to the shareholders and what portion to reinvest  </a:t>
            </a:r>
          </a:p>
          <a:p>
            <a:pPr algn="just"/>
            <a:endParaRPr lang="en-US" sz="800" dirty="0">
              <a:solidFill>
                <a:schemeClr val="tx1">
                  <a:lumMod val="75000"/>
                  <a:lumOff val="25000"/>
                </a:schemeClr>
              </a:solidFill>
              <a:sym typeface="Wingdings" panose="05000000000000000000" pitchFamily="2" charset="2"/>
            </a:endParaRPr>
          </a:p>
          <a:p>
            <a:pPr marL="285750" indent="-285750" algn="just">
              <a:buFont typeface="Wingdings" panose="05000000000000000000" pitchFamily="2" charset="2"/>
              <a:buChar char="§"/>
            </a:pPr>
            <a:r>
              <a:rPr lang="en-US" sz="2400" b="1" dirty="0" smtClean="0">
                <a:solidFill>
                  <a:schemeClr val="tx1">
                    <a:lumMod val="75000"/>
                    <a:lumOff val="25000"/>
                  </a:schemeClr>
                </a:solidFill>
              </a:rPr>
              <a:t>Tradeoff: </a:t>
            </a:r>
          </a:p>
          <a:p>
            <a:pPr marL="742950" lvl="1" indent="-285750" algn="just">
              <a:buFont typeface="Wingdings" panose="05000000000000000000" pitchFamily="2" charset="2"/>
              <a:buChar char="§"/>
            </a:pPr>
            <a:r>
              <a:rPr lang="en-US" sz="2400" dirty="0" smtClean="0">
                <a:solidFill>
                  <a:schemeClr val="tx1">
                    <a:lumMod val="75000"/>
                    <a:lumOff val="25000"/>
                  </a:schemeClr>
                </a:solidFill>
              </a:rPr>
              <a:t>Dividend rewards </a:t>
            </a:r>
            <a:r>
              <a:rPr lang="en-US" sz="2400" dirty="0">
                <a:solidFill>
                  <a:schemeClr val="tx1">
                    <a:lumMod val="75000"/>
                    <a:lumOff val="25000"/>
                  </a:schemeClr>
                </a:solidFill>
              </a:rPr>
              <a:t>shareholders directly, signaling financial </a:t>
            </a:r>
            <a:r>
              <a:rPr lang="en-US" sz="2400" dirty="0" smtClean="0">
                <a:solidFill>
                  <a:schemeClr val="tx1">
                    <a:lumMod val="75000"/>
                    <a:lumOff val="25000"/>
                  </a:schemeClr>
                </a:solidFill>
              </a:rPr>
              <a:t>health, </a:t>
            </a:r>
          </a:p>
          <a:p>
            <a:pPr marL="742950" lvl="1" indent="-285750" algn="just">
              <a:buFont typeface="Wingdings" panose="05000000000000000000" pitchFamily="2" charset="2"/>
              <a:buChar char="§"/>
            </a:pPr>
            <a:r>
              <a:rPr lang="en-US" sz="2400" dirty="0" smtClean="0">
                <a:solidFill>
                  <a:schemeClr val="tx1">
                    <a:lumMod val="75000"/>
                    <a:lumOff val="25000"/>
                  </a:schemeClr>
                </a:solidFill>
              </a:rPr>
              <a:t>While </a:t>
            </a:r>
            <a:r>
              <a:rPr lang="en-US" sz="2400" dirty="0">
                <a:solidFill>
                  <a:schemeClr val="tx1">
                    <a:lumMod val="75000"/>
                    <a:lumOff val="25000"/>
                  </a:schemeClr>
                </a:solidFill>
              </a:rPr>
              <a:t>reinvestment </a:t>
            </a:r>
            <a:r>
              <a:rPr lang="en-US" sz="2400" dirty="0" smtClean="0">
                <a:solidFill>
                  <a:schemeClr val="tx1">
                    <a:lumMod val="75000"/>
                    <a:lumOff val="25000"/>
                  </a:schemeClr>
                </a:solidFill>
              </a:rPr>
              <a:t>fuels </a:t>
            </a:r>
            <a:r>
              <a:rPr lang="en-US" sz="2400" dirty="0">
                <a:solidFill>
                  <a:schemeClr val="tx1">
                    <a:lumMod val="75000"/>
                    <a:lumOff val="25000"/>
                  </a:schemeClr>
                </a:solidFill>
              </a:rPr>
              <a:t>future growth internally, which should (in theory) increase the company's value and thus its stock price</a:t>
            </a:r>
          </a:p>
        </p:txBody>
      </p:sp>
      <p:sp>
        <p:nvSpPr>
          <p:cNvPr id="11" name="Rectangle: Single Corner Rounded 1">
            <a:extLst>
              <a:ext uri="{FF2B5EF4-FFF2-40B4-BE49-F238E27FC236}">
                <a16:creationId xmlns:a16="http://schemas.microsoft.com/office/drawing/2014/main" id="{E236DAFB-E649-1C3A-C5BE-1A6594899696}"/>
              </a:ext>
            </a:extLst>
          </p:cNvPr>
          <p:cNvSpPr/>
          <p:nvPr/>
        </p:nvSpPr>
        <p:spPr>
          <a:xfrm>
            <a:off x="301841" y="4618182"/>
            <a:ext cx="4787395" cy="443342"/>
          </a:xfrm>
          <a:prstGeom prst="round1Rect">
            <a:avLst/>
          </a:prstGeom>
          <a:solidFill>
            <a:srgbClr val="EBBA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400" b="1" dirty="0"/>
              <a:t>Risk Management</a:t>
            </a:r>
          </a:p>
        </p:txBody>
      </p:sp>
      <p:sp>
        <p:nvSpPr>
          <p:cNvPr id="12" name="Rectangle: Single Corner Rounded 8">
            <a:extLst>
              <a:ext uri="{FF2B5EF4-FFF2-40B4-BE49-F238E27FC236}">
                <a16:creationId xmlns:a16="http://schemas.microsoft.com/office/drawing/2014/main" id="{2A907CCA-A5EC-20C2-1ED4-D14CA1E9925D}"/>
              </a:ext>
            </a:extLst>
          </p:cNvPr>
          <p:cNvSpPr/>
          <p:nvPr/>
        </p:nvSpPr>
        <p:spPr>
          <a:xfrm>
            <a:off x="301842" y="5146651"/>
            <a:ext cx="11608754" cy="949346"/>
          </a:xfrm>
          <a:prstGeom prst="round1Rect">
            <a:avLst/>
          </a:prstGeom>
          <a:solidFill>
            <a:schemeClr val="bg1"/>
          </a:solidFill>
          <a:ln>
            <a:solidFill>
              <a:srgbClr val="EBBA1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400" dirty="0">
                <a:solidFill>
                  <a:schemeClr val="tx1">
                    <a:lumMod val="75000"/>
                    <a:lumOff val="25000"/>
                  </a:schemeClr>
                </a:solidFill>
              </a:rPr>
              <a:t>Identifying, assessing, and mitigating potential financial risks </a:t>
            </a:r>
            <a:r>
              <a:rPr lang="en-US" sz="2400" dirty="0">
                <a:solidFill>
                  <a:schemeClr val="tx1">
                    <a:lumMod val="75000"/>
                    <a:lumOff val="25000"/>
                  </a:schemeClr>
                </a:solidFill>
                <a:sym typeface="Wingdings" panose="05000000000000000000" pitchFamily="2" charset="2"/>
              </a:rPr>
              <a:t> </a:t>
            </a:r>
            <a:r>
              <a:rPr lang="en-US" sz="2400" dirty="0" smtClean="0">
                <a:solidFill>
                  <a:schemeClr val="tx1">
                    <a:lumMod val="75000"/>
                    <a:lumOff val="25000"/>
                  </a:schemeClr>
                </a:solidFill>
                <a:sym typeface="Wingdings" panose="05000000000000000000" pitchFamily="2" charset="2"/>
              </a:rPr>
              <a:t>Interest </a:t>
            </a:r>
            <a:r>
              <a:rPr lang="en-US" sz="2400" dirty="0">
                <a:solidFill>
                  <a:schemeClr val="tx1">
                    <a:lumMod val="75000"/>
                    <a:lumOff val="25000"/>
                  </a:schemeClr>
                </a:solidFill>
                <a:sym typeface="Wingdings" panose="05000000000000000000" pitchFamily="2" charset="2"/>
              </a:rPr>
              <a:t>rate changes, foreign exchange fluctuations, commodity price </a:t>
            </a:r>
            <a:r>
              <a:rPr lang="en-US" sz="2400" dirty="0" smtClean="0">
                <a:solidFill>
                  <a:schemeClr val="tx1">
                    <a:lumMod val="75000"/>
                    <a:lumOff val="25000"/>
                  </a:schemeClr>
                </a:solidFill>
                <a:sym typeface="Wingdings" panose="05000000000000000000" pitchFamily="2" charset="2"/>
              </a:rPr>
              <a:t>shifts</a:t>
            </a:r>
            <a:endParaRPr lang="en-US" sz="2400" dirty="0" smtClean="0">
              <a:solidFill>
                <a:schemeClr val="tx1">
                  <a:lumMod val="75000"/>
                  <a:lumOff val="25000"/>
                </a:schemeClr>
              </a:solidFill>
            </a:endParaRPr>
          </a:p>
        </p:txBody>
      </p:sp>
    </p:spTree>
    <p:extLst>
      <p:ext uri="{BB962C8B-B14F-4D97-AF65-F5344CB8AC3E}">
        <p14:creationId xmlns:p14="http://schemas.microsoft.com/office/powerpoint/2010/main" val="35364318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500"/>
                                        <p:tgtEl>
                                          <p:spTgt spid="11"/>
                                        </p:tgtEl>
                                      </p:cBhvr>
                                    </p:animEffect>
                                  </p:childTnLst>
                                </p:cTn>
                              </p:par>
                              <p:par>
                                <p:cTn id="28" presetID="1"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6E595-39CC-7128-F784-EB5F08D312A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2149901-AC8F-DF3A-233B-7E1D2ABC6669}"/>
              </a:ext>
            </a:extLst>
          </p:cNvPr>
          <p:cNvSpPr txBox="1"/>
          <p:nvPr/>
        </p:nvSpPr>
        <p:spPr>
          <a:xfrm>
            <a:off x="301842" y="235524"/>
            <a:ext cx="10989614" cy="584775"/>
          </a:xfrm>
          <a:prstGeom prst="rect">
            <a:avLst/>
          </a:prstGeom>
          <a:noFill/>
        </p:spPr>
        <p:txBody>
          <a:bodyPr wrap="square" rtlCol="0">
            <a:spAutoFit/>
          </a:bodyPr>
          <a:lstStyle/>
          <a:p>
            <a:r>
              <a:rPr lang="en-US" sz="3200" b="1" spc="300" dirty="0">
                <a:solidFill>
                  <a:srgbClr val="006A3A"/>
                </a:solidFill>
                <a:latin typeface="Bahnschrift Condensed" panose="020B0502040204020203" pitchFamily="34" charset="0"/>
              </a:rPr>
              <a:t>Introduction to Finance:</a:t>
            </a:r>
            <a:r>
              <a:rPr lang="en-US" sz="3200" b="1" spc="300" dirty="0">
                <a:solidFill>
                  <a:srgbClr val="2F8B42"/>
                </a:solidFill>
                <a:latin typeface="Bahnschrift Condensed" panose="020B0502040204020203" pitchFamily="34" charset="0"/>
              </a:rPr>
              <a:t> </a:t>
            </a:r>
            <a:r>
              <a:rPr lang="en-US" sz="3200" b="1" spc="300" dirty="0" smtClean="0">
                <a:solidFill>
                  <a:schemeClr val="tx1">
                    <a:lumMod val="75000"/>
                    <a:lumOff val="25000"/>
                  </a:schemeClr>
                </a:solidFill>
                <a:latin typeface="Bahnschrift Condensed" panose="020B0502040204020203" pitchFamily="34" charset="0"/>
              </a:rPr>
              <a:t>Functions of </a:t>
            </a:r>
            <a:r>
              <a:rPr lang="en-US" sz="3200" b="1" spc="300" dirty="0">
                <a:solidFill>
                  <a:schemeClr val="tx1">
                    <a:lumMod val="75000"/>
                    <a:lumOff val="25000"/>
                  </a:schemeClr>
                </a:solidFill>
                <a:latin typeface="Bahnschrift Condensed" panose="020B0502040204020203" pitchFamily="34" charset="0"/>
              </a:rPr>
              <a:t>Finance</a:t>
            </a:r>
          </a:p>
        </p:txBody>
      </p:sp>
      <p:sp>
        <p:nvSpPr>
          <p:cNvPr id="31" name="Rectangle: Single Corner Rounded 4">
            <a:extLst>
              <a:ext uri="{FF2B5EF4-FFF2-40B4-BE49-F238E27FC236}">
                <a16:creationId xmlns:a16="http://schemas.microsoft.com/office/drawing/2014/main" id="{263CF6E3-32D5-814C-8B67-1B6D1EEBA258}"/>
              </a:ext>
            </a:extLst>
          </p:cNvPr>
          <p:cNvSpPr/>
          <p:nvPr/>
        </p:nvSpPr>
        <p:spPr>
          <a:xfrm>
            <a:off x="301842" y="1062183"/>
            <a:ext cx="4787394" cy="438912"/>
          </a:xfrm>
          <a:prstGeom prst="round1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400" b="1" dirty="0"/>
              <a:t>Working Capital </a:t>
            </a:r>
            <a:r>
              <a:rPr lang="en-US" sz="2400" b="1" dirty="0" smtClean="0"/>
              <a:t>Management</a:t>
            </a:r>
            <a:endParaRPr lang="en-US" sz="2400" b="1" dirty="0"/>
          </a:p>
        </p:txBody>
      </p:sp>
      <p:sp>
        <p:nvSpPr>
          <p:cNvPr id="34" name="Rectangle: Single Corner Rounded 10">
            <a:extLst>
              <a:ext uri="{FF2B5EF4-FFF2-40B4-BE49-F238E27FC236}">
                <a16:creationId xmlns:a16="http://schemas.microsoft.com/office/drawing/2014/main" id="{DA340FE2-6AC7-17B1-6B50-A86C5CDA4E26}"/>
              </a:ext>
            </a:extLst>
          </p:cNvPr>
          <p:cNvSpPr/>
          <p:nvPr/>
        </p:nvSpPr>
        <p:spPr>
          <a:xfrm>
            <a:off x="301842" y="1602359"/>
            <a:ext cx="11608754" cy="538330"/>
          </a:xfrm>
          <a:prstGeom prst="round1Rect">
            <a:avLst/>
          </a:prstGeom>
          <a:solidFill>
            <a:schemeClr val="bg1"/>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400" dirty="0" smtClean="0">
                <a:solidFill>
                  <a:schemeClr val="tx1">
                    <a:lumMod val="75000"/>
                    <a:lumOff val="25000"/>
                  </a:schemeClr>
                </a:solidFill>
              </a:rPr>
              <a:t>Ensuring sufficient liquidity for day to day operations and fulfilling short term needs </a:t>
            </a:r>
            <a:endParaRPr lang="en-US" sz="2400" dirty="0" smtClean="0">
              <a:solidFill>
                <a:schemeClr val="tx1">
                  <a:lumMod val="75000"/>
                  <a:lumOff val="25000"/>
                </a:schemeClr>
              </a:solidFill>
              <a:sym typeface="Wingdings" panose="05000000000000000000" pitchFamily="2" charset="2"/>
            </a:endParaRPr>
          </a:p>
        </p:txBody>
      </p:sp>
      <p:sp>
        <p:nvSpPr>
          <p:cNvPr id="7" name="Rectangle: Single Corner Rounded 4">
            <a:extLst>
              <a:ext uri="{FF2B5EF4-FFF2-40B4-BE49-F238E27FC236}">
                <a16:creationId xmlns:a16="http://schemas.microsoft.com/office/drawing/2014/main" id="{263CF6E3-32D5-814C-8B67-1B6D1EEBA258}"/>
              </a:ext>
            </a:extLst>
          </p:cNvPr>
          <p:cNvSpPr/>
          <p:nvPr/>
        </p:nvSpPr>
        <p:spPr>
          <a:xfrm>
            <a:off x="301841" y="3435927"/>
            <a:ext cx="5018303" cy="434998"/>
          </a:xfrm>
          <a:prstGeom prst="round1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400" b="1" dirty="0"/>
              <a:t>Financial Planning &amp; Analysis (FP&amp;A)</a:t>
            </a:r>
          </a:p>
        </p:txBody>
      </p:sp>
      <p:sp>
        <p:nvSpPr>
          <p:cNvPr id="8" name="Rectangle: Single Corner Rounded 10">
            <a:extLst>
              <a:ext uri="{FF2B5EF4-FFF2-40B4-BE49-F238E27FC236}">
                <a16:creationId xmlns:a16="http://schemas.microsoft.com/office/drawing/2014/main" id="{DA340FE2-6AC7-17B1-6B50-A86C5CDA4E26}"/>
              </a:ext>
            </a:extLst>
          </p:cNvPr>
          <p:cNvSpPr/>
          <p:nvPr/>
        </p:nvSpPr>
        <p:spPr>
          <a:xfrm>
            <a:off x="301842" y="4017409"/>
            <a:ext cx="11608754" cy="1016411"/>
          </a:xfrm>
          <a:prstGeom prst="round1Rect">
            <a:avLst/>
          </a:prstGeom>
          <a:solidFill>
            <a:schemeClr val="bg1"/>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400" dirty="0">
                <a:solidFill>
                  <a:schemeClr val="tx1">
                    <a:lumMod val="75000"/>
                    <a:lumOff val="25000"/>
                  </a:schemeClr>
                </a:solidFill>
              </a:rPr>
              <a:t>The process of forecasting future financial performance (budgeting) and analyzing past results to guide decision-making</a:t>
            </a:r>
          </a:p>
        </p:txBody>
      </p:sp>
    </p:spTree>
    <p:extLst>
      <p:ext uri="{BB962C8B-B14F-4D97-AF65-F5344CB8AC3E}">
        <p14:creationId xmlns:p14="http://schemas.microsoft.com/office/powerpoint/2010/main" val="1163888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4" grpId="0" animBg="1"/>
      <p:bldP spid="7"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0E0B9-5465-BF27-A2E9-81473DDEE3EB}"/>
            </a:ext>
          </a:extLst>
        </p:cNvPr>
        <p:cNvGrpSpPr/>
        <p:nvPr/>
      </p:nvGrpSpPr>
      <p:grpSpPr>
        <a:xfrm>
          <a:off x="0" y="0"/>
          <a:ext cx="0" cy="0"/>
          <a:chOff x="0" y="0"/>
          <a:chExt cx="0" cy="0"/>
        </a:xfrm>
      </p:grpSpPr>
      <p:sp>
        <p:nvSpPr>
          <p:cNvPr id="7" name="Text Box 5">
            <a:extLst>
              <a:ext uri="{FF2B5EF4-FFF2-40B4-BE49-F238E27FC236}">
                <a16:creationId xmlns:a16="http://schemas.microsoft.com/office/drawing/2014/main" id="{99C08C8A-216F-BD8C-2F86-F396AB3299B4}"/>
              </a:ext>
            </a:extLst>
          </p:cNvPr>
          <p:cNvSpPr txBox="1">
            <a:spLocks noChangeArrowheads="1"/>
          </p:cNvSpPr>
          <p:nvPr/>
        </p:nvSpPr>
        <p:spPr bwMode="auto">
          <a:xfrm>
            <a:off x="1977297" y="2910570"/>
            <a:ext cx="8718411" cy="1285288"/>
          </a:xfrm>
          <a:prstGeom prst="rect">
            <a:avLst/>
          </a:prstGeom>
          <a:noFill/>
          <a:ln w="9525">
            <a:noFill/>
            <a:miter lim="800000"/>
            <a:headEnd/>
            <a:tailEnd/>
          </a:ln>
        </p:spPr>
        <p:txBody>
          <a:bodyPr wrap="square">
            <a:spAutoFit/>
          </a:bodyPr>
          <a:lstStyle/>
          <a:p>
            <a:pPr>
              <a:lnSpc>
                <a:spcPct val="114000"/>
              </a:lnSpc>
            </a:pPr>
            <a:r>
              <a:rPr lang="en-US" altLang="de-DE" sz="3600" b="1" dirty="0" smtClean="0">
                <a:solidFill>
                  <a:srgbClr val="006A3A"/>
                </a:solidFill>
                <a:latin typeface="Congenial" panose="02000503040000020004" pitchFamily="2" charset="0"/>
                <a:cs typeface="Tahoma" pitchFamily="34" charset="0"/>
              </a:rPr>
              <a:t>Introduction to Finance </a:t>
            </a:r>
            <a:endParaRPr lang="en-US" altLang="de-DE" sz="3600" b="1" dirty="0">
              <a:solidFill>
                <a:srgbClr val="006A3A"/>
              </a:solidFill>
              <a:latin typeface="Congenial" panose="02000503040000020004" pitchFamily="2" charset="0"/>
              <a:cs typeface="Tahoma" pitchFamily="34" charset="0"/>
            </a:endParaRPr>
          </a:p>
          <a:p>
            <a:pPr>
              <a:lnSpc>
                <a:spcPct val="114000"/>
              </a:lnSpc>
            </a:pPr>
            <a:r>
              <a:rPr lang="en-US" altLang="de-DE" sz="3200" dirty="0" smtClean="0">
                <a:solidFill>
                  <a:schemeClr val="tx1">
                    <a:lumMod val="75000"/>
                    <a:lumOff val="25000"/>
                  </a:schemeClr>
                </a:solidFill>
                <a:latin typeface="Congenial" panose="02000503040000020004" pitchFamily="2" charset="0"/>
                <a:cs typeface="Tahoma" pitchFamily="34" charset="0"/>
              </a:rPr>
              <a:t>Principles of Finance</a:t>
            </a:r>
            <a:endParaRPr lang="en-US" altLang="de-DE" sz="3200" dirty="0">
              <a:solidFill>
                <a:schemeClr val="tx1">
                  <a:lumMod val="75000"/>
                  <a:lumOff val="25000"/>
                </a:schemeClr>
              </a:solidFill>
              <a:latin typeface="Congenial" panose="02000503040000020004" pitchFamily="2" charset="0"/>
              <a:cs typeface="Tahoma" pitchFamily="34" charset="0"/>
            </a:endParaRPr>
          </a:p>
        </p:txBody>
      </p:sp>
      <p:grpSp>
        <p:nvGrpSpPr>
          <p:cNvPr id="9" name="Group 8">
            <a:extLst>
              <a:ext uri="{FF2B5EF4-FFF2-40B4-BE49-F238E27FC236}">
                <a16:creationId xmlns:a16="http://schemas.microsoft.com/office/drawing/2014/main" id="{FBADF365-C1E3-309F-E5D9-36CAD89D1F44}"/>
              </a:ext>
            </a:extLst>
          </p:cNvPr>
          <p:cNvGrpSpPr/>
          <p:nvPr/>
        </p:nvGrpSpPr>
        <p:grpSpPr>
          <a:xfrm>
            <a:off x="1136716" y="1996170"/>
            <a:ext cx="557859" cy="2860992"/>
            <a:chOff x="1027659" y="1677451"/>
            <a:chExt cx="557859" cy="2860992"/>
          </a:xfrm>
        </p:grpSpPr>
        <p:sp>
          <p:nvSpPr>
            <p:cNvPr id="10" name="Rectangle 9">
              <a:extLst>
                <a:ext uri="{FF2B5EF4-FFF2-40B4-BE49-F238E27FC236}">
                  <a16:creationId xmlns:a16="http://schemas.microsoft.com/office/drawing/2014/main" id="{FD15B5C1-41A8-C6C2-21E9-466A5A9F5294}"/>
                </a:ext>
              </a:extLst>
            </p:cNvPr>
            <p:cNvSpPr/>
            <p:nvPr/>
          </p:nvSpPr>
          <p:spPr>
            <a:xfrm>
              <a:off x="1392574" y="2709643"/>
              <a:ext cx="192944" cy="1828800"/>
            </a:xfrm>
            <a:prstGeom prst="rect">
              <a:avLst/>
            </a:prstGeom>
            <a:solidFill>
              <a:schemeClr val="tx1">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effectLst>
                  <a:outerShdw blurRad="38100" dist="38100" dir="2700000" algn="tl">
                    <a:srgbClr val="000000">
                      <a:alpha val="43137"/>
                    </a:srgbClr>
                  </a:outerShdw>
                </a:effectLst>
              </a:endParaRPr>
            </a:p>
          </p:txBody>
        </p:sp>
        <p:sp>
          <p:nvSpPr>
            <p:cNvPr id="11" name="Rectangle 10">
              <a:extLst>
                <a:ext uri="{FF2B5EF4-FFF2-40B4-BE49-F238E27FC236}">
                  <a16:creationId xmlns:a16="http://schemas.microsoft.com/office/drawing/2014/main" id="{F9150FDB-C4D7-AB62-3FA2-5EAEB96B0B69}"/>
                </a:ext>
              </a:extLst>
            </p:cNvPr>
            <p:cNvSpPr/>
            <p:nvPr/>
          </p:nvSpPr>
          <p:spPr>
            <a:xfrm>
              <a:off x="1216408" y="2226212"/>
              <a:ext cx="192944" cy="1828800"/>
            </a:xfrm>
            <a:prstGeom prst="rect">
              <a:avLst/>
            </a:prstGeom>
            <a:gradFill flip="none" rotWithShape="1">
              <a:gsLst>
                <a:gs pos="0">
                  <a:srgbClr val="006A3A">
                    <a:shade val="30000"/>
                    <a:satMod val="115000"/>
                  </a:srgbClr>
                </a:gs>
                <a:gs pos="50000">
                  <a:srgbClr val="006A3A">
                    <a:shade val="67500"/>
                    <a:satMod val="115000"/>
                  </a:srgbClr>
                </a:gs>
                <a:gs pos="100000">
                  <a:srgbClr val="006A3A">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8E3D1EE-214D-E8EE-3E55-361FCF61CED4}"/>
                </a:ext>
              </a:extLst>
            </p:cNvPr>
            <p:cNvSpPr/>
            <p:nvPr/>
          </p:nvSpPr>
          <p:spPr>
            <a:xfrm>
              <a:off x="1027659" y="1677451"/>
              <a:ext cx="192944" cy="1828800"/>
            </a:xfrm>
            <a:prstGeom prst="rect">
              <a:avLst/>
            </a:prstGeom>
            <a:gradFill flip="none" rotWithShape="1">
              <a:gsLst>
                <a:gs pos="0">
                  <a:srgbClr val="EBBA13">
                    <a:shade val="30000"/>
                    <a:satMod val="115000"/>
                  </a:srgbClr>
                </a:gs>
                <a:gs pos="50000">
                  <a:srgbClr val="EBBA13">
                    <a:shade val="67500"/>
                    <a:satMod val="115000"/>
                  </a:srgbClr>
                </a:gs>
                <a:gs pos="100000">
                  <a:srgbClr val="EBBA13">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4984650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6E595-39CC-7128-F784-EB5F08D312A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2149901-AC8F-DF3A-233B-7E1D2ABC6669}"/>
              </a:ext>
            </a:extLst>
          </p:cNvPr>
          <p:cNvSpPr txBox="1"/>
          <p:nvPr/>
        </p:nvSpPr>
        <p:spPr>
          <a:xfrm>
            <a:off x="301842" y="235524"/>
            <a:ext cx="10989614" cy="584775"/>
          </a:xfrm>
          <a:prstGeom prst="rect">
            <a:avLst/>
          </a:prstGeom>
          <a:noFill/>
        </p:spPr>
        <p:txBody>
          <a:bodyPr wrap="square" rtlCol="0">
            <a:spAutoFit/>
          </a:bodyPr>
          <a:lstStyle/>
          <a:p>
            <a:r>
              <a:rPr lang="en-US" sz="3200" b="1" spc="300" dirty="0">
                <a:solidFill>
                  <a:srgbClr val="006A3A"/>
                </a:solidFill>
                <a:latin typeface="Bahnschrift Condensed" panose="020B0502040204020203" pitchFamily="34" charset="0"/>
              </a:rPr>
              <a:t>Introduction to Finance:</a:t>
            </a:r>
            <a:r>
              <a:rPr lang="en-US" sz="3200" b="1" spc="300" dirty="0">
                <a:solidFill>
                  <a:srgbClr val="2F8B42"/>
                </a:solidFill>
                <a:latin typeface="Bahnschrift Condensed" panose="020B0502040204020203" pitchFamily="34" charset="0"/>
              </a:rPr>
              <a:t> </a:t>
            </a:r>
            <a:r>
              <a:rPr lang="en-US" sz="3200" b="1" spc="300" dirty="0" smtClean="0">
                <a:solidFill>
                  <a:schemeClr val="tx1">
                    <a:lumMod val="75000"/>
                    <a:lumOff val="25000"/>
                  </a:schemeClr>
                </a:solidFill>
                <a:latin typeface="Bahnschrift Condensed" panose="020B0502040204020203" pitchFamily="34" charset="0"/>
              </a:rPr>
              <a:t>Principles of </a:t>
            </a:r>
            <a:r>
              <a:rPr lang="en-US" sz="3200" b="1" spc="300" dirty="0">
                <a:solidFill>
                  <a:schemeClr val="tx1">
                    <a:lumMod val="75000"/>
                    <a:lumOff val="25000"/>
                  </a:schemeClr>
                </a:solidFill>
                <a:latin typeface="Bahnschrift Condensed" panose="020B0502040204020203" pitchFamily="34" charset="0"/>
              </a:rPr>
              <a:t>Finance</a:t>
            </a:r>
          </a:p>
        </p:txBody>
      </p:sp>
      <p:sp>
        <p:nvSpPr>
          <p:cNvPr id="28" name="Rectangle: Single Corner Rounded 1">
            <a:extLst>
              <a:ext uri="{FF2B5EF4-FFF2-40B4-BE49-F238E27FC236}">
                <a16:creationId xmlns:a16="http://schemas.microsoft.com/office/drawing/2014/main" id="{E236DAFB-E649-1C3A-C5BE-1A6594899696}"/>
              </a:ext>
            </a:extLst>
          </p:cNvPr>
          <p:cNvSpPr/>
          <p:nvPr/>
        </p:nvSpPr>
        <p:spPr>
          <a:xfrm>
            <a:off x="301841" y="1113757"/>
            <a:ext cx="3875523" cy="348124"/>
          </a:xfrm>
          <a:prstGeom prst="round1Rect">
            <a:avLst/>
          </a:prstGeom>
          <a:solidFill>
            <a:srgbClr val="EBBA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200" b="1" dirty="0"/>
              <a:t>Time Value of Money (TVM)</a:t>
            </a:r>
          </a:p>
        </p:txBody>
      </p:sp>
      <p:sp>
        <p:nvSpPr>
          <p:cNvPr id="31" name="Rectangle: Single Corner Rounded 4">
            <a:extLst>
              <a:ext uri="{FF2B5EF4-FFF2-40B4-BE49-F238E27FC236}">
                <a16:creationId xmlns:a16="http://schemas.microsoft.com/office/drawing/2014/main" id="{263CF6E3-32D5-814C-8B67-1B6D1EEBA258}"/>
              </a:ext>
            </a:extLst>
          </p:cNvPr>
          <p:cNvSpPr/>
          <p:nvPr/>
        </p:nvSpPr>
        <p:spPr>
          <a:xfrm>
            <a:off x="301841" y="3708730"/>
            <a:ext cx="2846979" cy="354822"/>
          </a:xfrm>
          <a:prstGeom prst="round1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200" b="1" dirty="0" smtClean="0"/>
              <a:t>Risk Return Tradeoff</a:t>
            </a:r>
            <a:endParaRPr lang="en-US" sz="2200" b="1" dirty="0"/>
          </a:p>
        </p:txBody>
      </p:sp>
      <p:sp>
        <p:nvSpPr>
          <p:cNvPr id="32" name="Rectangle: Single Corner Rounded 8">
            <a:extLst>
              <a:ext uri="{FF2B5EF4-FFF2-40B4-BE49-F238E27FC236}">
                <a16:creationId xmlns:a16="http://schemas.microsoft.com/office/drawing/2014/main" id="{2A907CCA-A5EC-20C2-1ED4-D14CA1E9925D}"/>
              </a:ext>
            </a:extLst>
          </p:cNvPr>
          <p:cNvSpPr/>
          <p:nvPr/>
        </p:nvSpPr>
        <p:spPr>
          <a:xfrm>
            <a:off x="301842" y="1562945"/>
            <a:ext cx="11608754" cy="1613392"/>
          </a:xfrm>
          <a:prstGeom prst="round1Rect">
            <a:avLst/>
          </a:prstGeom>
          <a:solidFill>
            <a:schemeClr val="bg1"/>
          </a:solidFill>
          <a:ln>
            <a:solidFill>
              <a:srgbClr val="EBBA1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200" dirty="0" smtClean="0">
                <a:solidFill>
                  <a:schemeClr val="tx1">
                    <a:lumMod val="75000"/>
                    <a:lumOff val="25000"/>
                  </a:schemeClr>
                </a:solidFill>
              </a:rPr>
              <a:t>A taka today is worth more than a taka in the future </a:t>
            </a:r>
            <a:r>
              <a:rPr lang="en-US" sz="2200" dirty="0" smtClean="0">
                <a:solidFill>
                  <a:schemeClr val="tx1">
                    <a:lumMod val="75000"/>
                    <a:lumOff val="25000"/>
                  </a:schemeClr>
                </a:solidFill>
                <a:sym typeface="Wingdings" panose="05000000000000000000" pitchFamily="2" charset="2"/>
              </a:rPr>
              <a:t> You can invest it today to earn more</a:t>
            </a:r>
            <a:endParaRPr lang="en-US" sz="2200" dirty="0" smtClean="0">
              <a:solidFill>
                <a:schemeClr val="tx1">
                  <a:lumMod val="75000"/>
                  <a:lumOff val="25000"/>
                </a:schemeClr>
              </a:solidFill>
            </a:endParaRPr>
          </a:p>
          <a:p>
            <a:pPr algn="just"/>
            <a:endParaRPr lang="en-US" sz="700" dirty="0" smtClean="0">
              <a:solidFill>
                <a:schemeClr val="tx1">
                  <a:lumMod val="75000"/>
                  <a:lumOff val="25000"/>
                </a:schemeClr>
              </a:solidFill>
            </a:endParaRPr>
          </a:p>
          <a:p>
            <a:pPr marL="285750" indent="-285750" algn="just">
              <a:buFont typeface="Wingdings" panose="05000000000000000000" pitchFamily="2" charset="2"/>
              <a:buChar char="§"/>
            </a:pPr>
            <a:r>
              <a:rPr lang="en-US" sz="2200" b="1" dirty="0" smtClean="0">
                <a:solidFill>
                  <a:schemeClr val="tx1">
                    <a:lumMod val="75000"/>
                    <a:lumOff val="25000"/>
                  </a:schemeClr>
                </a:solidFill>
              </a:rPr>
              <a:t>CSE Analogy:</a:t>
            </a:r>
            <a:r>
              <a:rPr lang="en-US" sz="2200" dirty="0" smtClean="0">
                <a:solidFill>
                  <a:schemeClr val="tx1">
                    <a:lumMod val="75000"/>
                    <a:lumOff val="25000"/>
                  </a:schemeClr>
                </a:solidFill>
              </a:rPr>
              <a:t> Think </a:t>
            </a:r>
            <a:r>
              <a:rPr lang="en-US" sz="2200" dirty="0">
                <a:solidFill>
                  <a:schemeClr val="tx1">
                    <a:lumMod val="75000"/>
                    <a:lumOff val="25000"/>
                  </a:schemeClr>
                </a:solidFill>
              </a:rPr>
              <a:t>of data or a computation. A result you get now is more valuable than the same result you get </a:t>
            </a:r>
            <a:r>
              <a:rPr lang="en-US" sz="2200" dirty="0" smtClean="0">
                <a:solidFill>
                  <a:schemeClr val="tx1">
                    <a:lumMod val="75000"/>
                    <a:lumOff val="25000"/>
                  </a:schemeClr>
                </a:solidFill>
              </a:rPr>
              <a:t>a week later because </a:t>
            </a:r>
            <a:r>
              <a:rPr lang="en-US" sz="2200" dirty="0">
                <a:solidFill>
                  <a:schemeClr val="tx1">
                    <a:lumMod val="75000"/>
                    <a:lumOff val="25000"/>
                  </a:schemeClr>
                </a:solidFill>
              </a:rPr>
              <a:t>you can act on it immediately. TVM is the financial equivalent of latency</a:t>
            </a:r>
          </a:p>
        </p:txBody>
      </p:sp>
      <p:sp>
        <p:nvSpPr>
          <p:cNvPr id="34" name="Rectangle: Single Corner Rounded 10">
            <a:extLst>
              <a:ext uri="{FF2B5EF4-FFF2-40B4-BE49-F238E27FC236}">
                <a16:creationId xmlns:a16="http://schemas.microsoft.com/office/drawing/2014/main" id="{DA340FE2-6AC7-17B1-6B50-A86C5CDA4E26}"/>
              </a:ext>
            </a:extLst>
          </p:cNvPr>
          <p:cNvSpPr/>
          <p:nvPr/>
        </p:nvSpPr>
        <p:spPr>
          <a:xfrm>
            <a:off x="301842" y="4164616"/>
            <a:ext cx="11608754" cy="2141191"/>
          </a:xfrm>
          <a:prstGeom prst="round1Rect">
            <a:avLst/>
          </a:prstGeom>
          <a:solidFill>
            <a:schemeClr val="bg1"/>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200" dirty="0">
                <a:solidFill>
                  <a:schemeClr val="tx1">
                    <a:lumMod val="75000"/>
                    <a:lumOff val="25000"/>
                  </a:schemeClr>
                </a:solidFill>
              </a:rPr>
              <a:t>Higher potential returns come with higher </a:t>
            </a:r>
            <a:r>
              <a:rPr lang="en-US" sz="2200" dirty="0" smtClean="0">
                <a:solidFill>
                  <a:schemeClr val="tx1">
                    <a:lumMod val="75000"/>
                    <a:lumOff val="25000"/>
                  </a:schemeClr>
                </a:solidFill>
              </a:rPr>
              <a:t>risks </a:t>
            </a:r>
            <a:r>
              <a:rPr lang="en-US" sz="2200" dirty="0" smtClean="0">
                <a:solidFill>
                  <a:schemeClr val="tx1">
                    <a:lumMod val="75000"/>
                    <a:lumOff val="25000"/>
                  </a:schemeClr>
                </a:solidFill>
                <a:sym typeface="Wingdings" panose="05000000000000000000" pitchFamily="2" charset="2"/>
              </a:rPr>
              <a:t> Safe </a:t>
            </a:r>
            <a:r>
              <a:rPr lang="en-US" sz="2200" dirty="0">
                <a:solidFill>
                  <a:schemeClr val="tx1">
                    <a:lumMod val="75000"/>
                    <a:lumOff val="25000"/>
                  </a:schemeClr>
                </a:solidFill>
                <a:sym typeface="Wingdings" panose="05000000000000000000" pitchFamily="2" charset="2"/>
              </a:rPr>
              <a:t>assets = low </a:t>
            </a:r>
            <a:r>
              <a:rPr lang="en-US" sz="2200" dirty="0" smtClean="0">
                <a:solidFill>
                  <a:schemeClr val="tx1">
                    <a:lumMod val="75000"/>
                    <a:lumOff val="25000"/>
                  </a:schemeClr>
                </a:solidFill>
                <a:sym typeface="Wingdings" panose="05000000000000000000" pitchFamily="2" charset="2"/>
              </a:rPr>
              <a:t>return &amp; </a:t>
            </a:r>
            <a:r>
              <a:rPr lang="en-US" sz="2200" dirty="0">
                <a:solidFill>
                  <a:schemeClr val="tx1">
                    <a:lumMod val="75000"/>
                    <a:lumOff val="25000"/>
                  </a:schemeClr>
                </a:solidFill>
                <a:sym typeface="Wingdings" panose="05000000000000000000" pitchFamily="2" charset="2"/>
              </a:rPr>
              <a:t>Risky assets = potentially higher </a:t>
            </a:r>
            <a:r>
              <a:rPr lang="en-US" sz="2200" dirty="0" smtClean="0">
                <a:solidFill>
                  <a:schemeClr val="tx1">
                    <a:lumMod val="75000"/>
                    <a:lumOff val="25000"/>
                  </a:schemeClr>
                </a:solidFill>
                <a:sym typeface="Wingdings" panose="05000000000000000000" pitchFamily="2" charset="2"/>
              </a:rPr>
              <a:t>return. Investors </a:t>
            </a:r>
            <a:r>
              <a:rPr lang="en-US" sz="2200" dirty="0">
                <a:solidFill>
                  <a:schemeClr val="tx1">
                    <a:lumMod val="75000"/>
                    <a:lumOff val="25000"/>
                  </a:schemeClr>
                </a:solidFill>
                <a:sym typeface="Wingdings" panose="05000000000000000000" pitchFamily="2" charset="2"/>
              </a:rPr>
              <a:t>must balance risk tolerance with return goals</a:t>
            </a:r>
            <a:r>
              <a:rPr lang="en-US" sz="2000" dirty="0">
                <a:solidFill>
                  <a:schemeClr val="tx1">
                    <a:lumMod val="75000"/>
                    <a:lumOff val="25000"/>
                  </a:schemeClr>
                </a:solidFill>
                <a:sym typeface="Wingdings" panose="05000000000000000000" pitchFamily="2" charset="2"/>
              </a:rPr>
              <a:t> </a:t>
            </a:r>
            <a:endParaRPr lang="en-US" sz="2000" dirty="0" smtClean="0">
              <a:solidFill>
                <a:schemeClr val="tx1">
                  <a:lumMod val="75000"/>
                  <a:lumOff val="25000"/>
                </a:schemeClr>
              </a:solidFill>
              <a:sym typeface="Wingdings" panose="05000000000000000000" pitchFamily="2" charset="2"/>
            </a:endParaRPr>
          </a:p>
          <a:p>
            <a:pPr algn="just"/>
            <a:endParaRPr lang="en-US" sz="700" dirty="0">
              <a:solidFill>
                <a:schemeClr val="tx1">
                  <a:lumMod val="75000"/>
                  <a:lumOff val="25000"/>
                </a:schemeClr>
              </a:solidFill>
              <a:sym typeface="Wingdings" panose="05000000000000000000" pitchFamily="2" charset="2"/>
            </a:endParaRPr>
          </a:p>
          <a:p>
            <a:pPr marL="285750" indent="-285750" algn="just">
              <a:buFont typeface="Wingdings" panose="05000000000000000000" pitchFamily="2" charset="2"/>
              <a:buChar char="§"/>
            </a:pPr>
            <a:r>
              <a:rPr lang="en-US" sz="2200" b="1" dirty="0">
                <a:solidFill>
                  <a:schemeClr val="tx1">
                    <a:lumMod val="75000"/>
                    <a:lumOff val="25000"/>
                  </a:schemeClr>
                </a:solidFill>
              </a:rPr>
              <a:t>CSE Analogy: </a:t>
            </a:r>
            <a:r>
              <a:rPr lang="en-US" sz="2200" dirty="0" smtClean="0">
                <a:solidFill>
                  <a:schemeClr val="tx1">
                    <a:lumMod val="75000"/>
                    <a:lumOff val="25000"/>
                  </a:schemeClr>
                </a:solidFill>
              </a:rPr>
              <a:t>Choosing </a:t>
            </a:r>
            <a:r>
              <a:rPr lang="en-US" sz="2200" dirty="0">
                <a:solidFill>
                  <a:schemeClr val="tx1">
                    <a:lumMod val="75000"/>
                    <a:lumOff val="25000"/>
                  </a:schemeClr>
                </a:solidFill>
              </a:rPr>
              <a:t>a programming </a:t>
            </a:r>
            <a:r>
              <a:rPr lang="en-US" sz="2200" dirty="0" smtClean="0">
                <a:solidFill>
                  <a:schemeClr val="tx1">
                    <a:lumMod val="75000"/>
                    <a:lumOff val="25000"/>
                  </a:schemeClr>
                </a:solidFill>
              </a:rPr>
              <a:t>language. </a:t>
            </a:r>
            <a:r>
              <a:rPr lang="en-US" sz="2200" dirty="0">
                <a:solidFill>
                  <a:schemeClr val="tx1">
                    <a:lumMod val="75000"/>
                    <a:lumOff val="25000"/>
                  </a:schemeClr>
                </a:solidFill>
              </a:rPr>
              <a:t>Using a new, cutting-edge </a:t>
            </a:r>
            <a:r>
              <a:rPr lang="en-US" sz="2200" dirty="0" smtClean="0">
                <a:solidFill>
                  <a:schemeClr val="tx1">
                    <a:lumMod val="75000"/>
                    <a:lumOff val="25000"/>
                  </a:schemeClr>
                </a:solidFill>
              </a:rPr>
              <a:t>newly developed framework (high </a:t>
            </a:r>
            <a:r>
              <a:rPr lang="en-US" sz="2200" dirty="0">
                <a:solidFill>
                  <a:schemeClr val="tx1">
                    <a:lumMod val="75000"/>
                    <a:lumOff val="25000"/>
                  </a:schemeClr>
                </a:solidFill>
              </a:rPr>
              <a:t>risk) might make your application incredibly fast and scalable (high return), but it could also be buggy and poorly supported. Using a stable, well-established language (low risk) is safer but might not offer the same performance edge (lower return)</a:t>
            </a:r>
          </a:p>
        </p:txBody>
      </p:sp>
    </p:spTree>
    <p:extLst>
      <p:ext uri="{BB962C8B-B14F-4D97-AF65-F5344CB8AC3E}">
        <p14:creationId xmlns:p14="http://schemas.microsoft.com/office/powerpoint/2010/main" val="28408794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1" presetClass="entr" presetSubtype="0"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32">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2">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1"/>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34"/>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1" grpId="0" animBg="1"/>
      <p:bldP spid="32" grpId="0" animBg="1"/>
      <p:bldP spid="3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6E595-39CC-7128-F784-EB5F08D312A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2149901-AC8F-DF3A-233B-7E1D2ABC6669}"/>
              </a:ext>
            </a:extLst>
          </p:cNvPr>
          <p:cNvSpPr txBox="1"/>
          <p:nvPr/>
        </p:nvSpPr>
        <p:spPr>
          <a:xfrm>
            <a:off x="301842" y="235524"/>
            <a:ext cx="10989614" cy="584775"/>
          </a:xfrm>
          <a:prstGeom prst="rect">
            <a:avLst/>
          </a:prstGeom>
          <a:noFill/>
        </p:spPr>
        <p:txBody>
          <a:bodyPr wrap="square" rtlCol="0">
            <a:spAutoFit/>
          </a:bodyPr>
          <a:lstStyle/>
          <a:p>
            <a:r>
              <a:rPr lang="en-US" sz="3200" b="1" spc="300" dirty="0">
                <a:solidFill>
                  <a:srgbClr val="006A3A"/>
                </a:solidFill>
                <a:latin typeface="Bahnschrift Condensed" panose="020B0502040204020203" pitchFamily="34" charset="0"/>
              </a:rPr>
              <a:t>Introduction to Finance:</a:t>
            </a:r>
            <a:r>
              <a:rPr lang="en-US" sz="3200" b="1" spc="300" dirty="0">
                <a:solidFill>
                  <a:srgbClr val="2F8B42"/>
                </a:solidFill>
                <a:latin typeface="Bahnschrift Condensed" panose="020B0502040204020203" pitchFamily="34" charset="0"/>
              </a:rPr>
              <a:t> </a:t>
            </a:r>
            <a:r>
              <a:rPr lang="en-US" sz="3200" b="1" spc="300" dirty="0" smtClean="0">
                <a:solidFill>
                  <a:schemeClr val="tx1">
                    <a:lumMod val="75000"/>
                    <a:lumOff val="25000"/>
                  </a:schemeClr>
                </a:solidFill>
                <a:latin typeface="Bahnschrift Condensed" panose="020B0502040204020203" pitchFamily="34" charset="0"/>
              </a:rPr>
              <a:t>Principles of </a:t>
            </a:r>
            <a:r>
              <a:rPr lang="en-US" sz="3200" b="1" spc="300" dirty="0">
                <a:solidFill>
                  <a:schemeClr val="tx1">
                    <a:lumMod val="75000"/>
                    <a:lumOff val="25000"/>
                  </a:schemeClr>
                </a:solidFill>
                <a:latin typeface="Bahnschrift Condensed" panose="020B0502040204020203" pitchFamily="34" charset="0"/>
              </a:rPr>
              <a:t>Finance</a:t>
            </a:r>
          </a:p>
        </p:txBody>
      </p:sp>
      <p:sp>
        <p:nvSpPr>
          <p:cNvPr id="28" name="Rectangle: Single Corner Rounded 1">
            <a:extLst>
              <a:ext uri="{FF2B5EF4-FFF2-40B4-BE49-F238E27FC236}">
                <a16:creationId xmlns:a16="http://schemas.microsoft.com/office/drawing/2014/main" id="{E236DAFB-E649-1C3A-C5BE-1A6594899696}"/>
              </a:ext>
            </a:extLst>
          </p:cNvPr>
          <p:cNvSpPr/>
          <p:nvPr/>
        </p:nvSpPr>
        <p:spPr>
          <a:xfrm>
            <a:off x="301842" y="1049105"/>
            <a:ext cx="3558958" cy="362633"/>
          </a:xfrm>
          <a:prstGeom prst="round1Rect">
            <a:avLst/>
          </a:prstGeom>
          <a:solidFill>
            <a:srgbClr val="EBBA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200" b="1" dirty="0" smtClean="0"/>
              <a:t>Diversification Reduces Risk</a:t>
            </a:r>
            <a:endParaRPr lang="en-US" sz="2200" b="1" dirty="0"/>
          </a:p>
        </p:txBody>
      </p:sp>
      <p:sp>
        <p:nvSpPr>
          <p:cNvPr id="31" name="Rectangle: Single Corner Rounded 4">
            <a:extLst>
              <a:ext uri="{FF2B5EF4-FFF2-40B4-BE49-F238E27FC236}">
                <a16:creationId xmlns:a16="http://schemas.microsoft.com/office/drawing/2014/main" id="{263CF6E3-32D5-814C-8B67-1B6D1EEBA258}"/>
              </a:ext>
            </a:extLst>
          </p:cNvPr>
          <p:cNvSpPr/>
          <p:nvPr/>
        </p:nvSpPr>
        <p:spPr>
          <a:xfrm>
            <a:off x="301842" y="3252650"/>
            <a:ext cx="2650920" cy="369332"/>
          </a:xfrm>
          <a:prstGeom prst="round1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200" b="1" dirty="0"/>
              <a:t>Liquidity Matters</a:t>
            </a:r>
          </a:p>
        </p:txBody>
      </p:sp>
      <p:sp>
        <p:nvSpPr>
          <p:cNvPr id="32" name="Rectangle: Single Corner Rounded 8">
            <a:extLst>
              <a:ext uri="{FF2B5EF4-FFF2-40B4-BE49-F238E27FC236}">
                <a16:creationId xmlns:a16="http://schemas.microsoft.com/office/drawing/2014/main" id="{2A907CCA-A5EC-20C2-1ED4-D14CA1E9925D}"/>
              </a:ext>
            </a:extLst>
          </p:cNvPr>
          <p:cNvSpPr/>
          <p:nvPr/>
        </p:nvSpPr>
        <p:spPr>
          <a:xfrm>
            <a:off x="301842" y="1498293"/>
            <a:ext cx="11608754" cy="1216031"/>
          </a:xfrm>
          <a:prstGeom prst="round1Rect">
            <a:avLst/>
          </a:prstGeom>
          <a:solidFill>
            <a:schemeClr val="bg1"/>
          </a:solidFill>
          <a:ln>
            <a:solidFill>
              <a:srgbClr val="EBBA1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200" dirty="0" smtClean="0">
                <a:solidFill>
                  <a:schemeClr val="tx1">
                    <a:lumMod val="75000"/>
                    <a:lumOff val="25000"/>
                  </a:schemeClr>
                </a:solidFill>
              </a:rPr>
              <a:t>Keep your options </a:t>
            </a:r>
            <a:r>
              <a:rPr lang="en-US" sz="2200" dirty="0" smtClean="0">
                <a:solidFill>
                  <a:schemeClr val="tx1">
                    <a:lumMod val="75000"/>
                    <a:lumOff val="25000"/>
                  </a:schemeClr>
                </a:solidFill>
                <a:sym typeface="Wingdings" panose="05000000000000000000" pitchFamily="2" charset="2"/>
              </a:rPr>
              <a:t> </a:t>
            </a:r>
            <a:r>
              <a:rPr lang="en-US" sz="2200" dirty="0">
                <a:solidFill>
                  <a:schemeClr val="tx1">
                    <a:lumMod val="75000"/>
                    <a:lumOff val="25000"/>
                  </a:schemeClr>
                </a:solidFill>
                <a:sym typeface="Wingdings" panose="05000000000000000000" pitchFamily="2" charset="2"/>
              </a:rPr>
              <a:t>Holding a mix of assets reduces overall risk without necessarily lowering expected return</a:t>
            </a:r>
            <a:endParaRPr lang="en-US" sz="2200" dirty="0" smtClean="0">
              <a:solidFill>
                <a:schemeClr val="tx1">
                  <a:lumMod val="75000"/>
                  <a:lumOff val="25000"/>
                </a:schemeClr>
              </a:solidFill>
            </a:endParaRPr>
          </a:p>
          <a:p>
            <a:pPr algn="just"/>
            <a:endParaRPr lang="en-US" sz="700" dirty="0" smtClean="0">
              <a:solidFill>
                <a:schemeClr val="tx1">
                  <a:lumMod val="75000"/>
                  <a:lumOff val="25000"/>
                </a:schemeClr>
              </a:solidFill>
            </a:endParaRPr>
          </a:p>
          <a:p>
            <a:pPr marL="285750" indent="-285750" algn="just">
              <a:buFont typeface="Wingdings" panose="05000000000000000000" pitchFamily="2" charset="2"/>
              <a:buChar char="§"/>
            </a:pPr>
            <a:r>
              <a:rPr lang="en-US" sz="2200" b="1" dirty="0" smtClean="0">
                <a:solidFill>
                  <a:schemeClr val="tx1">
                    <a:lumMod val="75000"/>
                    <a:lumOff val="25000"/>
                  </a:schemeClr>
                </a:solidFill>
              </a:rPr>
              <a:t>CSE Analogy:</a:t>
            </a:r>
            <a:r>
              <a:rPr lang="en-US" sz="2200" dirty="0" smtClean="0">
                <a:solidFill>
                  <a:schemeClr val="tx1">
                    <a:lumMod val="75000"/>
                    <a:lumOff val="25000"/>
                  </a:schemeClr>
                </a:solidFill>
              </a:rPr>
              <a:t> Hold multiple copies of your files in multiple servers</a:t>
            </a:r>
            <a:endParaRPr lang="en-US" sz="2200" dirty="0">
              <a:solidFill>
                <a:schemeClr val="tx1">
                  <a:lumMod val="75000"/>
                  <a:lumOff val="25000"/>
                </a:schemeClr>
              </a:solidFill>
            </a:endParaRPr>
          </a:p>
        </p:txBody>
      </p:sp>
      <p:sp>
        <p:nvSpPr>
          <p:cNvPr id="34" name="Rectangle: Single Corner Rounded 10">
            <a:extLst>
              <a:ext uri="{FF2B5EF4-FFF2-40B4-BE49-F238E27FC236}">
                <a16:creationId xmlns:a16="http://schemas.microsoft.com/office/drawing/2014/main" id="{DA340FE2-6AC7-17B1-6B50-A86C5CDA4E26}"/>
              </a:ext>
            </a:extLst>
          </p:cNvPr>
          <p:cNvSpPr/>
          <p:nvPr/>
        </p:nvSpPr>
        <p:spPr>
          <a:xfrm>
            <a:off x="301842" y="3708537"/>
            <a:ext cx="11608754" cy="1219596"/>
          </a:xfrm>
          <a:prstGeom prst="round1Rect">
            <a:avLst/>
          </a:prstGeom>
          <a:solidFill>
            <a:schemeClr val="bg1"/>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200" dirty="0">
                <a:solidFill>
                  <a:schemeClr val="tx1">
                    <a:lumMod val="75000"/>
                    <a:lumOff val="25000"/>
                  </a:schemeClr>
                </a:solidFill>
              </a:rPr>
              <a:t>The easier it is to convert an asset into cash without losing value, the more liquid it is </a:t>
            </a:r>
            <a:r>
              <a:rPr lang="en-US" sz="2200" dirty="0">
                <a:solidFill>
                  <a:schemeClr val="tx1">
                    <a:lumMod val="75000"/>
                    <a:lumOff val="25000"/>
                  </a:schemeClr>
                </a:solidFill>
                <a:sym typeface="Wingdings" panose="05000000000000000000" pitchFamily="2" charset="2"/>
              </a:rPr>
              <a:t> </a:t>
            </a:r>
            <a:r>
              <a:rPr lang="en-US" sz="2200" dirty="0" smtClean="0">
                <a:solidFill>
                  <a:schemeClr val="tx1">
                    <a:lumMod val="75000"/>
                    <a:lumOff val="25000"/>
                  </a:schemeClr>
                </a:solidFill>
                <a:sym typeface="Wingdings" panose="05000000000000000000" pitchFamily="2" charset="2"/>
              </a:rPr>
              <a:t>Beware, liquidity </a:t>
            </a:r>
            <a:r>
              <a:rPr lang="en-US" sz="2200" dirty="0">
                <a:solidFill>
                  <a:schemeClr val="tx1">
                    <a:lumMod val="75000"/>
                    <a:lumOff val="25000"/>
                  </a:schemeClr>
                </a:solidFill>
                <a:sym typeface="Wingdings" panose="05000000000000000000" pitchFamily="2" charset="2"/>
              </a:rPr>
              <a:t>often comes at the cost of lower </a:t>
            </a:r>
            <a:r>
              <a:rPr lang="en-US" sz="2200" dirty="0" smtClean="0">
                <a:solidFill>
                  <a:schemeClr val="tx1">
                    <a:lumMod val="75000"/>
                    <a:lumOff val="25000"/>
                  </a:schemeClr>
                </a:solidFill>
                <a:sym typeface="Wingdings" panose="05000000000000000000" pitchFamily="2" charset="2"/>
              </a:rPr>
              <a:t>returns</a:t>
            </a:r>
            <a:r>
              <a:rPr lang="en-US" sz="2000" dirty="0" smtClean="0">
                <a:solidFill>
                  <a:schemeClr val="tx1">
                    <a:lumMod val="75000"/>
                    <a:lumOff val="25000"/>
                  </a:schemeClr>
                </a:solidFill>
                <a:sym typeface="Wingdings" panose="05000000000000000000" pitchFamily="2" charset="2"/>
              </a:rPr>
              <a:t> </a:t>
            </a:r>
          </a:p>
          <a:p>
            <a:pPr algn="just"/>
            <a:endParaRPr lang="en-US" sz="700" dirty="0">
              <a:solidFill>
                <a:schemeClr val="tx1">
                  <a:lumMod val="75000"/>
                  <a:lumOff val="25000"/>
                </a:schemeClr>
              </a:solidFill>
              <a:sym typeface="Wingdings" panose="05000000000000000000" pitchFamily="2" charset="2"/>
            </a:endParaRPr>
          </a:p>
          <a:p>
            <a:pPr marL="285750" indent="-285750" algn="just">
              <a:buFont typeface="Wingdings" panose="05000000000000000000" pitchFamily="2" charset="2"/>
              <a:buChar char="§"/>
            </a:pPr>
            <a:r>
              <a:rPr lang="en-US" sz="2200" b="1" dirty="0">
                <a:solidFill>
                  <a:schemeClr val="tx1">
                    <a:lumMod val="75000"/>
                    <a:lumOff val="25000"/>
                  </a:schemeClr>
                </a:solidFill>
              </a:rPr>
              <a:t>CSE Analogy: </a:t>
            </a:r>
            <a:r>
              <a:rPr lang="en-US" sz="2200" dirty="0">
                <a:solidFill>
                  <a:schemeClr val="tx1">
                    <a:lumMod val="75000"/>
                    <a:lumOff val="25000"/>
                  </a:schemeClr>
                </a:solidFill>
              </a:rPr>
              <a:t>Class Work: Think of an </a:t>
            </a:r>
            <a:r>
              <a:rPr lang="en-US" sz="2200" dirty="0" smtClean="0">
                <a:solidFill>
                  <a:schemeClr val="tx1">
                    <a:lumMod val="75000"/>
                    <a:lumOff val="25000"/>
                  </a:schemeClr>
                </a:solidFill>
              </a:rPr>
              <a:t>analogy</a:t>
            </a:r>
            <a:endParaRPr lang="en-US" sz="2200" dirty="0">
              <a:solidFill>
                <a:schemeClr val="tx1">
                  <a:lumMod val="75000"/>
                  <a:lumOff val="25000"/>
                </a:schemeClr>
              </a:solidFill>
            </a:endParaRPr>
          </a:p>
        </p:txBody>
      </p:sp>
    </p:spTree>
    <p:extLst>
      <p:ext uri="{BB962C8B-B14F-4D97-AF65-F5344CB8AC3E}">
        <p14:creationId xmlns:p14="http://schemas.microsoft.com/office/powerpoint/2010/main" val="2347874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fade">
                                      <p:cBhvr>
                                        <p:cTn id="7" dur="500"/>
                                        <p:tgtEl>
                                          <p:spTgt spid="28"/>
                                        </p:tgtEl>
                                      </p:cBhvr>
                                    </p:animEffect>
                                  </p:childTnLst>
                                </p:cTn>
                              </p:par>
                              <p:par>
                                <p:cTn id="8" presetID="1" presetClass="entr" presetSubtype="0" fill="hold" grpId="0" nodeType="withEffect">
                                  <p:stCondLst>
                                    <p:cond delay="0"/>
                                  </p:stCondLst>
                                  <p:childTnLst>
                                    <p:set>
                                      <p:cBhvr>
                                        <p:cTn id="9" dur="1" fill="hold">
                                          <p:stCondLst>
                                            <p:cond delay="0"/>
                                          </p:stCondLst>
                                        </p:cTn>
                                        <p:tgtEl>
                                          <p:spTgt spid="32"/>
                                        </p:tgtEl>
                                        <p:attrNameLst>
                                          <p:attrName>style.visibility</p:attrName>
                                        </p:attrNameLst>
                                      </p:cBhvr>
                                      <p:to>
                                        <p:strVal val="visible"/>
                                      </p:to>
                                    </p:set>
                                  </p:childTnLst>
                                </p:cTn>
                              </p:par>
                              <p:par>
                                <p:cTn id="10" presetID="1" presetClass="entr" presetSubtype="0" fill="hold" nodeType="withEffect">
                                  <p:stCondLst>
                                    <p:cond delay="0"/>
                                  </p:stCondLst>
                                  <p:childTnLst>
                                    <p:set>
                                      <p:cBhvr>
                                        <p:cTn id="11" dur="1" fill="hold">
                                          <p:stCondLst>
                                            <p:cond delay="0"/>
                                          </p:stCondLst>
                                        </p:cTn>
                                        <p:tgtEl>
                                          <p:spTgt spid="32">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32">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1"/>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34"/>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animBg="1"/>
      <p:bldP spid="31" grpId="0" animBg="1"/>
      <p:bldP spid="32" grpId="0" animBg="1"/>
      <p:bldP spid="34"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6E595-39CC-7128-F784-EB5F08D312A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2149901-AC8F-DF3A-233B-7E1D2ABC6669}"/>
              </a:ext>
            </a:extLst>
          </p:cNvPr>
          <p:cNvSpPr txBox="1"/>
          <p:nvPr/>
        </p:nvSpPr>
        <p:spPr>
          <a:xfrm>
            <a:off x="301842" y="235524"/>
            <a:ext cx="10989614" cy="584775"/>
          </a:xfrm>
          <a:prstGeom prst="rect">
            <a:avLst/>
          </a:prstGeom>
          <a:noFill/>
        </p:spPr>
        <p:txBody>
          <a:bodyPr wrap="square" rtlCol="0">
            <a:spAutoFit/>
          </a:bodyPr>
          <a:lstStyle/>
          <a:p>
            <a:r>
              <a:rPr lang="en-US" sz="3200" b="1" spc="300" dirty="0">
                <a:solidFill>
                  <a:srgbClr val="006A3A"/>
                </a:solidFill>
                <a:latin typeface="Bahnschrift Condensed" panose="020B0502040204020203" pitchFamily="34" charset="0"/>
              </a:rPr>
              <a:t>Introduction to Finance:</a:t>
            </a:r>
            <a:r>
              <a:rPr lang="en-US" sz="3200" b="1" spc="300" dirty="0">
                <a:solidFill>
                  <a:srgbClr val="2F8B42"/>
                </a:solidFill>
                <a:latin typeface="Bahnschrift Condensed" panose="020B0502040204020203" pitchFamily="34" charset="0"/>
              </a:rPr>
              <a:t> </a:t>
            </a:r>
            <a:r>
              <a:rPr lang="en-US" sz="3200" b="1" spc="300" dirty="0" smtClean="0">
                <a:solidFill>
                  <a:schemeClr val="tx1">
                    <a:lumMod val="75000"/>
                    <a:lumOff val="25000"/>
                  </a:schemeClr>
                </a:solidFill>
                <a:latin typeface="Bahnschrift Condensed" panose="020B0502040204020203" pitchFamily="34" charset="0"/>
              </a:rPr>
              <a:t>Principles of </a:t>
            </a:r>
            <a:r>
              <a:rPr lang="en-US" sz="3200" b="1" spc="300" dirty="0">
                <a:solidFill>
                  <a:schemeClr val="tx1">
                    <a:lumMod val="75000"/>
                    <a:lumOff val="25000"/>
                  </a:schemeClr>
                </a:solidFill>
                <a:latin typeface="Bahnschrift Condensed" panose="020B0502040204020203" pitchFamily="34" charset="0"/>
              </a:rPr>
              <a:t>Finance</a:t>
            </a:r>
          </a:p>
        </p:txBody>
      </p:sp>
      <p:sp>
        <p:nvSpPr>
          <p:cNvPr id="7" name="Rectangle: Single Corner Rounded 4">
            <a:extLst>
              <a:ext uri="{FF2B5EF4-FFF2-40B4-BE49-F238E27FC236}">
                <a16:creationId xmlns:a16="http://schemas.microsoft.com/office/drawing/2014/main" id="{263CF6E3-32D5-814C-8B67-1B6D1EEBA258}"/>
              </a:ext>
            </a:extLst>
          </p:cNvPr>
          <p:cNvSpPr/>
          <p:nvPr/>
        </p:nvSpPr>
        <p:spPr>
          <a:xfrm>
            <a:off x="301842" y="1104955"/>
            <a:ext cx="5832258" cy="383073"/>
          </a:xfrm>
          <a:prstGeom prst="round1Rect">
            <a:avLst/>
          </a:prstGeom>
          <a:solidFill>
            <a:schemeClr val="accent5">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200" b="1" dirty="0"/>
              <a:t>Financial Markets Are Efficient (to a degree)</a:t>
            </a:r>
          </a:p>
        </p:txBody>
      </p:sp>
      <p:sp>
        <p:nvSpPr>
          <p:cNvPr id="8" name="Rectangle: Single Corner Rounded 10">
            <a:extLst>
              <a:ext uri="{FF2B5EF4-FFF2-40B4-BE49-F238E27FC236}">
                <a16:creationId xmlns:a16="http://schemas.microsoft.com/office/drawing/2014/main" id="{DA340FE2-6AC7-17B1-6B50-A86C5CDA4E26}"/>
              </a:ext>
            </a:extLst>
          </p:cNvPr>
          <p:cNvSpPr/>
          <p:nvPr/>
        </p:nvSpPr>
        <p:spPr>
          <a:xfrm>
            <a:off x="301842" y="1588332"/>
            <a:ext cx="11608754" cy="2030767"/>
          </a:xfrm>
          <a:prstGeom prst="round1Rect">
            <a:avLst/>
          </a:prstGeom>
          <a:solidFill>
            <a:schemeClr val="bg1"/>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200" dirty="0">
                <a:solidFill>
                  <a:schemeClr val="tx1">
                    <a:lumMod val="75000"/>
                    <a:lumOff val="25000"/>
                  </a:schemeClr>
                </a:solidFill>
              </a:rPr>
              <a:t>Prices in competitive markets reflect available </a:t>
            </a:r>
            <a:r>
              <a:rPr lang="en-US" sz="2200" dirty="0" smtClean="0">
                <a:solidFill>
                  <a:schemeClr val="tx1">
                    <a:lumMod val="75000"/>
                    <a:lumOff val="25000"/>
                  </a:schemeClr>
                </a:solidFill>
              </a:rPr>
              <a:t>information </a:t>
            </a:r>
            <a:r>
              <a:rPr lang="en-US" sz="2200" dirty="0" smtClean="0">
                <a:solidFill>
                  <a:schemeClr val="tx1">
                    <a:lumMod val="75000"/>
                    <a:lumOff val="25000"/>
                  </a:schemeClr>
                </a:solidFill>
                <a:sym typeface="Wingdings" panose="05000000000000000000" pitchFamily="2" charset="2"/>
              </a:rPr>
              <a:t> It’s </a:t>
            </a:r>
            <a:r>
              <a:rPr lang="en-US" sz="2200" dirty="0">
                <a:solidFill>
                  <a:schemeClr val="tx1">
                    <a:lumMod val="75000"/>
                    <a:lumOff val="25000"/>
                  </a:schemeClr>
                </a:solidFill>
                <a:sym typeface="Wingdings" panose="05000000000000000000" pitchFamily="2" charset="2"/>
              </a:rPr>
              <a:t>hard to consistently “beat the market” without extra information or taking on extra </a:t>
            </a:r>
            <a:r>
              <a:rPr lang="en-US" sz="2200" dirty="0" smtClean="0">
                <a:solidFill>
                  <a:schemeClr val="tx1">
                    <a:lumMod val="75000"/>
                    <a:lumOff val="25000"/>
                  </a:schemeClr>
                </a:solidFill>
                <a:sym typeface="Wingdings" panose="05000000000000000000" pitchFamily="2" charset="2"/>
              </a:rPr>
              <a:t>risk</a:t>
            </a:r>
            <a:r>
              <a:rPr lang="en-US" sz="2000" dirty="0" smtClean="0">
                <a:solidFill>
                  <a:schemeClr val="tx1">
                    <a:lumMod val="75000"/>
                    <a:lumOff val="25000"/>
                  </a:schemeClr>
                </a:solidFill>
                <a:sym typeface="Wingdings" panose="05000000000000000000" pitchFamily="2" charset="2"/>
              </a:rPr>
              <a:t> </a:t>
            </a:r>
          </a:p>
          <a:p>
            <a:pPr algn="just"/>
            <a:endParaRPr lang="en-US" sz="700" dirty="0">
              <a:solidFill>
                <a:schemeClr val="tx1">
                  <a:lumMod val="75000"/>
                  <a:lumOff val="25000"/>
                </a:schemeClr>
              </a:solidFill>
              <a:sym typeface="Wingdings" panose="05000000000000000000" pitchFamily="2" charset="2"/>
            </a:endParaRPr>
          </a:p>
          <a:p>
            <a:pPr marL="285750" indent="-285750" algn="just">
              <a:buFont typeface="Wingdings" panose="05000000000000000000" pitchFamily="2" charset="2"/>
              <a:buChar char="§"/>
            </a:pPr>
            <a:r>
              <a:rPr lang="en-US" sz="2200" b="1" dirty="0">
                <a:solidFill>
                  <a:schemeClr val="tx1">
                    <a:lumMod val="75000"/>
                    <a:lumOff val="25000"/>
                  </a:schemeClr>
                </a:solidFill>
              </a:rPr>
              <a:t>CSE Analogy: </a:t>
            </a:r>
            <a:r>
              <a:rPr lang="en-US" sz="2200" dirty="0">
                <a:solidFill>
                  <a:schemeClr val="tx1">
                    <a:lumMod val="75000"/>
                    <a:lumOff val="25000"/>
                  </a:schemeClr>
                </a:solidFill>
              </a:rPr>
              <a:t>Think of a perfectly optimized system where any new information is processed and reflected in the system's state immediately. There are no "bugs" or "lag" to exploit for an advantage</a:t>
            </a:r>
          </a:p>
        </p:txBody>
      </p:sp>
      <p:sp>
        <p:nvSpPr>
          <p:cNvPr id="9" name="Rectangle: Single Corner Rounded 1">
            <a:extLst>
              <a:ext uri="{FF2B5EF4-FFF2-40B4-BE49-F238E27FC236}">
                <a16:creationId xmlns:a16="http://schemas.microsoft.com/office/drawing/2014/main" id="{E236DAFB-E649-1C3A-C5BE-1A6594899696}"/>
              </a:ext>
            </a:extLst>
          </p:cNvPr>
          <p:cNvSpPr/>
          <p:nvPr/>
        </p:nvSpPr>
        <p:spPr>
          <a:xfrm>
            <a:off x="301841" y="4090698"/>
            <a:ext cx="3500137" cy="365809"/>
          </a:xfrm>
          <a:prstGeom prst="round1Rect">
            <a:avLst/>
          </a:prstGeom>
          <a:solidFill>
            <a:srgbClr val="EBBA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200" b="1" dirty="0"/>
              <a:t>Cash Flow is What Matters</a:t>
            </a:r>
          </a:p>
        </p:txBody>
      </p:sp>
      <p:sp>
        <p:nvSpPr>
          <p:cNvPr id="10" name="Rectangle: Single Corner Rounded 8">
            <a:extLst>
              <a:ext uri="{FF2B5EF4-FFF2-40B4-BE49-F238E27FC236}">
                <a16:creationId xmlns:a16="http://schemas.microsoft.com/office/drawing/2014/main" id="{2A907CCA-A5EC-20C2-1ED4-D14CA1E9925D}"/>
              </a:ext>
            </a:extLst>
          </p:cNvPr>
          <p:cNvSpPr/>
          <p:nvPr/>
        </p:nvSpPr>
        <p:spPr>
          <a:xfrm>
            <a:off x="301842" y="4539885"/>
            <a:ext cx="11608754" cy="1725199"/>
          </a:xfrm>
          <a:prstGeom prst="round1Rect">
            <a:avLst/>
          </a:prstGeom>
          <a:solidFill>
            <a:schemeClr val="bg1"/>
          </a:solidFill>
          <a:ln>
            <a:solidFill>
              <a:srgbClr val="EBBA1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200" dirty="0">
                <a:solidFill>
                  <a:schemeClr val="tx1">
                    <a:lumMod val="75000"/>
                    <a:lumOff val="25000"/>
                  </a:schemeClr>
                </a:solidFill>
              </a:rPr>
              <a:t>Profits are accounting numbers, but cash flow determines survival and growth </a:t>
            </a:r>
            <a:r>
              <a:rPr lang="en-US" sz="2200" dirty="0">
                <a:solidFill>
                  <a:schemeClr val="tx1">
                    <a:lumMod val="75000"/>
                    <a:lumOff val="25000"/>
                  </a:schemeClr>
                </a:solidFill>
                <a:sym typeface="Wingdings" panose="05000000000000000000" pitchFamily="2" charset="2"/>
              </a:rPr>
              <a:t> Investment value depends on expected future cash flows, not just accounting earnings</a:t>
            </a:r>
            <a:endParaRPr lang="en-US" sz="2200" dirty="0" smtClean="0">
              <a:solidFill>
                <a:schemeClr val="tx1">
                  <a:lumMod val="75000"/>
                  <a:lumOff val="25000"/>
                </a:schemeClr>
              </a:solidFill>
            </a:endParaRPr>
          </a:p>
          <a:p>
            <a:pPr algn="just"/>
            <a:endParaRPr lang="en-US" sz="700" dirty="0" smtClean="0">
              <a:solidFill>
                <a:schemeClr val="tx1">
                  <a:lumMod val="75000"/>
                  <a:lumOff val="25000"/>
                </a:schemeClr>
              </a:solidFill>
            </a:endParaRPr>
          </a:p>
          <a:p>
            <a:pPr marL="285750" indent="-285750" algn="just">
              <a:buFont typeface="Wingdings" panose="05000000000000000000" pitchFamily="2" charset="2"/>
              <a:buChar char="§"/>
            </a:pPr>
            <a:r>
              <a:rPr lang="en-US" sz="2200" b="1" dirty="0" smtClean="0">
                <a:solidFill>
                  <a:schemeClr val="tx1">
                    <a:lumMod val="75000"/>
                    <a:lumOff val="25000"/>
                  </a:schemeClr>
                </a:solidFill>
              </a:rPr>
              <a:t>CSE Analogy:</a:t>
            </a:r>
            <a:r>
              <a:rPr lang="en-US" sz="2200" dirty="0">
                <a:solidFill>
                  <a:schemeClr val="tx1">
                    <a:lumMod val="75000"/>
                    <a:lumOff val="25000"/>
                  </a:schemeClr>
                </a:solidFill>
              </a:rPr>
              <a:t> </a:t>
            </a:r>
            <a:r>
              <a:rPr lang="en-US" sz="2200" dirty="0" smtClean="0">
                <a:solidFill>
                  <a:schemeClr val="tx1">
                    <a:lumMod val="75000"/>
                    <a:lumOff val="25000"/>
                  </a:schemeClr>
                </a:solidFill>
              </a:rPr>
              <a:t>A brand website that allows you view, sort, select, book and order products but the customer payment application is buggy payments don’t always go through </a:t>
            </a:r>
            <a:endParaRPr lang="en-US" sz="2200" dirty="0">
              <a:solidFill>
                <a:schemeClr val="tx1">
                  <a:lumMod val="75000"/>
                  <a:lumOff val="25000"/>
                </a:schemeClr>
              </a:solidFill>
            </a:endParaRPr>
          </a:p>
        </p:txBody>
      </p:sp>
    </p:spTree>
    <p:extLst>
      <p:ext uri="{BB962C8B-B14F-4D97-AF65-F5344CB8AC3E}">
        <p14:creationId xmlns:p14="http://schemas.microsoft.com/office/powerpoint/2010/main" val="3393869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6E595-39CC-7128-F784-EB5F08D312A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2149901-AC8F-DF3A-233B-7E1D2ABC6669}"/>
              </a:ext>
            </a:extLst>
          </p:cNvPr>
          <p:cNvSpPr txBox="1"/>
          <p:nvPr/>
        </p:nvSpPr>
        <p:spPr>
          <a:xfrm>
            <a:off x="301842" y="235524"/>
            <a:ext cx="10989614" cy="584775"/>
          </a:xfrm>
          <a:prstGeom prst="rect">
            <a:avLst/>
          </a:prstGeom>
          <a:noFill/>
        </p:spPr>
        <p:txBody>
          <a:bodyPr wrap="square" rtlCol="0">
            <a:spAutoFit/>
          </a:bodyPr>
          <a:lstStyle/>
          <a:p>
            <a:r>
              <a:rPr lang="en-US" sz="3200" b="1" spc="300" dirty="0">
                <a:solidFill>
                  <a:srgbClr val="006A3A"/>
                </a:solidFill>
                <a:latin typeface="Bahnschrift Condensed" panose="020B0502040204020203" pitchFamily="34" charset="0"/>
              </a:rPr>
              <a:t>Introduction to Finance:</a:t>
            </a:r>
            <a:r>
              <a:rPr lang="en-US" sz="3200" b="1" spc="300" dirty="0">
                <a:solidFill>
                  <a:srgbClr val="2F8B42"/>
                </a:solidFill>
                <a:latin typeface="Bahnschrift Condensed" panose="020B0502040204020203" pitchFamily="34" charset="0"/>
              </a:rPr>
              <a:t> </a:t>
            </a:r>
            <a:r>
              <a:rPr lang="en-US" sz="3200" b="1" spc="300" dirty="0" smtClean="0">
                <a:solidFill>
                  <a:schemeClr val="tx1">
                    <a:lumMod val="75000"/>
                    <a:lumOff val="25000"/>
                  </a:schemeClr>
                </a:solidFill>
                <a:latin typeface="Bahnschrift Condensed" panose="020B0502040204020203" pitchFamily="34" charset="0"/>
              </a:rPr>
              <a:t>Principles of </a:t>
            </a:r>
            <a:r>
              <a:rPr lang="en-US" sz="3200" b="1" spc="300" dirty="0">
                <a:solidFill>
                  <a:schemeClr val="tx1">
                    <a:lumMod val="75000"/>
                    <a:lumOff val="25000"/>
                  </a:schemeClr>
                </a:solidFill>
                <a:latin typeface="Bahnschrift Condensed" panose="020B0502040204020203" pitchFamily="34" charset="0"/>
              </a:rPr>
              <a:t>Finance</a:t>
            </a:r>
          </a:p>
        </p:txBody>
      </p:sp>
      <p:sp>
        <p:nvSpPr>
          <p:cNvPr id="31" name="Rectangle: Single Corner Rounded 4">
            <a:extLst>
              <a:ext uri="{FF2B5EF4-FFF2-40B4-BE49-F238E27FC236}">
                <a16:creationId xmlns:a16="http://schemas.microsoft.com/office/drawing/2014/main" id="{263CF6E3-32D5-814C-8B67-1B6D1EEBA258}"/>
              </a:ext>
            </a:extLst>
          </p:cNvPr>
          <p:cNvSpPr/>
          <p:nvPr/>
        </p:nvSpPr>
        <p:spPr>
          <a:xfrm>
            <a:off x="301842" y="1126045"/>
            <a:ext cx="3079662" cy="365809"/>
          </a:xfrm>
          <a:prstGeom prst="round1Rect">
            <a:avLst/>
          </a:prstGeom>
          <a:solidFill>
            <a:srgbClr val="92D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200" b="1" dirty="0"/>
              <a:t>Agency Principle</a:t>
            </a:r>
          </a:p>
        </p:txBody>
      </p:sp>
      <p:sp>
        <p:nvSpPr>
          <p:cNvPr id="34" name="Rectangle: Single Corner Rounded 10">
            <a:extLst>
              <a:ext uri="{FF2B5EF4-FFF2-40B4-BE49-F238E27FC236}">
                <a16:creationId xmlns:a16="http://schemas.microsoft.com/office/drawing/2014/main" id="{DA340FE2-6AC7-17B1-6B50-A86C5CDA4E26}"/>
              </a:ext>
            </a:extLst>
          </p:cNvPr>
          <p:cNvSpPr/>
          <p:nvPr/>
        </p:nvSpPr>
        <p:spPr>
          <a:xfrm>
            <a:off x="301842" y="1581930"/>
            <a:ext cx="11608754" cy="1998663"/>
          </a:xfrm>
          <a:prstGeom prst="round1Rect">
            <a:avLst/>
          </a:prstGeom>
          <a:solidFill>
            <a:schemeClr val="bg1"/>
          </a:solidFill>
          <a:ln>
            <a:solidFill>
              <a:srgbClr val="92D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just"/>
            <a:r>
              <a:rPr lang="en-US" sz="2200" dirty="0">
                <a:solidFill>
                  <a:schemeClr val="tx1">
                    <a:lumMod val="75000"/>
                    <a:lumOff val="25000"/>
                  </a:schemeClr>
                </a:solidFill>
              </a:rPr>
              <a:t>Managers (agents) may not always act in the best interest of shareholders (owners</a:t>
            </a:r>
            <a:r>
              <a:rPr lang="en-US" sz="2200" dirty="0" smtClean="0">
                <a:solidFill>
                  <a:schemeClr val="tx1">
                    <a:lumMod val="75000"/>
                    <a:lumOff val="25000"/>
                  </a:schemeClr>
                </a:solidFill>
              </a:rPr>
              <a:t>) </a:t>
            </a:r>
            <a:r>
              <a:rPr lang="en-US" sz="2200" dirty="0" smtClean="0">
                <a:solidFill>
                  <a:schemeClr val="tx1">
                    <a:lumMod val="75000"/>
                    <a:lumOff val="25000"/>
                  </a:schemeClr>
                </a:solidFill>
                <a:sym typeface="Wingdings" panose="05000000000000000000" pitchFamily="2" charset="2"/>
              </a:rPr>
              <a:t> Studies in Finance </a:t>
            </a:r>
            <a:r>
              <a:rPr lang="en-US" sz="2200" dirty="0">
                <a:solidFill>
                  <a:schemeClr val="tx1">
                    <a:lumMod val="75000"/>
                    <a:lumOff val="25000"/>
                  </a:schemeClr>
                </a:solidFill>
                <a:sym typeface="Wingdings" panose="05000000000000000000" pitchFamily="2" charset="2"/>
              </a:rPr>
              <a:t>focuses on aligning incentives (e.g., performance-based pay, corporate governance)  </a:t>
            </a:r>
            <a:endParaRPr lang="en-US" sz="2200" dirty="0" smtClean="0">
              <a:solidFill>
                <a:schemeClr val="tx1">
                  <a:lumMod val="75000"/>
                  <a:lumOff val="25000"/>
                </a:schemeClr>
              </a:solidFill>
              <a:sym typeface="Wingdings" panose="05000000000000000000" pitchFamily="2" charset="2"/>
            </a:endParaRPr>
          </a:p>
          <a:p>
            <a:pPr algn="just"/>
            <a:endParaRPr lang="en-US" sz="700" dirty="0">
              <a:solidFill>
                <a:schemeClr val="tx1">
                  <a:lumMod val="75000"/>
                  <a:lumOff val="25000"/>
                </a:schemeClr>
              </a:solidFill>
              <a:sym typeface="Wingdings" panose="05000000000000000000" pitchFamily="2" charset="2"/>
            </a:endParaRPr>
          </a:p>
          <a:p>
            <a:pPr marL="285750" indent="-285750" algn="just">
              <a:buFont typeface="Wingdings" panose="05000000000000000000" pitchFamily="2" charset="2"/>
              <a:buChar char="§"/>
            </a:pPr>
            <a:r>
              <a:rPr lang="en-US" sz="2200" b="1" dirty="0">
                <a:solidFill>
                  <a:schemeClr val="tx1">
                    <a:lumMod val="75000"/>
                    <a:lumOff val="25000"/>
                  </a:schemeClr>
                </a:solidFill>
              </a:rPr>
              <a:t>CSE Analogy: </a:t>
            </a:r>
            <a:r>
              <a:rPr lang="en-US" sz="2200" dirty="0">
                <a:solidFill>
                  <a:schemeClr val="tx1">
                    <a:lumMod val="75000"/>
                    <a:lumOff val="25000"/>
                  </a:schemeClr>
                </a:solidFill>
              </a:rPr>
              <a:t>You hire a developer (agent) to write efficient code for you (principal). They might instead write code that is overly complex so that only they can maintain it, ensuring job security, even if it's not </a:t>
            </a:r>
            <a:r>
              <a:rPr lang="en-US" sz="2200" dirty="0" smtClean="0">
                <a:solidFill>
                  <a:schemeClr val="tx1">
                    <a:lumMod val="75000"/>
                    <a:lumOff val="25000"/>
                  </a:schemeClr>
                </a:solidFill>
              </a:rPr>
              <a:t>what’s best for </a:t>
            </a:r>
            <a:r>
              <a:rPr lang="en-US" sz="2200" dirty="0">
                <a:solidFill>
                  <a:schemeClr val="tx1">
                    <a:lumMod val="75000"/>
                    <a:lumOff val="25000"/>
                  </a:schemeClr>
                </a:solidFill>
              </a:rPr>
              <a:t>you</a:t>
            </a:r>
          </a:p>
        </p:txBody>
      </p:sp>
    </p:spTree>
    <p:extLst>
      <p:ext uri="{BB962C8B-B14F-4D97-AF65-F5344CB8AC3E}">
        <p14:creationId xmlns:p14="http://schemas.microsoft.com/office/powerpoint/2010/main" val="1045232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4"/>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4">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animBg="1"/>
      <p:bldP spid="34"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0E0B9-5465-BF27-A2E9-81473DDEE3EB}"/>
            </a:ext>
          </a:extLst>
        </p:cNvPr>
        <p:cNvGrpSpPr/>
        <p:nvPr/>
      </p:nvGrpSpPr>
      <p:grpSpPr>
        <a:xfrm>
          <a:off x="0" y="0"/>
          <a:ext cx="0" cy="0"/>
          <a:chOff x="0" y="0"/>
          <a:chExt cx="0" cy="0"/>
        </a:xfrm>
      </p:grpSpPr>
      <p:sp>
        <p:nvSpPr>
          <p:cNvPr id="7" name="Text Box 5">
            <a:extLst>
              <a:ext uri="{FF2B5EF4-FFF2-40B4-BE49-F238E27FC236}">
                <a16:creationId xmlns:a16="http://schemas.microsoft.com/office/drawing/2014/main" id="{99C08C8A-216F-BD8C-2F86-F396AB3299B4}"/>
              </a:ext>
            </a:extLst>
          </p:cNvPr>
          <p:cNvSpPr txBox="1">
            <a:spLocks noChangeArrowheads="1"/>
          </p:cNvSpPr>
          <p:nvPr/>
        </p:nvSpPr>
        <p:spPr bwMode="auto">
          <a:xfrm>
            <a:off x="1977297" y="2910570"/>
            <a:ext cx="8718411" cy="1285288"/>
          </a:xfrm>
          <a:prstGeom prst="rect">
            <a:avLst/>
          </a:prstGeom>
          <a:noFill/>
          <a:ln w="9525">
            <a:noFill/>
            <a:miter lim="800000"/>
            <a:headEnd/>
            <a:tailEnd/>
          </a:ln>
        </p:spPr>
        <p:txBody>
          <a:bodyPr wrap="square">
            <a:spAutoFit/>
          </a:bodyPr>
          <a:lstStyle/>
          <a:p>
            <a:pPr>
              <a:lnSpc>
                <a:spcPct val="114000"/>
              </a:lnSpc>
            </a:pPr>
            <a:r>
              <a:rPr lang="en-US" altLang="de-DE" sz="3600" b="1" dirty="0" smtClean="0">
                <a:solidFill>
                  <a:srgbClr val="006A3A"/>
                </a:solidFill>
                <a:latin typeface="Congenial" panose="02000503040000020004" pitchFamily="2" charset="0"/>
                <a:cs typeface="Tahoma" pitchFamily="34" charset="0"/>
              </a:rPr>
              <a:t>Goal </a:t>
            </a:r>
            <a:r>
              <a:rPr lang="en-US" altLang="de-DE" sz="3600" b="1" dirty="0">
                <a:solidFill>
                  <a:srgbClr val="006A3A"/>
                </a:solidFill>
                <a:latin typeface="Congenial" panose="02000503040000020004" pitchFamily="2" charset="0"/>
                <a:cs typeface="Tahoma" pitchFamily="34" charset="0"/>
              </a:rPr>
              <a:t>of a Firm </a:t>
            </a:r>
          </a:p>
          <a:p>
            <a:pPr>
              <a:lnSpc>
                <a:spcPct val="114000"/>
              </a:lnSpc>
            </a:pPr>
            <a:r>
              <a:rPr lang="en-US" altLang="de-DE" sz="3200" dirty="0">
                <a:solidFill>
                  <a:schemeClr val="tx1">
                    <a:lumMod val="75000"/>
                    <a:lumOff val="25000"/>
                  </a:schemeClr>
                </a:solidFill>
                <a:latin typeface="Congenial" panose="02000503040000020004" pitchFamily="2" charset="0"/>
                <a:cs typeface="Tahoma" pitchFamily="34" charset="0"/>
              </a:rPr>
              <a:t>Profit Maximization vs. Value Creation</a:t>
            </a:r>
          </a:p>
        </p:txBody>
      </p:sp>
      <p:grpSp>
        <p:nvGrpSpPr>
          <p:cNvPr id="9" name="Group 8">
            <a:extLst>
              <a:ext uri="{FF2B5EF4-FFF2-40B4-BE49-F238E27FC236}">
                <a16:creationId xmlns:a16="http://schemas.microsoft.com/office/drawing/2014/main" id="{FBADF365-C1E3-309F-E5D9-36CAD89D1F44}"/>
              </a:ext>
            </a:extLst>
          </p:cNvPr>
          <p:cNvGrpSpPr/>
          <p:nvPr/>
        </p:nvGrpSpPr>
        <p:grpSpPr>
          <a:xfrm>
            <a:off x="1136716" y="1996170"/>
            <a:ext cx="557859" cy="2860992"/>
            <a:chOff x="1027659" y="1677451"/>
            <a:chExt cx="557859" cy="2860992"/>
          </a:xfrm>
        </p:grpSpPr>
        <p:sp>
          <p:nvSpPr>
            <p:cNvPr id="10" name="Rectangle 9">
              <a:extLst>
                <a:ext uri="{FF2B5EF4-FFF2-40B4-BE49-F238E27FC236}">
                  <a16:creationId xmlns:a16="http://schemas.microsoft.com/office/drawing/2014/main" id="{FD15B5C1-41A8-C6C2-21E9-466A5A9F5294}"/>
                </a:ext>
              </a:extLst>
            </p:cNvPr>
            <p:cNvSpPr/>
            <p:nvPr/>
          </p:nvSpPr>
          <p:spPr>
            <a:xfrm>
              <a:off x="1392574" y="2709643"/>
              <a:ext cx="192944" cy="1828800"/>
            </a:xfrm>
            <a:prstGeom prst="rect">
              <a:avLst/>
            </a:prstGeom>
            <a:solidFill>
              <a:schemeClr val="tx1">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effectLst>
                  <a:outerShdw blurRad="38100" dist="38100" dir="2700000" algn="tl">
                    <a:srgbClr val="000000">
                      <a:alpha val="43137"/>
                    </a:srgbClr>
                  </a:outerShdw>
                </a:effectLst>
              </a:endParaRPr>
            </a:p>
          </p:txBody>
        </p:sp>
        <p:sp>
          <p:nvSpPr>
            <p:cNvPr id="11" name="Rectangle 10">
              <a:extLst>
                <a:ext uri="{FF2B5EF4-FFF2-40B4-BE49-F238E27FC236}">
                  <a16:creationId xmlns:a16="http://schemas.microsoft.com/office/drawing/2014/main" id="{F9150FDB-C4D7-AB62-3FA2-5EAEB96B0B69}"/>
                </a:ext>
              </a:extLst>
            </p:cNvPr>
            <p:cNvSpPr/>
            <p:nvPr/>
          </p:nvSpPr>
          <p:spPr>
            <a:xfrm>
              <a:off x="1216408" y="2226212"/>
              <a:ext cx="192944" cy="1828800"/>
            </a:xfrm>
            <a:prstGeom prst="rect">
              <a:avLst/>
            </a:prstGeom>
            <a:gradFill flip="none" rotWithShape="1">
              <a:gsLst>
                <a:gs pos="0">
                  <a:srgbClr val="006A3A">
                    <a:shade val="30000"/>
                    <a:satMod val="115000"/>
                  </a:srgbClr>
                </a:gs>
                <a:gs pos="50000">
                  <a:srgbClr val="006A3A">
                    <a:shade val="67500"/>
                    <a:satMod val="115000"/>
                  </a:srgbClr>
                </a:gs>
                <a:gs pos="100000">
                  <a:srgbClr val="006A3A">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8E3D1EE-214D-E8EE-3E55-361FCF61CED4}"/>
                </a:ext>
              </a:extLst>
            </p:cNvPr>
            <p:cNvSpPr/>
            <p:nvPr/>
          </p:nvSpPr>
          <p:spPr>
            <a:xfrm>
              <a:off x="1027659" y="1677451"/>
              <a:ext cx="192944" cy="1828800"/>
            </a:xfrm>
            <a:prstGeom prst="rect">
              <a:avLst/>
            </a:prstGeom>
            <a:gradFill flip="none" rotWithShape="1">
              <a:gsLst>
                <a:gs pos="0">
                  <a:srgbClr val="EBBA13">
                    <a:shade val="30000"/>
                    <a:satMod val="115000"/>
                  </a:srgbClr>
                </a:gs>
                <a:gs pos="50000">
                  <a:srgbClr val="EBBA13">
                    <a:shade val="67500"/>
                    <a:satMod val="115000"/>
                  </a:srgbClr>
                </a:gs>
                <a:gs pos="100000">
                  <a:srgbClr val="EBBA13">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34664282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6E595-39CC-7128-F784-EB5F08D312A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2149901-AC8F-DF3A-233B-7E1D2ABC6669}"/>
              </a:ext>
            </a:extLst>
          </p:cNvPr>
          <p:cNvSpPr txBox="1"/>
          <p:nvPr/>
        </p:nvSpPr>
        <p:spPr>
          <a:xfrm>
            <a:off x="301842" y="235524"/>
            <a:ext cx="10989614" cy="584775"/>
          </a:xfrm>
          <a:prstGeom prst="rect">
            <a:avLst/>
          </a:prstGeom>
          <a:noFill/>
        </p:spPr>
        <p:txBody>
          <a:bodyPr wrap="square" rtlCol="0">
            <a:spAutoFit/>
          </a:bodyPr>
          <a:lstStyle/>
          <a:p>
            <a:r>
              <a:rPr lang="en-US" sz="3200" b="1" spc="300" dirty="0">
                <a:solidFill>
                  <a:srgbClr val="006A3A"/>
                </a:solidFill>
                <a:latin typeface="Bahnschrift Condensed" panose="020B0502040204020203" pitchFamily="34" charset="0"/>
              </a:rPr>
              <a:t>Introduction to Finance:</a:t>
            </a:r>
            <a:r>
              <a:rPr lang="en-US" sz="3200" b="1" spc="300" dirty="0" smtClean="0">
                <a:solidFill>
                  <a:srgbClr val="2F8B42"/>
                </a:solidFill>
                <a:latin typeface="Bahnschrift Condensed" panose="020B0502040204020203" pitchFamily="34" charset="0"/>
              </a:rPr>
              <a:t> </a:t>
            </a:r>
            <a:r>
              <a:rPr lang="en-US" sz="3200" b="1" spc="300" dirty="0" smtClean="0">
                <a:solidFill>
                  <a:schemeClr val="tx1">
                    <a:lumMod val="75000"/>
                    <a:lumOff val="25000"/>
                  </a:schemeClr>
                </a:solidFill>
                <a:latin typeface="Bahnschrift Condensed" panose="020B0502040204020203" pitchFamily="34" charset="0"/>
              </a:rPr>
              <a:t>Goals of a Firm</a:t>
            </a:r>
            <a:endParaRPr lang="en-US" sz="3200" b="1" spc="300" dirty="0">
              <a:solidFill>
                <a:schemeClr val="tx1">
                  <a:lumMod val="75000"/>
                  <a:lumOff val="25000"/>
                </a:schemeClr>
              </a:solidFill>
              <a:latin typeface="Bahnschrift Condensed" panose="020B0502040204020203" pitchFamily="34" charset="0"/>
            </a:endParaRPr>
          </a:p>
        </p:txBody>
      </p:sp>
      <p:sp>
        <p:nvSpPr>
          <p:cNvPr id="22" name="TextBox 21">
            <a:extLst>
              <a:ext uri="{FF2B5EF4-FFF2-40B4-BE49-F238E27FC236}">
                <a16:creationId xmlns:a16="http://schemas.microsoft.com/office/drawing/2014/main" id="{79DAAE63-E402-10B4-6FBE-253183D73301}"/>
              </a:ext>
            </a:extLst>
          </p:cNvPr>
          <p:cNvSpPr txBox="1"/>
          <p:nvPr/>
        </p:nvSpPr>
        <p:spPr>
          <a:xfrm>
            <a:off x="301841" y="1065246"/>
            <a:ext cx="11614235" cy="646331"/>
          </a:xfrm>
          <a:prstGeom prst="rect">
            <a:avLst/>
          </a:prstGeom>
          <a:noFill/>
        </p:spPr>
        <p:txBody>
          <a:bodyPr wrap="square">
            <a:spAutoFit/>
          </a:bodyPr>
          <a:lstStyle/>
          <a:p>
            <a:pPr algn="just"/>
            <a:r>
              <a:rPr lang="en-US" sz="3600" b="1" dirty="0" smtClean="0">
                <a:solidFill>
                  <a:srgbClr val="348B41"/>
                </a:solidFill>
                <a:latin typeface="Tahoma" panose="020B0604030504040204" pitchFamily="34" charset="0"/>
                <a:ea typeface="Tahoma" panose="020B0604030504040204" pitchFamily="34" charset="0"/>
                <a:cs typeface="Tahoma" panose="020B0604030504040204" pitchFamily="34" charset="0"/>
              </a:rPr>
              <a:t>What should be the </a:t>
            </a:r>
            <a:r>
              <a:rPr lang="en-US" sz="3600" b="1" dirty="0" smtClean="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main goal of a Business Firm? </a:t>
            </a:r>
            <a:endParaRPr lang="en-US" sz="3600" b="1"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6" name="Pentagon 5"/>
          <p:cNvSpPr/>
          <p:nvPr/>
        </p:nvSpPr>
        <p:spPr>
          <a:xfrm>
            <a:off x="2092194" y="1841022"/>
            <a:ext cx="9719026" cy="703421"/>
          </a:xfrm>
          <a:prstGeom prst="homePlate">
            <a:avLst/>
          </a:prstGeom>
          <a:solidFill>
            <a:srgbClr val="2F8B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Be </a:t>
            </a:r>
            <a:r>
              <a:rPr lang="en-US" sz="2800" b="1" dirty="0" smtClean="0"/>
              <a:t>Honest. </a:t>
            </a:r>
            <a:r>
              <a:rPr lang="en-US" sz="2800" b="1" dirty="0"/>
              <a:t>T</a:t>
            </a:r>
            <a:r>
              <a:rPr lang="en-US" sz="2800" b="1" dirty="0" smtClean="0"/>
              <a:t>hink </a:t>
            </a:r>
            <a:r>
              <a:rPr lang="en-US" sz="2800" b="1" dirty="0"/>
              <a:t>of a </a:t>
            </a:r>
            <a:r>
              <a:rPr lang="en-US" sz="2800" b="1" dirty="0" smtClean="0"/>
              <a:t>business. What are they running </a:t>
            </a:r>
            <a:r>
              <a:rPr lang="en-US" sz="2800" b="1" dirty="0"/>
              <a:t>after?</a:t>
            </a:r>
          </a:p>
        </p:txBody>
      </p:sp>
      <p:sp>
        <p:nvSpPr>
          <p:cNvPr id="5" name="TextBox 4">
            <a:extLst>
              <a:ext uri="{FF2B5EF4-FFF2-40B4-BE49-F238E27FC236}">
                <a16:creationId xmlns:a16="http://schemas.microsoft.com/office/drawing/2014/main" id="{79DAAE63-E402-10B4-6FBE-253183D73301}"/>
              </a:ext>
            </a:extLst>
          </p:cNvPr>
          <p:cNvSpPr txBox="1"/>
          <p:nvPr/>
        </p:nvSpPr>
        <p:spPr>
          <a:xfrm>
            <a:off x="301841" y="2790306"/>
            <a:ext cx="11509379" cy="3627318"/>
          </a:xfrm>
          <a:prstGeom prst="snip2DiagRect">
            <a:avLst/>
          </a:prstGeom>
          <a:noFill/>
          <a:ln w="28575">
            <a:solidFill>
              <a:srgbClr val="FFC000"/>
            </a:solidFill>
          </a:ln>
        </p:spPr>
        <p:txBody>
          <a:bodyPr wrap="square">
            <a:spAutoFit/>
          </a:bodyPr>
          <a:lstStyle/>
          <a:p>
            <a:pPr marL="342900" indent="-342900" algn="just">
              <a:lnSpc>
                <a:spcPct val="114000"/>
              </a:lnSpc>
              <a:buFont typeface="Wingdings" panose="05000000000000000000" pitchFamily="2" charset="2"/>
              <a:buChar char="§"/>
            </a:pPr>
            <a:r>
              <a:rPr lang="en-US" sz="2400" b="1" dirty="0" smtClean="0">
                <a:solidFill>
                  <a:srgbClr val="002060"/>
                </a:solidFill>
                <a:latin typeface="Bahnschrift" panose="020B0502040204020203" pitchFamily="34" charset="0"/>
                <a:ea typeface="Calibri" panose="020F0502020204030204" pitchFamily="34" charset="0"/>
              </a:rPr>
              <a:t>Is it Survival? </a:t>
            </a:r>
          </a:p>
          <a:p>
            <a:pPr marL="800100" lvl="1" indent="-342900" algn="just">
              <a:lnSpc>
                <a:spcPct val="114000"/>
              </a:lnSpc>
              <a:buFont typeface="Wingdings" panose="05000000000000000000" pitchFamily="2" charset="2"/>
              <a:buChar char="§"/>
            </a:pPr>
            <a:r>
              <a:rPr lang="en-US" sz="2400" dirty="0" smtClean="0">
                <a:solidFill>
                  <a:schemeClr val="tx1">
                    <a:lumMod val="75000"/>
                    <a:lumOff val="25000"/>
                  </a:schemeClr>
                </a:solidFill>
                <a:latin typeface="Bahnschrift" panose="020B0502040204020203" pitchFamily="34" charset="0"/>
                <a:ea typeface="Calibri" panose="020F0502020204030204" pitchFamily="34" charset="0"/>
                <a:sym typeface="Wingdings" panose="05000000000000000000" pitchFamily="2" charset="2"/>
              </a:rPr>
              <a:t>If survival is goal, why even take the risk of doing business?</a:t>
            </a:r>
            <a:endParaRPr lang="en-US" sz="2400" dirty="0" smtClean="0">
              <a:solidFill>
                <a:schemeClr val="tx1">
                  <a:lumMod val="75000"/>
                  <a:lumOff val="25000"/>
                </a:schemeClr>
              </a:solidFill>
              <a:latin typeface="Bahnschrift" panose="020B0502040204020203" pitchFamily="34" charset="0"/>
              <a:ea typeface="Calibri" panose="020F0502020204030204" pitchFamily="34" charset="0"/>
            </a:endParaRPr>
          </a:p>
          <a:p>
            <a:pPr marL="342900" indent="-342900" algn="just">
              <a:lnSpc>
                <a:spcPct val="114000"/>
              </a:lnSpc>
              <a:buFont typeface="Wingdings" panose="05000000000000000000" pitchFamily="2" charset="2"/>
              <a:buChar char="§"/>
            </a:pPr>
            <a:r>
              <a:rPr lang="en-US" sz="2400" b="1" dirty="0" smtClean="0">
                <a:solidFill>
                  <a:srgbClr val="002060"/>
                </a:solidFill>
                <a:latin typeface="Bahnschrift" panose="020B0502040204020203" pitchFamily="34" charset="0"/>
                <a:ea typeface="Calibri" panose="020F0502020204030204" pitchFamily="34" charset="0"/>
              </a:rPr>
              <a:t>Sales Maximization?</a:t>
            </a:r>
          </a:p>
          <a:p>
            <a:pPr marL="800100" lvl="1" indent="-342900" algn="just">
              <a:lnSpc>
                <a:spcPct val="114000"/>
              </a:lnSpc>
              <a:buFont typeface="Wingdings" panose="05000000000000000000" pitchFamily="2" charset="2"/>
              <a:buChar char="§"/>
            </a:pPr>
            <a:r>
              <a:rPr lang="en-US" sz="2400" dirty="0" smtClean="0">
                <a:solidFill>
                  <a:schemeClr val="tx1">
                    <a:lumMod val="75000"/>
                    <a:lumOff val="25000"/>
                  </a:schemeClr>
                </a:solidFill>
                <a:latin typeface="Bahnschrift" panose="020B0502040204020203" pitchFamily="34" charset="0"/>
                <a:ea typeface="Calibri" panose="020F0502020204030204" pitchFamily="34" charset="0"/>
                <a:sym typeface="Wingdings" panose="05000000000000000000" pitchFamily="2" charset="2"/>
              </a:rPr>
              <a:t>Increased sales does not always convert to profit </a:t>
            </a:r>
          </a:p>
          <a:p>
            <a:pPr marL="342900" indent="-342900" algn="just">
              <a:lnSpc>
                <a:spcPct val="114000"/>
              </a:lnSpc>
              <a:buFont typeface="Wingdings" panose="05000000000000000000" pitchFamily="2" charset="2"/>
              <a:buChar char="§"/>
            </a:pPr>
            <a:r>
              <a:rPr lang="en-US" sz="2400" b="1" dirty="0" smtClean="0">
                <a:solidFill>
                  <a:srgbClr val="002060"/>
                </a:solidFill>
                <a:latin typeface="Bahnschrift" panose="020B0502040204020203" pitchFamily="34" charset="0"/>
                <a:ea typeface="Calibri" panose="020F0502020204030204" pitchFamily="34" charset="0"/>
              </a:rPr>
              <a:t>Profit Maximization? </a:t>
            </a:r>
          </a:p>
          <a:p>
            <a:pPr marL="800100" lvl="1" indent="-342900" algn="just">
              <a:lnSpc>
                <a:spcPct val="114000"/>
              </a:lnSpc>
              <a:buFont typeface="Wingdings" panose="05000000000000000000" pitchFamily="2" charset="2"/>
              <a:buChar char="§"/>
            </a:pPr>
            <a:r>
              <a:rPr lang="en-US" sz="2400" dirty="0" smtClean="0">
                <a:solidFill>
                  <a:schemeClr val="tx1">
                    <a:lumMod val="75000"/>
                    <a:lumOff val="25000"/>
                  </a:schemeClr>
                </a:solidFill>
                <a:latin typeface="Bahnschrift" panose="020B0502040204020203" pitchFamily="34" charset="0"/>
                <a:ea typeface="Calibri" panose="020F0502020204030204" pitchFamily="34" charset="0"/>
                <a:sym typeface="Wingdings" panose="05000000000000000000" pitchFamily="2" charset="2"/>
              </a:rPr>
              <a:t>If you make profit in books but do not generate cash in time, your business will go under</a:t>
            </a:r>
            <a:endParaRPr lang="en-US" sz="2400" b="1" dirty="0">
              <a:solidFill>
                <a:srgbClr val="002060"/>
              </a:solidFill>
              <a:latin typeface="Bahnschrift" panose="020B0502040204020203" pitchFamily="34" charset="0"/>
              <a:ea typeface="Calibri" panose="020F0502020204030204" pitchFamily="34" charset="0"/>
            </a:endParaRPr>
          </a:p>
        </p:txBody>
      </p:sp>
      <p:pic>
        <p:nvPicPr>
          <p:cNvPr id="4" name="Picture 3"/>
          <p:cNvPicPr>
            <a:picLocks noChangeAspect="1"/>
          </p:cNvPicPr>
          <p:nvPr/>
        </p:nvPicPr>
        <p:blipFill rotWithShape="1">
          <a:blip r:embed="rId2"/>
          <a:srcRect l="50427" t="15538" r="3813" b="15696"/>
          <a:stretch/>
        </p:blipFill>
        <p:spPr>
          <a:xfrm>
            <a:off x="9947623" y="3377366"/>
            <a:ext cx="1432560" cy="1435899"/>
          </a:xfrm>
          <a:prstGeom prst="rect">
            <a:avLst/>
          </a:prstGeom>
        </p:spPr>
      </p:pic>
    </p:spTree>
    <p:extLst>
      <p:ext uri="{BB962C8B-B14F-4D97-AF65-F5344CB8AC3E}">
        <p14:creationId xmlns:p14="http://schemas.microsoft.com/office/powerpoint/2010/main" val="648241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fade">
                                      <p:cBhvr>
                                        <p:cTn id="7" dur="500"/>
                                        <p:tgtEl>
                                          <p:spTgt spid="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xEl>
                                              <p:pRg st="0" end="0"/>
                                            </p:txEl>
                                          </p:spTgt>
                                        </p:tgtEl>
                                        <p:attrNameLst>
                                          <p:attrName>style.visibility</p:attrName>
                                        </p:attrNameLst>
                                      </p:cBhvr>
                                      <p:to>
                                        <p:strVal val="visible"/>
                                      </p:to>
                                    </p:set>
                                    <p:animEffect transition="in" filter="fade">
                                      <p:cBhvr>
                                        <p:cTn id="16" dur="500"/>
                                        <p:tgtEl>
                                          <p:spTgt spid="5">
                                            <p:txEl>
                                              <p:pRg st="0" end="0"/>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5">
                                            <p:txEl>
                                              <p:pRg st="1" end="1"/>
                                            </p:txEl>
                                          </p:spTgt>
                                        </p:tgtEl>
                                        <p:attrNameLst>
                                          <p:attrName>style.visibility</p:attrName>
                                        </p:attrNameLst>
                                      </p:cBhvr>
                                      <p:to>
                                        <p:strVal val="visible"/>
                                      </p:to>
                                    </p:set>
                                    <p:animEffect transition="in" filter="fade">
                                      <p:cBhvr>
                                        <p:cTn id="19" dur="500"/>
                                        <p:tgtEl>
                                          <p:spTgt spid="5">
                                            <p:txEl>
                                              <p:pRg st="1" end="1"/>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5">
                                            <p:txEl>
                                              <p:pRg st="2" end="2"/>
                                            </p:txEl>
                                          </p:spTgt>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5">
                                            <p:txEl>
                                              <p:pRg st="4" end="4"/>
                                            </p:txEl>
                                          </p:spTgt>
                                        </p:tgtEl>
                                        <p:attrNameLst>
                                          <p:attrName>style.visibility</p:attrName>
                                        </p:attrNameLst>
                                      </p:cBhvr>
                                      <p:to>
                                        <p:strVal val="visible"/>
                                      </p:to>
                                    </p:set>
                                  </p:childTnLst>
                                </p:cTn>
                              </p:par>
                              <p:par>
                                <p:cTn id="30" presetID="1" presetClass="entr" presetSubtype="0" fill="hold" nodeType="withEffect">
                                  <p:stCondLst>
                                    <p:cond delay="0"/>
                                  </p:stCondLst>
                                  <p:childTnLst>
                                    <p:set>
                                      <p:cBhvr>
                                        <p:cTn id="31"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0" presetClass="entr" presetSubtype="0" fill="hold"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fade">
                                      <p:cBhvr>
                                        <p:cTn id="36"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6E595-39CC-7128-F784-EB5F08D312A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2149901-AC8F-DF3A-233B-7E1D2ABC6669}"/>
              </a:ext>
            </a:extLst>
          </p:cNvPr>
          <p:cNvSpPr txBox="1"/>
          <p:nvPr/>
        </p:nvSpPr>
        <p:spPr>
          <a:xfrm>
            <a:off x="301842" y="235524"/>
            <a:ext cx="10989614" cy="584775"/>
          </a:xfrm>
          <a:prstGeom prst="rect">
            <a:avLst/>
          </a:prstGeom>
          <a:noFill/>
        </p:spPr>
        <p:txBody>
          <a:bodyPr wrap="square" rtlCol="0">
            <a:spAutoFit/>
          </a:bodyPr>
          <a:lstStyle/>
          <a:p>
            <a:r>
              <a:rPr lang="en-US" sz="3200" b="1" spc="300" dirty="0">
                <a:solidFill>
                  <a:srgbClr val="006A3A"/>
                </a:solidFill>
                <a:latin typeface="Bahnschrift Condensed" panose="020B0502040204020203" pitchFamily="34" charset="0"/>
              </a:rPr>
              <a:t>Introduction to Finance:</a:t>
            </a:r>
            <a:r>
              <a:rPr lang="en-US" sz="3200" b="1" spc="300" dirty="0" smtClean="0">
                <a:solidFill>
                  <a:srgbClr val="2F8B42"/>
                </a:solidFill>
                <a:latin typeface="Bahnschrift Condensed" panose="020B0502040204020203" pitchFamily="34" charset="0"/>
              </a:rPr>
              <a:t> </a:t>
            </a:r>
            <a:r>
              <a:rPr lang="en-US" sz="3200" b="1" spc="300" dirty="0" smtClean="0">
                <a:solidFill>
                  <a:schemeClr val="tx1">
                    <a:lumMod val="75000"/>
                    <a:lumOff val="25000"/>
                  </a:schemeClr>
                </a:solidFill>
                <a:latin typeface="Bahnschrift Condensed" panose="020B0502040204020203" pitchFamily="34" charset="0"/>
              </a:rPr>
              <a:t>Goals of a Firm</a:t>
            </a:r>
            <a:endParaRPr lang="en-US" sz="3200" b="1" spc="300" dirty="0">
              <a:solidFill>
                <a:schemeClr val="tx1">
                  <a:lumMod val="75000"/>
                  <a:lumOff val="25000"/>
                </a:schemeClr>
              </a:solidFill>
              <a:latin typeface="Bahnschrift Condensed" panose="020B0502040204020203" pitchFamily="34" charset="0"/>
            </a:endParaRPr>
          </a:p>
        </p:txBody>
      </p:sp>
      <p:sp>
        <p:nvSpPr>
          <p:cNvPr id="22" name="TextBox 21">
            <a:extLst>
              <a:ext uri="{FF2B5EF4-FFF2-40B4-BE49-F238E27FC236}">
                <a16:creationId xmlns:a16="http://schemas.microsoft.com/office/drawing/2014/main" id="{79DAAE63-E402-10B4-6FBE-253183D73301}"/>
              </a:ext>
            </a:extLst>
          </p:cNvPr>
          <p:cNvSpPr txBox="1"/>
          <p:nvPr/>
        </p:nvSpPr>
        <p:spPr>
          <a:xfrm>
            <a:off x="301841" y="1065246"/>
            <a:ext cx="11614235" cy="646331"/>
          </a:xfrm>
          <a:prstGeom prst="rect">
            <a:avLst/>
          </a:prstGeom>
          <a:noFill/>
        </p:spPr>
        <p:txBody>
          <a:bodyPr wrap="square">
            <a:spAutoFit/>
          </a:bodyPr>
          <a:lstStyle/>
          <a:p>
            <a:pPr algn="just"/>
            <a:r>
              <a:rPr lang="en-US" sz="3600" b="1" dirty="0" smtClean="0">
                <a:solidFill>
                  <a:srgbClr val="348B41"/>
                </a:solidFill>
                <a:latin typeface="Tahoma" panose="020B0604030504040204" pitchFamily="34" charset="0"/>
                <a:ea typeface="Tahoma" panose="020B0604030504040204" pitchFamily="34" charset="0"/>
                <a:cs typeface="Tahoma" panose="020B0604030504040204" pitchFamily="34" charset="0"/>
              </a:rPr>
              <a:t>What should be the </a:t>
            </a:r>
            <a:r>
              <a:rPr lang="en-US" sz="3600" b="1" dirty="0" smtClean="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main goal of a Business Firm? </a:t>
            </a:r>
            <a:endParaRPr lang="en-US" sz="3600" b="1"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6" name="Pentagon 5"/>
          <p:cNvSpPr/>
          <p:nvPr/>
        </p:nvSpPr>
        <p:spPr>
          <a:xfrm>
            <a:off x="2092194" y="1841022"/>
            <a:ext cx="9719026" cy="703421"/>
          </a:xfrm>
          <a:prstGeom prst="homePlate">
            <a:avLst/>
          </a:prstGeom>
          <a:solidFill>
            <a:srgbClr val="2F8B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smtClean="0"/>
              <a:t>Maximizing Value for the Shareholders</a:t>
            </a:r>
            <a:endParaRPr lang="en-US" sz="2800" b="1" dirty="0"/>
          </a:p>
        </p:txBody>
      </p:sp>
    </p:spTree>
    <p:extLst>
      <p:ext uri="{BB962C8B-B14F-4D97-AF65-F5344CB8AC3E}">
        <p14:creationId xmlns:p14="http://schemas.microsoft.com/office/powerpoint/2010/main" val="745858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xEl>
                                              <p:pRg st="0" end="0"/>
                                            </p:txEl>
                                          </p:spTgt>
                                        </p:tgtEl>
                                        <p:attrNameLst>
                                          <p:attrName>style.visibility</p:attrName>
                                        </p:attrNameLst>
                                      </p:cBhvr>
                                      <p:to>
                                        <p:strVal val="visible"/>
                                      </p:to>
                                    </p:set>
                                    <p:animEffect transition="in" filter="fade">
                                      <p:cBhvr>
                                        <p:cTn id="7" dur="500"/>
                                        <p:tgtEl>
                                          <p:spTgt spid="2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90E0B9-5465-BF27-A2E9-81473DDEE3EB}"/>
            </a:ext>
          </a:extLst>
        </p:cNvPr>
        <p:cNvGrpSpPr/>
        <p:nvPr/>
      </p:nvGrpSpPr>
      <p:grpSpPr>
        <a:xfrm>
          <a:off x="0" y="0"/>
          <a:ext cx="0" cy="0"/>
          <a:chOff x="0" y="0"/>
          <a:chExt cx="0" cy="0"/>
        </a:xfrm>
      </p:grpSpPr>
      <p:sp>
        <p:nvSpPr>
          <p:cNvPr id="7" name="Text Box 5">
            <a:extLst>
              <a:ext uri="{FF2B5EF4-FFF2-40B4-BE49-F238E27FC236}">
                <a16:creationId xmlns:a16="http://schemas.microsoft.com/office/drawing/2014/main" id="{99C08C8A-216F-BD8C-2F86-F396AB3299B4}"/>
              </a:ext>
            </a:extLst>
          </p:cNvPr>
          <p:cNvSpPr txBox="1">
            <a:spLocks noChangeArrowheads="1"/>
          </p:cNvSpPr>
          <p:nvPr/>
        </p:nvSpPr>
        <p:spPr bwMode="auto">
          <a:xfrm>
            <a:off x="1977297" y="2910570"/>
            <a:ext cx="8718411" cy="1285288"/>
          </a:xfrm>
          <a:prstGeom prst="rect">
            <a:avLst/>
          </a:prstGeom>
          <a:noFill/>
          <a:ln w="9525">
            <a:noFill/>
            <a:miter lim="800000"/>
            <a:headEnd/>
            <a:tailEnd/>
          </a:ln>
        </p:spPr>
        <p:txBody>
          <a:bodyPr wrap="square">
            <a:spAutoFit/>
          </a:bodyPr>
          <a:lstStyle/>
          <a:p>
            <a:pPr>
              <a:lnSpc>
                <a:spcPct val="114000"/>
              </a:lnSpc>
            </a:pPr>
            <a:r>
              <a:rPr lang="en-US" altLang="de-DE" sz="3600" b="1" dirty="0" smtClean="0">
                <a:solidFill>
                  <a:srgbClr val="006A3A"/>
                </a:solidFill>
                <a:latin typeface="Congenial" panose="02000503040000020004" pitchFamily="2" charset="0"/>
                <a:cs typeface="Tahoma" pitchFamily="34" charset="0"/>
              </a:rPr>
              <a:t>Agency Problem </a:t>
            </a:r>
            <a:endParaRPr lang="en-US" altLang="de-DE" sz="3600" b="1" dirty="0">
              <a:solidFill>
                <a:srgbClr val="006A3A"/>
              </a:solidFill>
              <a:latin typeface="Congenial" panose="02000503040000020004" pitchFamily="2" charset="0"/>
              <a:cs typeface="Tahoma" pitchFamily="34" charset="0"/>
            </a:endParaRPr>
          </a:p>
          <a:p>
            <a:pPr>
              <a:lnSpc>
                <a:spcPct val="114000"/>
              </a:lnSpc>
            </a:pPr>
            <a:r>
              <a:rPr lang="en-US" altLang="de-DE" sz="3200" dirty="0" smtClean="0">
                <a:solidFill>
                  <a:schemeClr val="tx1">
                    <a:lumMod val="75000"/>
                    <a:lumOff val="25000"/>
                  </a:schemeClr>
                </a:solidFill>
                <a:latin typeface="Congenial" panose="02000503040000020004" pitchFamily="2" charset="0"/>
                <a:cs typeface="Tahoma" pitchFamily="34" charset="0"/>
              </a:rPr>
              <a:t>Conflict of Interest</a:t>
            </a:r>
            <a:endParaRPr lang="en-US" altLang="de-DE" sz="3200" dirty="0">
              <a:solidFill>
                <a:schemeClr val="tx1">
                  <a:lumMod val="75000"/>
                  <a:lumOff val="25000"/>
                </a:schemeClr>
              </a:solidFill>
              <a:latin typeface="Congenial" panose="02000503040000020004" pitchFamily="2" charset="0"/>
              <a:cs typeface="Tahoma" pitchFamily="34" charset="0"/>
            </a:endParaRPr>
          </a:p>
        </p:txBody>
      </p:sp>
      <p:grpSp>
        <p:nvGrpSpPr>
          <p:cNvPr id="9" name="Group 8">
            <a:extLst>
              <a:ext uri="{FF2B5EF4-FFF2-40B4-BE49-F238E27FC236}">
                <a16:creationId xmlns:a16="http://schemas.microsoft.com/office/drawing/2014/main" id="{FBADF365-C1E3-309F-E5D9-36CAD89D1F44}"/>
              </a:ext>
            </a:extLst>
          </p:cNvPr>
          <p:cNvGrpSpPr/>
          <p:nvPr/>
        </p:nvGrpSpPr>
        <p:grpSpPr>
          <a:xfrm>
            <a:off x="1136716" y="1996170"/>
            <a:ext cx="557859" cy="2860992"/>
            <a:chOff x="1027659" y="1677451"/>
            <a:chExt cx="557859" cy="2860992"/>
          </a:xfrm>
        </p:grpSpPr>
        <p:sp>
          <p:nvSpPr>
            <p:cNvPr id="10" name="Rectangle 9">
              <a:extLst>
                <a:ext uri="{FF2B5EF4-FFF2-40B4-BE49-F238E27FC236}">
                  <a16:creationId xmlns:a16="http://schemas.microsoft.com/office/drawing/2014/main" id="{FD15B5C1-41A8-C6C2-21E9-466A5A9F5294}"/>
                </a:ext>
              </a:extLst>
            </p:cNvPr>
            <p:cNvSpPr/>
            <p:nvPr/>
          </p:nvSpPr>
          <p:spPr>
            <a:xfrm>
              <a:off x="1392574" y="2709643"/>
              <a:ext cx="192944" cy="1828800"/>
            </a:xfrm>
            <a:prstGeom prst="rect">
              <a:avLst/>
            </a:prstGeom>
            <a:solidFill>
              <a:schemeClr val="tx1">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effectLst>
                  <a:outerShdw blurRad="38100" dist="38100" dir="2700000" algn="tl">
                    <a:srgbClr val="000000">
                      <a:alpha val="43137"/>
                    </a:srgbClr>
                  </a:outerShdw>
                </a:effectLst>
              </a:endParaRPr>
            </a:p>
          </p:txBody>
        </p:sp>
        <p:sp>
          <p:nvSpPr>
            <p:cNvPr id="11" name="Rectangle 10">
              <a:extLst>
                <a:ext uri="{FF2B5EF4-FFF2-40B4-BE49-F238E27FC236}">
                  <a16:creationId xmlns:a16="http://schemas.microsoft.com/office/drawing/2014/main" id="{F9150FDB-C4D7-AB62-3FA2-5EAEB96B0B69}"/>
                </a:ext>
              </a:extLst>
            </p:cNvPr>
            <p:cNvSpPr/>
            <p:nvPr/>
          </p:nvSpPr>
          <p:spPr>
            <a:xfrm>
              <a:off x="1216408" y="2226212"/>
              <a:ext cx="192944" cy="1828800"/>
            </a:xfrm>
            <a:prstGeom prst="rect">
              <a:avLst/>
            </a:prstGeom>
            <a:gradFill flip="none" rotWithShape="1">
              <a:gsLst>
                <a:gs pos="0">
                  <a:srgbClr val="006A3A">
                    <a:shade val="30000"/>
                    <a:satMod val="115000"/>
                  </a:srgbClr>
                </a:gs>
                <a:gs pos="50000">
                  <a:srgbClr val="006A3A">
                    <a:shade val="67500"/>
                    <a:satMod val="115000"/>
                  </a:srgbClr>
                </a:gs>
                <a:gs pos="100000">
                  <a:srgbClr val="006A3A">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D8E3D1EE-214D-E8EE-3E55-361FCF61CED4}"/>
                </a:ext>
              </a:extLst>
            </p:cNvPr>
            <p:cNvSpPr/>
            <p:nvPr/>
          </p:nvSpPr>
          <p:spPr>
            <a:xfrm>
              <a:off x="1027659" y="1677451"/>
              <a:ext cx="192944" cy="1828800"/>
            </a:xfrm>
            <a:prstGeom prst="rect">
              <a:avLst/>
            </a:prstGeom>
            <a:gradFill flip="none" rotWithShape="1">
              <a:gsLst>
                <a:gs pos="0">
                  <a:srgbClr val="EBBA13">
                    <a:shade val="30000"/>
                    <a:satMod val="115000"/>
                  </a:srgbClr>
                </a:gs>
                <a:gs pos="50000">
                  <a:srgbClr val="EBBA13">
                    <a:shade val="67500"/>
                    <a:satMod val="115000"/>
                  </a:srgbClr>
                </a:gs>
                <a:gs pos="100000">
                  <a:srgbClr val="EBBA13">
                    <a:shade val="100000"/>
                    <a:satMod val="11500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91987292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6E595-39CC-7128-F784-EB5F08D312A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2149901-AC8F-DF3A-233B-7E1D2ABC6669}"/>
              </a:ext>
            </a:extLst>
          </p:cNvPr>
          <p:cNvSpPr txBox="1"/>
          <p:nvPr/>
        </p:nvSpPr>
        <p:spPr>
          <a:xfrm>
            <a:off x="301842" y="235524"/>
            <a:ext cx="10989614" cy="584775"/>
          </a:xfrm>
          <a:prstGeom prst="rect">
            <a:avLst/>
          </a:prstGeom>
          <a:noFill/>
        </p:spPr>
        <p:txBody>
          <a:bodyPr wrap="square" rtlCol="0">
            <a:spAutoFit/>
          </a:bodyPr>
          <a:lstStyle/>
          <a:p>
            <a:r>
              <a:rPr lang="en-US" sz="3200" b="1" spc="300" dirty="0">
                <a:solidFill>
                  <a:srgbClr val="006A3A"/>
                </a:solidFill>
                <a:latin typeface="Bahnschrift Condensed" panose="020B0502040204020203" pitchFamily="34" charset="0"/>
              </a:rPr>
              <a:t>Agency Problem:</a:t>
            </a:r>
            <a:r>
              <a:rPr lang="en-US" sz="3200" b="1" spc="300" dirty="0">
                <a:solidFill>
                  <a:srgbClr val="2F8B42"/>
                </a:solidFill>
                <a:latin typeface="Bahnschrift Condensed" panose="020B0502040204020203" pitchFamily="34" charset="0"/>
              </a:rPr>
              <a:t> </a:t>
            </a:r>
            <a:r>
              <a:rPr lang="en-US" sz="3200" b="1" spc="300" dirty="0">
                <a:solidFill>
                  <a:schemeClr val="tx1">
                    <a:lumMod val="75000"/>
                    <a:lumOff val="25000"/>
                  </a:schemeClr>
                </a:solidFill>
                <a:latin typeface="Bahnschrift Condensed" panose="020B0502040204020203" pitchFamily="34" charset="0"/>
              </a:rPr>
              <a:t>Conflict of Interest</a:t>
            </a:r>
          </a:p>
        </p:txBody>
      </p:sp>
      <p:sp>
        <p:nvSpPr>
          <p:cNvPr id="16" name="Rectangle 15">
            <a:extLst>
              <a:ext uri="{FF2B5EF4-FFF2-40B4-BE49-F238E27FC236}">
                <a16:creationId xmlns:a16="http://schemas.microsoft.com/office/drawing/2014/main" id="{11D22339-FE42-2421-8719-349F53572694}"/>
              </a:ext>
            </a:extLst>
          </p:cNvPr>
          <p:cNvSpPr/>
          <p:nvPr/>
        </p:nvSpPr>
        <p:spPr>
          <a:xfrm>
            <a:off x="0" y="1084861"/>
            <a:ext cx="12192000" cy="548560"/>
          </a:xfrm>
          <a:prstGeom prst="rect">
            <a:avLst/>
          </a:prstGeom>
          <a:solidFill>
            <a:schemeClr val="tx1">
              <a:alpha val="66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effectLst>
                  <a:outerShdw blurRad="38100" dist="38100" dir="2700000" algn="tl">
                    <a:srgbClr val="000000">
                      <a:alpha val="43137"/>
                    </a:srgbClr>
                  </a:outerShdw>
                </a:effectLst>
              </a:rPr>
              <a:t>Potential </a:t>
            </a:r>
            <a:r>
              <a:rPr lang="en-US" sz="2400" b="1" dirty="0">
                <a:effectLst>
                  <a:outerShdw blurRad="38100" dist="38100" dir="2700000" algn="tl">
                    <a:srgbClr val="000000">
                      <a:alpha val="43137"/>
                    </a:srgbClr>
                  </a:outerShdw>
                </a:effectLst>
              </a:rPr>
              <a:t>conflict of interest between shareholder’s &amp;</a:t>
            </a:r>
            <a:r>
              <a:rPr lang="en-US" sz="2400" b="1" dirty="0" smtClean="0">
                <a:effectLst>
                  <a:outerShdw blurRad="38100" dist="38100" dir="2700000" algn="tl">
                    <a:srgbClr val="000000">
                      <a:alpha val="43137"/>
                    </a:srgbClr>
                  </a:outerShdw>
                </a:effectLst>
              </a:rPr>
              <a:t> management. </a:t>
            </a:r>
            <a:r>
              <a:rPr lang="en-US" sz="2400" dirty="0" smtClean="0">
                <a:effectLst>
                  <a:outerShdw blurRad="38100" dist="38100" dir="2700000" algn="tl">
                    <a:srgbClr val="000000">
                      <a:alpha val="43137"/>
                    </a:srgbClr>
                  </a:outerShdw>
                </a:effectLst>
              </a:rPr>
              <a:t>3 major conflicts:</a:t>
            </a:r>
            <a:endParaRPr lang="en-US" sz="2400" dirty="0">
              <a:effectLst>
                <a:outerShdw blurRad="38100" dist="38100" dir="2700000" algn="tl">
                  <a:srgbClr val="000000">
                    <a:alpha val="43137"/>
                  </a:srgbClr>
                </a:outerShdw>
              </a:effectLst>
            </a:endParaRPr>
          </a:p>
        </p:txBody>
      </p:sp>
      <p:grpSp>
        <p:nvGrpSpPr>
          <p:cNvPr id="5" name="Group 4"/>
          <p:cNvGrpSpPr/>
          <p:nvPr/>
        </p:nvGrpSpPr>
        <p:grpSpPr>
          <a:xfrm>
            <a:off x="181770" y="2367038"/>
            <a:ext cx="11825503" cy="803564"/>
            <a:chOff x="181770" y="1847274"/>
            <a:chExt cx="11825503" cy="803564"/>
          </a:xfrm>
        </p:grpSpPr>
        <p:sp>
          <p:nvSpPr>
            <p:cNvPr id="2" name="Pentagon 1"/>
            <p:cNvSpPr/>
            <p:nvPr/>
          </p:nvSpPr>
          <p:spPr>
            <a:xfrm>
              <a:off x="181770" y="1847274"/>
              <a:ext cx="2690740" cy="803564"/>
            </a:xfrm>
            <a:prstGeom prst="homePlate">
              <a:avLst/>
            </a:prstGeom>
            <a:solidFill>
              <a:srgbClr val="2F8B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Empire Building</a:t>
              </a:r>
            </a:p>
          </p:txBody>
        </p:sp>
        <p:sp>
          <p:nvSpPr>
            <p:cNvPr id="18" name="Chevron 17"/>
            <p:cNvSpPr/>
            <p:nvPr/>
          </p:nvSpPr>
          <p:spPr>
            <a:xfrm>
              <a:off x="2791875" y="1847274"/>
              <a:ext cx="9215398" cy="803564"/>
            </a:xfrm>
            <a:prstGeom prst="chevron">
              <a:avLst/>
            </a:prstGeom>
            <a:noFill/>
            <a:ln w="28575">
              <a:solidFill>
                <a:srgbClr val="2F8B4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000" dirty="0">
                  <a:solidFill>
                    <a:schemeClr val="tx1">
                      <a:lumMod val="75000"/>
                      <a:lumOff val="25000"/>
                    </a:schemeClr>
                  </a:solidFill>
                </a:rPr>
                <a:t>Managers may utilize corporate resources to provide themselves perks or </a:t>
              </a:r>
              <a:r>
                <a:rPr lang="en-US" sz="2000" b="1" dirty="0">
                  <a:solidFill>
                    <a:srgbClr val="2F8B42"/>
                  </a:solidFill>
                </a:rPr>
                <a:t>over-invest out of hubris</a:t>
              </a:r>
              <a:r>
                <a:rPr lang="en-US" sz="2000" dirty="0">
                  <a:solidFill>
                    <a:schemeClr val="tx1">
                      <a:lumMod val="75000"/>
                      <a:lumOff val="25000"/>
                    </a:schemeClr>
                  </a:solidFill>
                </a:rPr>
                <a:t> (excessive self confidence).</a:t>
              </a:r>
            </a:p>
          </p:txBody>
        </p:sp>
      </p:grpSp>
      <p:grpSp>
        <p:nvGrpSpPr>
          <p:cNvPr id="6" name="Group 5"/>
          <p:cNvGrpSpPr/>
          <p:nvPr/>
        </p:nvGrpSpPr>
        <p:grpSpPr>
          <a:xfrm>
            <a:off x="181770" y="3655806"/>
            <a:ext cx="11825503" cy="803564"/>
            <a:chOff x="181770" y="3077123"/>
            <a:chExt cx="11825503" cy="803564"/>
          </a:xfrm>
        </p:grpSpPr>
        <p:sp>
          <p:nvSpPr>
            <p:cNvPr id="20" name="Pentagon 19"/>
            <p:cNvSpPr/>
            <p:nvPr/>
          </p:nvSpPr>
          <p:spPr>
            <a:xfrm>
              <a:off x="181770" y="3077123"/>
              <a:ext cx="2690740" cy="803564"/>
            </a:xfrm>
            <a:prstGeom prst="homePlat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t>Short Run Focus</a:t>
              </a:r>
            </a:p>
          </p:txBody>
        </p:sp>
        <p:sp>
          <p:nvSpPr>
            <p:cNvPr id="21" name="Chevron 20"/>
            <p:cNvSpPr/>
            <p:nvPr/>
          </p:nvSpPr>
          <p:spPr>
            <a:xfrm>
              <a:off x="2791875" y="3077123"/>
              <a:ext cx="9215398" cy="803564"/>
            </a:xfrm>
            <a:prstGeom prst="chevron">
              <a:avLst/>
            </a:prstGeom>
            <a:noFill/>
            <a:ln w="28575">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000" dirty="0">
                  <a:solidFill>
                    <a:schemeClr val="tx1">
                      <a:lumMod val="75000"/>
                      <a:lumOff val="25000"/>
                    </a:schemeClr>
                  </a:solidFill>
                </a:rPr>
                <a:t>Instead of focusing on long term results, </a:t>
              </a:r>
              <a:r>
                <a:rPr lang="en-US" sz="2000" b="1" dirty="0">
                  <a:solidFill>
                    <a:schemeClr val="accent5">
                      <a:lumMod val="50000"/>
                    </a:schemeClr>
                  </a:solidFill>
                </a:rPr>
                <a:t>managers may focus on enhancing short run profitability</a:t>
              </a:r>
              <a:r>
                <a:rPr lang="en-US" sz="2000" dirty="0">
                  <a:solidFill>
                    <a:schemeClr val="tx1">
                      <a:lumMod val="75000"/>
                      <a:lumOff val="25000"/>
                    </a:schemeClr>
                  </a:solidFill>
                </a:rPr>
                <a:t> </a:t>
              </a:r>
              <a:r>
                <a:rPr lang="en-US" sz="2000" dirty="0" smtClean="0">
                  <a:solidFill>
                    <a:schemeClr val="tx1">
                      <a:lumMod val="75000"/>
                      <a:lumOff val="25000"/>
                    </a:schemeClr>
                  </a:solidFill>
                  <a:sym typeface="Wingdings" panose="05000000000000000000" pitchFamily="2" charset="2"/>
                </a:rPr>
                <a:t></a:t>
              </a:r>
              <a:r>
                <a:rPr lang="en-US" sz="2000" dirty="0" smtClean="0">
                  <a:solidFill>
                    <a:schemeClr val="tx1">
                      <a:lumMod val="75000"/>
                      <a:lumOff val="25000"/>
                    </a:schemeClr>
                  </a:solidFill>
                </a:rPr>
                <a:t> To </a:t>
              </a:r>
              <a:r>
                <a:rPr lang="en-US" sz="2000" dirty="0">
                  <a:solidFill>
                    <a:schemeClr val="tx1">
                      <a:lumMod val="75000"/>
                      <a:lumOff val="25000"/>
                    </a:schemeClr>
                  </a:solidFill>
                </a:rPr>
                <a:t>earn yearly bonuses &amp; Incentives</a:t>
              </a:r>
            </a:p>
          </p:txBody>
        </p:sp>
      </p:grpSp>
      <p:grpSp>
        <p:nvGrpSpPr>
          <p:cNvPr id="8" name="Group 7"/>
          <p:cNvGrpSpPr/>
          <p:nvPr/>
        </p:nvGrpSpPr>
        <p:grpSpPr>
          <a:xfrm>
            <a:off x="181770" y="4927176"/>
            <a:ext cx="11825503" cy="1088610"/>
            <a:chOff x="181770" y="3979723"/>
            <a:chExt cx="11825503" cy="1088610"/>
          </a:xfrm>
        </p:grpSpPr>
        <p:sp>
          <p:nvSpPr>
            <p:cNvPr id="22" name="Pentagon 21"/>
            <p:cNvSpPr/>
            <p:nvPr/>
          </p:nvSpPr>
          <p:spPr>
            <a:xfrm>
              <a:off x="181770" y="4122246"/>
              <a:ext cx="2690740" cy="803564"/>
            </a:xfrm>
            <a:prstGeom prst="homePlate">
              <a:avLst/>
            </a:prstGeom>
            <a:solidFill>
              <a:srgbClr val="57575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smtClean="0"/>
                <a:t>Risk Taking</a:t>
              </a:r>
              <a:endParaRPr lang="en-US" sz="2400" b="1" dirty="0"/>
            </a:p>
          </p:txBody>
        </p:sp>
        <p:sp>
          <p:nvSpPr>
            <p:cNvPr id="23" name="Chevron 22"/>
            <p:cNvSpPr/>
            <p:nvPr/>
          </p:nvSpPr>
          <p:spPr>
            <a:xfrm>
              <a:off x="2791875" y="3979723"/>
              <a:ext cx="9215398" cy="1088610"/>
            </a:xfrm>
            <a:prstGeom prst="chevron">
              <a:avLst/>
            </a:prstGeom>
            <a:noFill/>
            <a:ln w="28575">
              <a:solidFill>
                <a:srgbClr val="575757"/>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000" dirty="0">
                  <a:solidFill>
                    <a:schemeClr val="tx1">
                      <a:lumMod val="75000"/>
                      <a:lumOff val="25000"/>
                    </a:schemeClr>
                  </a:solidFill>
                </a:rPr>
                <a:t>If the business fails, managers would only be losing their job (and maybe reputation), while shareholders would lose all of their </a:t>
              </a:r>
              <a:r>
                <a:rPr lang="en-US" sz="2000" dirty="0" smtClean="0">
                  <a:solidFill>
                    <a:schemeClr val="tx1">
                      <a:lumMod val="75000"/>
                      <a:lumOff val="25000"/>
                    </a:schemeClr>
                  </a:solidFill>
                </a:rPr>
                <a:t>investment</a:t>
              </a:r>
            </a:p>
            <a:p>
              <a:pPr marL="342900" indent="-342900" algn="just">
                <a:buFont typeface="Wingdings" panose="05000000000000000000" pitchFamily="2" charset="2"/>
                <a:buChar char="§"/>
              </a:pPr>
              <a:r>
                <a:rPr lang="en-US" sz="2000" b="1" dirty="0" smtClean="0">
                  <a:solidFill>
                    <a:srgbClr val="2F8B42"/>
                  </a:solidFill>
                </a:rPr>
                <a:t>Managers me become </a:t>
              </a:r>
              <a:r>
                <a:rPr lang="en-US" sz="2000" b="1" dirty="0">
                  <a:solidFill>
                    <a:srgbClr val="2F8B42"/>
                  </a:solidFill>
                </a:rPr>
                <a:t>more prone to taking higher </a:t>
              </a:r>
              <a:r>
                <a:rPr lang="en-US" sz="2000" b="1" dirty="0" smtClean="0">
                  <a:solidFill>
                    <a:srgbClr val="2F8B42"/>
                  </a:solidFill>
                </a:rPr>
                <a:t>risk</a:t>
              </a:r>
              <a:endParaRPr lang="en-US" sz="2000" b="1" dirty="0">
                <a:solidFill>
                  <a:srgbClr val="2F8B42"/>
                </a:solidFill>
              </a:endParaRPr>
            </a:p>
          </p:txBody>
        </p:sp>
      </p:grpSp>
      <p:sp>
        <p:nvSpPr>
          <p:cNvPr id="17" name="TextBox 16">
            <a:extLst>
              <a:ext uri="{FF2B5EF4-FFF2-40B4-BE49-F238E27FC236}">
                <a16:creationId xmlns:a16="http://schemas.microsoft.com/office/drawing/2014/main" id="{79DAAE63-E402-10B4-6FBE-253183D73301}"/>
              </a:ext>
            </a:extLst>
          </p:cNvPr>
          <p:cNvSpPr txBox="1"/>
          <p:nvPr/>
        </p:nvSpPr>
        <p:spPr>
          <a:xfrm>
            <a:off x="301840" y="1705617"/>
            <a:ext cx="11620865" cy="461665"/>
          </a:xfrm>
          <a:prstGeom prst="rect">
            <a:avLst/>
          </a:prstGeom>
          <a:noFill/>
        </p:spPr>
        <p:txBody>
          <a:bodyPr wrap="square">
            <a:spAutoFit/>
          </a:bodyPr>
          <a:lstStyle/>
          <a:p>
            <a:pPr algn="just"/>
            <a:r>
              <a:rPr lang="en-US" sz="2400" b="1" dirty="0" smtClean="0">
                <a:solidFill>
                  <a:srgbClr val="002060"/>
                </a:solidFill>
              </a:rPr>
              <a:t>Three major areas of conflict </a:t>
            </a:r>
          </a:p>
        </p:txBody>
      </p:sp>
    </p:spTree>
    <p:extLst>
      <p:ext uri="{BB962C8B-B14F-4D97-AF65-F5344CB8AC3E}">
        <p14:creationId xmlns:p14="http://schemas.microsoft.com/office/powerpoint/2010/main" val="7677230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7">
                                            <p:txEl>
                                              <p:pRg st="0" end="0"/>
                                            </p:txEl>
                                          </p:spTgt>
                                        </p:tgtEl>
                                        <p:attrNameLst>
                                          <p:attrName>style.visibility</p:attrName>
                                        </p:attrNameLst>
                                      </p:cBhvr>
                                      <p:to>
                                        <p:strVal val="visible"/>
                                      </p:to>
                                    </p:set>
                                    <p:animEffect transition="in" filter="fade">
                                      <p:cBhvr>
                                        <p:cTn id="19" dur="500"/>
                                        <p:tgtEl>
                                          <p:spTgt spid="1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6E595-39CC-7128-F784-EB5F08D312A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2149901-AC8F-DF3A-233B-7E1D2ABC6669}"/>
              </a:ext>
            </a:extLst>
          </p:cNvPr>
          <p:cNvSpPr txBox="1"/>
          <p:nvPr/>
        </p:nvSpPr>
        <p:spPr>
          <a:xfrm>
            <a:off x="301842" y="235524"/>
            <a:ext cx="10989614" cy="584775"/>
          </a:xfrm>
          <a:prstGeom prst="rect">
            <a:avLst/>
          </a:prstGeom>
          <a:noFill/>
        </p:spPr>
        <p:txBody>
          <a:bodyPr wrap="square" rtlCol="0">
            <a:spAutoFit/>
          </a:bodyPr>
          <a:lstStyle/>
          <a:p>
            <a:r>
              <a:rPr lang="en-US" sz="3200" b="1" spc="300" dirty="0">
                <a:solidFill>
                  <a:srgbClr val="006A3A"/>
                </a:solidFill>
                <a:latin typeface="Bahnschrift Condensed" panose="020B0502040204020203" pitchFamily="34" charset="0"/>
              </a:rPr>
              <a:t>Agency Problem:</a:t>
            </a:r>
            <a:r>
              <a:rPr lang="en-US" sz="3200" b="1" spc="300" dirty="0" smtClean="0">
                <a:solidFill>
                  <a:srgbClr val="2F8B42"/>
                </a:solidFill>
                <a:latin typeface="Bahnschrift Condensed" panose="020B0502040204020203" pitchFamily="34" charset="0"/>
              </a:rPr>
              <a:t> </a:t>
            </a:r>
            <a:r>
              <a:rPr lang="en-US" sz="3200" b="1" spc="300" dirty="0" smtClean="0">
                <a:solidFill>
                  <a:schemeClr val="tx1">
                    <a:lumMod val="75000"/>
                    <a:lumOff val="25000"/>
                  </a:schemeClr>
                </a:solidFill>
                <a:latin typeface="Bahnschrift Condensed" panose="020B0502040204020203" pitchFamily="34" charset="0"/>
              </a:rPr>
              <a:t>Reducing Agency Problem</a:t>
            </a:r>
            <a:endParaRPr lang="en-US" sz="3200" b="1" spc="300" dirty="0">
              <a:solidFill>
                <a:schemeClr val="tx1">
                  <a:lumMod val="75000"/>
                  <a:lumOff val="25000"/>
                </a:schemeClr>
              </a:solidFill>
              <a:latin typeface="Bahnschrift Condensed" panose="020B0502040204020203" pitchFamily="34" charset="0"/>
            </a:endParaRPr>
          </a:p>
        </p:txBody>
      </p:sp>
      <p:sp>
        <p:nvSpPr>
          <p:cNvPr id="18" name="TextBox 17">
            <a:extLst>
              <a:ext uri="{FF2B5EF4-FFF2-40B4-BE49-F238E27FC236}">
                <a16:creationId xmlns:a16="http://schemas.microsoft.com/office/drawing/2014/main" id="{79DAAE63-E402-10B4-6FBE-253183D73301}"/>
              </a:ext>
            </a:extLst>
          </p:cNvPr>
          <p:cNvSpPr txBox="1"/>
          <p:nvPr/>
        </p:nvSpPr>
        <p:spPr>
          <a:xfrm>
            <a:off x="301840" y="1166598"/>
            <a:ext cx="11620865" cy="3908762"/>
          </a:xfrm>
          <a:prstGeom prst="rect">
            <a:avLst/>
          </a:prstGeom>
          <a:noFill/>
        </p:spPr>
        <p:txBody>
          <a:bodyPr wrap="square">
            <a:spAutoFit/>
          </a:bodyPr>
          <a:lstStyle/>
          <a:p>
            <a:pPr algn="just"/>
            <a:r>
              <a:rPr lang="en-US" sz="2400" dirty="0" smtClean="0">
                <a:solidFill>
                  <a:schemeClr val="tx1">
                    <a:lumMod val="75000"/>
                    <a:lumOff val="25000"/>
                  </a:schemeClr>
                </a:solidFill>
              </a:rPr>
              <a:t>Two potential factors that can be observed to reduce agency conflict</a:t>
            </a:r>
          </a:p>
          <a:p>
            <a:pPr algn="just"/>
            <a:r>
              <a:rPr lang="en-US" sz="800" dirty="0" smtClean="0">
                <a:solidFill>
                  <a:schemeClr val="tx1">
                    <a:lumMod val="75000"/>
                    <a:lumOff val="25000"/>
                  </a:schemeClr>
                </a:solidFill>
              </a:rPr>
              <a:t> </a:t>
            </a:r>
          </a:p>
          <a:p>
            <a:pPr marL="461963" lvl="1" indent="-461963" algn="just">
              <a:buFont typeface="+mj-lt"/>
              <a:buAutoNum type="romanUcPeriod"/>
            </a:pPr>
            <a:r>
              <a:rPr lang="en-US" sz="2400" b="1" dirty="0" smtClean="0">
                <a:solidFill>
                  <a:schemeClr val="accent5">
                    <a:lumMod val="50000"/>
                  </a:schemeClr>
                </a:solidFill>
                <a:sym typeface="Wingdings" panose="05000000000000000000" pitchFamily="2" charset="2"/>
              </a:rPr>
              <a:t>Align Management Interest with Shareholder’s: </a:t>
            </a:r>
            <a:endParaRPr lang="en-US" sz="2400" dirty="0">
              <a:solidFill>
                <a:schemeClr val="tx1">
                  <a:lumMod val="75000"/>
                  <a:lumOff val="25000"/>
                </a:schemeClr>
              </a:solidFill>
              <a:sym typeface="Wingdings" panose="05000000000000000000" pitchFamily="2" charset="2"/>
            </a:endParaRPr>
          </a:p>
          <a:p>
            <a:pPr marL="919163" lvl="2" indent="-461963" algn="just">
              <a:buFont typeface="Wingdings" panose="05000000000000000000" pitchFamily="2" charset="2"/>
              <a:buChar char="§"/>
            </a:pPr>
            <a:r>
              <a:rPr lang="en-US" sz="2400" dirty="0" smtClean="0">
                <a:solidFill>
                  <a:schemeClr val="tx1">
                    <a:lumMod val="75000"/>
                    <a:lumOff val="25000"/>
                  </a:schemeClr>
                </a:solidFill>
                <a:sym typeface="Wingdings" panose="05000000000000000000" pitchFamily="2" charset="2"/>
              </a:rPr>
              <a:t>Bonuses &amp; Incentives should be connected to share price increase not to profits</a:t>
            </a:r>
          </a:p>
          <a:p>
            <a:pPr marL="919163" lvl="2" indent="-461963" algn="just">
              <a:buFont typeface="Wingdings" panose="05000000000000000000" pitchFamily="2" charset="2"/>
              <a:buChar char="§"/>
            </a:pPr>
            <a:r>
              <a:rPr lang="en-US" sz="2400" dirty="0" smtClean="0">
                <a:solidFill>
                  <a:schemeClr val="tx1">
                    <a:lumMod val="75000"/>
                    <a:lumOff val="25000"/>
                  </a:schemeClr>
                </a:solidFill>
                <a:sym typeface="Wingdings" panose="05000000000000000000" pitchFamily="2" charset="2"/>
              </a:rPr>
              <a:t>Management can be awarded with shares of the company</a:t>
            </a:r>
          </a:p>
          <a:p>
            <a:pPr marL="1376363" lvl="3" indent="-461963" algn="just">
              <a:buFont typeface="Wingdings" panose="05000000000000000000" pitchFamily="2" charset="2"/>
              <a:buChar char="§"/>
            </a:pPr>
            <a:r>
              <a:rPr lang="en-US" sz="2400" dirty="0" smtClean="0">
                <a:solidFill>
                  <a:schemeClr val="tx1">
                    <a:lumMod val="75000"/>
                    <a:lumOff val="25000"/>
                  </a:schemeClr>
                </a:solidFill>
                <a:sym typeface="Wingdings" panose="05000000000000000000" pitchFamily="2" charset="2"/>
              </a:rPr>
              <a:t>If the company does well, the shares they own would also increase in price</a:t>
            </a:r>
          </a:p>
          <a:p>
            <a:pPr marL="461963" lvl="1" indent="-461963" algn="just">
              <a:buFont typeface="+mj-lt"/>
              <a:buAutoNum type="romanUcPeriod"/>
            </a:pPr>
            <a:endParaRPr lang="en-US" sz="2400" dirty="0">
              <a:solidFill>
                <a:schemeClr val="tx1">
                  <a:lumMod val="75000"/>
                  <a:lumOff val="25000"/>
                </a:schemeClr>
              </a:solidFill>
              <a:sym typeface="Wingdings" panose="05000000000000000000" pitchFamily="2" charset="2"/>
            </a:endParaRPr>
          </a:p>
          <a:p>
            <a:pPr marL="461963" lvl="1" indent="-461963" algn="just">
              <a:buFont typeface="+mj-lt"/>
              <a:buAutoNum type="romanUcPeriod"/>
            </a:pPr>
            <a:r>
              <a:rPr lang="en-US" sz="2400" b="1" dirty="0" smtClean="0">
                <a:solidFill>
                  <a:schemeClr val="accent5">
                    <a:lumMod val="50000"/>
                  </a:schemeClr>
                </a:solidFill>
                <a:sym typeface="Wingdings" panose="05000000000000000000" pitchFamily="2" charset="2"/>
              </a:rPr>
              <a:t>Threat of Takeover: </a:t>
            </a:r>
          </a:p>
          <a:p>
            <a:pPr marL="919163" lvl="2" indent="-461963" algn="just">
              <a:buFont typeface="Wingdings" panose="05000000000000000000" pitchFamily="2" charset="2"/>
              <a:buChar char="§"/>
            </a:pPr>
            <a:r>
              <a:rPr lang="en-US" sz="2400" dirty="0" smtClean="0">
                <a:solidFill>
                  <a:schemeClr val="tx1">
                    <a:lumMod val="75000"/>
                    <a:lumOff val="25000"/>
                  </a:schemeClr>
                </a:solidFill>
                <a:sym typeface="Wingdings" panose="05000000000000000000" pitchFamily="2" charset="2"/>
              </a:rPr>
              <a:t>If the company has low share price, it may be taken over (buying majority portion of shares) by new investors</a:t>
            </a:r>
          </a:p>
          <a:p>
            <a:pPr marL="1376363" lvl="3" indent="-461963" algn="just">
              <a:buFont typeface="Wingdings" panose="05000000000000000000" pitchFamily="2" charset="2"/>
              <a:buChar char="§"/>
            </a:pPr>
            <a:r>
              <a:rPr lang="en-US" sz="2400" dirty="0" smtClean="0">
                <a:solidFill>
                  <a:schemeClr val="tx1">
                    <a:lumMod val="75000"/>
                    <a:lumOff val="25000"/>
                  </a:schemeClr>
                </a:solidFill>
                <a:sym typeface="Wingdings" panose="05000000000000000000" pitchFamily="2" charset="2"/>
              </a:rPr>
              <a:t>New owners are likely to fire older management as they were performing poorly</a:t>
            </a:r>
            <a:endParaRPr lang="en-US" sz="2400" dirty="0" smtClean="0">
              <a:solidFill>
                <a:schemeClr val="accent5">
                  <a:lumMod val="50000"/>
                </a:schemeClr>
              </a:solidFill>
              <a:sym typeface="Wingdings" panose="05000000000000000000" pitchFamily="2" charset="2"/>
            </a:endParaRPr>
          </a:p>
        </p:txBody>
      </p:sp>
    </p:spTree>
    <p:extLst>
      <p:ext uri="{BB962C8B-B14F-4D97-AF65-F5344CB8AC3E}">
        <p14:creationId xmlns:p14="http://schemas.microsoft.com/office/powerpoint/2010/main" val="41743499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xEl>
                                              <p:pRg st="5" end="5"/>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8">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860BB-D651-A311-5181-7CB981A40D5C}"/>
            </a:ext>
          </a:extLst>
        </p:cNvPr>
        <p:cNvGrpSpPr/>
        <p:nvPr/>
      </p:nvGrpSpPr>
      <p:grpSpPr>
        <a:xfrm>
          <a:off x="0" y="0"/>
          <a:ext cx="0" cy="0"/>
          <a:chOff x="0" y="0"/>
          <a:chExt cx="0" cy="0"/>
        </a:xfrm>
      </p:grpSpPr>
      <p:grpSp>
        <p:nvGrpSpPr>
          <p:cNvPr id="4" name="Group 3">
            <a:extLst>
              <a:ext uri="{FF2B5EF4-FFF2-40B4-BE49-F238E27FC236}">
                <a16:creationId xmlns:a16="http://schemas.microsoft.com/office/drawing/2014/main" id="{6B132C20-CE7C-8D67-67C2-1D03537CB501}"/>
              </a:ext>
            </a:extLst>
          </p:cNvPr>
          <p:cNvGrpSpPr/>
          <p:nvPr/>
        </p:nvGrpSpPr>
        <p:grpSpPr>
          <a:xfrm>
            <a:off x="6609075" y="471596"/>
            <a:ext cx="4368955" cy="6303572"/>
            <a:chOff x="6692202" y="877006"/>
            <a:chExt cx="4368955" cy="6303570"/>
          </a:xfrm>
          <a:blipFill>
            <a:blip r:embed="rId2"/>
            <a:stretch>
              <a:fillRect/>
            </a:stretch>
          </a:blipFill>
        </p:grpSpPr>
        <p:grpSp>
          <p:nvGrpSpPr>
            <p:cNvPr id="14" name="Group 13">
              <a:extLst>
                <a:ext uri="{FF2B5EF4-FFF2-40B4-BE49-F238E27FC236}">
                  <a16:creationId xmlns:a16="http://schemas.microsoft.com/office/drawing/2014/main" id="{7ADF171F-3378-C459-A90C-416B1A1FB566}"/>
                </a:ext>
              </a:extLst>
            </p:cNvPr>
            <p:cNvGrpSpPr/>
            <p:nvPr/>
          </p:nvGrpSpPr>
          <p:grpSpPr>
            <a:xfrm rot="18610254">
              <a:off x="6353099" y="2472517"/>
              <a:ext cx="6303570" cy="3112547"/>
              <a:chOff x="5461404" y="2199585"/>
              <a:chExt cx="7426954" cy="4121623"/>
            </a:xfrm>
            <a:grpFill/>
            <a:effectLst>
              <a:outerShdw blurRad="63500" sx="102000" sy="102000" algn="ctr" rotWithShape="0">
                <a:prstClr val="black">
                  <a:alpha val="40000"/>
                </a:prstClr>
              </a:outerShdw>
            </a:effectLst>
          </p:grpSpPr>
          <p:sp>
            <p:nvSpPr>
              <p:cNvPr id="15" name="Rectangle 14">
                <a:extLst>
                  <a:ext uri="{FF2B5EF4-FFF2-40B4-BE49-F238E27FC236}">
                    <a16:creationId xmlns:a16="http://schemas.microsoft.com/office/drawing/2014/main" id="{DFF0801E-905B-3436-9F6F-2C2D19F6D690}"/>
                  </a:ext>
                </a:extLst>
              </p:cNvPr>
              <p:cNvSpPr/>
              <p:nvPr/>
            </p:nvSpPr>
            <p:spPr>
              <a:xfrm>
                <a:off x="5461404" y="3477497"/>
                <a:ext cx="5458687" cy="102308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BA33EA8-6D79-4972-FC4B-E9FA175D84E2}"/>
                  </a:ext>
                </a:extLst>
              </p:cNvPr>
              <p:cNvSpPr/>
              <p:nvPr/>
            </p:nvSpPr>
            <p:spPr>
              <a:xfrm>
                <a:off x="7942286" y="2199585"/>
                <a:ext cx="4946072" cy="104256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39B139C2-AEF8-6C7C-3EB4-64127A52D27B}"/>
                  </a:ext>
                </a:extLst>
              </p:cNvPr>
              <p:cNvSpPr/>
              <p:nvPr/>
            </p:nvSpPr>
            <p:spPr>
              <a:xfrm>
                <a:off x="7161296" y="4783497"/>
                <a:ext cx="4739769" cy="153771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Oval 1">
              <a:extLst>
                <a:ext uri="{FF2B5EF4-FFF2-40B4-BE49-F238E27FC236}">
                  <a16:creationId xmlns:a16="http://schemas.microsoft.com/office/drawing/2014/main" id="{185702FA-5B58-D848-0E3F-0322ABFABF85}"/>
                </a:ext>
              </a:extLst>
            </p:cNvPr>
            <p:cNvSpPr/>
            <p:nvPr/>
          </p:nvSpPr>
          <p:spPr>
            <a:xfrm>
              <a:off x="6692202" y="2404697"/>
              <a:ext cx="1169946" cy="1253514"/>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7" name="Group 26">
            <a:extLst>
              <a:ext uri="{FF2B5EF4-FFF2-40B4-BE49-F238E27FC236}">
                <a16:creationId xmlns:a16="http://schemas.microsoft.com/office/drawing/2014/main" id="{603213F6-1842-C3B6-1044-953461FFA100}"/>
              </a:ext>
            </a:extLst>
          </p:cNvPr>
          <p:cNvGrpSpPr/>
          <p:nvPr/>
        </p:nvGrpSpPr>
        <p:grpSpPr>
          <a:xfrm>
            <a:off x="695235" y="2607694"/>
            <a:ext cx="6862493" cy="1377571"/>
            <a:chOff x="695235" y="2607694"/>
            <a:chExt cx="6862493" cy="1377571"/>
          </a:xfrm>
        </p:grpSpPr>
        <p:grpSp>
          <p:nvGrpSpPr>
            <p:cNvPr id="9" name="Group 8">
              <a:extLst>
                <a:ext uri="{FF2B5EF4-FFF2-40B4-BE49-F238E27FC236}">
                  <a16:creationId xmlns:a16="http://schemas.microsoft.com/office/drawing/2014/main" id="{A0AC8BB1-3E3A-0ABC-09B9-DB36A42362B4}"/>
                </a:ext>
              </a:extLst>
            </p:cNvPr>
            <p:cNvGrpSpPr/>
            <p:nvPr/>
          </p:nvGrpSpPr>
          <p:grpSpPr>
            <a:xfrm>
              <a:off x="695235" y="2607694"/>
              <a:ext cx="6862493" cy="1273279"/>
              <a:chOff x="6123707" y="1031758"/>
              <a:chExt cx="6862493" cy="1273279"/>
            </a:xfrm>
          </p:grpSpPr>
          <p:sp>
            <p:nvSpPr>
              <p:cNvPr id="10" name="TextBox 9">
                <a:extLst>
                  <a:ext uri="{FF2B5EF4-FFF2-40B4-BE49-F238E27FC236}">
                    <a16:creationId xmlns:a16="http://schemas.microsoft.com/office/drawing/2014/main" id="{9387ECDC-F2B0-9D11-C9A5-C1812CFE1E3D}"/>
                  </a:ext>
                </a:extLst>
              </p:cNvPr>
              <p:cNvSpPr txBox="1"/>
              <p:nvPr/>
            </p:nvSpPr>
            <p:spPr>
              <a:xfrm>
                <a:off x="6123707" y="1843372"/>
                <a:ext cx="6862493" cy="461665"/>
              </a:xfrm>
              <a:prstGeom prst="rect">
                <a:avLst/>
              </a:prstGeom>
              <a:noFill/>
            </p:spPr>
            <p:txBody>
              <a:bodyPr wrap="square" rtlCol="0">
                <a:spAutoFit/>
              </a:bodyPr>
              <a:lstStyle/>
              <a:p>
                <a:pPr algn="just"/>
                <a:r>
                  <a:rPr lang="en-US" sz="2400" b="1" dirty="0">
                    <a:solidFill>
                      <a:srgbClr val="006A3A"/>
                    </a:solidFill>
                    <a:latin typeface="Tahoma" panose="020B0604030504040204" pitchFamily="34" charset="0"/>
                    <a:ea typeface="Tahoma" panose="020B0604030504040204" pitchFamily="34" charset="0"/>
                    <a:cs typeface="Tahoma" panose="020B0604030504040204" pitchFamily="34" charset="0"/>
                  </a:rPr>
                  <a:t>Investment &amp; Finance</a:t>
                </a:r>
              </a:p>
            </p:txBody>
          </p:sp>
          <p:grpSp>
            <p:nvGrpSpPr>
              <p:cNvPr id="11" name="Group 10">
                <a:extLst>
                  <a:ext uri="{FF2B5EF4-FFF2-40B4-BE49-F238E27FC236}">
                    <a16:creationId xmlns:a16="http://schemas.microsoft.com/office/drawing/2014/main" id="{918BEB0C-A89C-1530-5E87-CC925406535E}"/>
                  </a:ext>
                </a:extLst>
              </p:cNvPr>
              <p:cNvGrpSpPr/>
              <p:nvPr/>
            </p:nvGrpSpPr>
            <p:grpSpPr>
              <a:xfrm>
                <a:off x="6123707" y="1031758"/>
                <a:ext cx="5216037" cy="705757"/>
                <a:chOff x="6123707" y="436009"/>
                <a:chExt cx="5216037" cy="705757"/>
              </a:xfrm>
            </p:grpSpPr>
            <p:sp>
              <p:nvSpPr>
                <p:cNvPr id="12" name="Snip Diagonal Corner Rectangle 21">
                  <a:extLst>
                    <a:ext uri="{FF2B5EF4-FFF2-40B4-BE49-F238E27FC236}">
                      <a16:creationId xmlns:a16="http://schemas.microsoft.com/office/drawing/2014/main" id="{118E86B4-C35A-87C9-1609-322AB7A68C21}"/>
                    </a:ext>
                  </a:extLst>
                </p:cNvPr>
                <p:cNvSpPr/>
                <p:nvPr/>
              </p:nvSpPr>
              <p:spPr>
                <a:xfrm>
                  <a:off x="6123707" y="436009"/>
                  <a:ext cx="5216037" cy="705757"/>
                </a:xfrm>
                <a:prstGeom prst="snip2DiagRect">
                  <a:avLst/>
                </a:prstGeom>
                <a:solidFill>
                  <a:srgbClr val="002060"/>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endParaRPr lang="en-US"/>
                </a:p>
              </p:txBody>
            </p:sp>
            <p:sp>
              <p:nvSpPr>
                <p:cNvPr id="13" name="TextBox 12">
                  <a:extLst>
                    <a:ext uri="{FF2B5EF4-FFF2-40B4-BE49-F238E27FC236}">
                      <a16:creationId xmlns:a16="http://schemas.microsoft.com/office/drawing/2014/main" id="{97BD0E3C-2902-E597-DD91-F8B3D4D75362}"/>
                    </a:ext>
                  </a:extLst>
                </p:cNvPr>
                <p:cNvSpPr txBox="1"/>
                <p:nvPr/>
              </p:nvSpPr>
              <p:spPr>
                <a:xfrm>
                  <a:off x="6123708" y="484093"/>
                  <a:ext cx="4689848" cy="523220"/>
                </a:xfrm>
                <a:prstGeom prst="rect">
                  <a:avLst/>
                </a:prstGeom>
                <a:noFill/>
              </p:spPr>
              <p:txBody>
                <a:bodyPr wrap="square" rtlCol="0">
                  <a:spAutoFit/>
                </a:bodyPr>
                <a:lstStyle/>
                <a:p>
                  <a:pPr algn="just"/>
                  <a:r>
                    <a:rPr lang="en-US" sz="2800" b="1" dirty="0">
                      <a:solidFill>
                        <a:schemeClr val="bg1"/>
                      </a:solidFill>
                      <a:latin typeface="Tahoma" panose="020B0604030504040204" pitchFamily="34" charset="0"/>
                      <a:ea typeface="Tahoma" panose="020B0604030504040204" pitchFamily="34" charset="0"/>
                      <a:cs typeface="Tahoma" panose="020B0604030504040204" pitchFamily="34" charset="0"/>
                    </a:rPr>
                    <a:t>Introduction to Finance</a:t>
                  </a:r>
                </a:p>
              </p:txBody>
            </p:sp>
          </p:grpSp>
        </p:grpSp>
        <p:cxnSp>
          <p:nvCxnSpPr>
            <p:cNvPr id="25" name="Straight Connector 24">
              <a:extLst>
                <a:ext uri="{FF2B5EF4-FFF2-40B4-BE49-F238E27FC236}">
                  <a16:creationId xmlns:a16="http://schemas.microsoft.com/office/drawing/2014/main" id="{D2617D44-C99F-FC98-32E2-32F834A82C8D}"/>
                </a:ext>
              </a:extLst>
            </p:cNvPr>
            <p:cNvCxnSpPr/>
            <p:nvPr/>
          </p:nvCxnSpPr>
          <p:spPr>
            <a:xfrm>
              <a:off x="803564" y="3985265"/>
              <a:ext cx="6668655" cy="0"/>
            </a:xfrm>
            <a:prstGeom prst="line">
              <a:avLst/>
            </a:prstGeom>
            <a:ln w="38100">
              <a:solidFill>
                <a:srgbClr val="006A3A"/>
              </a:solidFill>
            </a:ln>
          </p:spPr>
          <p:style>
            <a:lnRef idx="1">
              <a:schemeClr val="accent1"/>
            </a:lnRef>
            <a:fillRef idx="0">
              <a:schemeClr val="accent1"/>
            </a:fillRef>
            <a:effectRef idx="0">
              <a:schemeClr val="accent1"/>
            </a:effectRef>
            <a:fontRef idx="minor">
              <a:schemeClr val="tx1"/>
            </a:fontRef>
          </p:style>
        </p:cxnSp>
      </p:grpSp>
      <p:sp>
        <p:nvSpPr>
          <p:cNvPr id="26" name="TextBox 25">
            <a:extLst>
              <a:ext uri="{FF2B5EF4-FFF2-40B4-BE49-F238E27FC236}">
                <a16:creationId xmlns:a16="http://schemas.microsoft.com/office/drawing/2014/main" id="{2B78113A-4612-4488-1AED-245F73FA2C25}"/>
              </a:ext>
            </a:extLst>
          </p:cNvPr>
          <p:cNvSpPr txBox="1"/>
          <p:nvPr/>
        </p:nvSpPr>
        <p:spPr>
          <a:xfrm>
            <a:off x="695235" y="4429060"/>
            <a:ext cx="5068256" cy="830997"/>
          </a:xfrm>
          <a:prstGeom prst="rect">
            <a:avLst/>
          </a:prstGeom>
          <a:noFill/>
        </p:spPr>
        <p:txBody>
          <a:bodyPr wrap="square" rtlCol="0">
            <a:spAutoFit/>
          </a:bodyPr>
          <a:lstStyle/>
          <a:p>
            <a:pPr algn="just"/>
            <a:r>
              <a:rPr lang="en-US" sz="2800" b="1"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Tahsin Mamun </a:t>
            </a:r>
            <a:r>
              <a:rPr lang="en-US" sz="2800" b="1" dirty="0" err="1">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Prottoy</a:t>
            </a:r>
            <a:endParaRPr lang="en-US" sz="2800" b="1"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endParaRPr>
          </a:p>
          <a:p>
            <a:pPr algn="just"/>
            <a:r>
              <a:rPr lang="en-US" b="1" dirty="0">
                <a:solidFill>
                  <a:schemeClr val="tx1">
                    <a:lumMod val="65000"/>
                    <a:lumOff val="35000"/>
                  </a:schemeClr>
                </a:solidFill>
                <a:latin typeface="Tahoma" panose="020B0604030504040204" pitchFamily="34" charset="0"/>
                <a:ea typeface="Tahoma" panose="020B0604030504040204" pitchFamily="34" charset="0"/>
                <a:cs typeface="Tahoma" panose="020B0604030504040204" pitchFamily="34" charset="0"/>
              </a:rPr>
              <a:t>Lecturer (Finance), DBA, BAIUST</a:t>
            </a:r>
          </a:p>
        </p:txBody>
      </p:sp>
      <p:grpSp>
        <p:nvGrpSpPr>
          <p:cNvPr id="3" name="Group 2">
            <a:extLst>
              <a:ext uri="{FF2B5EF4-FFF2-40B4-BE49-F238E27FC236}">
                <a16:creationId xmlns:a16="http://schemas.microsoft.com/office/drawing/2014/main" id="{270E8E81-7BA2-31C4-8CAC-33351E5FC0B9}"/>
              </a:ext>
            </a:extLst>
          </p:cNvPr>
          <p:cNvGrpSpPr/>
          <p:nvPr/>
        </p:nvGrpSpPr>
        <p:grpSpPr>
          <a:xfrm>
            <a:off x="0" y="6716686"/>
            <a:ext cx="3082325" cy="91436"/>
            <a:chOff x="0" y="6647688"/>
            <a:chExt cx="8038222" cy="210312"/>
          </a:xfrm>
          <a:effectLst>
            <a:reflection blurRad="6350" stA="50000" endA="300" endPos="90000" dir="5400000" sy="-100000" algn="bl" rotWithShape="0"/>
          </a:effectLst>
        </p:grpSpPr>
        <p:sp>
          <p:nvSpPr>
            <p:cNvPr id="5" name="Rectangle 4">
              <a:extLst>
                <a:ext uri="{FF2B5EF4-FFF2-40B4-BE49-F238E27FC236}">
                  <a16:creationId xmlns:a16="http://schemas.microsoft.com/office/drawing/2014/main" id="{7B286F78-76EF-61A2-3CAD-63AF4EE344B3}"/>
                </a:ext>
              </a:extLst>
            </p:cNvPr>
            <p:cNvSpPr/>
            <p:nvPr/>
          </p:nvSpPr>
          <p:spPr>
            <a:xfrm>
              <a:off x="0" y="6647688"/>
              <a:ext cx="5463771" cy="210312"/>
            </a:xfrm>
            <a:prstGeom prst="rect">
              <a:avLst/>
            </a:prstGeom>
            <a:solidFill>
              <a:srgbClr val="2F8B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6BA8AC27-6889-1F2F-571A-14AF60D9A122}"/>
                </a:ext>
              </a:extLst>
            </p:cNvPr>
            <p:cNvSpPr/>
            <p:nvPr/>
          </p:nvSpPr>
          <p:spPr>
            <a:xfrm>
              <a:off x="5602676" y="6647688"/>
              <a:ext cx="2435546" cy="210312"/>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53300788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3144</TotalTime>
  <Words>1230</Words>
  <Application>Microsoft Office PowerPoint</Application>
  <PresentationFormat>Widescreen</PresentationFormat>
  <Paragraphs>131</Paragraphs>
  <Slides>21</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21</vt:i4>
      </vt:variant>
    </vt:vector>
  </HeadingPairs>
  <TitlesOfParts>
    <vt:vector size="31" baseType="lpstr">
      <vt:lpstr>Arial</vt:lpstr>
      <vt:lpstr>Bahnschrift</vt:lpstr>
      <vt:lpstr>Bahnschrift Condensed</vt:lpstr>
      <vt:lpstr>Calibri</vt:lpstr>
      <vt:lpstr>Calibri Light</vt:lpstr>
      <vt:lpstr>Congenial</vt:lpstr>
      <vt:lpstr>Roboto</vt:lpstr>
      <vt:lpstr>Tahoma</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Tahsin</dc:creator>
  <cp:lastModifiedBy>DELL</cp:lastModifiedBy>
  <cp:revision>353</cp:revision>
  <dcterms:created xsi:type="dcterms:W3CDTF">2023-03-04T13:16:54Z</dcterms:created>
  <dcterms:modified xsi:type="dcterms:W3CDTF">2026-04-12T02:07:11Z</dcterms:modified>
</cp:coreProperties>
</file>